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1"/>
  </p:notesMasterIdLst>
  <p:sldIdLst>
    <p:sldId id="257" r:id="rId2"/>
    <p:sldId id="1377" r:id="rId3"/>
    <p:sldId id="1285" r:id="rId4"/>
    <p:sldId id="1283" r:id="rId5"/>
    <p:sldId id="1282" r:id="rId6"/>
    <p:sldId id="1278" r:id="rId7"/>
    <p:sldId id="261" r:id="rId8"/>
    <p:sldId id="262" r:id="rId9"/>
    <p:sldId id="259" r:id="rId10"/>
    <p:sldId id="1375" r:id="rId11"/>
    <p:sldId id="1378" r:id="rId12"/>
    <p:sldId id="1294" r:id="rId13"/>
    <p:sldId id="1295" r:id="rId14"/>
    <p:sldId id="1193" r:id="rId15"/>
    <p:sldId id="1287" r:id="rId16"/>
    <p:sldId id="1170" r:id="rId17"/>
    <p:sldId id="1228" r:id="rId18"/>
    <p:sldId id="355" r:id="rId19"/>
    <p:sldId id="1154" r:id="rId20"/>
    <p:sldId id="272" r:id="rId21"/>
    <p:sldId id="1300" r:id="rId22"/>
    <p:sldId id="1296" r:id="rId23"/>
    <p:sldId id="1297" r:id="rId24"/>
    <p:sldId id="1298" r:id="rId25"/>
    <p:sldId id="1234" r:id="rId26"/>
    <p:sldId id="1299" r:id="rId27"/>
    <p:sldId id="1251" r:id="rId28"/>
    <p:sldId id="1215" r:id="rId29"/>
    <p:sldId id="1246" r:id="rId30"/>
    <p:sldId id="1273" r:id="rId31"/>
    <p:sldId id="287" r:id="rId32"/>
    <p:sldId id="342" r:id="rId33"/>
    <p:sldId id="1321" r:id="rId34"/>
    <p:sldId id="1312" r:id="rId35"/>
    <p:sldId id="1240" r:id="rId36"/>
    <p:sldId id="1274" r:id="rId37"/>
    <p:sldId id="1301" r:id="rId38"/>
    <p:sldId id="1303" r:id="rId39"/>
    <p:sldId id="1241" r:id="rId40"/>
    <p:sldId id="1302" r:id="rId41"/>
    <p:sldId id="1144" r:id="rId42"/>
    <p:sldId id="1113" r:id="rId43"/>
    <p:sldId id="1243" r:id="rId44"/>
    <p:sldId id="1245" r:id="rId45"/>
    <p:sldId id="1313" r:id="rId46"/>
    <p:sldId id="1327" r:id="rId47"/>
    <p:sldId id="1220" r:id="rId48"/>
    <p:sldId id="1235" r:id="rId49"/>
    <p:sldId id="298" r:id="rId50"/>
    <p:sldId id="1254" r:id="rId51"/>
    <p:sldId id="1314" r:id="rId52"/>
    <p:sldId id="1332" r:id="rId53"/>
    <p:sldId id="1352" r:id="rId54"/>
    <p:sldId id="1348" r:id="rId55"/>
    <p:sldId id="1351" r:id="rId56"/>
    <p:sldId id="1281" r:id="rId57"/>
    <p:sldId id="1353" r:id="rId58"/>
    <p:sldId id="1354" r:id="rId59"/>
    <p:sldId id="1335" r:id="rId60"/>
    <p:sldId id="1355" r:id="rId61"/>
    <p:sldId id="1344" r:id="rId62"/>
    <p:sldId id="1356" r:id="rId63"/>
    <p:sldId id="1357" r:id="rId64"/>
    <p:sldId id="1337" r:id="rId65"/>
    <p:sldId id="1336" r:id="rId66"/>
    <p:sldId id="1359" r:id="rId67"/>
    <p:sldId id="1311" r:id="rId68"/>
    <p:sldId id="1309" r:id="rId69"/>
    <p:sldId id="1360" r:id="rId70"/>
    <p:sldId id="1361" r:id="rId71"/>
    <p:sldId id="1346" r:id="rId72"/>
    <p:sldId id="1366" r:id="rId73"/>
    <p:sldId id="1363" r:id="rId74"/>
    <p:sldId id="1364" r:id="rId75"/>
    <p:sldId id="1365" r:id="rId76"/>
    <p:sldId id="1304" r:id="rId77"/>
    <p:sldId id="1305" r:id="rId78"/>
    <p:sldId id="1306" r:id="rId79"/>
    <p:sldId id="1307" r:id="rId80"/>
    <p:sldId id="1152" r:id="rId81"/>
    <p:sldId id="1271" r:id="rId82"/>
    <p:sldId id="1290" r:id="rId83"/>
    <p:sldId id="1291" r:id="rId84"/>
    <p:sldId id="1323" r:id="rId85"/>
    <p:sldId id="1318" r:id="rId86"/>
    <p:sldId id="337" r:id="rId87"/>
    <p:sldId id="1310" r:id="rId88"/>
    <p:sldId id="1319" r:id="rId89"/>
    <p:sldId id="1320" r:id="rId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29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38" autoAdjust="0"/>
    <p:restoredTop sz="94660"/>
  </p:normalViewPr>
  <p:slideViewPr>
    <p:cSldViewPr snapToGrid="0">
      <p:cViewPr varScale="1">
        <p:scale>
          <a:sx n="81" d="100"/>
          <a:sy n="81" d="100"/>
        </p:scale>
        <p:origin x="196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49E5D-AF36-4E24-8D90-083FCE680B0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0C08D-A801-4A3E-8CF9-CFAD26AC10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328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7BB4D-E4AA-4EAA-B342-697646A94D9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662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RP2040 Microcontroller – Introduction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Dual ARM Cortex-M0+ </a:t>
            </a:r>
            <a:r>
              <a:rPr lang="en-US" sz="1400" b="0" i="0" dirty="0">
                <a:solidFill>
                  <a:srgbClr val="34444C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cores with clock frequency up to 133 MHz</a:t>
            </a:r>
            <a:endParaRPr lang="en-US" sz="1400" b="0" i="0" dirty="0">
              <a:solidFill>
                <a:srgbClr val="3B4045"/>
              </a:solidFill>
              <a:effectLst/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Code may be executed directly from external memory (</a:t>
            </a:r>
            <a:r>
              <a:rPr lang="en-I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2MB of on-board Flash memory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through a dedicated SPI.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b="0" i="0" dirty="0">
              <a:solidFill>
                <a:srgbClr val="3B4045"/>
              </a:solidFill>
              <a:effectLst/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Debug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is available via the SWD interface.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Internal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SRAM (264 kB) 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can contain code or data. It is physically partitioned into </a:t>
            </a:r>
            <a:r>
              <a:rPr lang="en-US" sz="14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6 banks to allow simultaneous parallel access from different masters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DMA bus masters 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are available to offload repetitive data transfer tasks from the processors.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GPIO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pins can be driven directly, or from a variety of dedicated logic functions.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Dedicated peripheral hardware for fixed functions such as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SPI, I2C, UART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Flexible configurable PIO controllers 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can be used to provide a wide variety of IO functions.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12-bit, SAR, 500ksps, ADC </a:t>
            </a:r>
            <a:r>
              <a:rPr lang="en-US" sz="14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with 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Four ADC inputs 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which are shared with 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GPIO pins 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and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One input </a:t>
            </a:r>
            <a:r>
              <a:rPr lang="en-US" sz="14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is dedicated to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internal temperature sensor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Two PLLs </a:t>
            </a:r>
            <a:r>
              <a:rPr lang="en-US" sz="14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to provide a fixed 48MHz clock for USB or ADC, and a flexible system clock up to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133MHz.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400" b="1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400" b="1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FF01-39E3-4AA2-922E-FDD07DEBF77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626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200" b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Cortex-M0+ Processors - Features</a:t>
            </a:r>
            <a:endParaRPr lang="en-IN" sz="1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Cortex-M Processors are configurable designs with a number of parameters that chip designers can select. 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 designers can omit some of the features that are unnecessary for their projects to save power and reduce silicon area.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Cortex-M0+</a:t>
            </a:r>
            <a:r>
              <a:rPr lang="en-US" sz="1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(32-bit RISC ) </a:t>
            </a:r>
            <a:r>
              <a:rPr lang="en-US" sz="1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processor. 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an </a:t>
            </a:r>
            <a:r>
              <a:rPr lang="en-US" sz="1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AMBA AHB-Lite</a:t>
            </a:r>
            <a:r>
              <a:rPr lang="en-US" sz="1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and </a:t>
            </a:r>
            <a:r>
              <a:rPr lang="en-US" sz="1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single-cycle I/O</a:t>
            </a:r>
            <a:r>
              <a:rPr lang="en-US" sz="1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interfacing. 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The ARM Cortex-M0+ processor brings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32-bit power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at an 8-bit Cost.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Has the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Smallest Footprint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&amp;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Lowest Power requirements,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consumes just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9µA/MHz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on a low-cost 90nm LP process, around </a:t>
            </a:r>
            <a:r>
              <a:rPr lang="en-US" sz="12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one third of the energy of any 8- or 16-bit processor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available today, while delivering </a:t>
            </a:r>
            <a:r>
              <a:rPr lang="en-US" sz="12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significantly higher performance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The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low-power processor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is suitable for a wide variety of applications, including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sensors and wearables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b="0" i="0" dirty="0">
              <a:effectLst/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Single-cycle IO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to speed access to GPIO and peripherals. 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Improved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debug and trace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capability and a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2-stage pipeline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The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exceptional code density 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of Cortex-M0+ significantly reduces memory requirements, ideal for use in wearables for healthcare, fitness, and more.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With its three highly optimized </a:t>
            </a:r>
            <a:r>
              <a:rPr lang="en-US" sz="1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low-power modes</a:t>
            </a:r>
            <a:r>
              <a:rPr lang="en-US" sz="12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, the processor conserves energy to match processing demands.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FF01-39E3-4AA2-922E-FDD07DEBF77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086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FA0B3-4FC1-49BC-8022-D92D265B2A4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722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AHB-Lite crossbar routes addresses and data between its 4 upstream ports and 10 downstream ports: up to four bus transfers can take place each cycle. </a:t>
            </a:r>
          </a:p>
          <a:p>
            <a:pPr marL="180000" indent="-1800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paths are 32 bits wide. </a:t>
            </a:r>
          </a:p>
          <a:p>
            <a:pPr marL="180000" indent="-1800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devices have dedicated ports on the main crossbar, to satisfy their high bandwidth requirements. </a:t>
            </a:r>
          </a:p>
          <a:p>
            <a:pPr marL="180000" indent="-1800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High-bandwidth AHB-Lite peripherals have a shared port on the crossbar, and an APB bridge provides bus access to system control registers and lower-bandwidth peripherals.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FF01-39E3-4AA2-922E-FDD07DEBF77A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977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issue: data structure may not be in a safe state.  Consider a tree where it’s not a tree for part of an 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CEC10-4011-47F2-851D-BF45BF1E682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02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171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36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9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0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50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53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2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4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7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182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54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25BB1-E98A-4E10-B96A-36C09EF2089F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A9A71-BD1C-424F-8DA2-DF5A2008A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2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5.xml"/><Relationship Id="rId5" Type="http://schemas.openxmlformats.org/officeDocument/2006/relationships/slide" Target="slide24.xml"/><Relationship Id="rId4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gi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spberrypi/pico-micropython-examples/blob/master/pio/pio_blink.py#L1-L28" TargetMode="Externa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DA1F-64FE-3BCA-46B6-C89D10716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5267"/>
            <a:ext cx="9144000" cy="883433"/>
          </a:xfrm>
        </p:spPr>
        <p:txBody>
          <a:bodyPr anchor="ctr">
            <a:normAutofit/>
          </a:bodyPr>
          <a:lstStyle/>
          <a:p>
            <a:r>
              <a:rPr lang="en-IN" sz="4400" dirty="0">
                <a:solidFill>
                  <a:srgbClr val="FF0000"/>
                </a:solidFill>
                <a:latin typeface="Comic Sans MS" panose="030F0702030302020204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RP2040 - Microcontroller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8144A-03BD-95B7-1DE3-C454E01DA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69835"/>
            <a:ext cx="9144000" cy="482600"/>
          </a:xfrm>
        </p:spPr>
        <p:txBody>
          <a:bodyPr/>
          <a:lstStyle/>
          <a:p>
            <a:pPr algn="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Dr. K. Rajasekaran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0DADBC2-F1E2-9842-EDED-8F3471572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533" t="3137" r="1653" b="4787"/>
          <a:stretch/>
        </p:blipFill>
        <p:spPr bwMode="auto">
          <a:xfrm>
            <a:off x="695325" y="1047750"/>
            <a:ext cx="7743825" cy="4981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BA50A59-4EA7-699E-6D00-7465B90A6AEF}"/>
              </a:ext>
            </a:extLst>
          </p:cNvPr>
          <p:cNvSpPr txBox="1">
            <a:spLocks/>
          </p:cNvSpPr>
          <p:nvPr/>
        </p:nvSpPr>
        <p:spPr>
          <a:xfrm>
            <a:off x="1" y="5575739"/>
            <a:ext cx="9144000" cy="44227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IN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RP2040 Carrier Board – VI Microsystems</a:t>
            </a:r>
          </a:p>
        </p:txBody>
      </p:sp>
    </p:spTree>
    <p:extLst>
      <p:ext uri="{BB962C8B-B14F-4D97-AF65-F5344CB8AC3E}">
        <p14:creationId xmlns:p14="http://schemas.microsoft.com/office/powerpoint/2010/main" val="363465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3B167-A748-57AB-D0A4-E5114BFF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6CA9CC-04B4-64D7-E93C-E3C99C6F1396}"/>
              </a:ext>
            </a:extLst>
          </p:cNvPr>
          <p:cNvSpPr txBox="1"/>
          <p:nvPr/>
        </p:nvSpPr>
        <p:spPr>
          <a:xfrm>
            <a:off x="-4" y="442587"/>
            <a:ext cx="913538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buFont typeface="Wingdings" panose="05000000000000000000" pitchFamily="2" charset="2"/>
              <a:buChar char="§"/>
            </a:pPr>
            <a:r>
              <a:rPr lang="en-US" sz="2600" dirty="0">
                <a:latin typeface="Bahnschrift SemiLight SemiConde" panose="020B0502040204020203" pitchFamily="34" charset="0"/>
                <a:cs typeface="Arial" panose="020B0604020202020204" pitchFamily="34" charset="0"/>
              </a:rPr>
              <a:t>Embedded systems are the foundation of modern technology, empowering virtually every industry.</a:t>
            </a:r>
          </a:p>
          <a:p>
            <a:pPr marL="216000" indent="-216000">
              <a:buFont typeface="Wingdings" panose="05000000000000000000" pitchFamily="2" charset="2"/>
              <a:buChar char="§"/>
            </a:pPr>
            <a:r>
              <a:rPr lang="en-US" sz="2600" dirty="0">
                <a:latin typeface="Bahnschrift SemiLight SemiConde" panose="020B0502040204020203" pitchFamily="34" charset="0"/>
                <a:cs typeface="Arial" panose="020B0604020202020204" pitchFamily="34" charset="0"/>
              </a:rPr>
              <a:t>Embedded systems knowledge is no longer a niche skill but a necessity.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09BAB-D742-908C-C16C-2FF4B271DA9D}"/>
              </a:ext>
            </a:extLst>
          </p:cNvPr>
          <p:cNvSpPr txBox="1"/>
          <p:nvPr/>
        </p:nvSpPr>
        <p:spPr>
          <a:xfrm>
            <a:off x="0" y="25737"/>
            <a:ext cx="9144000" cy="50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en-US" sz="24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Why Learn Embedded Systems?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65235-D4D2-26C2-238B-1A131E3B7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210" y="1765850"/>
            <a:ext cx="4994172" cy="50663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9EC068-3448-3469-1FE2-9E41BF5024D8}"/>
              </a:ext>
            </a:extLst>
          </p:cNvPr>
          <p:cNvSpPr txBox="1"/>
          <p:nvPr/>
        </p:nvSpPr>
        <p:spPr>
          <a:xfrm>
            <a:off x="8618" y="2070211"/>
            <a:ext cx="433713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 SemiLight SemiConde" panose="020B0502040204020203" pitchFamily="34" charset="0"/>
                <a:ea typeface="+mn-ea"/>
                <a:cs typeface="+mn-cs"/>
              </a:rPr>
              <a:t>Opportunities in</a:t>
            </a: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:</a:t>
            </a:r>
          </a:p>
          <a:p>
            <a:pPr marL="432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IoT (Internet of Things)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– smart devices, home automation</a:t>
            </a:r>
          </a:p>
          <a:p>
            <a:pPr marL="432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Automotive industry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– car safety, infotainment, electric vehicles (automotive embedded systems course)</a:t>
            </a:r>
          </a:p>
          <a:p>
            <a:pPr marL="432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Healthcare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 – medical monitoring equipment</a:t>
            </a:r>
          </a:p>
          <a:p>
            <a:pPr marL="432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Consumer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Light SemiConde" panose="020B0502040204020203" pitchFamily="34" charset="0"/>
              </a:rPr>
              <a:t> electronics – mobiles, smart TVs, wearables</a:t>
            </a:r>
          </a:p>
        </p:txBody>
      </p:sp>
    </p:spTree>
    <p:extLst>
      <p:ext uri="{BB962C8B-B14F-4D97-AF65-F5344CB8AC3E}">
        <p14:creationId xmlns:p14="http://schemas.microsoft.com/office/powerpoint/2010/main" val="343716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1AD3FE-508B-4650-24AF-6FF2028756CD}"/>
              </a:ext>
            </a:extLst>
          </p:cNvPr>
          <p:cNvSpPr txBox="1"/>
          <p:nvPr/>
        </p:nvSpPr>
        <p:spPr>
          <a:xfrm>
            <a:off x="0" y="3878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Internet of Things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3381B-EAF4-AA70-620E-DC61DDE0B1A5}"/>
              </a:ext>
            </a:extLst>
          </p:cNvPr>
          <p:cNvSpPr txBox="1"/>
          <p:nvPr/>
        </p:nvSpPr>
        <p:spPr>
          <a:xfrm>
            <a:off x="1" y="725053"/>
            <a:ext cx="9143999" cy="911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IoT ensures efficient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interconnection and data exchange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among numerous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devices at the edge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AACE04-4505-F0B3-C9EE-0EB985B18A75}"/>
              </a:ext>
            </a:extLst>
          </p:cNvPr>
          <p:cNvSpPr txBox="1"/>
          <p:nvPr/>
        </p:nvSpPr>
        <p:spPr>
          <a:xfrm>
            <a:off x="10694" y="629637"/>
            <a:ext cx="9133306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 enabling strong communication and collaboration between edge devices, IoT facilitates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collection at the edge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DCB387-3382-2C72-3367-50F75C0570FF}"/>
              </a:ext>
            </a:extLst>
          </p:cNvPr>
          <p:cNvSpPr txBox="1"/>
          <p:nvPr/>
        </p:nvSpPr>
        <p:spPr>
          <a:xfrm>
            <a:off x="1" y="548790"/>
            <a:ext cx="9143999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Further, IoT enables edge devices to interact and respond to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real-world events and conditions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supporting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context-aware decision-making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 enhancing overall system intelligence.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0D603-C1D7-CAE7-54DE-63D8473A9CD4}"/>
              </a:ext>
            </a:extLst>
          </p:cNvPr>
          <p:cNvSpPr txBox="1"/>
          <p:nvPr/>
        </p:nvSpPr>
        <p:spPr>
          <a:xfrm>
            <a:off x="1169" y="622717"/>
            <a:ext cx="9143999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IoT also allows for distributed computing and decentralized data processing,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reducing the burden on centralized cloud infrastructure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A01B97B-B411-DA71-2F49-C4C2F501D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0085"/>
            <a:ext cx="9144000" cy="439025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E911E4F-9EB4-0D06-70FB-9950D4809D22}"/>
              </a:ext>
            </a:extLst>
          </p:cNvPr>
          <p:cNvSpPr txBox="1"/>
          <p:nvPr/>
        </p:nvSpPr>
        <p:spPr>
          <a:xfrm>
            <a:off x="10693" y="511742"/>
            <a:ext cx="9133305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role of embedded systems within the Internet of Things (IoT), and the Industrial Internet of Things 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IIoT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), has grown and has enabled new levels of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smart technology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interconnected ecosystems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416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3" grpId="0"/>
      <p:bldP spid="13" grpId="1"/>
      <p:bldP spid="17" grpId="0"/>
      <p:bldP spid="17" grpId="1"/>
      <p:bldP spid="21" grpId="0"/>
      <p:bldP spid="21" grpId="1"/>
      <p:bldP spid="26" grpId="0"/>
      <p:bldP spid="2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E393BD-C762-287D-D4FF-6E95B87BA52D}"/>
              </a:ext>
            </a:extLst>
          </p:cNvPr>
          <p:cNvSpPr txBox="1"/>
          <p:nvPr/>
        </p:nvSpPr>
        <p:spPr>
          <a:xfrm>
            <a:off x="0" y="449937"/>
            <a:ext cx="9144000" cy="79406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400" b="1" i="0" dirty="0">
                <a:solidFill>
                  <a:srgbClr val="1C254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Perception/Sensing Layer : </a:t>
            </a:r>
            <a:r>
              <a:rPr lang="en-US" sz="2400" b="0" i="0" dirty="0">
                <a:solidFill>
                  <a:srgbClr val="1C254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Acquiring raw information from physical environments to provide input for Analysis by higher levels.</a:t>
            </a:r>
            <a:endParaRPr lang="en-US" sz="2400" b="1" i="0" dirty="0">
              <a:solidFill>
                <a:srgbClr val="1C254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C14BA-2F99-F412-BE0A-5C3F9E359DB4}"/>
              </a:ext>
            </a:extLst>
          </p:cNvPr>
          <p:cNvSpPr txBox="1"/>
          <p:nvPr/>
        </p:nvSpPr>
        <p:spPr>
          <a:xfrm>
            <a:off x="2364316" y="0"/>
            <a:ext cx="46439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Key Layers of IoT Architecture</a:t>
            </a:r>
            <a:endParaRPr lang="en-US" sz="2200" b="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8C23F-B332-27EA-FFC7-FD1271F43B25}"/>
              </a:ext>
            </a:extLst>
          </p:cNvPr>
          <p:cNvSpPr txBox="1"/>
          <p:nvPr/>
        </p:nvSpPr>
        <p:spPr>
          <a:xfrm>
            <a:off x="0" y="3473589"/>
            <a:ext cx="9144000" cy="254839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Processing Layer 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C254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 can process raw information from IoT systems through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machine learning algorithms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order to retain useful details that are used for automated decision-making.</a:t>
            </a:r>
          </a:p>
          <a:p>
            <a:pPr marL="285750" marR="0" lvl="0" indent="-28575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Edge analytics alongside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 techniques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also form part of this stage which helps filter out irrelevant or unusable device info before Analysis.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E9030-8172-5A74-E98C-0F319A4DF3BA}"/>
              </a:ext>
            </a:extLst>
          </p:cNvPr>
          <p:cNvSpPr txBox="1"/>
          <p:nvPr/>
        </p:nvSpPr>
        <p:spPr>
          <a:xfrm>
            <a:off x="0" y="6029236"/>
            <a:ext cx="9144000" cy="794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 Interface/Application Layer :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Humans to interact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with the system and access specific services.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724167-05E7-256E-B9C9-DDB8D8AED2C2}"/>
              </a:ext>
            </a:extLst>
          </p:cNvPr>
          <p:cNvSpPr txBox="1"/>
          <p:nvPr/>
        </p:nvSpPr>
        <p:spPr>
          <a:xfrm>
            <a:off x="0" y="1270545"/>
            <a:ext cx="9144000" cy="2197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Connectivity/Network Layer 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Uses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HTTP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MQTT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AMQP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</a:p>
          <a:p>
            <a:pPr marL="285750" marR="0" lvl="0" indent="-28575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Internet gateways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which allow communication outside local systems,</a:t>
            </a:r>
          </a:p>
          <a:p>
            <a:pPr marL="285750" marR="0" lvl="0" indent="-28575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Intranet ports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providing internet gateway and access points on these local systems, </a:t>
            </a:r>
          </a:p>
          <a:p>
            <a:pPr marL="285750" marR="0" lvl="0" indent="-28575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Network gateways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254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connecting multiple devices at once through bridging functions</a:t>
            </a:r>
          </a:p>
        </p:txBody>
      </p:sp>
    </p:spTree>
    <p:extLst>
      <p:ext uri="{BB962C8B-B14F-4D97-AF65-F5344CB8AC3E}">
        <p14:creationId xmlns:p14="http://schemas.microsoft.com/office/powerpoint/2010/main" val="59002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561FF5-C017-3CD6-54A9-282B3122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3" y="66674"/>
            <a:ext cx="9007594" cy="672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4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232B09A-2F82-AAAE-F589-7959D0DD5E49}"/>
              </a:ext>
            </a:extLst>
          </p:cNvPr>
          <p:cNvSpPr txBox="1"/>
          <p:nvPr/>
        </p:nvSpPr>
        <p:spPr>
          <a:xfrm>
            <a:off x="0" y="616064"/>
            <a:ext cx="9144000" cy="620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spcBef>
                <a:spcPts val="9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Greater IoT integration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:  It’s enabling seamless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communication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 from one part of a network to another, and supporting data processing in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real time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spcBef>
                <a:spcPts val="9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Edge artificial intelligence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refers to the deployment of AI algorithms and AI models directly on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local edge devices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such as sensors or Internet of Things (IoT) devices, which enables real-time data processing and analysis without 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constant reliance on cloud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infrastructure.</a:t>
            </a:r>
          </a:p>
          <a:p>
            <a:pPr marL="342900" marR="0" lvl="0" indent="-342900" algn="l" defTabSz="457200" rtl="0" eaLnBrk="1" fontAlgn="auto" latinLnBrk="0" hangingPunct="1">
              <a:spcBef>
                <a:spcPts val="9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AI revolution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:  AI is empowering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embedded devices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with the capability to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make decisions in real-time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, thanks to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highly advanced algorithms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and developments in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neural networks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457200" rtl="0" eaLnBrk="1" fontAlgn="auto" latinLnBrk="0" hangingPunct="1">
              <a:spcBef>
                <a:spcPts val="9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Convergence between AI and embedded systems will have a huge effect on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personalization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response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user experience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1528"/>
                </a:solidFill>
                <a:effectLst/>
                <a:uLnTx/>
                <a:uFillTx/>
                <a:latin typeface="Constantia" panose="02030602050306030303" pitchFamily="18" charset="0"/>
                <a:cs typeface="Times New Roman" panose="02020603050405020304" pitchFamily="18" charset="0"/>
              </a:rPr>
              <a:t>in a huge number of applications and industries.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F88FB-EEDB-E26B-435D-A47F41D8D04F}"/>
              </a:ext>
            </a:extLst>
          </p:cNvPr>
          <p:cNvSpPr txBox="1"/>
          <p:nvPr/>
        </p:nvSpPr>
        <p:spPr>
          <a:xfrm>
            <a:off x="0" y="11498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Predictions for the role of embedded systems in IOT</a:t>
            </a:r>
          </a:p>
        </p:txBody>
      </p:sp>
    </p:spTree>
    <p:extLst>
      <p:ext uri="{BB962C8B-B14F-4D97-AF65-F5344CB8AC3E}">
        <p14:creationId xmlns:p14="http://schemas.microsoft.com/office/powerpoint/2010/main" val="162742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B11E83-0BFA-1927-3856-559556E68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05" y="487868"/>
            <a:ext cx="5715495" cy="4999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17DC31-15E0-F72D-257B-8113AF09EECE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2400" cap="small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General-Purpose Computers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42049-AB7F-EFB3-268A-A7A1BB9A4A9D}"/>
              </a:ext>
            </a:extLst>
          </p:cNvPr>
          <p:cNvSpPr txBox="1"/>
          <p:nvPr/>
        </p:nvSpPr>
        <p:spPr>
          <a:xfrm>
            <a:off x="0" y="487868"/>
            <a:ext cx="6985262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marR="0" lvl="0" indent="-2520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Able to run a variety of software.</a:t>
            </a:r>
          </a:p>
          <a:p>
            <a:pPr marL="252000" marR="0" lvl="0" indent="-2520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Contain relatively                                                                                           high-performance                                                                             hardware components                                                                             (fast  processors, data &amp;                                                                 program storage).</a:t>
            </a:r>
          </a:p>
          <a:p>
            <a:pPr marL="252000" marR="0" lvl="0" indent="-2520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Require an operating                                                                                                       system (OS).</a:t>
            </a:r>
          </a:p>
          <a:p>
            <a:pPr marL="252000" marR="0" lvl="0" indent="-2520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Designed for heavy user                                                   interaction.</a:t>
            </a:r>
          </a:p>
          <a:p>
            <a:pPr marL="252000" marR="0" lvl="0" indent="-2520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Uses a variety of                                                                         peripherals (displays,                                                              keyboards, mice,                                                                        internet connections,                                                                  wireless communication                                                          capability).</a:t>
            </a:r>
          </a:p>
        </p:txBody>
      </p:sp>
    </p:spTree>
    <p:extLst>
      <p:ext uri="{BB962C8B-B14F-4D97-AF65-F5344CB8AC3E}">
        <p14:creationId xmlns:p14="http://schemas.microsoft.com/office/powerpoint/2010/main" val="39705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8D9C0E-9980-8C0B-DD93-2F386CD5B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44" y="951927"/>
            <a:ext cx="4912556" cy="4790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BD979D-442A-CAD4-D3BC-40B2C7003645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2400" b="1" cap="small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E</a:t>
            </a:r>
            <a:r>
              <a:rPr lang="en-US" sz="2400" cap="small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mbedded </a:t>
            </a:r>
            <a:r>
              <a:rPr lang="en-US" sz="2400" b="1" cap="small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</a:t>
            </a:r>
            <a:r>
              <a:rPr lang="en-US" sz="2400" cap="small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omputers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B89C4-91DD-9EBE-4C1B-F37C5EE298BD}"/>
              </a:ext>
            </a:extLst>
          </p:cNvPr>
          <p:cNvSpPr txBox="1"/>
          <p:nvPr/>
        </p:nvSpPr>
        <p:spPr>
          <a:xfrm>
            <a:off x="0" y="409212"/>
            <a:ext cx="9144000" cy="647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lvl="0" indent="-2520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3413AD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Contains </a:t>
            </a:r>
            <a:r>
              <a:rPr lang="en-US" sz="2400" b="1" i="1" dirty="0">
                <a:solidFill>
                  <a:srgbClr val="FF000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firmware</a:t>
            </a:r>
            <a:r>
              <a:rPr lang="en-US" sz="2400" b="1" dirty="0">
                <a:solidFill>
                  <a:srgbClr val="3413AD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(only the needed software </a:t>
            </a:r>
            <a:r>
              <a:rPr lang="en-US" sz="2400" b="1" dirty="0">
                <a:solidFill>
                  <a:srgbClr val="FF000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which is not                       intended to be changed</a:t>
            </a:r>
            <a:r>
              <a:rPr lang="en-US" sz="2400" b="1" dirty="0">
                <a:solidFill>
                  <a:srgbClr val="3413AD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2400" b="1" dirty="0">
                <a:solidFill>
                  <a:srgbClr val="FF0000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frequently</a:t>
            </a:r>
            <a:r>
              <a:rPr lang="en-US" sz="2400" b="1" dirty="0">
                <a:solidFill>
                  <a:srgbClr val="3413AD"/>
                </a:solidFill>
                <a:latin typeface="Aptos Narrow" panose="020B0004020202020204" pitchFamily="34" charset="0"/>
                <a:cs typeface="Arial" panose="020B0604020202020204" pitchFamily="34" charset="0"/>
              </a:rPr>
              <a:t>). </a:t>
            </a:r>
          </a:p>
          <a:p>
            <a:pPr marL="252000" lvl="0" indent="-2520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Resources can be implemented on                                                                               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a single and low-cost IC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252000" marR="0" lvl="0" indent="-252000" algn="l" defTabSz="457200" rtl="0" eaLnBrk="1" fontAlgn="auto" latinLnBrk="0" hangingPunct="1">
              <a:lnSpc>
                <a:spcPct val="95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Include a variety of peripherals                                                                     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timers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analog-to-digital                                                                                                       converters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digital-to-analog                                                                     converters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serial interfaces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).</a:t>
            </a:r>
          </a:p>
          <a:p>
            <a:pPr marL="252000" indent="-2520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Small size makes them                                                                                                            very versatile. </a:t>
            </a:r>
          </a:p>
          <a:p>
            <a:pPr marL="252000" marR="0" lvl="0" indent="-252000" algn="l" defTabSz="457200" rtl="0" eaLnBrk="1" fontAlgn="auto" latinLnBrk="0" hangingPunct="1">
              <a:lnSpc>
                <a:spcPct val="95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Real-time system 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is the one in                                                                                 which logical correctness is based                                                                              on  both the correctness of the output                                                                    as well as their 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timeliness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252000" marR="0" lvl="0" indent="-252000" algn="l" defTabSz="457200" rtl="0" eaLnBrk="1" fontAlgn="auto" latinLnBrk="0" hangingPunct="1">
              <a:lnSpc>
                <a:spcPct val="95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Typical interaction in an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RTS is asynchronous or periodic 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interrupt handlers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Arial" panose="020B0604020202020204" pitchFamily="34" charset="0"/>
              </a:rPr>
              <a:t> and dispatcher and associated resources).</a:t>
            </a:r>
          </a:p>
        </p:txBody>
      </p:sp>
    </p:spTree>
    <p:extLst>
      <p:ext uri="{BB962C8B-B14F-4D97-AF65-F5344CB8AC3E}">
        <p14:creationId xmlns:p14="http://schemas.microsoft.com/office/powerpoint/2010/main" val="87247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581693D-8E5B-5FD4-345E-628D3CF5F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Parts of an Embedded 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FCAFC5-33C1-ABC0-2BCD-121DEE911004}"/>
              </a:ext>
            </a:extLst>
          </p:cNvPr>
          <p:cNvSpPr>
            <a:spLocks noChangeArrowheads="1"/>
          </p:cNvSpPr>
          <p:nvPr/>
        </p:nvSpPr>
        <p:spPr bwMode="auto">
          <a:xfrm rot="19634306">
            <a:off x="914400" y="990600"/>
            <a:ext cx="914400" cy="1828800"/>
          </a:xfrm>
          <a:prstGeom prst="ellipse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srgbClr val="336666"/>
              </a:solidFill>
              <a:latin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ED7038-4210-AFF2-4342-DDF7BF0B6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6800"/>
            <a:ext cx="8077200" cy="5410200"/>
          </a:xfrm>
          <a:prstGeom prst="ellipse">
            <a:avLst/>
          </a:prstGeom>
          <a:noFill/>
          <a:ln w="19050">
            <a:solidFill>
              <a:srgbClr val="3366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F9DDB5-3B29-DE51-C753-648B789EF17D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828800"/>
            <a:ext cx="1981200" cy="1828800"/>
            <a:chOff x="1344" y="1248"/>
            <a:chExt cx="1248" cy="11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42D72B-7C1F-3609-05A1-921B6EAEC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1056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40CFF7-E906-9961-D6B6-69EE3664E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44"/>
              <a:ext cx="1056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6666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9C24B6-291D-A83E-6A92-E2223913D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1056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8EBE33-E268-1053-BCAD-A3798215425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828800"/>
            <a:ext cx="1981200" cy="1828800"/>
            <a:chOff x="1344" y="1248"/>
            <a:chExt cx="1248" cy="11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ADF3E2-ADAD-0296-2CD0-66ADF18A8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1056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F49D04-0EC9-5F35-81AA-56653EFC2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44"/>
              <a:ext cx="1056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6666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6BC9F-C812-64D4-D9D9-B7E8E54EE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1056" cy="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3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D0251-9401-29E8-E9F1-6D22D5FC5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267200"/>
            <a:ext cx="44196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DF505-34EB-5B68-D95E-E7A44D8CB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743200"/>
            <a:ext cx="609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666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D6CF5A-7D58-7965-BCDE-5D92D4791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819400"/>
            <a:ext cx="609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666"/>
            </a:solidFill>
            <a:prstDash val="lg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6F7D48E6-5874-A4C7-7FAA-325EB99C7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733800"/>
            <a:ext cx="762000" cy="0"/>
          </a:xfrm>
          <a:prstGeom prst="line">
            <a:avLst/>
          </a:prstGeom>
          <a:noFill/>
          <a:ln w="57150">
            <a:solidFill>
              <a:srgbClr val="3366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B59065C7-4E74-7B52-CAF2-8281BF468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1950" y="3733800"/>
            <a:ext cx="762000" cy="0"/>
          </a:xfrm>
          <a:prstGeom prst="line">
            <a:avLst/>
          </a:prstGeom>
          <a:noFill/>
          <a:ln w="57150">
            <a:solidFill>
              <a:srgbClr val="3366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E9985DF1-1259-7B0B-2AC3-0EBDF26BD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343400"/>
            <a:ext cx="533400" cy="0"/>
          </a:xfrm>
          <a:prstGeom prst="line">
            <a:avLst/>
          </a:prstGeom>
          <a:noFill/>
          <a:ln w="57150">
            <a:solidFill>
              <a:srgbClr val="3366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11362414-A958-5443-DD17-4D0BE3F03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419600"/>
            <a:ext cx="533400" cy="0"/>
          </a:xfrm>
          <a:prstGeom prst="line">
            <a:avLst/>
          </a:prstGeom>
          <a:noFill/>
          <a:ln w="57150">
            <a:solidFill>
              <a:srgbClr val="3366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D21C35E-DE70-C586-FDDE-8A5018FDA9D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2934494" y="3923506"/>
            <a:ext cx="533400" cy="1588"/>
          </a:xfrm>
          <a:prstGeom prst="line">
            <a:avLst/>
          </a:prstGeom>
          <a:noFill/>
          <a:ln w="57150">
            <a:solidFill>
              <a:srgbClr val="3366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838835FE-02E1-214D-47F1-C11E6A2BD6D3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315494" y="3923506"/>
            <a:ext cx="533400" cy="1588"/>
          </a:xfrm>
          <a:prstGeom prst="line">
            <a:avLst/>
          </a:prstGeom>
          <a:noFill/>
          <a:ln w="57150">
            <a:solidFill>
              <a:srgbClr val="3366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336666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2B75C0-2828-C485-39D3-07EEB7442148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657600"/>
            <a:ext cx="382588" cy="533400"/>
            <a:chOff x="3696" y="2304"/>
            <a:chExt cx="241" cy="336"/>
          </a:xfrm>
        </p:grpSpPr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ECAB695A-B205-26DE-0630-9F94982EE1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29" y="2471"/>
              <a:ext cx="336" cy="1"/>
            </a:xfrm>
            <a:prstGeom prst="line">
              <a:avLst/>
            </a:prstGeom>
            <a:noFill/>
            <a:ln w="57150">
              <a:solidFill>
                <a:srgbClr val="3366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F0DD9656-40F1-3956-AD7E-9A85350CCE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769" y="2471"/>
              <a:ext cx="336" cy="1"/>
            </a:xfrm>
            <a:prstGeom prst="line">
              <a:avLst/>
            </a:prstGeom>
            <a:noFill/>
            <a:ln w="57150">
              <a:solidFill>
                <a:srgbClr val="3366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7992C9-4F01-074C-3FAA-99ED56624DA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267994" y="2666207"/>
            <a:ext cx="382587" cy="533400"/>
            <a:chOff x="3696" y="2304"/>
            <a:chExt cx="241" cy="336"/>
          </a:xfrm>
        </p:grpSpPr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BCA82579-325E-666E-288B-47BE4FA9FC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29" y="2471"/>
              <a:ext cx="336" cy="1"/>
            </a:xfrm>
            <a:prstGeom prst="line">
              <a:avLst/>
            </a:prstGeom>
            <a:noFill/>
            <a:ln w="57150">
              <a:solidFill>
                <a:srgbClr val="3366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267DCF04-C706-CD12-A886-EE00A5C96B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769" y="2471"/>
              <a:ext cx="336" cy="1"/>
            </a:xfrm>
            <a:prstGeom prst="line">
              <a:avLst/>
            </a:prstGeom>
            <a:noFill/>
            <a:ln w="57150">
              <a:solidFill>
                <a:srgbClr val="3366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30" name="Text Box 29">
            <a:extLst>
              <a:ext uri="{FF2B5EF4-FFF2-40B4-BE49-F238E27FC236}">
                <a16:creationId xmlns:a16="http://schemas.microsoft.com/office/drawing/2014/main" id="{F047FA13-E81F-5775-3CED-F07D4B333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343400"/>
            <a:ext cx="34163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HARDWIRED UNIT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 Application-specific logic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 Timers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 A/D and D/A conversion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4B099735-31BC-54AE-0919-07D9C379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667000"/>
            <a:ext cx="1327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MEMORY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EE040861-B16D-5601-CEF4-6724F2262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2667000"/>
            <a:ext cx="1809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PROCESSOR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70B9295B-0055-77D3-0ED6-44AC0C886815}"/>
              </a:ext>
            </a:extLst>
          </p:cNvPr>
          <p:cNvSpPr txBox="1">
            <a:spLocks noChangeArrowheads="1"/>
          </p:cNvSpPr>
          <p:nvPr/>
        </p:nvSpPr>
        <p:spPr bwMode="auto">
          <a:xfrm rot="16239497">
            <a:off x="703263" y="3563937"/>
            <a:ext cx="1428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SENSORS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BFB882AA-410E-D018-18A8-17F66F44F5B0}"/>
              </a:ext>
            </a:extLst>
          </p:cNvPr>
          <p:cNvSpPr txBox="1">
            <a:spLocks noChangeArrowheads="1"/>
          </p:cNvSpPr>
          <p:nvPr/>
        </p:nvSpPr>
        <p:spPr bwMode="auto">
          <a:xfrm rot="16212965">
            <a:off x="6660356" y="3664744"/>
            <a:ext cx="1782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ACTUATORS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644EF9EF-1F5A-67DD-FC85-C151997C3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295400"/>
            <a:ext cx="2757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EMBEDDED SYSTEM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13DACAE1-CE5A-3926-84EB-4ED1041C0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096000"/>
            <a:ext cx="206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ENVIRONMENT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064A91AD-6DD3-581C-9A00-BBBFAFB98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71600"/>
            <a:ext cx="892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USER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401F09-FB17-F493-5177-858AEF009C00}"/>
              </a:ext>
            </a:extLst>
          </p:cNvPr>
          <p:cNvGrpSpPr>
            <a:grpSpLocks/>
          </p:cNvGrpSpPr>
          <p:nvPr/>
        </p:nvGrpSpPr>
        <p:grpSpPr bwMode="auto">
          <a:xfrm rot="-2295869">
            <a:off x="1295400" y="1752600"/>
            <a:ext cx="382588" cy="533400"/>
            <a:chOff x="3696" y="2304"/>
            <a:chExt cx="241" cy="336"/>
          </a:xfrm>
        </p:grpSpPr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4D0F27B9-66FC-0C88-7171-6C2FE6D1E8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29" y="2471"/>
              <a:ext cx="336" cy="1"/>
            </a:xfrm>
            <a:prstGeom prst="line">
              <a:avLst/>
            </a:prstGeom>
            <a:noFill/>
            <a:ln w="57150">
              <a:solidFill>
                <a:srgbClr val="3366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C79ABB96-5330-E0C9-AE19-B85783D1DE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769" y="2471"/>
              <a:ext cx="336" cy="1"/>
            </a:xfrm>
            <a:prstGeom prst="line">
              <a:avLst/>
            </a:prstGeom>
            <a:noFill/>
            <a:ln w="57150">
              <a:solidFill>
                <a:srgbClr val="3366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336666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41" name="Text Box 40">
            <a:extLst>
              <a:ext uri="{FF2B5EF4-FFF2-40B4-BE49-F238E27FC236}">
                <a16:creationId xmlns:a16="http://schemas.microsoft.com/office/drawing/2014/main" id="{48EAF788-66CB-1486-9A61-10BCC197D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133600"/>
            <a:ext cx="520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I/O</a:t>
            </a:r>
          </a:p>
        </p:txBody>
      </p:sp>
    </p:spTree>
    <p:extLst>
      <p:ext uri="{BB962C8B-B14F-4D97-AF65-F5344CB8AC3E}">
        <p14:creationId xmlns:p14="http://schemas.microsoft.com/office/powerpoint/2010/main" val="301257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89F38-34EC-715E-3FDA-E8CA3F6BD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4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3E7E86-13AD-30C1-A263-C3B07D98B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55" y="589568"/>
            <a:ext cx="6221690" cy="619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36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85D472-37D8-6D45-C079-64F847096DAD}"/>
              </a:ext>
            </a:extLst>
          </p:cNvPr>
          <p:cNvSpPr txBox="1"/>
          <p:nvPr/>
        </p:nvSpPr>
        <p:spPr>
          <a:xfrm>
            <a:off x="0" y="544597"/>
            <a:ext cx="9104671" cy="614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2600" b="1" i="1" dirty="0">
                <a:solidFill>
                  <a:srgbClr val="00B050"/>
                </a:solidFill>
                <a:latin typeface="Consolas" panose="020B0609020204030204" pitchFamily="49" charset="0"/>
              </a:rPr>
              <a:t>Application specific </a:t>
            </a:r>
          </a:p>
          <a:p>
            <a:pPr marL="180000" indent="-18000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IN" sz="2600" dirty="0">
                <a:latin typeface="Consolas" panose="020B0609020204030204" pitchFamily="49" charset="0"/>
              </a:rPr>
              <a:t>Efficient</a:t>
            </a:r>
            <a:r>
              <a:rPr lang="en-IN" sz="2400" dirty="0">
                <a:latin typeface="Consolas" panose="020B0609020204030204" pitchFamily="49" charset="0"/>
              </a:rPr>
              <a:t> </a:t>
            </a:r>
          </a:p>
          <a:p>
            <a:pPr marL="342000" indent="-180000">
              <a:spcBef>
                <a:spcPts val="3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</a:pPr>
            <a:r>
              <a:rPr lang="en-IN" sz="2400" b="1" i="1" dirty="0">
                <a:solidFill>
                  <a:srgbClr val="FF0000"/>
                </a:solidFill>
                <a:latin typeface="Constantia" panose="02030602050306030303" pitchFamily="18" charset="0"/>
              </a:rPr>
              <a:t>energy, code size, weight and cost </a:t>
            </a:r>
          </a:p>
          <a:p>
            <a:pPr marL="180000" indent="-18000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IN" sz="2600" dirty="0">
                <a:latin typeface="Consolas" panose="020B0609020204030204" pitchFamily="49" charset="0"/>
              </a:rPr>
              <a:t>Dependable</a:t>
            </a:r>
            <a:endParaRPr lang="en-IN" sz="2400" dirty="0">
              <a:latin typeface="Consolas" panose="020B0609020204030204" pitchFamily="49" charset="0"/>
            </a:endParaRPr>
          </a:p>
          <a:p>
            <a:pPr marL="342000" marR="0" lvl="0" indent="-180000" algn="l" defTabSz="457200" rtl="0" eaLnBrk="1" fontAlgn="auto" latinLnBrk="0" hangingPunct="1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</a:rPr>
              <a:t>Reliability, maintainability, availability, safety, security</a:t>
            </a:r>
          </a:p>
          <a:p>
            <a:pPr marL="180000" indent="-18000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IN" sz="2600" dirty="0">
                <a:latin typeface="Consolas" panose="020B0609020204030204" pitchFamily="49" charset="0"/>
              </a:rPr>
              <a:t>Real-time constraints</a:t>
            </a:r>
          </a:p>
          <a:p>
            <a:pPr marL="342000" marR="0" lvl="0" indent="-180000" algn="l" defTabSz="457200" rtl="0" eaLnBrk="1" fontAlgn="auto" latinLnBrk="0" hangingPunct="1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</a:rPr>
              <a:t>Soft vs. hard</a:t>
            </a:r>
          </a:p>
          <a:p>
            <a:pPr marL="180000" indent="-18000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IN" sz="2600" dirty="0">
                <a:latin typeface="Consolas" panose="020B0609020204030204" pitchFamily="49" charset="0"/>
              </a:rPr>
              <a:t>Reactive - connected to physical environment  </a:t>
            </a:r>
          </a:p>
          <a:p>
            <a:pPr marL="342000" marR="0" lvl="0" indent="-180000" algn="l" defTabSz="457200" rtl="0" eaLnBrk="1" fontAlgn="auto" latinLnBrk="0" hangingPunct="1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</a:rPr>
              <a:t>sensors &amp; actuator</a:t>
            </a:r>
          </a:p>
          <a:p>
            <a:pPr marL="180000" indent="-18000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IN" sz="2600" dirty="0">
                <a:latin typeface="Consolas" panose="020B0609020204030204" pitchFamily="49" charset="0"/>
              </a:rPr>
              <a:t>Hybrid: Analog and digital </a:t>
            </a:r>
          </a:p>
          <a:p>
            <a:pPr marL="180000" indent="-18000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IN" sz="2600" dirty="0">
                <a:latin typeface="Consolas" panose="020B0609020204030204" pitchFamily="49" charset="0"/>
              </a:rPr>
              <a:t>Distributed </a:t>
            </a:r>
          </a:p>
          <a:p>
            <a:pPr marL="342000" marR="0" lvl="0" indent="-180000" algn="l" defTabSz="457200" rtl="0" eaLnBrk="1" fontAlgn="auto" latinLnBrk="0" hangingPunct="1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</a:rPr>
              <a:t>Composability, scalability, dependability </a:t>
            </a:r>
          </a:p>
          <a:p>
            <a:pPr marL="180000" indent="-180000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IN" sz="2600" dirty="0">
                <a:latin typeface="Consolas" panose="020B0609020204030204" pitchFamily="49" charset="0"/>
              </a:rPr>
              <a:t>Dedicated user interfaces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01EE6-9B8B-9F4E-B8A5-C0135E2CA0B0}"/>
              </a:ext>
            </a:extLst>
          </p:cNvPr>
          <p:cNvSpPr txBox="1"/>
          <p:nvPr/>
        </p:nvSpPr>
        <p:spPr>
          <a:xfrm>
            <a:off x="39329" y="36746"/>
            <a:ext cx="9104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cap="small" dirty="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Characteristics of Embedded Systems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278FFB-3B2B-1FC2-42D5-41E7CF21A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509" y="4253350"/>
            <a:ext cx="2772162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1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841F75-0BCD-8EA8-0D4E-D19CF1967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742"/>
            <a:ext cx="9144000" cy="3896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171C06-4F6A-DAC8-02E1-1CEED1955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17" y="52274"/>
            <a:ext cx="6995766" cy="6020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E9968E-13BD-A667-AB63-EAAE26D0A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32" y="4551217"/>
            <a:ext cx="6599935" cy="228355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474967-88E5-1382-B265-05EBAA142628}"/>
              </a:ext>
            </a:extLst>
          </p:cNvPr>
          <p:cNvCxnSpPr/>
          <p:nvPr/>
        </p:nvCxnSpPr>
        <p:spPr>
          <a:xfrm>
            <a:off x="1074117" y="3719945"/>
            <a:ext cx="10248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871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AAED7C-35FD-12A4-EDD7-4FA520BFC59D}"/>
              </a:ext>
            </a:extLst>
          </p:cNvPr>
          <p:cNvSpPr txBox="1"/>
          <p:nvPr/>
        </p:nvSpPr>
        <p:spPr>
          <a:xfrm>
            <a:off x="0" y="598834"/>
            <a:ext cx="91440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Raspberry Pi RP2040 is a microcontroller designed by 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Unlike              </a:t>
            </a:r>
            <a:r>
              <a:rPr lang="en-US" sz="3200" b="1" i="1" dirty="0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boards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single-board computer.</a:t>
            </a:r>
            <a:r>
              <a:rPr lang="en-US" sz="3200" b="1" i="1" dirty="0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RP2040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microcontroller, </a:t>
            </a:r>
          </a:p>
          <a:p>
            <a:pPr marL="1177200" indent="-457200">
              <a:spcBef>
                <a:spcPts val="24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to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specific tasks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marL="1177200" indent="-457200">
              <a:spcBef>
                <a:spcPts val="24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for years on a single battery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RP2040 is based on a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dual-core ARM Cortex-M0+ processor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it’s powerful enough to handle a wide range of applications.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71FB3-CA09-2C8B-8743-967A3ABEF007}"/>
              </a:ext>
            </a:extLst>
          </p:cNvPr>
          <p:cNvSpPr txBox="1"/>
          <p:nvPr/>
        </p:nvSpPr>
        <p:spPr>
          <a:xfrm>
            <a:off x="0" y="26368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What is Raspberry Pi RP2040?</a:t>
            </a:r>
          </a:p>
        </p:txBody>
      </p:sp>
    </p:spTree>
    <p:extLst>
      <p:ext uri="{BB962C8B-B14F-4D97-AF65-F5344CB8AC3E}">
        <p14:creationId xmlns:p14="http://schemas.microsoft.com/office/powerpoint/2010/main" val="104611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9D3481-69A3-1005-831F-8891D214E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59" b="3358"/>
          <a:stretch/>
        </p:blipFill>
        <p:spPr>
          <a:xfrm rot="5400000">
            <a:off x="2719739" y="2776486"/>
            <a:ext cx="5617333" cy="2156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8B92D-F16F-3874-2D0F-8FBF7DF47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51440" y="2762010"/>
            <a:ext cx="5695267" cy="226569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7F986BF-6445-9AC7-A259-C242E7AA0D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07129"/>
          </a:xfrm>
          <a:prstGeom prst="rect">
            <a:avLst/>
          </a:prstGeom>
          <a:solidFill>
            <a:srgbClr val="CCECFF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IN" sz="3600" dirty="0">
                <a:solidFill>
                  <a:srgbClr val="002060"/>
                </a:solidFill>
                <a:latin typeface="Castellar" panose="020A0402060406010301" pitchFamily="18" charset="0"/>
              </a:rPr>
              <a:t>Raspberry Pi PICO Boards</a:t>
            </a:r>
            <a:endParaRPr lang="en-IN" sz="3600" dirty="0">
              <a:solidFill>
                <a:srgbClr val="00206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977847-D9DD-339F-E722-2F50CB5F0497}"/>
              </a:ext>
            </a:extLst>
          </p:cNvPr>
          <p:cNvSpPr txBox="1"/>
          <p:nvPr/>
        </p:nvSpPr>
        <p:spPr>
          <a:xfrm>
            <a:off x="6766224" y="1432414"/>
            <a:ext cx="22656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PICO-W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DCE4E7-919F-892D-234C-5D6665F63837}"/>
              </a:ext>
            </a:extLst>
          </p:cNvPr>
          <p:cNvSpPr txBox="1"/>
          <p:nvPr/>
        </p:nvSpPr>
        <p:spPr>
          <a:xfrm>
            <a:off x="1" y="1080910"/>
            <a:ext cx="4450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Salient Features : -</a:t>
            </a: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D581CE-5FEC-9C6F-D91D-8D374FDCDA4E}"/>
              </a:ext>
            </a:extLst>
          </p:cNvPr>
          <p:cNvSpPr txBox="1"/>
          <p:nvPr/>
        </p:nvSpPr>
        <p:spPr>
          <a:xfrm>
            <a:off x="4427717" y="1326215"/>
            <a:ext cx="2156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PICO</a:t>
            </a: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336D0-B5B7-048A-48A7-9F59DF60A375}"/>
              </a:ext>
            </a:extLst>
          </p:cNvPr>
          <p:cNvSpPr txBox="1"/>
          <p:nvPr/>
        </p:nvSpPr>
        <p:spPr>
          <a:xfrm>
            <a:off x="4990522" y="3568560"/>
            <a:ext cx="1075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RP2040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4034D-C08A-07C4-29C8-62EB3FA42A14}"/>
              </a:ext>
            </a:extLst>
          </p:cNvPr>
          <p:cNvSpPr txBox="1"/>
          <p:nvPr/>
        </p:nvSpPr>
        <p:spPr>
          <a:xfrm>
            <a:off x="7361190" y="3818095"/>
            <a:ext cx="1075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RP2040</a:t>
            </a:r>
            <a:endParaRPr lang="en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50D1F-F356-9801-CAD7-237E982D8304}"/>
              </a:ext>
            </a:extLst>
          </p:cNvPr>
          <p:cNvSpPr txBox="1"/>
          <p:nvPr/>
        </p:nvSpPr>
        <p:spPr>
          <a:xfrm>
            <a:off x="0" y="1710329"/>
            <a:ext cx="4427715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  <a:latin typeface="TimesNewRomanPSMT"/>
              </a:rPr>
              <a:t>I</a:t>
            </a:r>
            <a:r>
              <a:rPr lang="en-US" sz="2400" b="0" i="0" u="none" strike="noStrike" baseline="0" dirty="0">
                <a:solidFill>
                  <a:srgbClr val="0000FF"/>
                </a:solidFill>
                <a:latin typeface="TimesNewRomanPSMT"/>
              </a:rPr>
              <a:t>nexpensive board </a:t>
            </a:r>
            <a:r>
              <a:rPr lang="en-US" sz="2400" b="0" i="0" u="none" strike="noStrike" baseline="0" dirty="0">
                <a:latin typeface="TimesNewRomanPSMT"/>
              </a:rPr>
              <a:t>for embedded applications</a:t>
            </a:r>
          </a:p>
          <a:p>
            <a:pPr marL="180000" indent="-1800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NewRomanPSMT"/>
              </a:rPr>
              <a:t>Programming Pico board</a:t>
            </a:r>
            <a:r>
              <a:rPr lang="en-US" sz="2400" b="1" i="0" u="none" strike="noStrike" baseline="0" dirty="0">
                <a:latin typeface="TimesNewRomanPSMT"/>
              </a:rPr>
              <a:t> :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TimesNewRomanPSMT"/>
              </a:rPr>
              <a:t> </a:t>
            </a:r>
            <a:r>
              <a:rPr lang="en-US" sz="2400" b="0" i="0" u="none" strike="noStrike" baseline="0" dirty="0">
                <a:latin typeface="TimesNewRomanPSMT"/>
              </a:rPr>
              <a:t>– </a:t>
            </a:r>
          </a:p>
          <a:p>
            <a:pPr marL="522900" indent="-342900" algn="l">
              <a:spcBef>
                <a:spcPts val="1800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200" b="1" i="0" u="none" strike="noStrike" baseline="0" dirty="0" err="1">
                <a:solidFill>
                  <a:srgbClr val="FF0000"/>
                </a:solidFill>
                <a:latin typeface="TimesNewRomanPSMT"/>
              </a:rPr>
              <a:t>MicroPython</a:t>
            </a:r>
            <a:r>
              <a:rPr lang="en-US" sz="2200" b="1" i="0" u="none" strike="noStrike" baseline="0" dirty="0">
                <a:solidFill>
                  <a:srgbClr val="FF0000"/>
                </a:solidFill>
                <a:latin typeface="TimesNewRomanPSMT"/>
              </a:rPr>
              <a:t> </a:t>
            </a:r>
            <a:r>
              <a:rPr lang="en-US" sz="2200" i="0" u="none" strike="noStrike" baseline="0" dirty="0">
                <a:latin typeface="TimesNewRomanPSMT"/>
              </a:rPr>
              <a:t>with</a:t>
            </a:r>
            <a:r>
              <a:rPr lang="en-US" sz="2200" b="1" i="0" u="none" strike="noStrike" baseline="0" dirty="0">
                <a:solidFill>
                  <a:srgbClr val="FF0000"/>
                </a:solidFill>
                <a:latin typeface="TimesNewRomanPSMT"/>
              </a:rPr>
              <a:t> </a:t>
            </a:r>
            <a:r>
              <a:rPr lang="en-US" sz="2000" b="1" i="0" u="none" strike="noStrike" baseline="0" dirty="0" err="1">
                <a:solidFill>
                  <a:srgbClr val="FF0000"/>
                </a:solidFill>
                <a:latin typeface="TimesNewRomanPSMT"/>
              </a:rPr>
              <a:t>Thonny</a:t>
            </a:r>
            <a:r>
              <a:rPr lang="en-US" sz="2000" b="0" i="0" u="none" strike="noStrike" baseline="0" dirty="0">
                <a:latin typeface="TimesNewRomanPSMT"/>
              </a:rPr>
              <a:t>, the Python IDE</a:t>
            </a:r>
            <a:r>
              <a:rPr lang="en-US" sz="2200" b="1" i="0" u="none" strike="noStrike" baseline="0" dirty="0">
                <a:solidFill>
                  <a:srgbClr val="FF0000"/>
                </a:solidFill>
                <a:latin typeface="TimesNewRomanPSMT"/>
              </a:rPr>
              <a:t> </a:t>
            </a:r>
          </a:p>
          <a:p>
            <a:pPr marL="522900" indent="-342900" algn="l">
              <a:spcBef>
                <a:spcPts val="1800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200" b="1" i="0" u="none" strike="noStrike" baseline="0" dirty="0">
                <a:solidFill>
                  <a:srgbClr val="002060"/>
                </a:solidFill>
                <a:latin typeface="TimesNewRomanPSMT"/>
              </a:rPr>
              <a:t>C</a:t>
            </a:r>
            <a:r>
              <a:rPr lang="en-US" sz="2200" b="1" i="0" u="none" strike="noStrike" baseline="0" dirty="0">
                <a:solidFill>
                  <a:srgbClr val="160C54"/>
                </a:solidFill>
                <a:latin typeface="TimesNewRomanPSMT"/>
              </a:rPr>
              <a:t>/C++ </a:t>
            </a:r>
            <a:r>
              <a:rPr lang="en-US" sz="2200" b="1" i="0" u="none" strike="noStrike" baseline="0" dirty="0">
                <a:latin typeface="TimesNewRomanPSMT"/>
              </a:rPr>
              <a:t>&amp;</a:t>
            </a:r>
            <a:r>
              <a:rPr lang="en-US" sz="2200" b="1" i="0" u="none" strike="noStrike" baseline="0" dirty="0">
                <a:solidFill>
                  <a:srgbClr val="FF0000"/>
                </a:solidFill>
                <a:latin typeface="TimesNewRomanPSMT"/>
              </a:rPr>
              <a:t> </a:t>
            </a:r>
          </a:p>
          <a:p>
            <a:pPr marL="522900" indent="-342900" algn="l">
              <a:spcBef>
                <a:spcPts val="1800"/>
              </a:spcBef>
              <a:buSzPct val="75000"/>
              <a:buFont typeface="Wingdings" panose="05000000000000000000" pitchFamily="2" charset="2"/>
              <a:buChar char="Ø"/>
            </a:pPr>
            <a:r>
              <a:rPr lang="en-US" sz="2200" b="1" i="0" u="none" strike="noStrike" baseline="0" dirty="0">
                <a:solidFill>
                  <a:srgbClr val="FF0000"/>
                </a:solidFill>
                <a:latin typeface="TimesNewRomanPSMT"/>
              </a:rPr>
              <a:t>Assembly </a:t>
            </a:r>
            <a:r>
              <a:rPr lang="en-US" sz="2200" i="0" u="none" strike="noStrike" baseline="0" dirty="0">
                <a:latin typeface="TimesNewRomanPSMT"/>
              </a:rPr>
              <a:t>Languages</a:t>
            </a:r>
            <a:endParaRPr lang="en-US" sz="2200" b="0" i="0" u="none" strike="noStrike" baseline="0" dirty="0">
              <a:latin typeface="TimesNewRomanPSMT"/>
            </a:endParaRPr>
          </a:p>
          <a:p>
            <a:pPr marL="180000" indent="-180000"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1" i="0" u="none" strike="noStrike" baseline="0" dirty="0">
                <a:solidFill>
                  <a:srgbClr val="FF0000"/>
                </a:solidFill>
                <a:latin typeface="TimesNewRomanPSMT"/>
              </a:rPr>
              <a:t>Raspberry Pi Pico </a:t>
            </a:r>
            <a:r>
              <a:rPr lang="en-US" sz="2400" i="0" u="none" strike="noStrike" baseline="0" dirty="0">
                <a:latin typeface="TimesNewRomanPSMT"/>
              </a:rPr>
              <a:t>supports</a:t>
            </a:r>
            <a:r>
              <a:rPr lang="en-US" sz="2400" b="1" i="0" u="none" strike="noStrike" baseline="0" dirty="0">
                <a:latin typeface="TimesNewRomanPSMT"/>
              </a:rPr>
              <a:t> </a:t>
            </a:r>
            <a:r>
              <a:rPr lang="en-US" sz="2400" b="0" i="0" u="none" strike="noStrike" baseline="0" dirty="0">
                <a:latin typeface="TimesNewRomanPSMT"/>
              </a:rPr>
              <a:t>a variety of embedded courses. </a:t>
            </a:r>
          </a:p>
        </p:txBody>
      </p:sp>
    </p:spTree>
    <p:extLst>
      <p:ext uri="{BB962C8B-B14F-4D97-AF65-F5344CB8AC3E}">
        <p14:creationId xmlns:p14="http://schemas.microsoft.com/office/powerpoint/2010/main" val="98347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B77959-638E-E539-1BFA-A0FA7B910BE5}"/>
              </a:ext>
            </a:extLst>
          </p:cNvPr>
          <p:cNvSpPr txBox="1"/>
          <p:nvPr/>
        </p:nvSpPr>
        <p:spPr>
          <a:xfrm>
            <a:off x="0" y="546835"/>
            <a:ext cx="9144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3000" b="1" i="1" dirty="0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incredibly affordable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prices starting at just $1. </a:t>
            </a:r>
          </a:p>
          <a:p>
            <a:pPr marL="285750" marR="0" lvl="0" indent="-285750" algn="l" defTabSz="457200" rtl="0" eaLnBrk="1" fontAlgn="auto" latinLnBrk="0" hangingPunct="1">
              <a:spcBef>
                <a:spcPts val="18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000" b="1" i="1" dirty="0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incredibly powerful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yet the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most energy-efficient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microcontroller.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3000" b="1" i="1" dirty="0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b="1" i="1" dirty="0" err="1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MicroPython</a:t>
            </a:r>
            <a:r>
              <a:rPr lang="en-US" sz="3000" b="1" i="1" dirty="0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support. 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Programmable I/O (PIO)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3B4045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,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B4045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flexible I/O enables Raspberry Pi Pico to talk to almost any external device.</a:t>
            </a:r>
          </a:p>
          <a:p>
            <a:pPr marL="285750" marR="0" lvl="0" indent="-285750" algn="l" defTabSz="457200" rtl="0" eaLnBrk="1" fontAlgn="auto" latinLnBrk="0" hangingPunct="1">
              <a:spcBef>
                <a:spcPts val="18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 good platform for endpoint AI: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TinyML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rgbClr val="3413AD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-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to run machine learning (ML) models to do sensor-based analysis such as </a:t>
            </a:r>
          </a:p>
          <a:p>
            <a:pPr marL="1177200" marR="0" lvl="0" indent="-457200" algn="l" defTabSz="457200" rtl="0" eaLnBrk="1" fontAlgn="auto" latinLnBrk="0" hangingPunct="1"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voice and image recognition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and </a:t>
            </a:r>
          </a:p>
          <a:p>
            <a:pPr marL="1177200" marR="0" lvl="0" indent="-457200" algn="l" defTabSz="457200" rtl="0" eaLnBrk="1" fontAlgn="auto" latinLnBrk="0" hangingPunct="1"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accelerometer-based gesture recognition.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F0AB0-F8C0-C019-18C5-2F5FE20CA088}"/>
              </a:ext>
            </a:extLst>
          </p:cNvPr>
          <p:cNvSpPr txBox="1"/>
          <p:nvPr/>
        </p:nvSpPr>
        <p:spPr>
          <a:xfrm>
            <a:off x="0" y="2802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Why is the Raspberry Pi RP2040 a Game-Changer?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CA155-85FD-A0CB-2053-D913587D9F80}"/>
              </a:ext>
            </a:extLst>
          </p:cNvPr>
          <p:cNvSpPr/>
          <p:nvPr/>
        </p:nvSpPr>
        <p:spPr>
          <a:xfrm>
            <a:off x="311085" y="3073138"/>
            <a:ext cx="8710367" cy="10275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005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7A0C6DF0-16EB-3374-0C1E-5962E2C58DCD}"/>
              </a:ext>
            </a:extLst>
          </p:cNvPr>
          <p:cNvSpPr/>
          <p:nvPr/>
        </p:nvSpPr>
        <p:spPr>
          <a:xfrm>
            <a:off x="3947140" y="294126"/>
            <a:ext cx="4892932" cy="6420442"/>
          </a:xfrm>
          <a:prstGeom prst="roundRect">
            <a:avLst>
              <a:gd name="adj" fmla="val 504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79686163-4DD0-FFE6-1648-5510EC212C78}"/>
              </a:ext>
            </a:extLst>
          </p:cNvPr>
          <p:cNvSpPr txBox="1">
            <a:spLocks/>
          </p:cNvSpPr>
          <p:nvPr/>
        </p:nvSpPr>
        <p:spPr>
          <a:xfrm>
            <a:off x="-3972" y="14442"/>
            <a:ext cx="3681481" cy="44227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IN" sz="2200" dirty="0">
                <a:solidFill>
                  <a:srgbClr val="FF0000"/>
                </a:solidFill>
                <a:latin typeface="Comic Sans MS" panose="030F0702030302020204" pitchFamily="66" charset="0"/>
              </a:rPr>
              <a:t>Raspberry Pi PICO 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25B42-55B9-F47B-0F41-F96048A8719C}"/>
              </a:ext>
            </a:extLst>
          </p:cNvPr>
          <p:cNvSpPr txBox="1"/>
          <p:nvPr/>
        </p:nvSpPr>
        <p:spPr>
          <a:xfrm>
            <a:off x="93937" y="709319"/>
            <a:ext cx="3718232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Dual ARM Cortex-M0+ </a:t>
            </a:r>
            <a:r>
              <a:rPr lang="en-US" sz="2000" b="0" i="0" dirty="0">
                <a:solidFill>
                  <a:srgbClr val="34444C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cores. Clock frequency up to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133 </a:t>
            </a:r>
            <a:r>
              <a:rPr lang="en-US" sz="2000" b="0" i="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MHz</a:t>
            </a:r>
            <a:r>
              <a:rPr lang="en-US" sz="2000" b="0" i="0" dirty="0" err="1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.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SRAM (264 kB)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836D1B-ADF3-8664-6F38-327D211A81FE}"/>
              </a:ext>
            </a:extLst>
          </p:cNvPr>
          <p:cNvSpPr txBox="1"/>
          <p:nvPr/>
        </p:nvSpPr>
        <p:spPr>
          <a:xfrm>
            <a:off x="96957" y="1861432"/>
            <a:ext cx="3715211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US" sz="20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DMA bus masters </a:t>
            </a:r>
            <a:r>
              <a:rPr lang="en-US" sz="20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can be used to off-load repetitive data transfer tasks from the processors.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3B6E68-C3AB-C55F-821C-B420BC288AE9}"/>
              </a:ext>
            </a:extLst>
          </p:cNvPr>
          <p:cNvSpPr txBox="1"/>
          <p:nvPr/>
        </p:nvSpPr>
        <p:spPr>
          <a:xfrm>
            <a:off x="107415" y="3039889"/>
            <a:ext cx="3704753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0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Flexible </a:t>
            </a:r>
            <a:r>
              <a:rPr lang="en-US" sz="200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and</a:t>
            </a:r>
            <a:r>
              <a:rPr lang="en-US" sz="20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configurable PIO controllers </a:t>
            </a:r>
            <a:r>
              <a:rPr lang="en-US" sz="20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can be used to provide a wide variety of IO functions.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6B9DFC-3208-3209-6F76-217EF3866803}"/>
              </a:ext>
            </a:extLst>
          </p:cNvPr>
          <p:cNvSpPr txBox="1"/>
          <p:nvPr/>
        </p:nvSpPr>
        <p:spPr>
          <a:xfrm>
            <a:off x="92015" y="4184383"/>
            <a:ext cx="3715211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000" b="1" i="1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Single-cycle IO block (SIO)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several peripherals that require </a:t>
            </a:r>
            <a:r>
              <a:rPr lang="en-US" sz="2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low-latency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access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processors including </a:t>
            </a:r>
            <a:r>
              <a:rPr lang="en-US" sz="20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pins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EF0CCDA-12C9-8803-D7A2-48269CBDE4E5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3812168" y="1320931"/>
            <a:ext cx="2844714" cy="10483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6EC1A37-875B-E0E4-B1A5-AA47178AF25E}"/>
              </a:ext>
            </a:extLst>
          </p:cNvPr>
          <p:cNvCxnSpPr>
            <a:cxnSpLocks/>
          </p:cNvCxnSpPr>
          <p:nvPr/>
        </p:nvCxnSpPr>
        <p:spPr>
          <a:xfrm flipV="1">
            <a:off x="3789758" y="1302793"/>
            <a:ext cx="418954" cy="3209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46CA19-4582-3EF0-9285-FC286B7EB753}"/>
              </a:ext>
            </a:extLst>
          </p:cNvPr>
          <p:cNvCxnSpPr>
            <a:cxnSpLocks/>
          </p:cNvCxnSpPr>
          <p:nvPr/>
        </p:nvCxnSpPr>
        <p:spPr>
          <a:xfrm flipV="1">
            <a:off x="3777787" y="1390560"/>
            <a:ext cx="1661083" cy="2331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C89D62B8-A9DE-43D4-33AA-2143DC4B6638}"/>
              </a:ext>
            </a:extLst>
          </p:cNvPr>
          <p:cNvSpPr/>
          <p:nvPr/>
        </p:nvSpPr>
        <p:spPr>
          <a:xfrm>
            <a:off x="5298382" y="570963"/>
            <a:ext cx="1027611" cy="9666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81563C-E2FA-CA18-E2F6-F5751A6D879D}"/>
              </a:ext>
            </a:extLst>
          </p:cNvPr>
          <p:cNvSpPr/>
          <p:nvPr/>
        </p:nvSpPr>
        <p:spPr>
          <a:xfrm>
            <a:off x="4135800" y="570963"/>
            <a:ext cx="1027611" cy="9666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535991-25F7-9A19-E729-5F643DB6502A}"/>
              </a:ext>
            </a:extLst>
          </p:cNvPr>
          <p:cNvSpPr/>
          <p:nvPr/>
        </p:nvSpPr>
        <p:spPr>
          <a:xfrm>
            <a:off x="7706554" y="535453"/>
            <a:ext cx="1027611" cy="96665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E0D946-988C-D024-FAC3-E1A708128E84}"/>
              </a:ext>
            </a:extLst>
          </p:cNvPr>
          <p:cNvSpPr/>
          <p:nvPr/>
        </p:nvSpPr>
        <p:spPr>
          <a:xfrm>
            <a:off x="6567789" y="535453"/>
            <a:ext cx="1027611" cy="96665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954A9-1277-6891-3A62-37F0CA767776}"/>
              </a:ext>
            </a:extLst>
          </p:cNvPr>
          <p:cNvSpPr txBox="1"/>
          <p:nvPr/>
        </p:nvSpPr>
        <p:spPr>
          <a:xfrm>
            <a:off x="4135800" y="869622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rial Narrow" panose="020B0606020202030204" pitchFamily="34" charset="0"/>
              </a:rPr>
              <a:t>CORE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AA640A-F8DD-BB3C-E317-1CE218CBFD92}"/>
              </a:ext>
            </a:extLst>
          </p:cNvPr>
          <p:cNvSpPr txBox="1"/>
          <p:nvPr/>
        </p:nvSpPr>
        <p:spPr>
          <a:xfrm>
            <a:off x="5294035" y="880115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rial Narrow" panose="020B0606020202030204" pitchFamily="34" charset="0"/>
              </a:rPr>
              <a:t>CORE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19769-FCA8-CF3F-0129-B8CB69800B9F}"/>
              </a:ext>
            </a:extLst>
          </p:cNvPr>
          <p:cNvSpPr txBox="1"/>
          <p:nvPr/>
        </p:nvSpPr>
        <p:spPr>
          <a:xfrm>
            <a:off x="6572136" y="610751"/>
            <a:ext cx="1027611" cy="968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rial Narrow" panose="020B0606020202030204" pitchFamily="34" charset="0"/>
              </a:rPr>
              <a:t>DMA </a:t>
            </a:r>
          </a:p>
          <a:p>
            <a:pPr algn="ctr"/>
            <a:r>
              <a:rPr lang="en-IN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Bus Master</a:t>
            </a:r>
          </a:p>
          <a:p>
            <a:pPr algn="ctr"/>
            <a:r>
              <a:rPr lang="en-IN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WRITE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847A3-B748-F3E9-0B84-249E621392A7}"/>
              </a:ext>
            </a:extLst>
          </p:cNvPr>
          <p:cNvSpPr txBox="1"/>
          <p:nvPr/>
        </p:nvSpPr>
        <p:spPr>
          <a:xfrm>
            <a:off x="7710901" y="618024"/>
            <a:ext cx="1027611" cy="968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rial Narrow" panose="020B0606020202030204" pitchFamily="34" charset="0"/>
              </a:rPr>
              <a:t>DMA </a:t>
            </a:r>
          </a:p>
          <a:p>
            <a:pPr algn="ctr"/>
            <a:r>
              <a:rPr lang="en-IN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Bus Master</a:t>
            </a:r>
          </a:p>
          <a:p>
            <a:pPr algn="ctr"/>
            <a:r>
              <a:rPr lang="en-IN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1EE1FB-0FAA-ADC2-EB54-89D083ADB538}"/>
              </a:ext>
            </a:extLst>
          </p:cNvPr>
          <p:cNvSpPr/>
          <p:nvPr/>
        </p:nvSpPr>
        <p:spPr>
          <a:xfrm>
            <a:off x="5591460" y="1777021"/>
            <a:ext cx="1311613" cy="4937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6F9F3B8-7881-9539-27EF-6399EB99BF6A}"/>
              </a:ext>
            </a:extLst>
          </p:cNvPr>
          <p:cNvSpPr/>
          <p:nvPr/>
        </p:nvSpPr>
        <p:spPr>
          <a:xfrm>
            <a:off x="6903072" y="3578113"/>
            <a:ext cx="2133513" cy="584776"/>
          </a:xfrm>
          <a:prstGeom prst="rightArrow">
            <a:avLst>
              <a:gd name="adj1" fmla="val 50000"/>
              <a:gd name="adj2" fmla="val 30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5E6EAC-2E82-EE5D-3B65-08E1027F6E06}"/>
              </a:ext>
            </a:extLst>
          </p:cNvPr>
          <p:cNvSpPr txBox="1"/>
          <p:nvPr/>
        </p:nvSpPr>
        <p:spPr>
          <a:xfrm>
            <a:off x="1228023" y="5998999"/>
            <a:ext cx="2549764" cy="70788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GB Flash Memory</a:t>
            </a:r>
          </a:p>
          <a:p>
            <a:pPr algn="ctr"/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(Onboard)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B8616-A813-95FD-5088-52EBB1A628BD}"/>
              </a:ext>
            </a:extLst>
          </p:cNvPr>
          <p:cNvSpPr/>
          <p:nvPr/>
        </p:nvSpPr>
        <p:spPr>
          <a:xfrm>
            <a:off x="5849184" y="3029574"/>
            <a:ext cx="818602" cy="392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59CF57-39E1-21B9-4025-A8D33F4E1128}"/>
              </a:ext>
            </a:extLst>
          </p:cNvPr>
          <p:cNvSpPr txBox="1"/>
          <p:nvPr/>
        </p:nvSpPr>
        <p:spPr>
          <a:xfrm>
            <a:off x="6903073" y="3703995"/>
            <a:ext cx="181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rial Narrow" panose="020B0606020202030204" pitchFamily="34" charset="0"/>
              </a:rPr>
              <a:t>26+4 GPIO Pins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2EE410-1C3B-C1D7-E1F9-C82B2AD16268}"/>
              </a:ext>
            </a:extLst>
          </p:cNvPr>
          <p:cNvSpPr/>
          <p:nvPr/>
        </p:nvSpPr>
        <p:spPr>
          <a:xfrm>
            <a:off x="5849184" y="3610500"/>
            <a:ext cx="818602" cy="392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9F61FA-EC3F-FF3F-C940-CC3BCDDAC7F8}"/>
              </a:ext>
            </a:extLst>
          </p:cNvPr>
          <p:cNvSpPr txBox="1"/>
          <p:nvPr/>
        </p:nvSpPr>
        <p:spPr>
          <a:xfrm>
            <a:off x="5884521" y="3037206"/>
            <a:ext cx="78326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SIO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6AF764-84BD-CDD2-1BC9-7593F4A9D89B}"/>
              </a:ext>
            </a:extLst>
          </p:cNvPr>
          <p:cNvSpPr/>
          <p:nvPr/>
        </p:nvSpPr>
        <p:spPr>
          <a:xfrm>
            <a:off x="5849184" y="4091848"/>
            <a:ext cx="818602" cy="392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13C343-5F22-0A57-F679-FB47C39755EA}"/>
              </a:ext>
            </a:extLst>
          </p:cNvPr>
          <p:cNvSpPr txBox="1"/>
          <p:nvPr/>
        </p:nvSpPr>
        <p:spPr>
          <a:xfrm>
            <a:off x="5849184" y="3625959"/>
            <a:ext cx="8186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Arial Narrow" panose="020B0606020202030204" pitchFamily="34" charset="0"/>
              </a:rPr>
              <a:t>SPI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D9FFDB-4EBF-67BD-D1A0-26F6B06FF93C}"/>
              </a:ext>
            </a:extLst>
          </p:cNvPr>
          <p:cNvSpPr/>
          <p:nvPr/>
        </p:nvSpPr>
        <p:spPr>
          <a:xfrm>
            <a:off x="5849184" y="4584757"/>
            <a:ext cx="818602" cy="392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972CAD-2910-C7DF-5CC1-238370DA0E98}"/>
              </a:ext>
            </a:extLst>
          </p:cNvPr>
          <p:cNvSpPr txBox="1"/>
          <p:nvPr/>
        </p:nvSpPr>
        <p:spPr>
          <a:xfrm>
            <a:off x="5849184" y="4118955"/>
            <a:ext cx="8186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Arial Narrow" panose="020B0606020202030204" pitchFamily="34" charset="0"/>
              </a:rPr>
              <a:t>I2C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793A17-26BF-D1B8-1C85-61FC493B9B79}"/>
              </a:ext>
            </a:extLst>
          </p:cNvPr>
          <p:cNvSpPr/>
          <p:nvPr/>
        </p:nvSpPr>
        <p:spPr>
          <a:xfrm>
            <a:off x="5849184" y="5082703"/>
            <a:ext cx="818602" cy="392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4910E2-C9D4-968F-8BF2-8D7E83F01F02}"/>
              </a:ext>
            </a:extLst>
          </p:cNvPr>
          <p:cNvSpPr txBox="1"/>
          <p:nvPr/>
        </p:nvSpPr>
        <p:spPr>
          <a:xfrm>
            <a:off x="5849184" y="4599058"/>
            <a:ext cx="8186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Arial Narrow" panose="020B0606020202030204" pitchFamily="34" charset="0"/>
              </a:rPr>
              <a:t>PWM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16ACC9-26B5-7E98-7DCE-1534A944A451}"/>
              </a:ext>
            </a:extLst>
          </p:cNvPr>
          <p:cNvSpPr txBox="1"/>
          <p:nvPr/>
        </p:nvSpPr>
        <p:spPr>
          <a:xfrm>
            <a:off x="5827090" y="1984222"/>
            <a:ext cx="8296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rial Narrow" panose="020B0606020202030204" pitchFamily="34" charset="0"/>
              </a:rPr>
              <a:t>GPIO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F8DE85-F4EE-0B13-63B4-D85FB92EF8C0}"/>
              </a:ext>
            </a:extLst>
          </p:cNvPr>
          <p:cNvSpPr txBox="1"/>
          <p:nvPr/>
        </p:nvSpPr>
        <p:spPr>
          <a:xfrm>
            <a:off x="5849184" y="2509982"/>
            <a:ext cx="8186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PIO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E4E8A1-40C8-40C0-FEBC-CC15DBB72779}"/>
              </a:ext>
            </a:extLst>
          </p:cNvPr>
          <p:cNvSpPr txBox="1"/>
          <p:nvPr/>
        </p:nvSpPr>
        <p:spPr>
          <a:xfrm>
            <a:off x="5849184" y="5080536"/>
            <a:ext cx="8186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Arial Narrow" panose="020B0606020202030204" pitchFamily="34" charset="0"/>
              </a:rPr>
              <a:t>UART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5CE7D6-A881-7CCF-F11A-AB306FB5BE4C}"/>
              </a:ext>
            </a:extLst>
          </p:cNvPr>
          <p:cNvSpPr txBox="1"/>
          <p:nvPr/>
        </p:nvSpPr>
        <p:spPr>
          <a:xfrm>
            <a:off x="5849184" y="1970421"/>
            <a:ext cx="8186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Arial Narrow" panose="020B0606020202030204" pitchFamily="34" charset="0"/>
              </a:rPr>
              <a:t>GPIO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B16AF8-EADD-1C0B-1285-D15FCA372A64}"/>
              </a:ext>
            </a:extLst>
          </p:cNvPr>
          <p:cNvSpPr/>
          <p:nvPr/>
        </p:nvSpPr>
        <p:spPr>
          <a:xfrm>
            <a:off x="5838137" y="5579852"/>
            <a:ext cx="818602" cy="392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BA096B-0FBA-495F-00A4-BC1522ADDCE7}"/>
              </a:ext>
            </a:extLst>
          </p:cNvPr>
          <p:cNvSpPr txBox="1"/>
          <p:nvPr/>
        </p:nvSpPr>
        <p:spPr>
          <a:xfrm>
            <a:off x="5838137" y="5577685"/>
            <a:ext cx="81860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Arial Narrow" panose="020B0606020202030204" pitchFamily="34" charset="0"/>
              </a:rPr>
              <a:t>ADC</a:t>
            </a:r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2F930E0C-3217-3DF5-93A4-36F8DEC88286}"/>
              </a:ext>
            </a:extLst>
          </p:cNvPr>
          <p:cNvSpPr/>
          <p:nvPr/>
        </p:nvSpPr>
        <p:spPr>
          <a:xfrm>
            <a:off x="6903244" y="5453173"/>
            <a:ext cx="543818" cy="297412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D8B3CF13-9157-426E-34EC-119EB84A8E9F}"/>
              </a:ext>
            </a:extLst>
          </p:cNvPr>
          <p:cNvSpPr/>
          <p:nvPr/>
        </p:nvSpPr>
        <p:spPr>
          <a:xfrm>
            <a:off x="7217282" y="4026726"/>
            <a:ext cx="299346" cy="1646514"/>
          </a:xfrm>
          <a:prstGeom prst="downArrow">
            <a:avLst>
              <a:gd name="adj1" fmla="val 50000"/>
              <a:gd name="adj2" fmla="val 266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3C2100-1ED5-D221-6D35-CF4A9BF69A38}"/>
              </a:ext>
            </a:extLst>
          </p:cNvPr>
          <p:cNvSpPr/>
          <p:nvPr/>
        </p:nvSpPr>
        <p:spPr>
          <a:xfrm>
            <a:off x="7447062" y="5516151"/>
            <a:ext cx="370124" cy="251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E550CE-065F-0803-DCBB-4567BD5CF7C4}"/>
              </a:ext>
            </a:extLst>
          </p:cNvPr>
          <p:cNvSpPr txBox="1"/>
          <p:nvPr/>
        </p:nvSpPr>
        <p:spPr>
          <a:xfrm>
            <a:off x="7422785" y="4090304"/>
            <a:ext cx="14171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3 are ADC capable </a:t>
            </a:r>
            <a:r>
              <a:rPr lang="en-US" sz="1800" b="0" i="0" dirty="0">
                <a:solidFill>
                  <a:srgbClr val="3B4045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inputs which are shared with GPIO pins.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23AEE12-20DE-A2D7-8B2F-42E865B7639F}"/>
              </a:ext>
            </a:extLst>
          </p:cNvPr>
          <p:cNvCxnSpPr>
            <a:cxnSpLocks/>
          </p:cNvCxnSpPr>
          <p:nvPr/>
        </p:nvCxnSpPr>
        <p:spPr>
          <a:xfrm flipV="1">
            <a:off x="5618198" y="1433815"/>
            <a:ext cx="2346579" cy="2616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708D26B-1094-EE99-2F76-AD12DE8CFE10}"/>
              </a:ext>
            </a:extLst>
          </p:cNvPr>
          <p:cNvSpPr txBox="1"/>
          <p:nvPr/>
        </p:nvSpPr>
        <p:spPr>
          <a:xfrm>
            <a:off x="5179759" y="102310"/>
            <a:ext cx="2740048" cy="369332"/>
          </a:xfrm>
          <a:prstGeom prst="rect">
            <a:avLst/>
          </a:prstGeom>
          <a:solidFill>
            <a:srgbClr val="FFFFCC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srgbClr val="002060"/>
                </a:solidFill>
                <a:latin typeface="Comic Sans MS" panose="030F0702030302020204" pitchFamily="66" charset="0"/>
              </a:rPr>
              <a:t>RP2040 Microcontroller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188F3C8-3EDA-CF78-47BF-1AA8A17A02D0}"/>
              </a:ext>
            </a:extLst>
          </p:cNvPr>
          <p:cNvSpPr/>
          <p:nvPr/>
        </p:nvSpPr>
        <p:spPr>
          <a:xfrm flipV="1">
            <a:off x="7193390" y="2607142"/>
            <a:ext cx="319248" cy="1115616"/>
          </a:xfrm>
          <a:prstGeom prst="downArrow">
            <a:avLst>
              <a:gd name="adj1" fmla="val 50000"/>
              <a:gd name="adj2" fmla="val 686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1547EB-CCE3-69B9-E387-7F994E4C17E1}"/>
              </a:ext>
            </a:extLst>
          </p:cNvPr>
          <p:cNvSpPr txBox="1"/>
          <p:nvPr/>
        </p:nvSpPr>
        <p:spPr>
          <a:xfrm>
            <a:off x="7470828" y="2250177"/>
            <a:ext cx="14641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Four</a:t>
            </a:r>
            <a:r>
              <a:rPr lang="en-US" sz="1800" b="0" i="0" dirty="0">
                <a:effectLst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 GPIO pins are used for internal board functions</a:t>
            </a:r>
            <a:endParaRPr lang="en-IN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5E478A9-235E-925E-0797-7485AEB190BF}"/>
              </a:ext>
            </a:extLst>
          </p:cNvPr>
          <p:cNvSpPr/>
          <p:nvPr/>
        </p:nvSpPr>
        <p:spPr>
          <a:xfrm flipH="1">
            <a:off x="3777957" y="6213352"/>
            <a:ext cx="2055659" cy="307778"/>
          </a:xfrm>
          <a:prstGeom prst="rightArrow">
            <a:avLst/>
          </a:prstGeom>
          <a:solidFill>
            <a:srgbClr val="FF00FF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897FD2-DDDB-E9FE-F216-1BE1DD1487F8}"/>
              </a:ext>
            </a:extLst>
          </p:cNvPr>
          <p:cNvSpPr txBox="1"/>
          <p:nvPr/>
        </p:nvSpPr>
        <p:spPr>
          <a:xfrm>
            <a:off x="5849184" y="6152887"/>
            <a:ext cx="808655" cy="400110"/>
          </a:xfrm>
          <a:prstGeom prst="rect">
            <a:avLst/>
          </a:prstGeom>
          <a:solidFill>
            <a:srgbClr val="FF00FF"/>
          </a:solidFill>
          <a:ln>
            <a:solidFill>
              <a:srgbClr val="FF339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QSPI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2816193-46F8-8D9A-005E-2F52E4C175C8}"/>
              </a:ext>
            </a:extLst>
          </p:cNvPr>
          <p:cNvCxnSpPr/>
          <p:nvPr/>
        </p:nvCxnSpPr>
        <p:spPr>
          <a:xfrm>
            <a:off x="206188" y="540710"/>
            <a:ext cx="3234042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795F46-D6C1-2154-F85E-2DDC314C11B5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812168" y="2704623"/>
            <a:ext cx="2177428" cy="8430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149ED27-A822-36D6-1748-29E10FA8882A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3807226" y="3331437"/>
            <a:ext cx="2140118" cy="166855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973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B6CE8D-5BE8-AF59-9279-0BF1E95F5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439167"/>
            <a:ext cx="8401050" cy="5610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212583-6ED7-4C24-0815-79CD6D9D232B}"/>
              </a:ext>
            </a:extLst>
          </p:cNvPr>
          <p:cNvSpPr txBox="1"/>
          <p:nvPr/>
        </p:nvSpPr>
        <p:spPr>
          <a:xfrm>
            <a:off x="0" y="603178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RP2040 processor consists of two Arm Cortex-M0+ processors — each with its standard internal Arm CPU peripherals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20703-3016-30BD-3A6D-5298429204B0}"/>
              </a:ext>
            </a:extLst>
          </p:cNvPr>
          <p:cNvSpPr txBox="1"/>
          <p:nvPr/>
        </p:nvSpPr>
        <p:spPr>
          <a:xfrm>
            <a:off x="0" y="1723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RP2040 Microcontroller - Architecture</a:t>
            </a:r>
            <a:endParaRPr lang="en-IN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20298-2FDD-F50F-CEC9-C66398A71B4A}"/>
              </a:ext>
            </a:extLst>
          </p:cNvPr>
          <p:cNvSpPr txBox="1"/>
          <p:nvPr/>
        </p:nvSpPr>
        <p:spPr>
          <a:xfrm>
            <a:off x="4518213" y="567299"/>
            <a:ext cx="39607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rgbClr val="291AEE"/>
                </a:solidFill>
                <a:latin typeface="Comic Sans MS" panose="030F0702030302020204" pitchFamily="66" charset="0"/>
              </a:rPr>
              <a:t>RP2040 Microcontroller</a:t>
            </a:r>
            <a:endParaRPr lang="en-IN" sz="2000" dirty="0">
              <a:solidFill>
                <a:srgbClr val="291AEE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CFB9A0-91BF-5476-521E-66E4B637C91E}"/>
              </a:ext>
            </a:extLst>
          </p:cNvPr>
          <p:cNvSpPr/>
          <p:nvPr/>
        </p:nvSpPr>
        <p:spPr>
          <a:xfrm>
            <a:off x="4928798" y="1468111"/>
            <a:ext cx="770660" cy="630315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525EAC-EF8A-725B-5377-41CD9A4CE3E8}"/>
              </a:ext>
            </a:extLst>
          </p:cNvPr>
          <p:cNvSpPr/>
          <p:nvPr/>
        </p:nvSpPr>
        <p:spPr>
          <a:xfrm>
            <a:off x="5563328" y="1917588"/>
            <a:ext cx="1062359" cy="6303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9ADEA0-2AA3-B2B7-D740-6C4534CE31E9}"/>
              </a:ext>
            </a:extLst>
          </p:cNvPr>
          <p:cNvSpPr/>
          <p:nvPr/>
        </p:nvSpPr>
        <p:spPr>
          <a:xfrm>
            <a:off x="4678529" y="3971747"/>
            <a:ext cx="958789" cy="6303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5D82A3-CFE6-F10F-C685-A0592DF29436}"/>
              </a:ext>
            </a:extLst>
          </p:cNvPr>
          <p:cNvSpPr/>
          <p:nvPr/>
        </p:nvSpPr>
        <p:spPr>
          <a:xfrm>
            <a:off x="6424468" y="1468111"/>
            <a:ext cx="770660" cy="630315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BE463A-97C7-7F49-D2FB-B23F2E07C5BE}"/>
              </a:ext>
            </a:extLst>
          </p:cNvPr>
          <p:cNvSpPr/>
          <p:nvPr/>
        </p:nvSpPr>
        <p:spPr>
          <a:xfrm>
            <a:off x="640665" y="3490003"/>
            <a:ext cx="958789" cy="6303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715AE2-BE8D-19A0-C2AE-CEA294BFFE1F}"/>
              </a:ext>
            </a:extLst>
          </p:cNvPr>
          <p:cNvCxnSpPr/>
          <p:nvPr/>
        </p:nvCxnSpPr>
        <p:spPr>
          <a:xfrm flipH="1">
            <a:off x="1526954" y="2547903"/>
            <a:ext cx="332024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1D5E2E-68A7-38E7-3AC5-9BA0A69CC988}"/>
              </a:ext>
            </a:extLst>
          </p:cNvPr>
          <p:cNvCxnSpPr/>
          <p:nvPr/>
        </p:nvCxnSpPr>
        <p:spPr>
          <a:xfrm flipH="1">
            <a:off x="1953082" y="5264526"/>
            <a:ext cx="332024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Beveled 1">
            <a:hlinkClick r:id="rId4" action="ppaction://hlinksldjump"/>
            <a:extLst>
              <a:ext uri="{FF2B5EF4-FFF2-40B4-BE49-F238E27FC236}">
                <a16:creationId xmlns:a16="http://schemas.microsoft.com/office/drawing/2014/main" id="{426C514F-FBE0-4478-3053-11C8ACE07E2F}"/>
              </a:ext>
            </a:extLst>
          </p:cNvPr>
          <p:cNvSpPr/>
          <p:nvPr/>
        </p:nvSpPr>
        <p:spPr>
          <a:xfrm>
            <a:off x="7762380" y="1225368"/>
            <a:ext cx="442893" cy="43426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Beveled 7">
            <a:hlinkClick r:id="rId5" action="ppaction://hlinksldjump"/>
            <a:extLst>
              <a:ext uri="{FF2B5EF4-FFF2-40B4-BE49-F238E27FC236}">
                <a16:creationId xmlns:a16="http://schemas.microsoft.com/office/drawing/2014/main" id="{C2768AE8-76BA-E4F7-606D-A44E7401B55B}"/>
              </a:ext>
            </a:extLst>
          </p:cNvPr>
          <p:cNvSpPr/>
          <p:nvPr/>
        </p:nvSpPr>
        <p:spPr>
          <a:xfrm>
            <a:off x="7738385" y="3046003"/>
            <a:ext cx="442893" cy="43426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Beveled 4">
            <a:hlinkClick r:id="rId6" action="ppaction://hlinksldjump"/>
            <a:extLst>
              <a:ext uri="{FF2B5EF4-FFF2-40B4-BE49-F238E27FC236}">
                <a16:creationId xmlns:a16="http://schemas.microsoft.com/office/drawing/2014/main" id="{C478D3F9-70E1-2CA2-2FC4-2304A6D75265}"/>
              </a:ext>
            </a:extLst>
          </p:cNvPr>
          <p:cNvSpPr/>
          <p:nvPr/>
        </p:nvSpPr>
        <p:spPr>
          <a:xfrm>
            <a:off x="990364" y="4542251"/>
            <a:ext cx="442893" cy="43426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541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6E77F-BACD-B8C3-37B6-2A9917248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261" y="350567"/>
            <a:ext cx="2981730" cy="2932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AAC4A4-C7A3-5B6B-11F6-C6C8C0930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970" y="837857"/>
            <a:ext cx="5923030" cy="4863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55B60-3E3F-EC1F-6E6D-338168415A63}"/>
              </a:ext>
            </a:extLst>
          </p:cNvPr>
          <p:cNvSpPr txBox="1"/>
          <p:nvPr/>
        </p:nvSpPr>
        <p:spPr>
          <a:xfrm>
            <a:off x="-1" y="1046891"/>
            <a:ext cx="3307977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l">
              <a:spcBef>
                <a:spcPts val="1200"/>
              </a:spcBef>
            </a:pP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High code density with     </a:t>
            </a:r>
            <a:r>
              <a:rPr lang="en-US" sz="2000" b="1" i="1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performance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80000" indent="-180000" algn="l">
              <a:spcBef>
                <a:spcPts val="1200"/>
              </a:spcBef>
            </a:pPr>
            <a:r>
              <a:rPr lang="en-IN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Support for </a:t>
            </a:r>
            <a:r>
              <a:rPr lang="en-IN" sz="2000" b="1" i="0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Single-cycle I/O access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can perform rapid 32-bit reads and writes in single clock cycle</a:t>
            </a:r>
            <a:r>
              <a:rPr lang="en-IN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80000" indent="-180000" algn="l">
              <a:spcBef>
                <a:spcPts val="1200"/>
              </a:spcBef>
            </a:pP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Power control optimization of system components.</a:t>
            </a:r>
          </a:p>
          <a:p>
            <a:pPr marL="180000" indent="-180000" algn="l">
              <a:spcBef>
                <a:spcPts val="1200"/>
              </a:spcBef>
            </a:pP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Integrated </a:t>
            </a:r>
            <a:r>
              <a:rPr lang="en-US" sz="2000" b="1" i="0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modes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low-power consumption.</a:t>
            </a:r>
          </a:p>
          <a:p>
            <a:pPr marL="180000" indent="-180000" algn="l">
              <a:spcBef>
                <a:spcPts val="1200"/>
              </a:spcBef>
            </a:pP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Optimized code fetching for reduced power consumption.</a:t>
            </a:r>
          </a:p>
          <a:p>
            <a:pPr marL="180000" indent="-180000" algn="l">
              <a:spcBef>
                <a:spcPts val="1200"/>
              </a:spcBef>
            </a:pPr>
            <a:r>
              <a:rPr lang="en-IN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i="0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multiplier</a:t>
            </a:r>
            <a:r>
              <a:rPr lang="en-IN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9E417-6E26-1348-82BC-41A22CA9271C}"/>
              </a:ext>
            </a:extLst>
          </p:cNvPr>
          <p:cNvSpPr txBox="1"/>
          <p:nvPr/>
        </p:nvSpPr>
        <p:spPr>
          <a:xfrm>
            <a:off x="0" y="5916713"/>
            <a:ext cx="9144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0" i="1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</a:t>
            </a:r>
            <a:r>
              <a:rPr lang="en-US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time-critical applications.</a:t>
            </a:r>
          </a:p>
          <a:p>
            <a:pPr marL="180000" indent="-1800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i="1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IN" sz="2000" b="0" i="1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i="1" u="none" strike="noStrike" baseline="0" dirty="0">
                <a:solidFill>
                  <a:srgbClr val="160C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cycle timing</a:t>
            </a:r>
            <a:r>
              <a:rPr lang="en-IN" sz="20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C89379-3B5F-DB57-DFED-6224F325197B}"/>
              </a:ext>
            </a:extLst>
          </p:cNvPr>
          <p:cNvSpPr txBox="1"/>
          <p:nvPr/>
        </p:nvSpPr>
        <p:spPr>
          <a:xfrm>
            <a:off x="-1" y="259133"/>
            <a:ext cx="43299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sz="2200" b="1" i="1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Cortex-M0+ processor </a:t>
            </a:r>
            <a:r>
              <a:rPr lang="en-US" sz="220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benefits are:</a:t>
            </a:r>
          </a:p>
        </p:txBody>
      </p:sp>
    </p:spTree>
    <p:extLst>
      <p:ext uri="{BB962C8B-B14F-4D97-AF65-F5344CB8AC3E}">
        <p14:creationId xmlns:p14="http://schemas.microsoft.com/office/powerpoint/2010/main" val="2023024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BBEC2D-0734-0CE5-CD29-F2F42908F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982" y="42112"/>
            <a:ext cx="5157044" cy="476596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0A11FD1-E3F3-1C7D-35AC-78918E5B2F78}"/>
              </a:ext>
            </a:extLst>
          </p:cNvPr>
          <p:cNvSpPr/>
          <p:nvPr/>
        </p:nvSpPr>
        <p:spPr>
          <a:xfrm>
            <a:off x="701336" y="407392"/>
            <a:ext cx="887767" cy="35625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F6C3C5-3675-1F00-310A-B9CC9B33BD72}"/>
              </a:ext>
            </a:extLst>
          </p:cNvPr>
          <p:cNvSpPr txBox="1"/>
          <p:nvPr/>
        </p:nvSpPr>
        <p:spPr>
          <a:xfrm>
            <a:off x="1" y="7282"/>
            <a:ext cx="54775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Single-Cycle IO Block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6CCD84-B0CC-8893-9334-017E7FED9E03}"/>
              </a:ext>
            </a:extLst>
          </p:cNvPr>
          <p:cNvSpPr txBox="1"/>
          <p:nvPr/>
        </p:nvSpPr>
        <p:spPr>
          <a:xfrm>
            <a:off x="9143" y="363534"/>
            <a:ext cx="403897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l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IN" sz="220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FIFOs </a:t>
            </a:r>
            <a:r>
              <a:rPr lang="en-IN" sz="220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IN" sz="2200" b="1" i="1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passing </a:t>
            </a:r>
            <a:r>
              <a:rPr lang="en-IN" sz="220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two cores.</a:t>
            </a:r>
          </a:p>
          <a:p>
            <a:pPr marL="522900" indent="-342900">
              <a:spcBef>
                <a:spcPts val="6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 has two separate FIFOs  for the cores to communicate with each other. </a:t>
            </a:r>
          </a:p>
          <a:p>
            <a:pPr marL="180000" indent="-1800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Spinlocks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Synchronisation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two cores.</a:t>
            </a:r>
            <a:endParaRPr lang="en-IN" sz="220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2900" indent="-342900">
              <a:spcBef>
                <a:spcPts val="6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both cores try to claim the same lock on the same clock cycle, core 0 succeeds.</a:t>
            </a:r>
          </a:p>
          <a:p>
            <a:pPr marL="522900" indent="-342900">
              <a:spcBef>
                <a:spcPts val="6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lock is acquired by polling the lock bit.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AF948D-5092-E58B-F3C3-43F9AED588AC}"/>
              </a:ext>
            </a:extLst>
          </p:cNvPr>
          <p:cNvSpPr txBox="1"/>
          <p:nvPr/>
        </p:nvSpPr>
        <p:spPr>
          <a:xfrm>
            <a:off x="-1" y="4867676"/>
            <a:ext cx="9144001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2900" indent="-342900">
              <a:spcBef>
                <a:spcPts val="9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Spinlocks should be used to protect the short critical sections of higher-level primitives such as mutexes, semaphores and queues. </a:t>
            </a:r>
            <a:endParaRPr lang="en-IN" sz="220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-180000" algn="l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20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 Divider </a:t>
            </a:r>
            <a:r>
              <a:rPr lang="en-US" sz="220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8-cycle signed/unsigned divide/modulo circuit, per core. A </a:t>
            </a:r>
            <a:r>
              <a:rPr lang="en-US" sz="2200" b="1" i="1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'ready' bit </a:t>
            </a:r>
            <a:r>
              <a:rPr lang="en-US" sz="220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register DIV_CSR can be </a:t>
            </a:r>
            <a:r>
              <a:rPr lang="en-US" sz="2200" b="1" i="1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polled</a:t>
            </a:r>
            <a:r>
              <a:rPr lang="en-US" sz="220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wait for the calculation to complete,  or software can insert a </a:t>
            </a:r>
            <a:r>
              <a:rPr lang="en-US" sz="2200" b="1" i="1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8-cycle delay</a:t>
            </a:r>
            <a:r>
              <a:rPr lang="en-US" sz="220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F2C6F4-9444-12A2-C630-8B456E1794C9}"/>
              </a:ext>
            </a:extLst>
          </p:cNvPr>
          <p:cNvSpPr/>
          <p:nvPr/>
        </p:nvSpPr>
        <p:spPr>
          <a:xfrm>
            <a:off x="5987428" y="1209432"/>
            <a:ext cx="1271016" cy="68174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F94F08-95D2-144B-876F-8AF651CC279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491715" y="700706"/>
            <a:ext cx="4681849" cy="6085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EB20D707-B9DA-C281-E3FD-5F0BFA21AA96}"/>
              </a:ext>
            </a:extLst>
          </p:cNvPr>
          <p:cNvSpPr/>
          <p:nvPr/>
        </p:nvSpPr>
        <p:spPr>
          <a:xfrm>
            <a:off x="241957" y="2211948"/>
            <a:ext cx="1166219" cy="49480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2E576AE-088A-56E5-0136-CD4E8EB6919B}"/>
              </a:ext>
            </a:extLst>
          </p:cNvPr>
          <p:cNvSpPr/>
          <p:nvPr/>
        </p:nvSpPr>
        <p:spPr>
          <a:xfrm>
            <a:off x="5605272" y="1936834"/>
            <a:ext cx="2185416" cy="34109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EE611AD-25B9-EF6D-1077-5AD603E5008A}"/>
              </a:ext>
            </a:extLst>
          </p:cNvPr>
          <p:cNvCxnSpPr>
            <a:cxnSpLocks/>
            <a:endCxn id="78" idx="2"/>
          </p:cNvCxnSpPr>
          <p:nvPr/>
        </p:nvCxnSpPr>
        <p:spPr>
          <a:xfrm flipV="1">
            <a:off x="1201800" y="2107379"/>
            <a:ext cx="4403472" cy="1442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00B61611-68EF-FFDA-4367-B7ACAAA30B6F}"/>
              </a:ext>
            </a:extLst>
          </p:cNvPr>
          <p:cNvSpPr/>
          <p:nvPr/>
        </p:nvSpPr>
        <p:spPr>
          <a:xfrm>
            <a:off x="241957" y="5579702"/>
            <a:ext cx="1833731" cy="56147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76B4CD8-868C-4D0A-43FE-A8A33A225F6B}"/>
              </a:ext>
            </a:extLst>
          </p:cNvPr>
          <p:cNvSpPr/>
          <p:nvPr/>
        </p:nvSpPr>
        <p:spPr>
          <a:xfrm>
            <a:off x="5255858" y="2330954"/>
            <a:ext cx="1136342" cy="34109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CC956BB-027B-5159-15E1-CBFF4D5BB217}"/>
              </a:ext>
            </a:extLst>
          </p:cNvPr>
          <p:cNvCxnSpPr>
            <a:cxnSpLocks/>
            <a:endCxn id="86" idx="3"/>
          </p:cNvCxnSpPr>
          <p:nvPr/>
        </p:nvCxnSpPr>
        <p:spPr>
          <a:xfrm flipV="1">
            <a:off x="1705548" y="2622093"/>
            <a:ext cx="3716723" cy="2992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2AA3DCD-52E7-BEAF-744A-3B3F7397C418}"/>
              </a:ext>
            </a:extLst>
          </p:cNvPr>
          <p:cNvSpPr/>
          <p:nvPr/>
        </p:nvSpPr>
        <p:spPr>
          <a:xfrm>
            <a:off x="6600606" y="2305630"/>
            <a:ext cx="1136342" cy="34109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946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EC70-02BE-C8C9-9177-812287AF1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9144000" cy="3374223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92DD3"/>
                </a:solidFill>
                <a:latin typeface="Comic Sans MS" panose="030F0702030302020204" pitchFamily="66" charset="0"/>
              </a:rPr>
              <a:t>RP2040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r>
              <a:rPr lang="en-US" dirty="0">
                <a:latin typeface="Comic Sans MS" panose="030F0702030302020204" pitchFamily="66" charset="0"/>
              </a:rPr>
              <a:t>ntegrated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D</a:t>
            </a:r>
            <a:r>
              <a:rPr lang="en-US" dirty="0">
                <a:latin typeface="Comic Sans MS" panose="030F0702030302020204" pitchFamily="66" charset="0"/>
              </a:rPr>
              <a:t>evelopment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</a:t>
            </a:r>
            <a:r>
              <a:rPr lang="en-US" dirty="0">
                <a:latin typeface="Comic Sans MS" panose="030F0702030302020204" pitchFamily="66" charset="0"/>
              </a:rPr>
              <a:t>nvironment </a:t>
            </a:r>
            <a:r>
              <a:rPr lang="en-US" dirty="0">
                <a:latin typeface="Arial Narrow" panose="020B0606020202030204" pitchFamily="34" charset="0"/>
              </a:rPr>
              <a:t>with Hands-on Experience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808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28858-E86D-3751-7EA9-5409B089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659"/>
          <a:stretch/>
        </p:blipFill>
        <p:spPr>
          <a:xfrm>
            <a:off x="0" y="232319"/>
            <a:ext cx="9144000" cy="639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06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94EA3-4C4F-8376-BEDC-971312D71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621"/>
            <a:ext cx="9144000" cy="565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74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269E8-8766-C9A7-7BDC-464447DAD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6310"/>
            <a:ext cx="9144000" cy="546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5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6B2282-16EC-7D9D-98AE-80C24CCE8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543"/>
            <a:ext cx="9144000" cy="506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1D3FF-D6AB-3972-4D0A-8A17B3F16E53}"/>
              </a:ext>
            </a:extLst>
          </p:cNvPr>
          <p:cNvSpPr txBox="1"/>
          <p:nvPr/>
        </p:nvSpPr>
        <p:spPr>
          <a:xfrm>
            <a:off x="0" y="1945472"/>
            <a:ext cx="9144000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4800" dirty="0">
                <a:solidFill>
                  <a:srgbClr val="FF0000"/>
                </a:solidFill>
                <a:latin typeface="Bahnschrift" panose="020B0502040204020203" pitchFamily="34" charset="0"/>
              </a:rPr>
              <a:t>RP2040 Microcontroller</a:t>
            </a:r>
            <a:r>
              <a:rPr lang="en-US" sz="4800" b="1" i="0" u="none" strike="noStrike" baseline="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</a:t>
            </a:r>
            <a:r>
              <a:rPr lang="en-US" sz="4800" b="1" i="0" u="none" strike="noStrike" baseline="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GPIO</a:t>
            </a:r>
            <a:r>
              <a:rPr lang="en-IN" sz="4800" dirty="0">
                <a:solidFill>
                  <a:srgbClr val="FF0000"/>
                </a:solidFill>
                <a:latin typeface="Bahnschrift" panose="020B0502040204020203" pitchFamily="34" charset="0"/>
              </a:rPr>
              <a:t> </a:t>
            </a:r>
            <a:r>
              <a:rPr lang="en-IN" sz="4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4048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0FCFF-4163-76F1-0D0B-FAF1FA6B0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27" y="33876"/>
            <a:ext cx="8520546" cy="679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85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D58BEC-2C1A-5E1C-1255-EE6CC4EA532E}"/>
              </a:ext>
            </a:extLst>
          </p:cNvPr>
          <p:cNvSpPr txBox="1"/>
          <p:nvPr/>
        </p:nvSpPr>
        <p:spPr>
          <a:xfrm>
            <a:off x="5388748" y="1251487"/>
            <a:ext cx="3755252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GPIO 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connected to the off-chip world via a "</a:t>
            </a:r>
            <a:r>
              <a:rPr lang="en-US" sz="22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</a:p>
          <a:p>
            <a:pPr marL="180000" indent="-1800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Pads are the electrical interface 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chip’s internal logic and external circuitry. </a:t>
            </a:r>
          </a:p>
          <a:p>
            <a:pPr marL="180000" indent="-1800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2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 Pad can have multiple functions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0000" indent="-1800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translate </a:t>
            </a:r>
            <a:r>
              <a:rPr lang="en-US" sz="2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voltage 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levels, support higher currents and offer some protection against electrostatic discharge (ESD) events.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92ABF-D5BB-EF18-ADFE-D18CCC9594A3}"/>
              </a:ext>
            </a:extLst>
          </p:cNvPr>
          <p:cNvSpPr txBox="1"/>
          <p:nvPr/>
        </p:nvSpPr>
        <p:spPr>
          <a:xfrm>
            <a:off x="0" y="456048"/>
            <a:ext cx="914400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the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structure of a Pin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the various parts of the microcontroller that can be connected to it: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43976E-8F16-E1D2-6DEB-2BE194235BE6}"/>
              </a:ext>
            </a:extLst>
          </p:cNvPr>
          <p:cNvSpPr txBox="1"/>
          <p:nvPr/>
        </p:nvSpPr>
        <p:spPr>
          <a:xfrm>
            <a:off x="0" y="-8878"/>
            <a:ext cx="91439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0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Logical structure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of an example IO</a:t>
            </a:r>
            <a:endParaRPr lang="en-IN" sz="2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4D939-BDF9-FD20-610E-06795652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8" y="1325517"/>
            <a:ext cx="5341248" cy="527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74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88FBD2-8D0C-F62B-AB58-5C03462B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47" y="815278"/>
            <a:ext cx="6247913" cy="4428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63E6DA-4A9B-EA23-2C4D-81288B4F8FC3}"/>
              </a:ext>
            </a:extLst>
          </p:cNvPr>
          <p:cNvSpPr txBox="1"/>
          <p:nvPr/>
        </p:nvSpPr>
        <p:spPr>
          <a:xfrm>
            <a:off x="-1" y="5296910"/>
            <a:ext cx="9144001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pull-up or pull-down 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enabled, to set the output signal level when the output driver is disabled.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buffer can be disabled, to reduce current consumption when the pad is unused, unconnected or connected to an analogue signal.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F1ABE-6CF8-6C72-B07E-0EAD433CB4C2}"/>
              </a:ext>
            </a:extLst>
          </p:cNvPr>
          <p:cNvSpPr txBox="1"/>
          <p:nvPr/>
        </p:nvSpPr>
        <p:spPr>
          <a:xfrm>
            <a:off x="-1" y="1297542"/>
            <a:ext cx="3014423" cy="387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slew rate </a:t>
            </a:r>
            <a:r>
              <a:rPr lang="en-US"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set to slow or fast.</a:t>
            </a:r>
            <a:endParaRPr lang="en-US" sz="2200" b="0" i="0" u="none" strike="noStrike" baseline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drive strength 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set to 2mA, 4mA, 8mA or 12mA.</a:t>
            </a:r>
          </a:p>
          <a:p>
            <a:pPr marL="342900" indent="-342900" algn="l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hysteresis </a:t>
            </a: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(Schmitt trigger mode) can be enabled.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62CBF-D9EB-917D-A4A8-93F85A15A094}"/>
              </a:ext>
            </a:extLst>
          </p:cNvPr>
          <p:cNvSpPr txBox="1"/>
          <p:nvPr/>
        </p:nvSpPr>
        <p:spPr>
          <a:xfrm>
            <a:off x="17751" y="0"/>
            <a:ext cx="9126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0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GPIO </a:t>
            </a:r>
            <a:r>
              <a:rPr lang="en-IN" b="0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(</a:t>
            </a:r>
            <a:r>
              <a:rPr lang="en-IN" i="0" u="none" strike="noStrike" baseline="0" dirty="0">
                <a:solidFill>
                  <a:srgbClr val="002060"/>
                </a:solidFill>
                <a:latin typeface="Comic Sans MS" panose="030F0702030302020204" pitchFamily="66" charset="0"/>
              </a:rPr>
              <a:t>Pads</a:t>
            </a:r>
            <a:r>
              <a:rPr lang="en-IN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)</a:t>
            </a:r>
            <a:endParaRPr lang="en-IN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51DAE1-9C78-AF63-3C03-408F2603BBF6}"/>
              </a:ext>
            </a:extLst>
          </p:cNvPr>
          <p:cNvSpPr/>
          <p:nvPr/>
        </p:nvSpPr>
        <p:spPr>
          <a:xfrm>
            <a:off x="4040652" y="2017208"/>
            <a:ext cx="1331643" cy="48551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93A62F-C22E-991E-561D-A49CD8B75DF5}"/>
              </a:ext>
            </a:extLst>
          </p:cNvPr>
          <p:cNvCxnSpPr>
            <a:cxnSpLocks/>
          </p:cNvCxnSpPr>
          <p:nvPr/>
        </p:nvCxnSpPr>
        <p:spPr>
          <a:xfrm>
            <a:off x="436485" y="2664778"/>
            <a:ext cx="23333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F15FEB-EB54-E992-0D3C-A66216D35AD7}"/>
              </a:ext>
            </a:extLst>
          </p:cNvPr>
          <p:cNvCxnSpPr>
            <a:cxnSpLocks/>
          </p:cNvCxnSpPr>
          <p:nvPr/>
        </p:nvCxnSpPr>
        <p:spPr>
          <a:xfrm flipV="1">
            <a:off x="2881223" y="2288975"/>
            <a:ext cx="1177359" cy="1893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2FA4518-B040-9B2A-6CFA-828FBF07B0EE}"/>
              </a:ext>
            </a:extLst>
          </p:cNvPr>
          <p:cNvSpPr/>
          <p:nvPr/>
        </p:nvSpPr>
        <p:spPr>
          <a:xfrm>
            <a:off x="4358238" y="834139"/>
            <a:ext cx="1004657" cy="40837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9CA760-90A1-A020-F7B8-A2902F57827E}"/>
              </a:ext>
            </a:extLst>
          </p:cNvPr>
          <p:cNvCxnSpPr>
            <a:cxnSpLocks/>
          </p:cNvCxnSpPr>
          <p:nvPr/>
        </p:nvCxnSpPr>
        <p:spPr>
          <a:xfrm>
            <a:off x="436485" y="4009854"/>
            <a:ext cx="170303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02B8725-7D13-FCB8-7B30-100C67220936}"/>
              </a:ext>
            </a:extLst>
          </p:cNvPr>
          <p:cNvSpPr/>
          <p:nvPr/>
        </p:nvSpPr>
        <p:spPr>
          <a:xfrm>
            <a:off x="3879018" y="3649156"/>
            <a:ext cx="1466295" cy="4592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5745FA-F36B-E006-D3D8-5FFDE76E4158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2188182" y="3862291"/>
            <a:ext cx="1690836" cy="1649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BCE8008-D9DB-BB74-8D82-0B6C3D18D12B}"/>
              </a:ext>
            </a:extLst>
          </p:cNvPr>
          <p:cNvCxnSpPr>
            <a:cxnSpLocks/>
          </p:cNvCxnSpPr>
          <p:nvPr/>
        </p:nvCxnSpPr>
        <p:spPr>
          <a:xfrm>
            <a:off x="677662" y="5668392"/>
            <a:ext cx="23367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7BA7B70-5BD1-6A3B-E040-ED02744194AF}"/>
              </a:ext>
            </a:extLst>
          </p:cNvPr>
          <p:cNvSpPr/>
          <p:nvPr/>
        </p:nvSpPr>
        <p:spPr>
          <a:xfrm>
            <a:off x="3525912" y="4458491"/>
            <a:ext cx="1908703" cy="40837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843B3A-FFD3-9B45-EEF5-980C207A081B}"/>
              </a:ext>
            </a:extLst>
          </p:cNvPr>
          <p:cNvCxnSpPr>
            <a:cxnSpLocks/>
          </p:cNvCxnSpPr>
          <p:nvPr/>
        </p:nvCxnSpPr>
        <p:spPr>
          <a:xfrm flipV="1">
            <a:off x="2887568" y="4733365"/>
            <a:ext cx="679941" cy="74548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A3C2464-1815-0A8E-B4E3-609AB398132C}"/>
              </a:ext>
            </a:extLst>
          </p:cNvPr>
          <p:cNvSpPr/>
          <p:nvPr/>
        </p:nvSpPr>
        <p:spPr>
          <a:xfrm>
            <a:off x="7155402" y="3462290"/>
            <a:ext cx="1283274" cy="178529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D3DB1B7-3806-5ED8-0FF0-99C21DA48B82}"/>
              </a:ext>
            </a:extLst>
          </p:cNvPr>
          <p:cNvCxnSpPr>
            <a:cxnSpLocks/>
          </p:cNvCxnSpPr>
          <p:nvPr/>
        </p:nvCxnSpPr>
        <p:spPr>
          <a:xfrm>
            <a:off x="491230" y="1667626"/>
            <a:ext cx="170303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B4F6AF0-217D-CF26-B3FE-2F836304B389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2085553" y="1038326"/>
            <a:ext cx="2272685" cy="28574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B58740B-DE9C-5EFA-537F-446117929199}"/>
              </a:ext>
            </a:extLst>
          </p:cNvPr>
          <p:cNvSpPr txBox="1"/>
          <p:nvPr/>
        </p:nvSpPr>
        <p:spPr>
          <a:xfrm>
            <a:off x="-1" y="396447"/>
            <a:ext cx="91262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"IO PAD" represents the electrical interface between the internal logic and the actual pin:</a:t>
            </a:r>
          </a:p>
        </p:txBody>
      </p:sp>
    </p:spTree>
    <p:extLst>
      <p:ext uri="{BB962C8B-B14F-4D97-AF65-F5344CB8AC3E}">
        <p14:creationId xmlns:p14="http://schemas.microsoft.com/office/powerpoint/2010/main" val="39866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CBC6-C31F-B2A3-0F92-88D90CF313A8}"/>
              </a:ext>
            </a:extLst>
          </p:cNvPr>
          <p:cNvSpPr txBox="1">
            <a:spLocks/>
          </p:cNvSpPr>
          <p:nvPr/>
        </p:nvSpPr>
        <p:spPr>
          <a:xfrm>
            <a:off x="0" y="957297"/>
            <a:ext cx="9144000" cy="97011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dirty="0">
                <a:latin typeface="Candara" panose="020E0502030303020204" pitchFamily="34" charset="0"/>
              </a:rPr>
              <a:t>Hands-on Session</a:t>
            </a:r>
          </a:p>
        </p:txBody>
      </p:sp>
    </p:spTree>
    <p:extLst>
      <p:ext uri="{BB962C8B-B14F-4D97-AF65-F5344CB8AC3E}">
        <p14:creationId xmlns:p14="http://schemas.microsoft.com/office/powerpoint/2010/main" val="2746695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D3DF1C-F050-1565-2FDD-55DF31C57D2C}"/>
              </a:ext>
            </a:extLst>
          </p:cNvPr>
          <p:cNvSpPr txBox="1">
            <a:spLocks/>
          </p:cNvSpPr>
          <p:nvPr/>
        </p:nvSpPr>
        <p:spPr>
          <a:xfrm>
            <a:off x="0" y="65448"/>
            <a:ext cx="9144000" cy="44227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IN" sz="2200" dirty="0">
                <a:solidFill>
                  <a:srgbClr val="FF0000"/>
                </a:solidFill>
                <a:latin typeface="Comic Sans MS" panose="030F0702030302020204" pitchFamily="66" charset="0"/>
              </a:rPr>
              <a:t>RP2040 Carrier Board – VI Microsystems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079DB-5E36-687F-D43D-69D8F2E81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497894"/>
            <a:ext cx="8713694" cy="636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75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376E34-0526-AEC0-5C89-76D3AED12E96}"/>
              </a:ext>
            </a:extLst>
          </p:cNvPr>
          <p:cNvSpPr txBox="1"/>
          <p:nvPr/>
        </p:nvSpPr>
        <p:spPr>
          <a:xfrm>
            <a:off x="52550" y="724600"/>
            <a:ext cx="4404040" cy="597163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machine.Pin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class: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machine import Pin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 = Pin(0,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Pin.OUT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output pin on GPIO0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p0.on()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set pin to "on" (high) level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p0.off()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set pin to "off" (low) level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p0.value(1)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set pin to on/high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 = Pin(5,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Pin.OUT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value=1) 		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set pin high on creation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 = Pin(2, Pin.IN)  					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input pin on GPIO2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print(p2.value())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get value, 0 or 1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p3 = Pin(4, Pin.IN,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Pin.PULL_UP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	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enable internal pull-up resistor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2DACB-EB9D-2FB5-6737-9674EBCB50EF}"/>
              </a:ext>
            </a:extLst>
          </p:cNvPr>
          <p:cNvSpPr txBox="1"/>
          <p:nvPr/>
        </p:nvSpPr>
        <p:spPr>
          <a:xfrm>
            <a:off x="-1" y="168160"/>
            <a:ext cx="48242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Pins and GPIO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8C50E9-1C55-2117-DF3D-02761C10D828}"/>
              </a:ext>
            </a:extLst>
          </p:cNvPr>
          <p:cNvSpPr txBox="1"/>
          <p:nvPr/>
        </p:nvSpPr>
        <p:spPr>
          <a:xfrm>
            <a:off x="4456590" y="724600"/>
            <a:ext cx="4647685" cy="55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time module: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utime</a:t>
            </a:r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utime.sleep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sleep for 1 sec.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utime.sleep_ms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(500)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sleep 500ms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utime.sleep_us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sleep for 10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=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utime.ticks_ms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				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get    millisecond counter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delta =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utime.ticks_diff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time.ticks_ms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start) 	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compute time difference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7227B-8964-1CF2-C15F-530A0DD4B5B2}"/>
              </a:ext>
            </a:extLst>
          </p:cNvPr>
          <p:cNvSpPr txBox="1"/>
          <p:nvPr/>
        </p:nvSpPr>
        <p:spPr>
          <a:xfrm>
            <a:off x="4863969" y="149695"/>
            <a:ext cx="42800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Delay and timing</a:t>
            </a:r>
          </a:p>
        </p:txBody>
      </p:sp>
    </p:spTree>
    <p:extLst>
      <p:ext uri="{BB962C8B-B14F-4D97-AF65-F5344CB8AC3E}">
        <p14:creationId xmlns:p14="http://schemas.microsoft.com/office/powerpoint/2010/main" val="4070806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526EBB2-21D8-E313-E152-D1839D78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18" y="3429000"/>
            <a:ext cx="5373282" cy="32858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F9F149-2A54-D9CE-B698-DC62838DF80B}"/>
              </a:ext>
            </a:extLst>
          </p:cNvPr>
          <p:cNvSpPr txBox="1"/>
          <p:nvPr/>
        </p:nvSpPr>
        <p:spPr>
          <a:xfrm>
            <a:off x="0" y="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2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 Pico GPIO - LED Interfacing using </a:t>
            </a:r>
            <a:r>
              <a:rPr lang="en-IN" sz="2200" i="0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MicroPython</a:t>
            </a:r>
            <a:endParaRPr lang="en-IN" sz="220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AEB5DC-756C-5DDE-B84D-DF4AA8F04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6" y="5204907"/>
            <a:ext cx="3492373" cy="1700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A12CBB-BB2E-10E7-CCDE-3311CE668ABD}"/>
              </a:ext>
            </a:extLst>
          </p:cNvPr>
          <p:cNvSpPr txBox="1"/>
          <p:nvPr/>
        </p:nvSpPr>
        <p:spPr>
          <a:xfrm>
            <a:off x="4003125" y="705414"/>
            <a:ext cx="234935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4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On-board LED</a:t>
            </a:r>
            <a:endParaRPr lang="en-IN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2906D1-87D9-F367-16B3-A624804CDC5D}"/>
              </a:ext>
            </a:extLst>
          </p:cNvPr>
          <p:cNvCxnSpPr>
            <a:cxnSpLocks/>
          </p:cNvCxnSpPr>
          <p:nvPr/>
        </p:nvCxnSpPr>
        <p:spPr>
          <a:xfrm flipH="1">
            <a:off x="1975945" y="967380"/>
            <a:ext cx="2027180" cy="65773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727AC16-E89F-4C78-D081-910C41824CC0}"/>
              </a:ext>
            </a:extLst>
          </p:cNvPr>
          <p:cNvSpPr txBox="1"/>
          <p:nvPr/>
        </p:nvSpPr>
        <p:spPr>
          <a:xfrm>
            <a:off x="28592" y="16073"/>
            <a:ext cx="7475143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2800" b="1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Prog-1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from machine import Pin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from time import sleep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L1 = Pin("LED", </a:t>
            </a:r>
            <a:r>
              <a:rPr lang="en-IN" sz="2800" dirty="0" err="1">
                <a:latin typeface="Arial Narrow" panose="020B0606020202030204" pitchFamily="34" charset="0"/>
              </a:rPr>
              <a:t>Pin.OUT</a:t>
            </a:r>
            <a:r>
              <a:rPr lang="en-IN" sz="2800" dirty="0">
                <a:latin typeface="Arial Narrow" panose="020B0606020202030204" pitchFamily="34" charset="0"/>
              </a:rPr>
              <a:t>)    # On-board LED (</a:t>
            </a:r>
            <a:r>
              <a:rPr lang="en-IN" sz="2800" b="1" dirty="0">
                <a:solidFill>
                  <a:srgbClr val="2BBB5B"/>
                </a:solidFill>
                <a:latin typeface="Arial Narrow" panose="020B0606020202030204" pitchFamily="34" charset="0"/>
              </a:rPr>
              <a:t>GP25</a:t>
            </a:r>
            <a:r>
              <a:rPr lang="en-IN" sz="2800" dirty="0">
                <a:latin typeface="Arial Narrow" panose="020B0606020202030204" pitchFamily="34" charset="0"/>
              </a:rPr>
              <a:t>)  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L2 = Pin(2, </a:t>
            </a:r>
            <a:r>
              <a:rPr lang="en-IN" sz="2800" dirty="0" err="1">
                <a:latin typeface="Arial Narrow" panose="020B0606020202030204" pitchFamily="34" charset="0"/>
              </a:rPr>
              <a:t>Pin.OUT</a:t>
            </a:r>
            <a:r>
              <a:rPr lang="en-IN" sz="2800" dirty="0">
                <a:latin typeface="Arial Narrow" panose="020B0606020202030204" pitchFamily="34" charset="0"/>
              </a:rPr>
              <a:t>)  # On-Kit LED (</a:t>
            </a:r>
            <a:r>
              <a:rPr lang="en-IN" sz="2800" b="1" dirty="0">
                <a:solidFill>
                  <a:srgbClr val="2BBB5B"/>
                </a:solidFill>
                <a:latin typeface="Arial Narrow" panose="020B0606020202030204" pitchFamily="34" charset="0"/>
              </a:rPr>
              <a:t>GP2_LED1</a:t>
            </a:r>
            <a:r>
              <a:rPr lang="en-IN" sz="2800" dirty="0">
                <a:latin typeface="Arial Narrow" panose="020B0606020202030204" pitchFamily="34" charset="0"/>
              </a:rPr>
              <a:t>) 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L3 = Pin(3, </a:t>
            </a:r>
            <a:r>
              <a:rPr lang="en-IN" sz="2800" dirty="0" err="1">
                <a:latin typeface="Arial Narrow" panose="020B0606020202030204" pitchFamily="34" charset="0"/>
              </a:rPr>
              <a:t>Pin.OUT</a:t>
            </a:r>
            <a:r>
              <a:rPr lang="en-IN" sz="2800" dirty="0">
                <a:latin typeface="Arial Narrow" panose="020B0606020202030204" pitchFamily="34" charset="0"/>
              </a:rPr>
              <a:t>)  # On-Kit LED (</a:t>
            </a:r>
            <a:r>
              <a:rPr lang="en-IN" sz="2800" b="1" dirty="0">
                <a:solidFill>
                  <a:srgbClr val="2BBB5B"/>
                </a:solidFill>
                <a:latin typeface="Arial Narrow" panose="020B0606020202030204" pitchFamily="34" charset="0"/>
              </a:rPr>
              <a:t>GP2_LED2) 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while True: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    L1.toggle()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    #L2.toggle()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    #L3.toggle()</a:t>
            </a:r>
          </a:p>
          <a:p>
            <a:pPr>
              <a:spcBef>
                <a:spcPts val="300"/>
              </a:spcBef>
            </a:pPr>
            <a:r>
              <a:rPr lang="en-IN" sz="2800" dirty="0">
                <a:latin typeface="Arial Narrow" panose="020B0606020202030204" pitchFamily="34" charset="0"/>
              </a:rPr>
              <a:t>    sleep(1)</a:t>
            </a:r>
          </a:p>
        </p:txBody>
      </p:sp>
    </p:spTree>
    <p:extLst>
      <p:ext uri="{BB962C8B-B14F-4D97-AF65-F5344CB8AC3E}">
        <p14:creationId xmlns:p14="http://schemas.microsoft.com/office/powerpoint/2010/main" val="3660350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F9F149-2A54-D9CE-B698-DC62838DF80B}"/>
              </a:ext>
            </a:extLst>
          </p:cNvPr>
          <p:cNvSpPr txBox="1"/>
          <p:nvPr/>
        </p:nvSpPr>
        <p:spPr>
          <a:xfrm>
            <a:off x="0" y="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2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 Pico GPIO - LED Interfacing using </a:t>
            </a:r>
            <a:r>
              <a:rPr lang="en-IN" sz="2200" i="0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MicroPython</a:t>
            </a:r>
            <a:endParaRPr lang="en-IN" sz="220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AEB5DC-756C-5DDE-B84D-DF4AA8F0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99" y="2858779"/>
            <a:ext cx="4064001" cy="1986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D03686-3D63-2D80-9210-A835D8669669}"/>
              </a:ext>
            </a:extLst>
          </p:cNvPr>
          <p:cNvSpPr txBox="1"/>
          <p:nvPr/>
        </p:nvSpPr>
        <p:spPr>
          <a:xfrm>
            <a:off x="54987" y="26261"/>
            <a:ext cx="647778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Prog-2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from machine import Pin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from time import * 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L1 = Pin("LED", </a:t>
            </a:r>
            <a:r>
              <a:rPr lang="en-IN" sz="2400" dirty="0" err="1">
                <a:latin typeface="Arial Narrow" panose="020B0606020202030204" pitchFamily="34" charset="0"/>
              </a:rPr>
              <a:t>Pin.OUT</a:t>
            </a:r>
            <a:r>
              <a:rPr lang="en-IN" sz="2400" dirty="0">
                <a:latin typeface="Arial Narrow" panose="020B0606020202030204" pitchFamily="34" charset="0"/>
              </a:rPr>
              <a:t>)    # On-board LED </a:t>
            </a:r>
            <a:r>
              <a:rPr lang="en-US" sz="2400" dirty="0">
                <a:latin typeface="Arial Narrow" panose="020B0606020202030204" pitchFamily="34" charset="0"/>
              </a:rPr>
              <a:t>(</a:t>
            </a:r>
            <a:r>
              <a:rPr lang="en-US" sz="2400" b="1" i="1" dirty="0">
                <a:solidFill>
                  <a:srgbClr val="2BBB5B"/>
                </a:solidFill>
                <a:latin typeface="Arial Narrow" panose="020B0606020202030204" pitchFamily="34" charset="0"/>
              </a:rPr>
              <a:t>GP25</a:t>
            </a:r>
            <a:r>
              <a:rPr lang="en-US" sz="2400" dirty="0">
                <a:latin typeface="Arial Narrow" panose="020B0606020202030204" pitchFamily="34" charset="0"/>
              </a:rPr>
              <a:t>) </a:t>
            </a:r>
            <a:endParaRPr lang="en-IN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L2 = Pin(2, </a:t>
            </a:r>
            <a:r>
              <a:rPr lang="en-US" sz="2400" dirty="0" err="1">
                <a:latin typeface="Arial Narrow" panose="020B0606020202030204" pitchFamily="34" charset="0"/>
              </a:rPr>
              <a:t>Pin.OUT</a:t>
            </a:r>
            <a:r>
              <a:rPr lang="en-US" sz="2400" dirty="0">
                <a:latin typeface="Arial Narrow" panose="020B0606020202030204" pitchFamily="34" charset="0"/>
              </a:rPr>
              <a:t>)  # On-Kit LED (</a:t>
            </a:r>
            <a:r>
              <a:rPr lang="en-US" sz="2400" b="1" i="1" dirty="0">
                <a:solidFill>
                  <a:srgbClr val="2BBB5B"/>
                </a:solidFill>
                <a:latin typeface="Arial Narrow" panose="020B0606020202030204" pitchFamily="34" charset="0"/>
              </a:rPr>
              <a:t>GP2_LED1</a:t>
            </a:r>
            <a:r>
              <a:rPr lang="en-US" sz="2400" dirty="0">
                <a:latin typeface="Arial Narrow" panose="020B0606020202030204" pitchFamily="34" charset="0"/>
              </a:rPr>
              <a:t>) 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L3 = Pin(3, </a:t>
            </a:r>
            <a:r>
              <a:rPr lang="en-US" sz="2400" dirty="0" err="1">
                <a:latin typeface="Arial Narrow" panose="020B0606020202030204" pitchFamily="34" charset="0"/>
              </a:rPr>
              <a:t>Pin.OUT</a:t>
            </a:r>
            <a:r>
              <a:rPr lang="en-US" sz="2400" dirty="0">
                <a:latin typeface="Arial Narrow" panose="020B0606020202030204" pitchFamily="34" charset="0"/>
              </a:rPr>
              <a:t>)  # On-Kit LED (</a:t>
            </a:r>
            <a:r>
              <a:rPr lang="en-US" sz="2400" b="1" i="1" dirty="0">
                <a:solidFill>
                  <a:srgbClr val="2BBB5B"/>
                </a:solidFill>
                <a:latin typeface="Arial Narrow" panose="020B0606020202030204" pitchFamily="34" charset="0"/>
              </a:rPr>
              <a:t>GP2_LED2</a:t>
            </a:r>
            <a:r>
              <a:rPr lang="en-US" sz="2400" dirty="0">
                <a:latin typeface="Arial Narrow" panose="020B0606020202030204" pitchFamily="34" charset="0"/>
              </a:rPr>
              <a:t>) 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while True: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x=19  # Give any value from 0 to 19</a:t>
            </a:r>
          </a:p>
          <a:p>
            <a:r>
              <a:rPr lang="en-IN" sz="2400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    #L1.value(1)</a:t>
            </a:r>
          </a:p>
          <a:p>
            <a:r>
              <a:rPr lang="en-IN" sz="2400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    #L2.value(1)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L3.value(1)     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#sleep_ms(100) # Delay 0.1 second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</a:t>
            </a:r>
            <a:r>
              <a:rPr lang="en-IN" sz="2400" dirty="0" err="1">
                <a:latin typeface="Arial Narrow" panose="020B0606020202030204" pitchFamily="34" charset="0"/>
              </a:rPr>
              <a:t>sleep_ms</a:t>
            </a:r>
            <a:r>
              <a:rPr lang="en-IN" sz="2400" dirty="0">
                <a:latin typeface="Arial Narrow" panose="020B0606020202030204" pitchFamily="34" charset="0"/>
              </a:rPr>
              <a:t>(x) # Delay x second </a:t>
            </a:r>
          </a:p>
          <a:p>
            <a:r>
              <a:rPr lang="en-IN" sz="2400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    #L1.value(0)</a:t>
            </a:r>
          </a:p>
          <a:p>
            <a:r>
              <a:rPr lang="en-IN" sz="2400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    #L2.value(0)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L3.value(0)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#sleep_ms(100) # Delay 0.1 second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</a:t>
            </a:r>
            <a:r>
              <a:rPr lang="en-IN" sz="2400" dirty="0" err="1">
                <a:latin typeface="Arial Narrow" panose="020B0606020202030204" pitchFamily="34" charset="0"/>
              </a:rPr>
              <a:t>sleep_ms</a:t>
            </a:r>
            <a:r>
              <a:rPr lang="en-IN" sz="2400" dirty="0">
                <a:latin typeface="Arial Narrow" panose="020B0606020202030204" pitchFamily="34" charset="0"/>
              </a:rPr>
              <a:t>(20-x) # Delay (20-x) </a:t>
            </a:r>
            <a:r>
              <a:rPr lang="en-IN" sz="2400" dirty="0" err="1">
                <a:latin typeface="Arial Narrow" panose="020B0606020202030204" pitchFamily="34" charset="0"/>
              </a:rPr>
              <a:t>msecond</a:t>
            </a:r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01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370A93-7659-1CD2-FE12-50F28C7F1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1" t="5951" r="2689" b="6494"/>
          <a:stretch/>
        </p:blipFill>
        <p:spPr>
          <a:xfrm>
            <a:off x="3735659" y="4657847"/>
            <a:ext cx="5291254" cy="1936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61BC50-D16F-C41E-E6C1-7335945CABF9}"/>
              </a:ext>
            </a:extLst>
          </p:cNvPr>
          <p:cNvSpPr txBox="1"/>
          <p:nvPr/>
        </p:nvSpPr>
        <p:spPr>
          <a:xfrm>
            <a:off x="27879" y="463371"/>
            <a:ext cx="8999034" cy="5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2800" b="1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Prog-3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from machine import Pin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from time import sleep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L1 = Pin("LED",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Pin.OUT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   # On-board LED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GP25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L2 = Pin(2,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 # On-Kit LED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GP2_LED1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L3 = Pin(3,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 # On-Kit LED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GP2_LED2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</a:t>
            </a:r>
            <a:endParaRPr lang="en-IN" sz="2400" dirty="0">
              <a:latin typeface="Arial Narrow" panose="020B0606020202030204" pitchFamily="34" charset="0"/>
            </a:endParaRP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push_button1 = Pin(4, Pin.IN</a:t>
            </a:r>
            <a:r>
              <a:rPr lang="en-IN" sz="2400" dirty="0">
                <a:solidFill>
                  <a:srgbClr val="969292"/>
                </a:solidFill>
                <a:latin typeface="Arial Narrow" panose="020B0606020202030204" pitchFamily="34" charset="0"/>
              </a:rPr>
              <a:t>, </a:t>
            </a:r>
            <a:r>
              <a:rPr lang="en-IN" sz="2400" dirty="0" err="1">
                <a:solidFill>
                  <a:srgbClr val="969292"/>
                </a:solidFill>
                <a:latin typeface="Arial Narrow" panose="020B0606020202030204" pitchFamily="34" charset="0"/>
              </a:rPr>
              <a:t>Pin.PULL_UP</a:t>
            </a:r>
            <a:r>
              <a:rPr lang="en-IN" sz="2400" dirty="0">
                <a:latin typeface="Arial Narrow" panose="020B0606020202030204" pitchFamily="34" charset="0"/>
              </a:rPr>
              <a:t>) # GPIO 4 pin is input </a:t>
            </a:r>
            <a:r>
              <a:rPr lang="en-I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GP4_SW1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push_button2 = Pin(5, Pin.IN</a:t>
            </a:r>
            <a:r>
              <a:rPr lang="en-IN" sz="2400" dirty="0">
                <a:solidFill>
                  <a:srgbClr val="969292"/>
                </a:solidFill>
                <a:latin typeface="Arial Narrow" panose="020B0606020202030204" pitchFamily="34" charset="0"/>
              </a:rPr>
              <a:t>, </a:t>
            </a:r>
            <a:r>
              <a:rPr lang="en-IN" sz="2400" dirty="0" err="1">
                <a:solidFill>
                  <a:srgbClr val="969292"/>
                </a:solidFill>
                <a:latin typeface="Arial Narrow" panose="020B0606020202030204" pitchFamily="34" charset="0"/>
              </a:rPr>
              <a:t>Pin.PULL_UP</a:t>
            </a:r>
            <a:r>
              <a:rPr lang="en-IN" sz="2400" dirty="0">
                <a:latin typeface="Arial Narrow" panose="020B0606020202030204" pitchFamily="34" charset="0"/>
              </a:rPr>
              <a:t>)# GPIO 5 pin is input </a:t>
            </a:r>
            <a:r>
              <a:rPr lang="en-I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GP5_SW2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while True: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   #L1.value( not push_button1.value())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      if (not push_button1.value()):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      L1.value(1)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      sleep(0.15)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      L1.value(0)</a:t>
            </a:r>
          </a:p>
          <a:p>
            <a:pPr>
              <a:spcBef>
                <a:spcPts val="200"/>
              </a:spcBef>
            </a:pPr>
            <a:r>
              <a:rPr lang="en-IN" sz="2400" dirty="0">
                <a:latin typeface="Arial Narrow" panose="020B0606020202030204" pitchFamily="34" charset="0"/>
              </a:rPr>
              <a:t>      sleep(0.15)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781AB-51D1-449F-560A-DF58D9984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489"/>
          <a:stretch/>
        </p:blipFill>
        <p:spPr>
          <a:xfrm>
            <a:off x="6463863" y="588578"/>
            <a:ext cx="2480441" cy="2123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636C78-4128-EB87-EF9A-A0865338C7F3}"/>
              </a:ext>
            </a:extLst>
          </p:cNvPr>
          <p:cNvSpPr txBox="1"/>
          <p:nvPr/>
        </p:nvSpPr>
        <p:spPr>
          <a:xfrm>
            <a:off x="0" y="20123"/>
            <a:ext cx="91161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 Pico GPIO – Push Button Interfacing using </a:t>
            </a:r>
            <a:r>
              <a:rPr lang="en-IN" sz="2200" i="0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MicroPython</a:t>
            </a:r>
            <a:endParaRPr lang="en-IN" sz="220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74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DD3E-71F6-46C8-97ED-C03B14CD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7297"/>
            <a:ext cx="9144000" cy="1493672"/>
          </a:xfrm>
          <a:solidFill>
            <a:srgbClr val="FFFFCC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latin typeface="Candara" panose="020E0502030303020204" pitchFamily="34" charset="0"/>
              </a:rPr>
              <a:t>RP2040 </a:t>
            </a:r>
            <a:r>
              <a:rPr lang="en-US" dirty="0">
                <a:latin typeface="Candara" panose="020E0502030303020204" pitchFamily="34" charset="0"/>
              </a:rPr>
              <a:t>Timers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718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E5794A-E775-0B97-9913-7D65529E81B8}"/>
              </a:ext>
            </a:extLst>
          </p:cNvPr>
          <p:cNvSpPr txBox="1"/>
          <p:nvPr/>
        </p:nvSpPr>
        <p:spPr>
          <a:xfrm>
            <a:off x="0" y="527437"/>
            <a:ext cx="9144000" cy="6291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Previously we learned how to blink an LED using </a:t>
            </a:r>
            <a:r>
              <a:rPr lang="en-US" sz="31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sleep() 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function. Hardware Timers, deal with timing of periods and events, are more efficient than using the sleep function because they are not </a:t>
            </a:r>
            <a:r>
              <a:rPr lang="en-US" sz="31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blocking functions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31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blocking function </a:t>
            </a:r>
            <a:r>
              <a:rPr lang="en-US" sz="3100" b="1" i="1" dirty="0">
                <a:solidFill>
                  <a:srgbClr val="3413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stops the program from performing any task until the previous one is completed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example, the </a:t>
            </a:r>
            <a:r>
              <a:rPr lang="en-US" sz="31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sleep() function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when we call </a:t>
            </a:r>
            <a:r>
              <a:rPr lang="en-US" sz="31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sleep(2)</a:t>
            </a:r>
            <a:r>
              <a:rPr lang="en-US" sz="3100" b="0" i="1" dirty="0">
                <a:solidFill>
                  <a:srgbClr val="3413A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our program stops at this line for 2 seconds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thus it acts as a </a:t>
            </a:r>
            <a:r>
              <a:rPr lang="en-US" sz="31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blocking function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l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not the case for Timers. To perform multiple tasks at once we prefer to use timers and should avoid using delays because they </a:t>
            </a:r>
            <a:r>
              <a:rPr lang="en-US" sz="31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processing time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500CB-8B12-9780-9141-F216EB7CFD9A}"/>
              </a:ext>
            </a:extLst>
          </p:cNvPr>
          <p:cNvSpPr txBox="1"/>
          <p:nvPr/>
        </p:nvSpPr>
        <p:spPr>
          <a:xfrm>
            <a:off x="0" y="1886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Raspberry Pi Pico Timers </a:t>
            </a:r>
          </a:p>
        </p:txBody>
      </p:sp>
    </p:spTree>
    <p:extLst>
      <p:ext uri="{BB962C8B-B14F-4D97-AF65-F5344CB8AC3E}">
        <p14:creationId xmlns:p14="http://schemas.microsoft.com/office/powerpoint/2010/main" val="4212937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3C9BF0-DCBC-B5CA-283D-837060A0AC07}"/>
              </a:ext>
            </a:extLst>
          </p:cNvPr>
          <p:cNvSpPr txBox="1"/>
          <p:nvPr/>
        </p:nvSpPr>
        <p:spPr>
          <a:xfrm>
            <a:off x="0" y="457125"/>
            <a:ext cx="9144000" cy="296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example, we can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 a timer interrupt to toggle the LED after every one second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 a timer interrupt occurs, it stops the sequential execution of the program and performs a task that is attached to a respective time interrupt. </a:t>
            </a: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After completing the interrupt service routine, the program returns to the next instruction from where it left off.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E4F72-9181-4996-857B-8B0199C9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7937"/>
            <a:ext cx="9125495" cy="34400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589B24-B493-6C8E-6FC1-FBE742A846B8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Timer Interrupt </a:t>
            </a:r>
          </a:p>
        </p:txBody>
      </p:sp>
    </p:spTree>
    <p:extLst>
      <p:ext uri="{BB962C8B-B14F-4D97-AF65-F5344CB8AC3E}">
        <p14:creationId xmlns:p14="http://schemas.microsoft.com/office/powerpoint/2010/main" val="711500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5647BB-04CA-D3C9-8BAD-D062D3BF5AFC}"/>
              </a:ext>
            </a:extLst>
          </p:cNvPr>
          <p:cNvSpPr txBox="1"/>
          <p:nvPr/>
        </p:nvSpPr>
        <p:spPr>
          <a:xfrm>
            <a:off x="0" y="502801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sz="2800" b="0" i="0" u="none" strike="noStrike" baseline="0" dirty="0">
                <a:solidFill>
                  <a:srgbClr val="FF0000"/>
                </a:solidFill>
                <a:latin typeface="ArialMT"/>
              </a:rPr>
              <a:t>• 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Timers are counters that count pulses from a </a:t>
            </a:r>
            <a:r>
              <a:rPr lang="en-US" sz="2800" b="0" i="0" u="none" strike="noStrike" baseline="0" dirty="0" err="1">
                <a:solidFill>
                  <a:srgbClr val="FF0000"/>
                </a:solidFill>
                <a:latin typeface="Calibri" panose="020F0502020204030204" pitchFamily="34" charset="0"/>
              </a:rPr>
              <a:t>timebase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.</a:t>
            </a:r>
          </a:p>
          <a:p>
            <a:pPr algn="l">
              <a:spcBef>
                <a:spcPts val="1200"/>
              </a:spcBef>
            </a:pPr>
            <a:r>
              <a:rPr lang="en-US" sz="2800" b="0" i="0" u="none" strike="noStrike" baseline="0" dirty="0">
                <a:solidFill>
                  <a:srgbClr val="008100"/>
                </a:solidFill>
                <a:latin typeface="ArialMT"/>
              </a:rPr>
              <a:t>• </a:t>
            </a:r>
            <a:r>
              <a:rPr lang="en-US" sz="2800" b="0" i="0" u="none" strike="noStrike" baseline="0" dirty="0">
                <a:solidFill>
                  <a:srgbClr val="008100"/>
                </a:solidFill>
                <a:latin typeface="Calibri" panose="020F0502020204030204" pitchFamily="34" charset="0"/>
              </a:rPr>
              <a:t>The RP2040 system timer has </a:t>
            </a:r>
            <a:r>
              <a:rPr lang="en-US" sz="2800" b="1" i="0" u="none" strike="noStrike" baseline="0" dirty="0">
                <a:solidFill>
                  <a:srgbClr val="392DD3"/>
                </a:solidFill>
                <a:latin typeface="Calibri" panose="020F0502020204030204" pitchFamily="34" charset="0"/>
              </a:rPr>
              <a:t>64-bit resolution </a:t>
            </a:r>
            <a:r>
              <a:rPr lang="en-US" sz="2800" b="0" i="0" u="none" strike="noStrike" baseline="0" dirty="0">
                <a:solidFill>
                  <a:srgbClr val="008100"/>
                </a:solidFill>
                <a:latin typeface="Calibri" panose="020F0502020204030204" pitchFamily="34" charset="0"/>
              </a:rPr>
              <a:t>and provides a global microsecond time base – overflows after a </a:t>
            </a:r>
            <a:r>
              <a:rPr lang="en-US" sz="2800" b="1" i="0" u="none" strike="noStrike" baseline="0" dirty="0">
                <a:solidFill>
                  <a:srgbClr val="392DD3"/>
                </a:solidFill>
                <a:latin typeface="Calibri" panose="020F0502020204030204" pitchFamily="34" charset="0"/>
              </a:rPr>
              <a:t>thousand years</a:t>
            </a:r>
            <a:r>
              <a:rPr lang="en-US" sz="2800" b="0" i="0" u="none" strike="noStrike" baseline="0" dirty="0">
                <a:solidFill>
                  <a:srgbClr val="008100"/>
                </a:solidFill>
                <a:latin typeface="Calibri" panose="020F0502020204030204" pitchFamily="34" charset="0"/>
              </a:rPr>
              <a:t>!</a:t>
            </a:r>
          </a:p>
          <a:p>
            <a:pPr algn="l">
              <a:spcBef>
                <a:spcPts val="1200"/>
              </a:spcBef>
            </a:pPr>
            <a:r>
              <a:rPr lang="en-US" sz="2800" b="0" i="0" u="none" strike="noStrike" baseline="0" dirty="0">
                <a:solidFill>
                  <a:srgbClr val="0000FF"/>
                </a:solidFill>
                <a:latin typeface="ArialMT"/>
              </a:rPr>
              <a:t>• </a:t>
            </a:r>
            <a:r>
              <a:rPr lang="en-US" sz="2800" b="0" i="0" u="none" strike="noStrike" baseline="0" dirty="0">
                <a:solidFill>
                  <a:srgbClr val="0000FF"/>
                </a:solidFill>
                <a:latin typeface="Calibri" panose="020F0502020204030204" pitchFamily="34" charset="0"/>
              </a:rPr>
              <a:t>The RP2040 has 4 programmable alarms of 32 bits that can </a:t>
            </a:r>
            <a:r>
              <a:rPr lang="en-IN" sz="2800" b="0" i="0" u="none" strike="noStrike" baseline="0" dirty="0">
                <a:solidFill>
                  <a:srgbClr val="0000FF"/>
                </a:solidFill>
                <a:latin typeface="Calibri" panose="020F0502020204030204" pitchFamily="34" charset="0"/>
              </a:rPr>
              <a:t>generate interrupts (TIMER_IRQ0, …, TIMER_IRQ_3). Max alarm duration is 232 microseconds ~ 72 minutes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4EA19-E81C-1BEC-42BD-DF82AF3DC6B5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RP2040 Timers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3F5945-FF73-29AD-1430-233ED4A9B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6907"/>
            <a:ext cx="9144000" cy="24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438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D09774-A0A8-52FF-9FDB-8592C1699821}"/>
              </a:ext>
            </a:extLst>
          </p:cNvPr>
          <p:cNvSpPr txBox="1"/>
          <p:nvPr/>
        </p:nvSpPr>
        <p:spPr>
          <a:xfrm>
            <a:off x="0" y="451806"/>
            <a:ext cx="9143999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NVIC</a:t>
            </a:r>
            <a:r>
              <a:rPr lang="en-IN" sz="2400" b="1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IN" sz="2400" b="1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 external interrupt inputs, each with four levels of priority.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Non-Maskable Interrupt (NMI) input (which can be driven from any standard interrupt source)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both level-sensitive and pulse-sensitive interrupt lines.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Wake-up Interrupt Controller (WIC), providing ultra-low power sleep mode support.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IN" sz="22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Relocatable vector table.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F920D-0F12-F077-80BC-ADCA44EC460E}"/>
              </a:ext>
            </a:extLst>
          </p:cNvPr>
          <p:cNvSpPr txBox="1"/>
          <p:nvPr/>
        </p:nvSpPr>
        <p:spPr>
          <a:xfrm>
            <a:off x="0" y="4393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Nested Vectored Interrupt Controller (NVIC)</a:t>
            </a:r>
            <a:endParaRPr lang="en-IN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A253E7-CE98-5F5F-08C2-1FE589B67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8402"/>
            <a:ext cx="9144000" cy="22280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F7C79D-FF8B-AF10-78E8-B556AD74F77A}"/>
              </a:ext>
            </a:extLst>
          </p:cNvPr>
          <p:cNvSpPr/>
          <p:nvPr/>
        </p:nvSpPr>
        <p:spPr>
          <a:xfrm>
            <a:off x="35860" y="4993338"/>
            <a:ext cx="1792941" cy="1057835"/>
          </a:xfrm>
          <a:prstGeom prst="rect">
            <a:avLst/>
          </a:prstGeom>
          <a:noFill/>
          <a:ln w="28575">
            <a:solidFill>
              <a:srgbClr val="2FFD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8992F3-6552-A959-2225-E60425F30690}"/>
              </a:ext>
            </a:extLst>
          </p:cNvPr>
          <p:cNvSpPr/>
          <p:nvPr/>
        </p:nvSpPr>
        <p:spPr>
          <a:xfrm>
            <a:off x="1882591" y="5280210"/>
            <a:ext cx="1792940" cy="1057835"/>
          </a:xfrm>
          <a:prstGeom prst="rect">
            <a:avLst/>
          </a:prstGeom>
          <a:noFill/>
          <a:ln w="28575">
            <a:solidFill>
              <a:srgbClr val="2FFD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60A4D-9FB1-3ABC-1292-95F6B5C1E86F}"/>
              </a:ext>
            </a:extLst>
          </p:cNvPr>
          <p:cNvSpPr/>
          <p:nvPr/>
        </p:nvSpPr>
        <p:spPr>
          <a:xfrm>
            <a:off x="44825" y="6051173"/>
            <a:ext cx="1792941" cy="286872"/>
          </a:xfrm>
          <a:prstGeom prst="rect">
            <a:avLst/>
          </a:prstGeom>
          <a:noFill/>
          <a:ln w="28575">
            <a:solidFill>
              <a:srgbClr val="2FFD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680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5CBCE3-E42B-EFE2-791C-B9A97869874E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Timer Interrupt - Examples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72ABC-1D91-F77C-87AE-93777AF837C1}"/>
              </a:ext>
            </a:extLst>
          </p:cNvPr>
          <p:cNvSpPr txBox="1"/>
          <p:nvPr/>
        </p:nvSpPr>
        <p:spPr>
          <a:xfrm>
            <a:off x="0" y="398833"/>
            <a:ext cx="9144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341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changes in some I/O pins.</a:t>
            </a:r>
          </a:p>
          <a:p>
            <a:pPr marL="571500" indent="-5715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00B1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timer events (overflow, compare with </a:t>
            </a:r>
            <a:r>
              <a:rPr lang="en-IN" sz="2800" b="0" i="0" u="none" strike="noStrike" baseline="0" dirty="0">
                <a:solidFill>
                  <a:srgbClr val="00B1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threshold)</a:t>
            </a:r>
          </a:p>
          <a:p>
            <a:pPr marL="571500" indent="-5715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99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grab the value of a completed ADC acquisition.</a:t>
            </a:r>
          </a:p>
          <a:p>
            <a:pPr marL="571500" indent="-5715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E5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grab when data arrives to communication channels </a:t>
            </a:r>
            <a:r>
              <a:rPr lang="en-IN" sz="2800" b="0" i="0" u="none" strike="noStrike" baseline="0" dirty="0">
                <a:solidFill>
                  <a:srgbClr val="E5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(USART, SPI, I2C).</a:t>
            </a:r>
          </a:p>
          <a:p>
            <a:pPr algn="l">
              <a:spcBef>
                <a:spcPts val="600"/>
              </a:spcBef>
            </a:pPr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interrupt occurs, the microcontroller:</a:t>
            </a:r>
          </a:p>
          <a:p>
            <a:pPr algn="l">
              <a:spcBef>
                <a:spcPts val="600"/>
              </a:spcBef>
            </a:pPr>
            <a:r>
              <a:rPr lang="en-IN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completes the current instruction,</a:t>
            </a:r>
          </a:p>
          <a:p>
            <a:pPr algn="l">
              <a:spcBef>
                <a:spcPts val="600"/>
              </a:spcBef>
            </a:pPr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stores the address of the following instruction</a:t>
            </a:r>
          </a:p>
          <a:p>
            <a:pPr algn="l">
              <a:spcBef>
                <a:spcPts val="600"/>
              </a:spcBef>
            </a:pPr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and jumps to an Interrupt Service Routine (ISR) provided by   </a:t>
            </a:r>
          </a:p>
          <a:p>
            <a:pPr algn="l">
              <a:spcBef>
                <a:spcPts val="600"/>
              </a:spcBef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programmer to process the interrupt. The pointer to </a:t>
            </a:r>
          </a:p>
          <a:p>
            <a:pPr algn="l">
              <a:spcBef>
                <a:spcPts val="600"/>
              </a:spcBef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routine is stored in the ISR Vector Table.</a:t>
            </a:r>
          </a:p>
          <a:p>
            <a:pPr algn="l">
              <a:spcBef>
                <a:spcPts val="600"/>
              </a:spcBef>
            </a:pPr>
            <a:r>
              <a:rPr lang="en-US" sz="2800" b="0" i="0" u="none" strike="noStrike" baseline="0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When the ISR completes, the processor returns to the point where it was </a:t>
            </a:r>
            <a:r>
              <a:rPr lang="en-IN" sz="2800" b="0" i="0" u="none" strike="noStrike" baseline="0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interrupted.</a:t>
            </a:r>
            <a:endParaRPr lang="en-IN" sz="2800" b="0" i="0" u="none" strike="noStrike" baseline="0" dirty="0">
              <a:solidFill>
                <a:srgbClr val="E56C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10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C8442-0EF9-183F-966F-87FF6D43238C}"/>
              </a:ext>
            </a:extLst>
          </p:cNvPr>
          <p:cNvSpPr txBox="1"/>
          <p:nvPr/>
        </p:nvSpPr>
        <p:spPr>
          <a:xfrm>
            <a:off x="0" y="553668"/>
            <a:ext cx="914400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RP2040 has a number of other programmable counter resources which can provide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regular interrupts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trigger DMA transfers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4438C-CB76-E785-2BDF-F5E347F29A05}"/>
              </a:ext>
            </a:extLst>
          </p:cNvPr>
          <p:cNvSpPr txBox="1"/>
          <p:nvPr/>
        </p:nvSpPr>
        <p:spPr>
          <a:xfrm>
            <a:off x="0" y="15079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Times New Roman" panose="02020603050405020304" pitchFamily="18" charset="0"/>
              </a:rPr>
              <a:t>Other Programmable Counter Resources </a:t>
            </a: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8B0CC7-7031-B770-A1FC-C77157BC0EBA}"/>
              </a:ext>
            </a:extLst>
          </p:cNvPr>
          <p:cNvSpPr/>
          <p:nvPr/>
        </p:nvSpPr>
        <p:spPr>
          <a:xfrm>
            <a:off x="852257" y="1696014"/>
            <a:ext cx="7421733" cy="1786001"/>
          </a:xfrm>
          <a:prstGeom prst="rect">
            <a:avLst/>
          </a:prstGeom>
          <a:solidFill>
            <a:srgbClr val="E7F4D8"/>
          </a:solidFill>
          <a:ln w="19050"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1F7983-9341-47AE-56DD-F673347AB63B}"/>
              </a:ext>
            </a:extLst>
          </p:cNvPr>
          <p:cNvSpPr/>
          <p:nvPr/>
        </p:nvSpPr>
        <p:spPr>
          <a:xfrm>
            <a:off x="852258" y="3908733"/>
            <a:ext cx="7421732" cy="1027243"/>
          </a:xfrm>
          <a:prstGeom prst="rect">
            <a:avLst/>
          </a:prstGeom>
          <a:solidFill>
            <a:srgbClr val="FF00FF">
              <a:alpha val="20000"/>
            </a:srgbClr>
          </a:solidFill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FB095-4AA2-5392-4C8A-F9F2389A05FF}"/>
              </a:ext>
            </a:extLst>
          </p:cNvPr>
          <p:cNvSpPr/>
          <p:nvPr/>
        </p:nvSpPr>
        <p:spPr>
          <a:xfrm>
            <a:off x="852258" y="5264449"/>
            <a:ext cx="7421732" cy="1027242"/>
          </a:xfrm>
          <a:prstGeom prst="rect">
            <a:avLst/>
          </a:prstGeom>
          <a:solidFill>
            <a:srgbClr val="CCECFF">
              <a:alpha val="60000"/>
            </a:srgbClr>
          </a:solidFill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2E5D8-ECF2-1698-5AAC-0273C3410D00}"/>
              </a:ext>
            </a:extLst>
          </p:cNvPr>
          <p:cNvSpPr txBox="1"/>
          <p:nvPr/>
        </p:nvSpPr>
        <p:spPr>
          <a:xfrm>
            <a:off x="852258" y="1724691"/>
            <a:ext cx="7421732" cy="454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PWM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contains 8× 16-bit programmable counters, which run at up to system speed, can generate interrupts, and can be continuously reprogrammed via the DMA, or trigger DMA transfers to other peripherals.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8× PIO state machines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can count 32-bit values at system speed, and generate interrupts.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has four internal pacing timers, which trigger transfers at regular intervals.</a:t>
            </a:r>
          </a:p>
        </p:txBody>
      </p:sp>
    </p:spTree>
    <p:extLst>
      <p:ext uri="{BB962C8B-B14F-4D97-AF65-F5344CB8AC3E}">
        <p14:creationId xmlns:p14="http://schemas.microsoft.com/office/powerpoint/2010/main" val="32879148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4A352E-86D9-644C-8733-CD21F8E2D6E9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Raspberry Pi Pico Timers - MicroPython Library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389613-A3C9-3E2F-F95C-D597C680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1169"/>
            <a:ext cx="9143999" cy="634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6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Import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machine module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 from that module, import the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Timer class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</a:p>
          <a:p>
            <a:pPr marL="18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from machine import Timer</a:t>
            </a:r>
          </a:p>
          <a:p>
            <a:pPr marL="36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Create an instance of a timer class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with an object name. </a:t>
            </a:r>
          </a:p>
          <a:p>
            <a:pPr marL="54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Give any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descriptive name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the timer class object such as “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timer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”. </a:t>
            </a:r>
          </a:p>
          <a:p>
            <a:pPr marL="54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 argument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the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timer()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 is the ID of the timer: </a:t>
            </a:r>
          </a:p>
          <a:p>
            <a:pPr marL="72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virtual timer, the ID is -1. </a:t>
            </a:r>
          </a:p>
          <a:p>
            <a:pPr marL="72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use the single hardware timer of Raspberry Pi Pico can leave the ID empty .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Initialize the Timer() function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with three arguments namely:</a:t>
            </a:r>
          </a:p>
          <a:p>
            <a:pPr marL="54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Period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period of the interrupt signal in milliseconds. This is the total time until the callback is called.</a:t>
            </a:r>
          </a:p>
          <a:p>
            <a:pPr marL="54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To configure our Timer as periodic or in one shot. 				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‘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Timer.PERIODIC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‘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Timer.ONE_SHOT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.’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540000" marR="0" lvl="0" indent="-1800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Callback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Function which is executed whenever a timer is triggered. In periodic mode, the callback function will be called after every period specified.</a:t>
            </a:r>
          </a:p>
        </p:txBody>
      </p:sp>
    </p:spTree>
    <p:extLst>
      <p:ext uri="{BB962C8B-B14F-4D97-AF65-F5344CB8AC3E}">
        <p14:creationId xmlns:p14="http://schemas.microsoft.com/office/powerpoint/2010/main" val="716323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CB63-EE1C-5CD9-ADFF-A0C4AEDBFF0E}"/>
              </a:ext>
            </a:extLst>
          </p:cNvPr>
          <p:cNvSpPr txBox="1">
            <a:spLocks/>
          </p:cNvSpPr>
          <p:nvPr/>
        </p:nvSpPr>
        <p:spPr>
          <a:xfrm>
            <a:off x="0" y="1853768"/>
            <a:ext cx="9144000" cy="97011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Hands-on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DCCF3-5CFE-E635-77BD-4D51114BDB19}"/>
              </a:ext>
            </a:extLst>
          </p:cNvPr>
          <p:cNvSpPr txBox="1"/>
          <p:nvPr/>
        </p:nvSpPr>
        <p:spPr>
          <a:xfrm>
            <a:off x="0" y="3244334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Raspberry Pi Pico Timers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30658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CF4DF-C27F-F3BC-E6DF-72F44C1F184D}"/>
              </a:ext>
            </a:extLst>
          </p:cNvPr>
          <p:cNvSpPr txBox="1"/>
          <p:nvPr/>
        </p:nvSpPr>
        <p:spPr>
          <a:xfrm>
            <a:off x="-1" y="20810"/>
            <a:ext cx="9144001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Prog-4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from machine import Pin, Timer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from time import sleep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L1 = Pin("LED",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Pin.OUT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  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# On-board LED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GP25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L2 = Pin(2,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Pin.OUT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# On-Kit LED (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GP2_LED1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L3 = Pin(3,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Pin.OUT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# On-Kit LED (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GP2_LED2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push_button1 = Pin(4, Pin.IN,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Pin.PULL_UP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# GPIO 4 pin is input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GP4_SW1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push_button2 = Pin(5, Pin.IN,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Pin.PULL_UP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)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# GPIO 5 pin is input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GP5_SW2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= Timer() </a:t>
            </a:r>
            <a:r>
              <a:rPr kumimoji="0" lang="en-IN" sz="2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#create an instance of Timer method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def blink(t): </a:t>
            </a:r>
            <a:r>
              <a:rPr kumimoji="0" lang="en-IN" sz="2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#function which is toggling the led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   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if (push_button1.value()==0):   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     L1.toggle()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tim.init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(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freq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=2, mode=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Timer.PERIODIC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2BBB5B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, callback=blink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while True: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#Main Loop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L2.value(1)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    sleep(1)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    L2.value(0)</a:t>
            </a:r>
          </a:p>
          <a:p>
            <a:pPr marL="0" marR="0" lvl="0" indent="0" algn="l" defTabSz="4572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    sleep(1)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73984-8092-D10A-5668-1E3963A5EBC1}"/>
              </a:ext>
            </a:extLst>
          </p:cNvPr>
          <p:cNvSpPr txBox="1"/>
          <p:nvPr/>
        </p:nvSpPr>
        <p:spPr>
          <a:xfrm>
            <a:off x="-1" y="0"/>
            <a:ext cx="9144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Raspberry Pi Pico Timer</a:t>
            </a:r>
          </a:p>
        </p:txBody>
      </p:sp>
    </p:spTree>
    <p:extLst>
      <p:ext uri="{BB962C8B-B14F-4D97-AF65-F5344CB8AC3E}">
        <p14:creationId xmlns:p14="http://schemas.microsoft.com/office/powerpoint/2010/main" val="6728060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CF4DF-C27F-F3BC-E6DF-72F44C1F184D}"/>
              </a:ext>
            </a:extLst>
          </p:cNvPr>
          <p:cNvSpPr txBox="1"/>
          <p:nvPr/>
        </p:nvSpPr>
        <p:spPr>
          <a:xfrm>
            <a:off x="-2" y="233447"/>
            <a:ext cx="9144001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from machine import Pin, Timer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from time import sleep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L1 = Pin("LED",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Pin.OUT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)    </a:t>
            </a:r>
            <a:r>
              <a:rPr kumimoji="0" lang="en-IN" sz="2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 On-board LED (GP25)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L2 = Pin(2,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Pin.OUT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)  </a:t>
            </a:r>
            <a:r>
              <a:rPr kumimoji="0" lang="en-IN" sz="2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 On-Kit LED (GP2_LED1)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L3 = Pin(3,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Pin.OUT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)  </a:t>
            </a:r>
            <a:r>
              <a:rPr kumimoji="0" lang="en-IN" sz="2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 On-Kit LED (GP2_LED2)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push_button1 = Pin(4, Pin.IN,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Pin.PULL_UP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) </a:t>
            </a:r>
            <a:r>
              <a:rPr kumimoji="0" lang="en-IN" sz="2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 GPIO 4 pin is input GP4_SW1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push_button2 = Pin(5, Pin.IN, 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Pin.PULL_UP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) </a:t>
            </a:r>
            <a:r>
              <a:rPr kumimoji="0" lang="en-IN" sz="2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 GPIO 5 pin is input GP5_SW2</a:t>
            </a:r>
            <a:endParaRPr kumimoji="0" lang="en-IN" sz="24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= Timer() </a:t>
            </a:r>
            <a:r>
              <a:rPr kumimoji="0" lang="en-IN" sz="24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#create an instance of Timer method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tim1 = Timer()</a:t>
            </a:r>
            <a:r>
              <a:rPr kumimoji="0" lang="en-IN" sz="24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 #create an another instance of Timer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def blink(t): L1.toggle() </a:t>
            </a:r>
            <a:r>
              <a:rPr kumimoji="0" lang="en-IN" sz="24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#fn which is toggling the On-board LED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def blink1(t): L2.toggle()  </a:t>
            </a:r>
            <a:r>
              <a:rPr kumimoji="0" lang="en-IN" sz="24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#fn which is toggling the On-Kit LED (GPIO2)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tim.init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(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freq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=1, mode=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Timer.PERIODIC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, callback=blink)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tim1.init(period=100, mode=</a:t>
            </a:r>
            <a:r>
              <a:rPr kumimoji="0" lang="en-I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Timer.PERIODIC</a:t>
            </a: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, callback=blink1)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73984-8092-D10A-5668-1E3963A5EBC1}"/>
              </a:ext>
            </a:extLst>
          </p:cNvPr>
          <p:cNvSpPr txBox="1"/>
          <p:nvPr/>
        </p:nvSpPr>
        <p:spPr>
          <a:xfrm>
            <a:off x="-1" y="0"/>
            <a:ext cx="9144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Raspberry Pi Pico Multiple Timer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FD37B-4FE5-1594-A079-29A18E2FE3A1}"/>
              </a:ext>
            </a:extLst>
          </p:cNvPr>
          <p:cNvSpPr txBox="1"/>
          <p:nvPr/>
        </p:nvSpPr>
        <p:spPr>
          <a:xfrm>
            <a:off x="7099737" y="281238"/>
            <a:ext cx="20442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#Main Loop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while True: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   L3.value(1)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   sleep(1)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   L3.value(0)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   sleep(1)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63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D2C638-F92B-FCB8-DBE8-18500E52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49"/>
            <a:ext cx="9144000" cy="697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67E1E-4476-03A9-5B3F-B27A09B39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375"/>
          <a:stretch>
            <a:fillRect/>
          </a:stretch>
        </p:blipFill>
        <p:spPr>
          <a:xfrm>
            <a:off x="850516" y="808323"/>
            <a:ext cx="7442968" cy="26205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35203A-AFFE-66FC-A56A-1E39FB40F6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9" t="11601" r="4420" b="10839"/>
          <a:stretch/>
        </p:blipFill>
        <p:spPr bwMode="auto">
          <a:xfrm>
            <a:off x="850517" y="3513924"/>
            <a:ext cx="7442968" cy="317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7006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CDBF49-0AEA-678D-F47E-61CEFD5A3A65}"/>
              </a:ext>
            </a:extLst>
          </p:cNvPr>
          <p:cNvSpPr txBox="1"/>
          <p:nvPr/>
        </p:nvSpPr>
        <p:spPr>
          <a:xfrm>
            <a:off x="0" y="1793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PWM (pulse width modulation)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D0A12-1BFB-F749-E426-2CD15C7D2102}"/>
              </a:ext>
            </a:extLst>
          </p:cNvPr>
          <p:cNvSpPr txBox="1"/>
          <p:nvPr/>
        </p:nvSpPr>
        <p:spPr>
          <a:xfrm>
            <a:off x="-2" y="2744384"/>
            <a:ext cx="9144001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Duty Cycle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ON time of signal /  (ON time + OFF time) of signal,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 Period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ON time + OFF time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Duty Cycle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ON time of signal / Time period of signal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Frequency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1/Time Period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86F15-CA0F-1C7C-1166-5318A4ED3EC3}"/>
              </a:ext>
            </a:extLst>
          </p:cNvPr>
          <p:cNvSpPr txBox="1"/>
          <p:nvPr/>
        </p:nvSpPr>
        <p:spPr>
          <a:xfrm>
            <a:off x="-1" y="4338439"/>
            <a:ext cx="9144001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RP2040 PWM block can be used to generate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PWM output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signals 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measure the frequency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duty cycle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an input signal.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RP2040 PWM block has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 identical slices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 slice can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drive two PWM output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signals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making it 16 PWM channels in total which can be clocked from 7Hz to 125Mhz.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 30 GPIO pins can be driven by the PWM block.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89F39046-D0D4-EC41-BB23-DCC32E51A0BA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6616" t="11411" r="9905" b="26049"/>
          <a:stretch/>
        </p:blipFill>
        <p:spPr>
          <a:xfrm>
            <a:off x="4876799" y="681384"/>
            <a:ext cx="4267201" cy="18434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5F1A49-EC30-C6E2-3A84-7647EF17FABC}"/>
              </a:ext>
            </a:extLst>
          </p:cNvPr>
          <p:cNvSpPr txBox="1"/>
          <p:nvPr/>
        </p:nvSpPr>
        <p:spPr>
          <a:xfrm>
            <a:off x="-3" y="523375"/>
            <a:ext cx="4971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Pulse width modulation (PWM) is a scheme where a digital signal provides a smoothly varying average voltage. This may be used to approximate an analog output, or control switch mode power electronics.</a:t>
            </a:r>
          </a:p>
        </p:txBody>
      </p:sp>
    </p:spTree>
    <p:extLst>
      <p:ext uri="{BB962C8B-B14F-4D97-AF65-F5344CB8AC3E}">
        <p14:creationId xmlns:p14="http://schemas.microsoft.com/office/powerpoint/2010/main" val="2084522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A861B-3429-C92C-1192-CC30B47B3AB4}"/>
              </a:ext>
            </a:extLst>
          </p:cNvPr>
          <p:cNvSpPr txBox="1"/>
          <p:nvPr/>
        </p:nvSpPr>
        <p:spPr>
          <a:xfrm>
            <a:off x="0" y="3813612"/>
            <a:ext cx="914400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16-bit counter, </a:t>
            </a:r>
            <a:r>
              <a:rPr kumimoji="0" lang="en-IN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8.4 fractional clock divider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Two independent output channels,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duty cycle from 0% to 100%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inclusive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Dual slope and trailing edge modulation. Interrupt and DMA request on counter wrap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Wrap and level registers are double buffered and can be changed race-free while PWM is running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Phase can be precisely advanced or retarded while running (increments of one count)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arrow" panose="020B0606020202030204" pitchFamily="34" charset="0"/>
                <a:cs typeface="Times New Roman" panose="02020603050405020304" pitchFamily="18" charset="0"/>
              </a:rPr>
              <a:t>Slices can be enabled or disabled simultaneously via a single, global control register enabling the slices to run in perfect lockstep.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0C3B82-9D8E-CB48-A6ED-23411331F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3" y="12435"/>
            <a:ext cx="8700654" cy="382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21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FA8331-A82C-F299-CC82-022790BB49DC}"/>
              </a:ext>
            </a:extLst>
          </p:cNvPr>
          <p:cNvSpPr txBox="1"/>
          <p:nvPr/>
        </p:nvSpPr>
        <p:spPr>
          <a:xfrm>
            <a:off x="-2" y="368985"/>
            <a:ext cx="914400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Steps to follow in order to use the PWM module in RP2040:</a:t>
            </a:r>
          </a:p>
          <a:p>
            <a:pPr marL="216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Importing the Pin &amp; PWM class.   	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3015A3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from machine import Pin,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PWM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6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Choose the PWM pin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Creating a PWM pin object for the LED.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pwmObject.PWM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(Pin(2))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15A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shows the PWM is connected on GPIO2.</a:t>
            </a:r>
          </a:p>
          <a:p>
            <a:pPr marL="216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Set a particular frequency for PWM digital signal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1000Hz is a good value to start off with to work with an LED: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pwmObject.freq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(1000)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216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Pico has 12 bit resolution but 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MicroPython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it is scaled to 16 bits. Hence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duty cycle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will be set from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0-65535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which corresponds 	to 0-100%. To set the duty cycle for the PWM signal.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15A3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pwmObject.duty_u16(duty)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043F5-F9CF-22CD-5026-95A51DDFF459}"/>
              </a:ext>
            </a:extLst>
          </p:cNvPr>
          <p:cNvSpPr txBox="1"/>
          <p:nvPr/>
        </p:nvSpPr>
        <p:spPr>
          <a:xfrm>
            <a:off x="-1" y="0"/>
            <a:ext cx="9144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MicroPython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LED Fading Example using PWM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4CF353-4C83-A9DF-8E1E-A1B78EAE7643}"/>
              </a:ext>
            </a:extLst>
          </p:cNvPr>
          <p:cNvSpPr txBox="1"/>
          <p:nvPr/>
        </p:nvSpPr>
        <p:spPr>
          <a:xfrm>
            <a:off x="-1" y="5018952"/>
            <a:ext cx="91440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pwm0 = PWM(Pin(0)) 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# create PWM object from a pin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pwm0.freq()            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# get current frequency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pwm0.freq(1000)        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# set frequency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pwm0.duty_u16() </a:t>
            </a: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# get current duty cycle, range 0-65535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pwm0.duty_u16(200)  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# set duty cycle, range 0-65535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pwm0.deinit()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          # turn off PWM on the pin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E0F01-614E-A594-402E-A9ACFF4A0798}"/>
              </a:ext>
            </a:extLst>
          </p:cNvPr>
          <p:cNvSpPr/>
          <p:nvPr/>
        </p:nvSpPr>
        <p:spPr>
          <a:xfrm>
            <a:off x="0" y="5018952"/>
            <a:ext cx="5746374" cy="1781221"/>
          </a:xfrm>
          <a:prstGeom prst="rect">
            <a:avLst/>
          </a:prstGeom>
          <a:noFill/>
          <a:ln w="28575">
            <a:solidFill>
              <a:srgbClr val="301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49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CB63-EE1C-5CD9-ADFF-A0C4AEDBFF0E}"/>
              </a:ext>
            </a:extLst>
          </p:cNvPr>
          <p:cNvSpPr txBox="1">
            <a:spLocks/>
          </p:cNvSpPr>
          <p:nvPr/>
        </p:nvSpPr>
        <p:spPr>
          <a:xfrm>
            <a:off x="0" y="1853768"/>
            <a:ext cx="9144000" cy="97011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Hands-on Session</a:t>
            </a:r>
          </a:p>
        </p:txBody>
      </p:sp>
    </p:spTree>
    <p:extLst>
      <p:ext uri="{BB962C8B-B14F-4D97-AF65-F5344CB8AC3E}">
        <p14:creationId xmlns:p14="http://schemas.microsoft.com/office/powerpoint/2010/main" val="16839273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98043F5-F9CF-22CD-5026-95A51DDFF459}"/>
              </a:ext>
            </a:extLst>
          </p:cNvPr>
          <p:cNvSpPr txBox="1"/>
          <p:nvPr/>
        </p:nvSpPr>
        <p:spPr>
          <a:xfrm>
            <a:off x="-1" y="0"/>
            <a:ext cx="9144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MicroPython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LED Fading Example using PWM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ABE9E2-BB2E-0A0B-8591-1E3339629700}"/>
              </a:ext>
            </a:extLst>
          </p:cNvPr>
          <p:cNvSpPr txBox="1"/>
          <p:nvPr/>
        </p:nvSpPr>
        <p:spPr>
          <a:xfrm>
            <a:off x="0" y="434428"/>
            <a:ext cx="493999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from machine import Pin, </a:t>
            </a: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PWM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from time import sleep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L2 = PWM(Pin(2))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L3 = PWM(Pin(3))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L2.freq(100)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L3.freq(100)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4ADAD-D525-A573-801C-0A6AB4CA6D1A}"/>
              </a:ext>
            </a:extLst>
          </p:cNvPr>
          <p:cNvSpPr txBox="1"/>
          <p:nvPr/>
        </p:nvSpPr>
        <p:spPr>
          <a:xfrm>
            <a:off x="4124285" y="1722125"/>
            <a:ext cx="493999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while True: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for duty in range(0,65535):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    </a:t>
            </a: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L2.duty_u16(duty)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    L3.duty_u16(65535-duty)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    sleep(0.0001)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sleep(1)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for duty in range(65535,0,-1):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    </a:t>
            </a: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L2.duty_u16(duty)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    L3.duty_u16(65535-duty)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    sleep(0.0001)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   sleep(1)</a:t>
            </a:r>
          </a:p>
        </p:txBody>
      </p:sp>
    </p:spTree>
    <p:extLst>
      <p:ext uri="{BB962C8B-B14F-4D97-AF65-F5344CB8AC3E}">
        <p14:creationId xmlns:p14="http://schemas.microsoft.com/office/powerpoint/2010/main" val="777530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9C5E-8EA1-C529-47D9-02A5533C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8A8D06F4-CB75-4698-8E07-1F7189136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64" y="608164"/>
            <a:ext cx="7765874" cy="2948499"/>
          </a:xfrm>
          <a:prstGeom prst="rect">
            <a:avLst/>
          </a:prstGeom>
          <a:solidFill>
            <a:srgbClr val="D1E3F3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20000"/>
              </a:lnSpc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from machine import Pin, Timer </a:t>
            </a: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sig=Pin(28,Pin.OUT) </a:t>
            </a: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while (1): </a:t>
            </a:r>
          </a:p>
          <a:p>
            <a:pPr lvl="1" defTabSz="914400" eaLnBrk="0" fontAlgn="base" hangingPunct="0">
              <a:lnSpc>
                <a:spcPct val="120000"/>
              </a:lnSpc>
              <a:spcBef>
                <a:spcPts val="600"/>
              </a:spcBef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sig.value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(1)</a:t>
            </a:r>
          </a:p>
          <a:p>
            <a:pPr lvl="1" defTabSz="914400" eaLnBrk="0" fontAlgn="base" hangingPunct="0">
              <a:lnSpc>
                <a:spcPct val="120000"/>
              </a:lnSpc>
              <a:spcBef>
                <a:spcPts val="600"/>
              </a:spcBef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sig.value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E2498B-3679-8340-D9EF-852F71532C0D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Real Time Issues</a:t>
            </a:r>
            <a:r>
              <a:rPr lang="en-IN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 (High speed I/O)</a:t>
            </a:r>
            <a:endParaRPr lang="en-IN" sz="280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CCBE0-BA20-68D4-A410-30D963861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23"/>
          <a:stretch>
            <a:fillRect/>
          </a:stretch>
        </p:blipFill>
        <p:spPr>
          <a:xfrm>
            <a:off x="689063" y="3867978"/>
            <a:ext cx="7765874" cy="254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000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9C5F60-D6DF-6B47-78B7-C1021F65FC6D}"/>
              </a:ext>
            </a:extLst>
          </p:cNvPr>
          <p:cNvSpPr txBox="1"/>
          <p:nvPr/>
        </p:nvSpPr>
        <p:spPr>
          <a:xfrm>
            <a:off x="0" y="617347"/>
            <a:ext cx="9144000" cy="621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1" u="none" strike="noStrike" kern="1200" cap="none" spc="-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</a:rPr>
              <a:t>Instruction execution</a:t>
            </a:r>
            <a:r>
              <a:rPr kumimoji="0" lang="en-US" sz="280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: </a:t>
            </a:r>
          </a:p>
          <a:p>
            <a:pPr marL="7020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80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A single instruction may take several clock cycles. </a:t>
            </a:r>
          </a:p>
          <a:p>
            <a:pPr marL="7020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80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A high-level language function call like </a:t>
            </a:r>
            <a:r>
              <a:rPr kumimoji="0" lang="en-US" sz="2800" u="none" strike="noStrike" kern="1200" cap="none" spc="-150" normalizeH="0" baseline="0" noProof="0" dirty="0" err="1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sig.value</a:t>
            </a:r>
            <a:r>
              <a:rPr kumimoji="0" lang="en-US" sz="280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() can involve multiple assembly instructions, such as loading the pin's memory address, preparing the value, and storing it.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1" u="none" strike="noStrike" kern="1200" cap="none" spc="-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</a:rPr>
              <a:t>Loop overhead: </a:t>
            </a:r>
          </a:p>
          <a:p>
            <a:pPr marL="7020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80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The while(1) loop also has overhead. At the very least, it includes a jump instruction to go back to the top of the loop.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1" u="none" strike="noStrike" kern="1200" cap="none" spc="-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anose="02030602050306030303" pitchFamily="18" charset="0"/>
              </a:rPr>
              <a:t>Conclusion:</a:t>
            </a:r>
          </a:p>
          <a:p>
            <a:pPr marL="7020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80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With a 100 MHz processor, the toggling frequency produced by this </a:t>
            </a:r>
            <a:r>
              <a:rPr kumimoji="0" lang="en-US" sz="2800" u="none" strike="noStrike" kern="1200" cap="none" spc="-150" normalizeH="0" baseline="0" noProof="0" dirty="0" err="1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Micropython</a:t>
            </a:r>
            <a:r>
              <a:rPr kumimoji="0" lang="en-US" sz="280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nstantia" panose="02030602050306030303" pitchFamily="18" charset="0"/>
              </a:rPr>
              <a:t> code would likely be between 10 and 25 MHz,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430D5-10AA-FD0C-ABFD-7F2F40AF382E}"/>
              </a:ext>
            </a:extLst>
          </p:cNvPr>
          <p:cNvSpPr txBox="1"/>
          <p:nvPr/>
        </p:nvSpPr>
        <p:spPr>
          <a:xfrm>
            <a:off x="80681" y="53790"/>
            <a:ext cx="9027459" cy="54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</a:rPr>
              <a:t>This jitter arises from several factors:</a:t>
            </a:r>
          </a:p>
        </p:txBody>
      </p:sp>
    </p:spTree>
    <p:extLst>
      <p:ext uri="{BB962C8B-B14F-4D97-AF65-F5344CB8AC3E}">
        <p14:creationId xmlns:p14="http://schemas.microsoft.com/office/powerpoint/2010/main" val="2892179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EB08DD-DC36-4079-F940-C38FCA03E3EF}"/>
              </a:ext>
            </a:extLst>
          </p:cNvPr>
          <p:cNvSpPr txBox="1"/>
          <p:nvPr/>
        </p:nvSpPr>
        <p:spPr>
          <a:xfrm>
            <a:off x="0" y="412378"/>
            <a:ext cx="9144000" cy="2180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Interrupts and Background Tasks: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 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The microcontroller may be handling interrupts (even if not explicitly programmed by the user) which can momentarily delay the execution of the 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led.value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() commands, causing slight variations in the timing of the high and low states.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9813A-2F72-99BC-C702-1B7B85BA4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3" y="2663486"/>
            <a:ext cx="8663440" cy="413080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DCCFFD-8325-943C-9DCA-C8CD327AE5F4}"/>
              </a:ext>
            </a:extLst>
          </p:cNvPr>
          <p:cNvCxnSpPr/>
          <p:nvPr/>
        </p:nvCxnSpPr>
        <p:spPr>
          <a:xfrm flipV="1">
            <a:off x="6508377" y="5441576"/>
            <a:ext cx="923365" cy="10219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73722B-9BCC-8C15-E6AF-16B5BB19D301}"/>
              </a:ext>
            </a:extLst>
          </p:cNvPr>
          <p:cNvSpPr txBox="1"/>
          <p:nvPr/>
        </p:nvSpPr>
        <p:spPr>
          <a:xfrm>
            <a:off x="2492187" y="3745016"/>
            <a:ext cx="564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Int</a:t>
            </a:r>
            <a:endParaRPr lang="en-IN" sz="2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38D814-E30F-4952-E62B-30907274647C}"/>
              </a:ext>
            </a:extLst>
          </p:cNvPr>
          <p:cNvCxnSpPr>
            <a:cxnSpLocks/>
          </p:cNvCxnSpPr>
          <p:nvPr/>
        </p:nvCxnSpPr>
        <p:spPr>
          <a:xfrm flipH="1">
            <a:off x="2142563" y="3962400"/>
            <a:ext cx="40341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32D412CE-E948-8341-4F3A-E3BB8BBF5FE0}"/>
              </a:ext>
            </a:extLst>
          </p:cNvPr>
          <p:cNvSpPr/>
          <p:nvPr/>
        </p:nvSpPr>
        <p:spPr>
          <a:xfrm flipH="1">
            <a:off x="564779" y="3962401"/>
            <a:ext cx="788892" cy="1667416"/>
          </a:xfrm>
          <a:prstGeom prst="arc">
            <a:avLst>
              <a:gd name="adj1" fmla="val 16200000"/>
              <a:gd name="adj2" fmla="val 599156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1D92C53E-5F12-566C-6C61-AA106EDC0A44}"/>
              </a:ext>
            </a:extLst>
          </p:cNvPr>
          <p:cNvSpPr/>
          <p:nvPr/>
        </p:nvSpPr>
        <p:spPr>
          <a:xfrm flipH="1">
            <a:off x="5190563" y="4034118"/>
            <a:ext cx="564776" cy="2429435"/>
          </a:xfrm>
          <a:prstGeom prst="arc">
            <a:avLst>
              <a:gd name="adj1" fmla="val 16200000"/>
              <a:gd name="adj2" fmla="val 5634173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720F18-94B9-9C2E-0AD0-5B88213273C1}"/>
              </a:ext>
            </a:extLst>
          </p:cNvPr>
          <p:cNvCxnSpPr/>
          <p:nvPr/>
        </p:nvCxnSpPr>
        <p:spPr>
          <a:xfrm>
            <a:off x="5307106" y="4016189"/>
            <a:ext cx="1882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DEB541-A602-5931-F1CA-14C3C09BAAA9}"/>
              </a:ext>
            </a:extLst>
          </p:cNvPr>
          <p:cNvCxnSpPr>
            <a:cxnSpLocks/>
          </p:cNvCxnSpPr>
          <p:nvPr/>
        </p:nvCxnSpPr>
        <p:spPr>
          <a:xfrm flipV="1">
            <a:off x="950261" y="5593957"/>
            <a:ext cx="179294" cy="11654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325FB1-05BB-F851-A40C-100921F14469}"/>
              </a:ext>
            </a:extLst>
          </p:cNvPr>
          <p:cNvCxnSpPr>
            <a:cxnSpLocks/>
          </p:cNvCxnSpPr>
          <p:nvPr/>
        </p:nvCxnSpPr>
        <p:spPr>
          <a:xfrm>
            <a:off x="950261" y="5513296"/>
            <a:ext cx="161364" cy="717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96E735-4025-DAF3-FB6D-C7A6DC7B88B2}"/>
              </a:ext>
            </a:extLst>
          </p:cNvPr>
          <p:cNvCxnSpPr>
            <a:cxnSpLocks/>
          </p:cNvCxnSpPr>
          <p:nvPr/>
        </p:nvCxnSpPr>
        <p:spPr>
          <a:xfrm flipV="1">
            <a:off x="5401235" y="4016184"/>
            <a:ext cx="112055" cy="1792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0CA1DAD-AAD6-E732-CD97-8A5644391E0D}"/>
              </a:ext>
            </a:extLst>
          </p:cNvPr>
          <p:cNvSpPr txBox="1"/>
          <p:nvPr/>
        </p:nvSpPr>
        <p:spPr>
          <a:xfrm>
            <a:off x="80681" y="8965"/>
            <a:ext cx="9027459" cy="47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This jitter arises from several factors: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Contd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2062264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741E-A781-CACF-3FC8-E989ED61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8AEEC-2264-51A7-5747-EE2685098076}"/>
              </a:ext>
            </a:extLst>
          </p:cNvPr>
          <p:cNvSpPr txBox="1"/>
          <p:nvPr/>
        </p:nvSpPr>
        <p:spPr>
          <a:xfrm>
            <a:off x="0" y="26895"/>
            <a:ext cx="9144000" cy="6795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24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This jitter arises from several factors: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Microcontroller Execution Time: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 </a:t>
            </a:r>
          </a:p>
          <a:p>
            <a:pPr marL="342900" marR="0" lvl="0" indent="-34290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Even simple instructions take a small amount of time to execute on the microcontroller. The exact time can vary slightly due to internal operations, interrupts, or other background processes.</a:t>
            </a:r>
            <a:endParaRPr lang="en-US" sz="2400" b="0" i="0" dirty="0">
              <a:effectLst/>
              <a:latin typeface="Constantia" panose="02030602050306030303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Lack of Explicit Delays: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 </a:t>
            </a:r>
          </a:p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The absence of any 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utime.sleep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() or similar delay functions means the code is executing as fast as the microcontroller can manage. In such high-speed scenarios, even minor variations in execution time become more apparent as jitter.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Consequences of Jitter:</a:t>
            </a:r>
          </a:p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Jitter might can be a significant concern in applications requiring precise timing, such as: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Communication Protocols: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 Jitter can disrupt data integrity in serial communication, I2C, or SPI.</a:t>
            </a:r>
          </a:p>
        </p:txBody>
      </p:sp>
    </p:spTree>
    <p:extLst>
      <p:ext uri="{BB962C8B-B14F-4D97-AF65-F5344CB8AC3E}">
        <p14:creationId xmlns:p14="http://schemas.microsoft.com/office/powerpoint/2010/main" val="7049982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67C362C-CABC-1F53-49FF-3F1D90D831AA}"/>
              </a:ext>
            </a:extLst>
          </p:cNvPr>
          <p:cNvSpPr txBox="1"/>
          <p:nvPr/>
        </p:nvSpPr>
        <p:spPr>
          <a:xfrm>
            <a:off x="466165" y="625815"/>
            <a:ext cx="8247530" cy="568771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360000" indent="-360000">
              <a:lnSpc>
                <a:spcPct val="120000"/>
              </a:lnSpc>
              <a:spcBef>
                <a:spcPts val="18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 get faster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/o you need to 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use hardware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 python/C/Assembly loops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pPr marL="360000" indent="-360000">
              <a:lnSpc>
                <a:spcPct val="120000"/>
              </a:lnSpc>
              <a:spcBef>
                <a:spcPts val="18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very interesting feature of this chip is an 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8-way parallel, hardware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state machine dedicated to fast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/o processing. </a:t>
            </a:r>
          </a:p>
          <a:p>
            <a:pPr marL="360000" indent="-360000">
              <a:lnSpc>
                <a:spcPct val="120000"/>
              </a:lnSpc>
              <a:spcBef>
                <a:spcPts val="18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sz="2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Each of the 8 processors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can run simple, deterministic, assembler programs </a:t>
            </a:r>
            <a:endParaRPr lang="en-IN" sz="28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A8B11-B390-5585-466D-62EB09BA9C2D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Real Time Issues</a:t>
            </a:r>
            <a:r>
              <a:rPr lang="en-IN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 (High speed I/O)</a:t>
            </a:r>
            <a:endParaRPr lang="en-IN" sz="280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8176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BC21B5-3ACF-A28E-6A33-1E548236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838"/>
            <a:ext cx="9144000" cy="643077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EFA2CC-FAF0-7B85-61BD-CB06726E3C2D}"/>
              </a:ext>
            </a:extLst>
          </p:cNvPr>
          <p:cNvSpPr/>
          <p:nvPr/>
        </p:nvSpPr>
        <p:spPr>
          <a:xfrm>
            <a:off x="4634753" y="4168592"/>
            <a:ext cx="1048871" cy="97268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56B52B-191E-0331-CF94-E349EA1A2F86}"/>
              </a:ext>
            </a:extLst>
          </p:cNvPr>
          <p:cNvSpPr/>
          <p:nvPr/>
        </p:nvSpPr>
        <p:spPr>
          <a:xfrm>
            <a:off x="842684" y="3785846"/>
            <a:ext cx="619597" cy="6303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ECFD34-DD71-156B-B66B-D28C67E091B9}"/>
              </a:ext>
            </a:extLst>
          </p:cNvPr>
          <p:cNvCxnSpPr>
            <a:cxnSpLocks/>
          </p:cNvCxnSpPr>
          <p:nvPr/>
        </p:nvCxnSpPr>
        <p:spPr>
          <a:xfrm>
            <a:off x="6427694" y="833719"/>
            <a:ext cx="421341" cy="851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0433F6-1E31-F72F-4D14-418BCC546C1D}"/>
              </a:ext>
            </a:extLst>
          </p:cNvPr>
          <p:cNvCxnSpPr>
            <a:cxnSpLocks/>
          </p:cNvCxnSpPr>
          <p:nvPr/>
        </p:nvCxnSpPr>
        <p:spPr>
          <a:xfrm flipH="1">
            <a:off x="5345049" y="833719"/>
            <a:ext cx="464080" cy="851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9FE4FE-4552-FCB7-D897-D3ED9DFA9BF0}"/>
              </a:ext>
            </a:extLst>
          </p:cNvPr>
          <p:cNvSpPr txBox="1"/>
          <p:nvPr/>
        </p:nvSpPr>
        <p:spPr>
          <a:xfrm>
            <a:off x="4957483" y="437526"/>
            <a:ext cx="2259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Cores</a:t>
            </a:r>
            <a:endParaRPr lang="en-IN" dirty="0">
              <a:solidFill>
                <a:srgbClr val="341CC6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91AF69-1A2A-9DEF-A3EE-8EB2CBCD6768}"/>
              </a:ext>
            </a:extLst>
          </p:cNvPr>
          <p:cNvCxnSpPr/>
          <p:nvPr/>
        </p:nvCxnSpPr>
        <p:spPr>
          <a:xfrm flipH="1">
            <a:off x="2008094" y="5602938"/>
            <a:ext cx="3263153" cy="0"/>
          </a:xfrm>
          <a:prstGeom prst="straightConnector1">
            <a:avLst/>
          </a:prstGeom>
          <a:ln w="38100">
            <a:solidFill>
              <a:srgbClr val="341CC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66D3F2-BF18-BF3E-0AB7-AC82061DB2E6}"/>
              </a:ext>
            </a:extLst>
          </p:cNvPr>
          <p:cNvSpPr txBox="1"/>
          <p:nvPr/>
        </p:nvSpPr>
        <p:spPr>
          <a:xfrm>
            <a:off x="0" y="1723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RP2040 Microcontroller - Architecture</a:t>
            </a:r>
            <a:endParaRPr lang="en-IN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8E5EC-1AED-817E-5D87-FE26CD7B1DE1}"/>
              </a:ext>
            </a:extLst>
          </p:cNvPr>
          <p:cNvSpPr txBox="1"/>
          <p:nvPr/>
        </p:nvSpPr>
        <p:spPr>
          <a:xfrm>
            <a:off x="1945343" y="5746373"/>
            <a:ext cx="4661647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tantia" panose="02030602050306030303" pitchFamily="18" charset="0"/>
              </a:rPr>
              <a:t>Each PIO block has dedicated connections to the bus fabric, GPIO and interrupt controller.</a:t>
            </a:r>
          </a:p>
        </p:txBody>
      </p:sp>
    </p:spTree>
    <p:extLst>
      <p:ext uri="{BB962C8B-B14F-4D97-AF65-F5344CB8AC3E}">
        <p14:creationId xmlns:p14="http://schemas.microsoft.com/office/powerpoint/2010/main" val="157543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  <p:bldP spid="14" grpId="0"/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D57899-A326-37F6-5E40-BA37F21F3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3" y="402680"/>
            <a:ext cx="9006254" cy="46892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5E12E3-087D-2F06-BC3F-C225D7D34BAA}"/>
              </a:ext>
            </a:extLst>
          </p:cNvPr>
          <p:cNvSpPr txBox="1"/>
          <p:nvPr/>
        </p:nvSpPr>
        <p:spPr>
          <a:xfrm>
            <a:off x="0" y="1661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The high-level structure of the RP2040 bus fabric</a:t>
            </a:r>
            <a:endParaRPr lang="en-IN" sz="24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9BCD71-5D76-B7E8-F86A-C1F32F4CB086}"/>
              </a:ext>
            </a:extLst>
          </p:cNvPr>
          <p:cNvCxnSpPr>
            <a:cxnSpLocks/>
          </p:cNvCxnSpPr>
          <p:nvPr/>
        </p:nvCxnSpPr>
        <p:spPr>
          <a:xfrm flipV="1">
            <a:off x="6463553" y="3429000"/>
            <a:ext cx="265024" cy="177052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E6CAF97-59AF-2046-0F5A-B9E6717FC517}"/>
              </a:ext>
            </a:extLst>
          </p:cNvPr>
          <p:cNvSpPr/>
          <p:nvPr/>
        </p:nvSpPr>
        <p:spPr>
          <a:xfrm>
            <a:off x="6346836" y="2734151"/>
            <a:ext cx="1677879" cy="80538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9E07C6-3651-F7A7-130A-269821430309}"/>
              </a:ext>
            </a:extLst>
          </p:cNvPr>
          <p:cNvSpPr txBox="1"/>
          <p:nvPr/>
        </p:nvSpPr>
        <p:spPr>
          <a:xfrm>
            <a:off x="89647" y="5199520"/>
            <a:ext cx="8964706" cy="1538883"/>
          </a:xfrm>
          <a:prstGeom prst="rect">
            <a:avLst/>
          </a:prstGeom>
          <a:noFill/>
          <a:ln w="19050">
            <a:solidFill>
              <a:srgbClr val="341CC6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0" u="none" strike="noStrike" baseline="0" dirty="0">
                <a:solidFill>
                  <a:srgbClr val="333333"/>
                </a:solidFill>
                <a:latin typeface="Consolas" panose="020B0609020204030204" pitchFamily="49" charset="0"/>
              </a:rPr>
              <a:t>PIO is programmable in the same sense as a processor.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0" u="none" strike="noStrike" baseline="0" dirty="0">
                <a:solidFill>
                  <a:srgbClr val="333333"/>
                </a:solidFill>
                <a:latin typeface="Consolas" panose="020B0609020204030204" pitchFamily="49" charset="0"/>
              </a:rPr>
              <a:t>There are 2 identical PIO blocks in RP2040.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124469-8319-D3F7-CD61-34E41EEF75FE}"/>
              </a:ext>
            </a:extLst>
          </p:cNvPr>
          <p:cNvCxnSpPr/>
          <p:nvPr/>
        </p:nvCxnSpPr>
        <p:spPr>
          <a:xfrm>
            <a:off x="7521379" y="1228166"/>
            <a:ext cx="4136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4DB66D-3182-32C8-5C85-7F10202B97B7}"/>
              </a:ext>
            </a:extLst>
          </p:cNvPr>
          <p:cNvCxnSpPr/>
          <p:nvPr/>
        </p:nvCxnSpPr>
        <p:spPr>
          <a:xfrm>
            <a:off x="8014440" y="1237128"/>
            <a:ext cx="413681" cy="0"/>
          </a:xfrm>
          <a:prstGeom prst="line">
            <a:avLst/>
          </a:prstGeom>
          <a:ln w="38100">
            <a:solidFill>
              <a:srgbClr val="341C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48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197E0-0D47-2CD1-20E1-547196E5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C75944-4306-49A4-579C-7C64171C6CD0}"/>
              </a:ext>
            </a:extLst>
          </p:cNvPr>
          <p:cNvSpPr txBox="1"/>
          <p:nvPr/>
        </p:nvSpPr>
        <p:spPr>
          <a:xfrm>
            <a:off x="0" y="1614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Blocks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C0BDA-2DC9-32C3-C900-C065F19D62BE}"/>
              </a:ext>
            </a:extLst>
          </p:cNvPr>
          <p:cNvSpPr txBox="1"/>
          <p:nvPr/>
        </p:nvSpPr>
        <p:spPr>
          <a:xfrm>
            <a:off x="0" y="444805"/>
            <a:ext cx="9144000" cy="377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cs typeface="Courier New" panose="02070309020205020404" pitchFamily="49" charset="0"/>
              </a:rPr>
              <a:t>Unlike a general-purpose processor, PIO state machines are highly specialized for IO, with a focus on :</a:t>
            </a:r>
          </a:p>
          <a:p>
            <a:pPr marL="702000" indent="-342000">
              <a:lnSpc>
                <a:spcPct val="120000"/>
              </a:lnSpc>
              <a:spcBef>
                <a:spcPts val="9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determinism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</a:p>
          <a:p>
            <a:pPr marL="702000" indent="-342000">
              <a:lnSpc>
                <a:spcPct val="120000"/>
              </a:lnSpc>
              <a:spcBef>
                <a:spcPts val="9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precise timing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cs typeface="Courier New" panose="02070309020205020404" pitchFamily="49" charset="0"/>
              </a:rPr>
              <a:t>, and </a:t>
            </a:r>
          </a:p>
          <a:p>
            <a:pPr marL="702000" indent="-342000">
              <a:lnSpc>
                <a:spcPct val="120000"/>
              </a:lnSpc>
              <a:spcBef>
                <a:spcPts val="9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v"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Close integration with fixed-function hardware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DCA7A-4E6D-7C17-056B-395C3E5E5300}"/>
              </a:ext>
            </a:extLst>
          </p:cNvPr>
          <p:cNvSpPr txBox="1"/>
          <p:nvPr/>
        </p:nvSpPr>
        <p:spPr>
          <a:xfrm>
            <a:off x="0" y="4159851"/>
            <a:ext cx="9144000" cy="264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At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each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system clock cycle,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each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state machine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fetches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decodes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, and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executes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an instruction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 Each state machine is used to manipulate GPIOs and transfer data with no CPU intervention. </a:t>
            </a:r>
          </a:p>
        </p:txBody>
      </p:sp>
    </p:spTree>
    <p:extLst>
      <p:ext uri="{BB962C8B-B14F-4D97-AF65-F5344CB8AC3E}">
        <p14:creationId xmlns:p14="http://schemas.microsoft.com/office/powerpoint/2010/main" val="22181439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A08E-E0C9-8D7C-06B8-B1884255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95DD07-5EF7-25DB-42F0-693DFF597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630"/>
            <a:ext cx="6377586" cy="6135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F617F5-CB97-790E-32AD-240C645254CA}"/>
              </a:ext>
            </a:extLst>
          </p:cNvPr>
          <p:cNvSpPr txBox="1"/>
          <p:nvPr/>
        </p:nvSpPr>
        <p:spPr>
          <a:xfrm>
            <a:off x="0" y="34079"/>
            <a:ext cx="9143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Block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74B0D-D6A2-831F-21DF-712DA1C41151}"/>
              </a:ext>
            </a:extLst>
          </p:cNvPr>
          <p:cNvSpPr/>
          <p:nvPr/>
        </p:nvSpPr>
        <p:spPr>
          <a:xfrm>
            <a:off x="591669" y="1398495"/>
            <a:ext cx="3810002" cy="1013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6C04CB-5148-B53D-F8B2-26D3E212299A}"/>
              </a:ext>
            </a:extLst>
          </p:cNvPr>
          <p:cNvSpPr txBox="1"/>
          <p:nvPr/>
        </p:nvSpPr>
        <p:spPr>
          <a:xfrm>
            <a:off x="6377586" y="489630"/>
            <a:ext cx="2766413" cy="5990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cs typeface="Courier New" panose="02070309020205020404" pitchFamily="49" charset="0"/>
              </a:rPr>
              <a:t>Each PIO block consists of 4 state machines(SMs),</a:t>
            </a:r>
          </a:p>
          <a:p>
            <a:pPr marL="180000" marR="0" lvl="0" indent="-180000" algn="l" defTabSz="457200" rtl="0" eaLnBrk="1" fontAlgn="auto" latinLnBrk="0" hangingPunct="1">
              <a:lnSpc>
                <a:spcPct val="110000"/>
              </a:lnSpc>
              <a:spcBef>
                <a:spcPts val="18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They can independently execute sequential programs, to control any of the GPIO pins on the Pico and transfer data.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en-IN" sz="2400" b="1" dirty="0"/>
          </a:p>
        </p:txBody>
      </p:sp>
      <p:sp>
        <p:nvSpPr>
          <p:cNvPr id="3" name="Rectangle: Beveled 2">
            <a:hlinkClick r:id="" action="ppaction://noaction"/>
            <a:extLst>
              <a:ext uri="{FF2B5EF4-FFF2-40B4-BE49-F238E27FC236}">
                <a16:creationId xmlns:a16="http://schemas.microsoft.com/office/drawing/2014/main" id="{2F42CB36-5974-0125-2B45-C592465F67EE}"/>
              </a:ext>
            </a:extLst>
          </p:cNvPr>
          <p:cNvSpPr/>
          <p:nvPr/>
        </p:nvSpPr>
        <p:spPr>
          <a:xfrm>
            <a:off x="5850725" y="6151240"/>
            <a:ext cx="442893" cy="434260"/>
          </a:xfrm>
          <a:prstGeom prst="bevel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1139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B0E7-5C0F-05FD-D558-587DE90A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EC3058B-97A7-9081-D974-13BD47D7A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630"/>
            <a:ext cx="6377586" cy="6135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C2D3D6-4DFA-BEAF-6AC7-C8FB6F24C459}"/>
              </a:ext>
            </a:extLst>
          </p:cNvPr>
          <p:cNvSpPr txBox="1"/>
          <p:nvPr/>
        </p:nvSpPr>
        <p:spPr>
          <a:xfrm>
            <a:off x="0" y="34079"/>
            <a:ext cx="9143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Block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4D106B-EA3B-0C54-3EEE-23BF26190BEA}"/>
              </a:ext>
            </a:extLst>
          </p:cNvPr>
          <p:cNvSpPr/>
          <p:nvPr/>
        </p:nvSpPr>
        <p:spPr>
          <a:xfrm>
            <a:off x="591669" y="1398495"/>
            <a:ext cx="3810002" cy="1013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722E0-D973-A097-1367-5E874C46E1B1}"/>
              </a:ext>
            </a:extLst>
          </p:cNvPr>
          <p:cNvSpPr txBox="1"/>
          <p:nvPr/>
        </p:nvSpPr>
        <p:spPr>
          <a:xfrm>
            <a:off x="6377586" y="211723"/>
            <a:ext cx="2766413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marR="0" lvl="0" indent="-180000" algn="l" defTabSz="457200" rtl="0" eaLnBrk="1" fontAlgn="auto" latinLnBrk="0" hangingPunct="1">
              <a:lnSpc>
                <a:spcPct val="110000"/>
              </a:lnSpc>
              <a:spcBef>
                <a:spcPts val="18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The instruction memory can hold 32 word(16bit) shared instructions and each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state machine can utilize any of the said instructions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. </a:t>
            </a:r>
          </a:p>
          <a:p>
            <a:pPr marL="180000" marR="0" lvl="0" indent="-180000" algn="l" defTabSz="457200" rtl="0" eaLnBrk="1" fontAlgn="auto" latinLnBrk="0" hangingPunct="1"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341CC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4×32-bit bus FIFO in each direction (TX/RX), reconfigurable as 8×32 in a single direction.</a:t>
            </a:r>
          </a:p>
        </p:txBody>
      </p:sp>
    </p:spTree>
    <p:extLst>
      <p:ext uri="{BB962C8B-B14F-4D97-AF65-F5344CB8AC3E}">
        <p14:creationId xmlns:p14="http://schemas.microsoft.com/office/powerpoint/2010/main" val="20297584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4B10-AB8C-164E-A0CF-D5A30559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B5F06-53B6-B89C-1756-BCB0C6E9392E}"/>
              </a:ext>
            </a:extLst>
          </p:cNvPr>
          <p:cNvSpPr txBox="1"/>
          <p:nvPr/>
        </p:nvSpPr>
        <p:spPr>
          <a:xfrm>
            <a:off x="0" y="3370743"/>
            <a:ext cx="9144000" cy="3435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indent="-43200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Each state machine (SM) has five registers which are all 32-bits in size: </a:t>
            </a:r>
          </a:p>
          <a:p>
            <a:pPr marL="432000" indent="-43200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The </a:t>
            </a:r>
            <a:r>
              <a:rPr lang="en-US" sz="24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program counter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, points to the currently executing instruction in the instruction memory.</a:t>
            </a:r>
          </a:p>
          <a:p>
            <a:pPr marL="432000" indent="-43200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Two 32-bit Scratch registers X and Y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. </a:t>
            </a:r>
          </a:p>
          <a:p>
            <a:pPr marL="432000" indent="-432000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Two 32-bit Shift registers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: The input shift register(</a:t>
            </a:r>
            <a:r>
              <a:rPr lang="en-US" sz="24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ISR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), and the output shift register(</a:t>
            </a:r>
            <a:r>
              <a:rPr lang="en-US" sz="24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OSR</a:t>
            </a:r>
            <a:r>
              <a:rPr lang="en-US" sz="2400" dirty="0">
                <a:latin typeface="Consolas" panose="020B0609020204030204" pitchFamily="49" charset="0"/>
                <a:cs typeface="Courier New" panose="02070309020205020404" pitchFamily="49" charset="0"/>
              </a:rPr>
              <a:t>). Both of these are connected to the FIFOs.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C8E52-910E-4750-EFF9-1CA483C7D050}"/>
              </a:ext>
            </a:extLst>
          </p:cNvPr>
          <p:cNvSpPr txBox="1"/>
          <p:nvPr/>
        </p:nvSpPr>
        <p:spPr>
          <a:xfrm>
            <a:off x="0" y="8786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Statemachine</a:t>
            </a:r>
            <a:endParaRPr lang="en-US" sz="2800" b="0" i="1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290CA8-0D1F-1C66-7C95-EEFD88B2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62" y="221387"/>
            <a:ext cx="6302192" cy="310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206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BA18-468B-4F41-E238-E19A3D0A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B292F6-3DBB-2E4E-94BE-6C59DFBF0324}"/>
              </a:ext>
            </a:extLst>
          </p:cNvPr>
          <p:cNvSpPr txBox="1"/>
          <p:nvPr/>
        </p:nvSpPr>
        <p:spPr>
          <a:xfrm>
            <a:off x="0" y="3334889"/>
            <a:ext cx="91440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000" indent="-342000" algn="l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The clock divider is </a:t>
            </a:r>
            <a:r>
              <a:rPr lang="en-US" sz="26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directly connected to the system clock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and can divide the system clock (133 MHz) by 1 to 65536, with a fractional precision of 1/256.</a:t>
            </a:r>
          </a:p>
          <a:p>
            <a:pPr marL="342000" indent="-342000" algn="l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The state machine is also connected to the IRQ system, for </a:t>
            </a:r>
            <a:r>
              <a:rPr lang="en-US" sz="26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synching state machines 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and </a:t>
            </a:r>
            <a:r>
              <a:rPr lang="en-US" sz="26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alerting the CPU 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later on with </a:t>
            </a:r>
            <a:r>
              <a:rPr lang="en-US" sz="2600" b="1" i="1" dirty="0">
                <a:solidFill>
                  <a:srgbClr val="341CC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IRQ flag set/clear/status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7A272-F6D5-9BA6-E9D2-023F1465F9A2}"/>
              </a:ext>
            </a:extLst>
          </p:cNvPr>
          <p:cNvSpPr txBox="1"/>
          <p:nvPr/>
        </p:nvSpPr>
        <p:spPr>
          <a:xfrm>
            <a:off x="0" y="8786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Blocks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36AC78-DFE6-2EDE-8ABA-C4E06B5F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62" y="221387"/>
            <a:ext cx="6302192" cy="310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176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319C-9FA7-097C-2922-AF7F51DF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4DDCB0-A55B-2762-E989-7B85805743C9}"/>
              </a:ext>
            </a:extLst>
          </p:cNvPr>
          <p:cNvSpPr txBox="1"/>
          <p:nvPr/>
        </p:nvSpPr>
        <p:spPr>
          <a:xfrm>
            <a:off x="0" y="2864355"/>
            <a:ext cx="9144000" cy="4011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indent="-4320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The SM machine can control all 30 GPIOs, setting pin direction and output or reading input. Flexible GPIO mapping.</a:t>
            </a:r>
          </a:p>
          <a:p>
            <a:pPr marL="432000" indent="-4320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Each state machine has access to GPIOs – via 4 different IO mappings: </a:t>
            </a:r>
            <a:r>
              <a:rPr lang="en-US" sz="2800" i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 pins</a:t>
            </a: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2800" i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Output pins</a:t>
            </a: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2800" i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 pins </a:t>
            </a: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and </a:t>
            </a:r>
            <a:r>
              <a:rPr lang="en-US" sz="2800" i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Sideset</a:t>
            </a:r>
            <a:r>
              <a:rPr lang="en-US" sz="2800" i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pins</a:t>
            </a: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. </a:t>
            </a:r>
          </a:p>
          <a:p>
            <a:pPr marL="432000" indent="-4320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DMA interface, sustained throughput up to  1 word per clock from system DMA.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64A21-1BD2-28C8-F551-56FD8B79FB1E}"/>
              </a:ext>
            </a:extLst>
          </p:cNvPr>
          <p:cNvSpPr txBox="1"/>
          <p:nvPr/>
        </p:nvSpPr>
        <p:spPr>
          <a:xfrm>
            <a:off x="0" y="8786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Statemachine</a:t>
            </a:r>
            <a:endParaRPr lang="en-US" sz="2800" b="0" i="1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078F7C-1278-9500-3BA1-2031EF712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070" y="113807"/>
            <a:ext cx="5522263" cy="272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538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0E2C-45B6-A588-4A54-376B22C4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2CBB90-BEA1-C465-A261-DB06D3B4AFDA}"/>
              </a:ext>
            </a:extLst>
          </p:cNvPr>
          <p:cNvSpPr txBox="1"/>
          <p:nvPr/>
        </p:nvSpPr>
        <p:spPr>
          <a:xfrm>
            <a:off x="62756" y="537882"/>
            <a:ext cx="9000565" cy="1367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i="0" dirty="0">
                <a:effectLst/>
                <a:latin typeface="Constantia" panose="02030602050306030303" pitchFamily="18" charset="0"/>
                <a:cs typeface="Courier New" panose="02070309020205020404" pitchFamily="49" charset="0"/>
              </a:rPr>
              <a:t>A special assembly language is introduced to program PIO units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i="0" dirty="0">
                <a:effectLst/>
                <a:latin typeface="Constantia" panose="02030602050306030303" pitchFamily="18" charset="0"/>
                <a:cs typeface="Courier New" panose="02070309020205020404" pitchFamily="49" charset="0"/>
              </a:rPr>
              <a:t>PIO allows same cost and power envelope compared to a fully configurable logic fabric like a CPLD.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2726C-C7F0-CB58-202C-B39C11FF2A89}"/>
              </a:ext>
            </a:extLst>
          </p:cNvPr>
          <p:cNvSpPr txBox="1"/>
          <p:nvPr/>
        </p:nvSpPr>
        <p:spPr>
          <a:xfrm>
            <a:off x="0" y="8786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Blocks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43E6D-8A99-624B-05C9-015999D8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9"/>
          <a:stretch>
            <a:fillRect/>
          </a:stretch>
        </p:blipFill>
        <p:spPr>
          <a:xfrm>
            <a:off x="80679" y="1922877"/>
            <a:ext cx="9000565" cy="479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768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FAC2C-6353-2143-18FB-08B71033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3FAB7C-538F-3901-2C94-890EDEF17054}"/>
              </a:ext>
            </a:extLst>
          </p:cNvPr>
          <p:cNvSpPr txBox="1"/>
          <p:nvPr/>
        </p:nvSpPr>
        <p:spPr>
          <a:xfrm>
            <a:off x="0" y="636501"/>
            <a:ext cx="9144000" cy="5844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2800" b="1" i="0" dirty="0">
                <a:effectLst/>
                <a:latin typeface="Constantia" panose="02030602050306030303" pitchFamily="18" charset="0"/>
              </a:rPr>
              <a:t>-- </a:t>
            </a:r>
            <a:r>
              <a:rPr lang="en-US" sz="2800" b="1" i="1" dirty="0">
                <a:effectLst/>
                <a:latin typeface="Constantia" panose="02030602050306030303" pitchFamily="18" charset="0"/>
              </a:rPr>
              <a:t>The assembly language</a:t>
            </a:r>
            <a:r>
              <a:rPr lang="en-US" sz="2800" b="1" i="0" dirty="0">
                <a:effectLst/>
                <a:latin typeface="Constantia" panose="02030602050306030303" pitchFamily="18" charset="0"/>
              </a:rPr>
              <a:t>: 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Instructions are 16-bit and there are 9 types:</a:t>
            </a:r>
          </a:p>
          <a:p>
            <a:pPr marL="342900" indent="-342900" algn="l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OUT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- shift bits from the OSR into a destination, such as pin outputs or the X or Y scratch registers.</a:t>
            </a:r>
          </a:p>
          <a:p>
            <a:pPr marL="342900" indent="-342900" algn="l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IN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 - The opposite of OUT, shifting from sources such as pin inputs or the X or Y scratch registers into the ISR.</a:t>
            </a:r>
          </a:p>
          <a:p>
            <a:pPr marL="342900" indent="-342900" algn="l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PULL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 - pops the front element of the output FIFO into the OSR. Waits if the output FIFO is empty.</a:t>
            </a:r>
          </a:p>
          <a:p>
            <a:pPr marL="342900" indent="-342900" algn="l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PUSH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 - pushes the contents of the ISR into the input FIFO and clears the ISR. Waits if the input FIFO is full.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507E5-BCB8-00B0-24EF-BCE80EC230A4}"/>
              </a:ext>
            </a:extLst>
          </p:cNvPr>
          <p:cNvSpPr txBox="1"/>
          <p:nvPr/>
        </p:nvSpPr>
        <p:spPr>
          <a:xfrm>
            <a:off x="0" y="1614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assembly language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4478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4647-3425-EF92-94E8-C58475126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4C0B59-09C5-3D5D-9EC4-B451D9554896}"/>
              </a:ext>
            </a:extLst>
          </p:cNvPr>
          <p:cNvSpPr txBox="1"/>
          <p:nvPr/>
        </p:nvSpPr>
        <p:spPr>
          <a:xfrm>
            <a:off x="0" y="573746"/>
            <a:ext cx="9144000" cy="614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800" b="1" i="0" dirty="0">
                <a:effectLst/>
                <a:latin typeface="Constantia" panose="02030602050306030303" pitchFamily="18" charset="0"/>
              </a:rPr>
              <a:t>-- </a:t>
            </a:r>
            <a:r>
              <a:rPr lang="en-US" sz="2800" b="1" i="1" dirty="0">
                <a:effectLst/>
                <a:latin typeface="Constantia" panose="02030602050306030303" pitchFamily="18" charset="0"/>
              </a:rPr>
              <a:t>The assembly language</a:t>
            </a:r>
            <a:r>
              <a:rPr lang="en-US" sz="2800" b="1" i="0" dirty="0">
                <a:effectLst/>
                <a:latin typeface="Constantia" panose="02030602050306030303" pitchFamily="18" charset="0"/>
              </a:rPr>
              <a:t>: </a:t>
            </a:r>
            <a:r>
              <a:rPr lang="en-US" sz="1600" b="0" i="0" dirty="0">
                <a:effectLst/>
                <a:latin typeface="Constantia" panose="02030602050306030303" pitchFamily="18" charset="0"/>
              </a:rPr>
              <a:t>(</a:t>
            </a:r>
            <a:r>
              <a:rPr lang="en-US" sz="1600" b="0" i="0" dirty="0" err="1">
                <a:effectLst/>
                <a:latin typeface="Constantia" panose="02030602050306030303" pitchFamily="18" charset="0"/>
              </a:rPr>
              <a:t>Contd</a:t>
            </a:r>
            <a:r>
              <a:rPr lang="en-US" sz="1600" b="0" i="0" dirty="0">
                <a:effectLst/>
                <a:latin typeface="Constantia" panose="02030602050306030303" pitchFamily="18" charset="0"/>
              </a:rPr>
              <a:t>….)</a:t>
            </a:r>
          </a:p>
          <a:p>
            <a:pPr marL="342900" indent="-3429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MOV 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- Moves from a source to a destination. Can use registers and pins as both a source and destination as well as a couple of places with special functionality.</a:t>
            </a:r>
          </a:p>
          <a:p>
            <a:pPr marL="342900" indent="-3429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JMP 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- Branches to a different instruction, can be conditional on a few conditions (such as X or Y zero or not-zero) and decrement X or Y.</a:t>
            </a:r>
          </a:p>
          <a:p>
            <a:pPr marL="342900" indent="-3429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IRQ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 - Raises an interrupt (which can interrupt one of the cores or be used to synchronize SMs).</a:t>
            </a:r>
          </a:p>
          <a:p>
            <a:pPr marL="342900" indent="-3429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WAIT 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- Can wait for various things like a pin changing state or an interrupt occurring.</a:t>
            </a:r>
          </a:p>
          <a:p>
            <a:pPr marL="342900" indent="-342900" algn="l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Constantia" panose="02030602050306030303" pitchFamily="18" charset="0"/>
              </a:rPr>
              <a:t>SET </a:t>
            </a:r>
            <a:r>
              <a:rPr lang="en-US" sz="2800" b="0" i="0" dirty="0">
                <a:effectLst/>
                <a:latin typeface="Constantia" panose="02030602050306030303" pitchFamily="18" charset="0"/>
              </a:rPr>
              <a:t>- Writes an immediate value to X, Y or the pins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390B7-A2A1-7675-2CA0-02D58DAD4771}"/>
              </a:ext>
            </a:extLst>
          </p:cNvPr>
          <p:cNvSpPr txBox="1"/>
          <p:nvPr/>
        </p:nvSpPr>
        <p:spPr>
          <a:xfrm>
            <a:off x="0" y="1614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assembly language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3370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8E1C-D2D1-25C8-6EE7-7827359D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10BB81-90DC-CC9C-B035-AD3918D9B364}"/>
              </a:ext>
            </a:extLst>
          </p:cNvPr>
          <p:cNvSpPr txBox="1"/>
          <p:nvPr/>
        </p:nvSpPr>
        <p:spPr>
          <a:xfrm>
            <a:off x="0" y="1614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Assembly Instructions / Encoding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903A97-C456-D72B-7B7E-ECC2328EE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318"/>
            <a:ext cx="9144000" cy="584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144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1B768-7A8E-A345-855C-B5C5CFA9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FF93EE-366E-A22C-F1A4-C8530D65DA01}"/>
              </a:ext>
            </a:extLst>
          </p:cNvPr>
          <p:cNvSpPr txBox="1"/>
          <p:nvPr/>
        </p:nvSpPr>
        <p:spPr>
          <a:xfrm>
            <a:off x="0" y="1900520"/>
            <a:ext cx="91440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onstantia" panose="02030602050306030303" pitchFamily="18" charset="0"/>
              </a:rPr>
              <a:t>Program memory is only 32 instructions long, but each </a:t>
            </a:r>
            <a:r>
              <a:rPr lang="en-US" sz="2400" b="1" i="1" dirty="0">
                <a:solidFill>
                  <a:srgbClr val="341CC6"/>
                </a:solidFill>
                <a:effectLst/>
                <a:latin typeface="Constantia" panose="02030602050306030303" pitchFamily="18" charset="0"/>
              </a:rPr>
              <a:t>instruction can have several simultaneous effects</a:t>
            </a:r>
            <a:r>
              <a:rPr lang="en-US" sz="2400" b="0" i="0" dirty="0">
                <a:effectLst/>
                <a:latin typeface="Constantia" panose="02030602050306030303" pitchFamily="18" charset="0"/>
              </a:rPr>
              <a:t>, </a:t>
            </a:r>
          </a:p>
          <a:p>
            <a:pPr marL="817200" indent="-457200" algn="l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400" b="0" i="0" dirty="0">
                <a:effectLst/>
                <a:latin typeface="Consolas" panose="020B0609020204030204" pitchFamily="49" charset="0"/>
              </a:rPr>
              <a:t>a 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variable delay 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after execution (for pulse length trimming), </a:t>
            </a:r>
          </a:p>
          <a:p>
            <a:pPr marL="817200" indent="-457200" algn="l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400" b="0" i="0" dirty="0">
                <a:effectLst/>
                <a:latin typeface="Consolas" panose="020B0609020204030204" pitchFamily="49" charset="0"/>
              </a:rPr>
              <a:t>the ability to set/clear a group of pins(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side-set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), and, </a:t>
            </a:r>
          </a:p>
          <a:p>
            <a:pPr marL="817200" indent="-457200" algn="l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400" b="0" i="0" dirty="0">
                <a:effectLst/>
                <a:latin typeface="Consolas" panose="020B0609020204030204" pitchFamily="49" charset="0"/>
              </a:rPr>
              <a:t>of course, the </a:t>
            </a:r>
            <a:r>
              <a:rPr lang="en-US" sz="2400" b="1" i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main opcode function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. </a:t>
            </a:r>
          </a:p>
          <a:p>
            <a:pPr marL="342900" indent="-342900" algn="l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onstantia" panose="02030602050306030303" pitchFamily="18" charset="0"/>
              </a:rPr>
              <a:t>Some instructions can also be set up to auto-pull or auto-push the </a:t>
            </a:r>
            <a:r>
              <a:rPr lang="en-US" sz="2400" b="0" i="0" dirty="0" err="1">
                <a:effectLst/>
                <a:latin typeface="Constantia" panose="02030602050306030303" pitchFamily="18" charset="0"/>
              </a:rPr>
              <a:t>i</a:t>
            </a:r>
            <a:r>
              <a:rPr lang="en-US" sz="2400" b="0" i="0" dirty="0">
                <a:effectLst/>
                <a:latin typeface="Constantia" panose="02030602050306030303" pitchFamily="18" charset="0"/>
              </a:rPr>
              <a:t>/o FIFOs at the same time they perform other functions. </a:t>
            </a:r>
          </a:p>
          <a:p>
            <a:pPr marL="342900" indent="-342900" algn="l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onstantia" panose="02030602050306030303" pitchFamily="18" charset="0"/>
              </a:rPr>
              <a:t>An extra SPI channel takes 5 instructions, PWM takes 7, VGA takes ~30.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82D56-7BEC-B1EA-A7A0-69A1034DB438}"/>
              </a:ext>
            </a:extLst>
          </p:cNvPr>
          <p:cNvSpPr txBox="1"/>
          <p:nvPr/>
        </p:nvSpPr>
        <p:spPr>
          <a:xfrm>
            <a:off x="0" y="1614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PIO Assembly Language</a:t>
            </a:r>
            <a:endParaRPr lang="en-IN" sz="2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EBF55-F39B-1754-AC79-33DC7E8E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6" y="575229"/>
            <a:ext cx="7745508" cy="126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298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A22029-D14A-7DA7-12D3-C523220E1B12}"/>
              </a:ext>
            </a:extLst>
          </p:cNvPr>
          <p:cNvSpPr txBox="1"/>
          <p:nvPr/>
        </p:nvSpPr>
        <p:spPr>
          <a:xfrm>
            <a:off x="0" y="26902"/>
            <a:ext cx="91440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Generating a Square wave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The system clock frequency is 125 MHz by default on the RP2040.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A state machine is programmed so that it sets the output to its high state for 32 cycles or 256 ns (1 cycle = 1/125000000 Hz = 8 ns) and then it sets the output to its low state for 32 cycles as well. The square wave frequency will therefore be </a:t>
            </a:r>
            <a:r>
              <a:rPr lang="en-US" sz="2200" b="1" i="1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1.953 </a:t>
            </a:r>
            <a:r>
              <a:rPr lang="en-US" sz="2200" b="1" i="1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MHz</a:t>
            </a:r>
            <a:r>
              <a:rPr lang="en-US" sz="2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86DB9-FD0F-25AF-B9AD-A631027DC5A3}"/>
              </a:ext>
            </a:extLst>
          </p:cNvPr>
          <p:cNvSpPr txBox="1"/>
          <p:nvPr/>
        </p:nvSpPr>
        <p:spPr>
          <a:xfrm>
            <a:off x="0" y="3033109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  <a:cs typeface="Times New Roman" panose="02020603050405020304" pitchFamily="18" charset="0"/>
              </a:rPr>
              <a:t>We observe a square signal of frequency 1.953 MHz at the output of pin 34 (GP28) of the Pico.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573E5-0742-BCCD-65A7-16883BEC2A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85"/>
          <a:stretch>
            <a:fillRect/>
          </a:stretch>
        </p:blipFill>
        <p:spPr>
          <a:xfrm>
            <a:off x="306024" y="3884881"/>
            <a:ext cx="8531952" cy="286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942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0378C-EAB5-9A1F-191B-EEEBC052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6802BC-D56D-7A57-22C6-15040CF6AF98}"/>
              </a:ext>
            </a:extLst>
          </p:cNvPr>
          <p:cNvSpPr txBox="1"/>
          <p:nvPr/>
        </p:nvSpPr>
        <p:spPr>
          <a:xfrm>
            <a:off x="0" y="26902"/>
            <a:ext cx="914400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Generating a Square wave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b="1" i="1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b="1" i="1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b="1" i="1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b="1" i="1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b="1" i="1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7C765-D096-CC1E-C1B2-50CD0B30DACB}"/>
              </a:ext>
            </a:extLst>
          </p:cNvPr>
          <p:cNvSpPr txBox="1"/>
          <p:nvPr/>
        </p:nvSpPr>
        <p:spPr>
          <a:xfrm>
            <a:off x="-8968" y="3614442"/>
            <a:ext cx="91440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The state machine program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wrap_target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() 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 Specifies the start location of the program loop.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set(pins, 1)   [1]  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Sets the output to the high state (instruction executed in 1 cycle) and remains in this state for 31 cycles. This step therefore lasts 32 cycles.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set(pins, 0)   [1] 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Sets the output to the low state (instruction executed in 1 cycle) and remains in this state for 31 cycles. This step therefore also lasts 32 cycles.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wrap() 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Specifies where the program loop ends.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06FBF-FCB6-22E8-8561-3B1FE94A5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76" y="462007"/>
            <a:ext cx="6915980" cy="318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033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313D-2B9C-3789-723C-9B60AEDF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C5ED28-983E-3E10-D065-9308606B4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4716967" cy="6737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time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from rp2 import PIO,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asm_pio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from machine import Pin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@asm_pio(set_init=rp2.PIO.OUT_LOW)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 blink():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wrap_target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set(pins, 1) [1]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	   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set(pins, 0) [1]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wrap()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 Instantiate a state machine with the blink program, at 100MHz, with set bound to Pin(15)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rp2.StateMachine(0, blink,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=100000000,set_base=Pin(15))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 Run the state machine for 3 seconds and scope pin 15.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sm.active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(1)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(3)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sm.active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(0) 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7BE94-5F94-A8C3-0F60-FE31C181765F}"/>
              </a:ext>
            </a:extLst>
          </p:cNvPr>
          <p:cNvSpPr txBox="1"/>
          <p:nvPr/>
        </p:nvSpPr>
        <p:spPr>
          <a:xfrm>
            <a:off x="4716966" y="0"/>
            <a:ext cx="4427033" cy="6800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marR="0" lvl="0" indent="-2160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stripped down to see how fast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simplest example program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would toggle a pin. </a:t>
            </a:r>
          </a:p>
          <a:p>
            <a:pPr marL="216000" marR="0" lvl="0" indent="-2160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example blinks the LED at a human rate. </a:t>
            </a:r>
          </a:p>
          <a:p>
            <a:pPr marL="216000" marR="0" lvl="0" indent="-2160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clock frequency of the state machine can be set as high as 125 MHz (the system clock frequency).</a:t>
            </a:r>
          </a:p>
          <a:p>
            <a:pPr marL="216000" marR="0" lvl="0" indent="-2160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commands set/clear a pin, </a:t>
            </a:r>
          </a:p>
          <a:p>
            <a:pPr marL="216000" marR="0" lvl="0" indent="-2160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one state machine cycle for each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a one cycle delay after each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for a loop-time of 4 cycles.</a:t>
            </a:r>
          </a:p>
          <a:p>
            <a:pPr marL="216000" marR="0" lvl="0" indent="-2160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 MHz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that is 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 MHz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squarewave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16000" marR="0" lvl="0" indent="-2160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the two [1] delays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frequency will be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BD934-785F-FDDA-2345-CC24386197AD}"/>
              </a:ext>
            </a:extLst>
          </p:cNvPr>
          <p:cNvSpPr txBox="1"/>
          <p:nvPr/>
        </p:nvSpPr>
        <p:spPr>
          <a:xfrm>
            <a:off x="3586579" y="1546208"/>
            <a:ext cx="1130387" cy="646331"/>
          </a:xfrm>
          <a:prstGeom prst="rect">
            <a:avLst/>
          </a:prstGeom>
          <a:solidFill>
            <a:srgbClr val="D1E3F3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 parameter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F12FD2-4860-0693-B92B-5346B72B0E39}"/>
              </a:ext>
            </a:extLst>
          </p:cNvPr>
          <p:cNvCxnSpPr>
            <a:cxnSpLocks/>
          </p:cNvCxnSpPr>
          <p:nvPr/>
        </p:nvCxnSpPr>
        <p:spPr>
          <a:xfrm flipH="1">
            <a:off x="3444536" y="1923804"/>
            <a:ext cx="142042" cy="2687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B9C937-7ABB-4B55-68C4-0D00FBF55B18}"/>
              </a:ext>
            </a:extLst>
          </p:cNvPr>
          <p:cNvSpPr txBox="1"/>
          <p:nvPr/>
        </p:nvSpPr>
        <p:spPr>
          <a:xfrm>
            <a:off x="0" y="2165905"/>
            <a:ext cx="14825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time unconditional </a:t>
            </a:r>
          </a:p>
          <a:p>
            <a:pPr algn="ctr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jump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54A496-E518-B791-ED01-36673240285A}"/>
              </a:ext>
            </a:extLst>
          </p:cNvPr>
          <p:cNvCxnSpPr/>
          <p:nvPr/>
        </p:nvCxnSpPr>
        <p:spPr>
          <a:xfrm>
            <a:off x="1278384" y="2769833"/>
            <a:ext cx="301841" cy="2041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124181-D487-C22F-9B13-A9E7445EEE39}"/>
              </a:ext>
            </a:extLst>
          </p:cNvPr>
          <p:cNvCxnSpPr>
            <a:cxnSpLocks/>
          </p:cNvCxnSpPr>
          <p:nvPr/>
        </p:nvCxnSpPr>
        <p:spPr>
          <a:xfrm flipV="1">
            <a:off x="1331650" y="2165905"/>
            <a:ext cx="150920" cy="2843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2566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5DCC-0339-DC4E-524B-9ABFD688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81BB-8D6E-242A-1653-EF2315C762F7}"/>
              </a:ext>
            </a:extLst>
          </p:cNvPr>
          <p:cNvSpPr txBox="1">
            <a:spLocks/>
          </p:cNvSpPr>
          <p:nvPr/>
        </p:nvSpPr>
        <p:spPr>
          <a:xfrm>
            <a:off x="0" y="1853768"/>
            <a:ext cx="9144000" cy="97011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Hands-on Session</a:t>
            </a:r>
          </a:p>
        </p:txBody>
      </p:sp>
    </p:spTree>
    <p:extLst>
      <p:ext uri="{BB962C8B-B14F-4D97-AF65-F5344CB8AC3E}">
        <p14:creationId xmlns:p14="http://schemas.microsoft.com/office/powerpoint/2010/main" val="38802856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3F56-B1D2-6495-C298-877F26F6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830E30-CAFB-10C7-80E2-F1EF4EAC60A1}"/>
              </a:ext>
            </a:extLst>
          </p:cNvPr>
          <p:cNvSpPr txBox="1"/>
          <p:nvPr/>
        </p:nvSpPr>
        <p:spPr>
          <a:xfrm>
            <a:off x="-1" y="148926"/>
            <a:ext cx="91440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Prog-7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machine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time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rp2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Single pin (base pin) starts at output and logic low</a:t>
            </a: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@rp2.asm_pio(set_init=rp2.PIO.OUT_LOW)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blink()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wrap_target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set(pins, 1) [31]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    [31]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    [31]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    [31]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    [31]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set(pins, 0) [31]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    [31]</a:t>
            </a:r>
          </a:p>
          <a:p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    [31]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71126-BD90-2F13-661C-0B6E06A327FC}"/>
              </a:ext>
            </a:extLst>
          </p:cNvPr>
          <p:cNvSpPr txBox="1"/>
          <p:nvPr/>
        </p:nvSpPr>
        <p:spPr>
          <a:xfrm>
            <a:off x="2984938" y="2571451"/>
            <a:ext cx="615906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dirty="0" err="1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en-IN" sz="2400" dirty="0">
                <a:solidFill>
                  <a:srgbClr val="392D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    [31]</a:t>
            </a:r>
            <a:endParaRPr kumimoji="0" lang="en-IN" sz="2400" i="0" u="none" strike="noStrike" kern="1200" cap="none" spc="0" normalizeH="0" baseline="0" noProof="0" dirty="0">
              <a:ln>
                <a:noFill/>
              </a:ln>
              <a:solidFill>
                <a:srgbClr val="392DD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1200" cap="none" spc="0" normalizeH="0" baseline="0" noProof="0" dirty="0" err="1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nop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()        [31]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wrap()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 Init state machine with "blink" program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 (state machine 0, running at 2kHz, base pin is #GP2 (LED))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sm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rp2.StateMachine(0,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blink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IN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freq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=2000, </a:t>
            </a:r>
            <a:r>
              <a:rPr kumimoji="0" lang="en-IN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set_base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IN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machine.Pin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sm.active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 Start State Machine 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#time.sleep(3)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#sm.active(0) # Start State Machine 1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FDD29-04E1-8F1F-ECD1-CD8062513B45}"/>
              </a:ext>
            </a:extLst>
          </p:cNvPr>
          <p:cNvSpPr txBox="1"/>
          <p:nvPr/>
        </p:nvSpPr>
        <p:spPr>
          <a:xfrm>
            <a:off x="0" y="0"/>
            <a:ext cx="9143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Blink LED using PIO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10C521-163D-180B-A2E3-5C87652E0522}"/>
              </a:ext>
            </a:extLst>
          </p:cNvPr>
          <p:cNvSpPr txBox="1"/>
          <p:nvPr/>
        </p:nvSpPr>
        <p:spPr>
          <a:xfrm>
            <a:off x="5807480" y="2949692"/>
            <a:ext cx="264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32*5*0.5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ms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 = 80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ms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IN" sz="2400" b="1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7714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F5965-B23C-C580-8297-F2026A81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4DE701-40AC-3EC7-B285-BB426EE2B72D}"/>
              </a:ext>
            </a:extLst>
          </p:cNvPr>
          <p:cNvSpPr txBox="1"/>
          <p:nvPr/>
        </p:nvSpPr>
        <p:spPr>
          <a:xfrm>
            <a:off x="-1" y="31530"/>
            <a:ext cx="9144001" cy="675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Prog-8</a:t>
            </a:r>
            <a:endParaRPr lang="en-IN" sz="2800" dirty="0">
              <a:solidFill>
                <a:srgbClr val="392DD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IN" sz="2400" dirty="0">
                <a:latin typeface="Arial Narrow" panose="020B0606020202030204" pitchFamily="34" charset="0"/>
              </a:rPr>
              <a:t>from machine import Pin</a:t>
            </a:r>
          </a:p>
          <a:p>
            <a:pPr>
              <a:lnSpc>
                <a:spcPct val="95000"/>
              </a:lnSpc>
            </a:pPr>
            <a:r>
              <a:rPr lang="en-IN" sz="2400" dirty="0">
                <a:latin typeface="Arial Narrow" panose="020B0606020202030204" pitchFamily="34" charset="0"/>
              </a:rPr>
              <a:t>import rp2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@rp2.asm_pio(set_init=rp2.PIO.OUT_LOW)</a:t>
            </a:r>
          </a:p>
          <a:p>
            <a:pPr>
              <a:lnSpc>
                <a:spcPct val="95000"/>
              </a:lnSpc>
            </a:pPr>
            <a:r>
              <a:rPr lang="en-IN" sz="2400" dirty="0">
                <a:latin typeface="Arial Narrow" panose="020B0606020202030204" pitchFamily="34" charset="0"/>
              </a:rPr>
              <a:t>def 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blink_1hz():</a:t>
            </a:r>
          </a:p>
          <a:p>
            <a:pPr>
              <a:lnSpc>
                <a:spcPct val="95000"/>
              </a:lnSpc>
            </a:pPr>
            <a:r>
              <a:rPr lang="en-IN" sz="2400" dirty="0">
                <a:latin typeface="Arial Narrow" panose="020B0606020202030204" pitchFamily="34" charset="0"/>
              </a:rPr>
              <a:t>    </a:t>
            </a:r>
            <a:r>
              <a:rPr lang="en-IN" sz="2400" dirty="0">
                <a:solidFill>
                  <a:srgbClr val="392DD3"/>
                </a:solidFill>
                <a:latin typeface="Arial Narrow" panose="020B0606020202030204" pitchFamily="34" charset="0"/>
              </a:rPr>
              <a:t># Cycles: 1 + 7 + 32 * (30 + 1) = 1000</a:t>
            </a:r>
          </a:p>
          <a:p>
            <a:pPr>
              <a:lnSpc>
                <a:spcPct val="95000"/>
              </a:lnSpc>
            </a:pPr>
            <a:r>
              <a:rPr lang="en-IN" sz="2400" dirty="0">
                <a:latin typeface="Arial Narrow" panose="020B0606020202030204" pitchFamily="34" charset="0"/>
              </a:rPr>
              <a:t>    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set(pins, 1)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set(x, 31)                  [6]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label("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delay_high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")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nop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()                       [29]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jmp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(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x_dec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, "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delay_high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")</a:t>
            </a:r>
          </a:p>
          <a:p>
            <a:pPr>
              <a:lnSpc>
                <a:spcPct val="95000"/>
              </a:lnSpc>
            </a:pPr>
            <a:r>
              <a:rPr lang="en-IN" sz="2400" dirty="0">
                <a:latin typeface="Arial Narrow" panose="020B0606020202030204" pitchFamily="34" charset="0"/>
              </a:rPr>
              <a:t>    </a:t>
            </a:r>
            <a:r>
              <a:rPr lang="en-IN" sz="2400" dirty="0">
                <a:solidFill>
                  <a:srgbClr val="392DD3"/>
                </a:solidFill>
                <a:latin typeface="Arial Narrow" panose="020B0606020202030204" pitchFamily="34" charset="0"/>
              </a:rPr>
              <a:t># Cycles: 1 + 7 + 32 * (30 + 1) = 1000</a:t>
            </a:r>
          </a:p>
          <a:p>
            <a:pPr>
              <a:lnSpc>
                <a:spcPct val="95000"/>
              </a:lnSpc>
            </a:pPr>
            <a:r>
              <a:rPr lang="en-IN" sz="2400" dirty="0">
                <a:latin typeface="Arial Narrow" panose="020B0606020202030204" pitchFamily="34" charset="0"/>
              </a:rPr>
              <a:t>    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set(pins, 0)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set(x, 31)                  [6]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label("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delay_low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")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nop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()                       [29]</a:t>
            </a:r>
          </a:p>
          <a:p>
            <a:pPr>
              <a:lnSpc>
                <a:spcPct val="95000"/>
              </a:lnSpc>
            </a:pP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    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jmp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(x_dec,"</a:t>
            </a:r>
            <a:r>
              <a:rPr lang="en-IN" sz="2400" b="1" dirty="0" err="1">
                <a:solidFill>
                  <a:srgbClr val="392DD3"/>
                </a:solidFill>
                <a:latin typeface="Arial Narrow" panose="020B0606020202030204" pitchFamily="34" charset="0"/>
              </a:rPr>
              <a:t>delay_low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")</a:t>
            </a:r>
          </a:p>
          <a:p>
            <a:pPr>
              <a:lnSpc>
                <a:spcPct val="95000"/>
              </a:lnSpc>
            </a:pP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sm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= rp2.StateMachine(0, </a:t>
            </a:r>
            <a:r>
              <a:rPr lang="en-IN" sz="2400" b="1" dirty="0">
                <a:solidFill>
                  <a:srgbClr val="392DD3"/>
                </a:solidFill>
                <a:latin typeface="Arial Narrow" panose="020B0606020202030204" pitchFamily="34" charset="0"/>
              </a:rPr>
              <a:t>blink_1hz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, </a:t>
            </a: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freq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=2000, </a:t>
            </a: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set_base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=Pin(2))</a:t>
            </a:r>
          </a:p>
          <a:p>
            <a:pPr>
              <a:lnSpc>
                <a:spcPct val="95000"/>
              </a:lnSpc>
            </a:pP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sm.active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18903840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A79AB2-306D-DE07-557B-306B95ED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254" y="177605"/>
            <a:ext cx="3103420" cy="379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0E64EC-51E9-7AD4-34E5-3DD9256F8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4" y="692726"/>
            <a:ext cx="9129696" cy="548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289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B7E668-73A5-FE2C-A857-4F33D726C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909" y="160180"/>
            <a:ext cx="5128182" cy="447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AC196F-4BCD-AE62-971B-0C66EE5F1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64589"/>
            <a:ext cx="9129129" cy="561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057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0F28A-C253-1816-2F9D-5E6F71324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2" y="99803"/>
            <a:ext cx="5090476" cy="5587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3720A-D5DD-BFFA-24DA-C5C67CBBC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61" y="732061"/>
            <a:ext cx="8257878" cy="584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749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5AE568-F647-3E32-65D1-3AF2044CA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05" y="114398"/>
            <a:ext cx="4637990" cy="596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2F64A-BC3E-9AB5-450A-273B8A107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0887"/>
            <a:ext cx="9144000" cy="575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976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EE43A1-4D59-74C3-8F6C-D4CA89733B0F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FF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Raspberry Pi Pico Dual Core 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4CFEC-9A86-B367-49B2-E0C9838C08BC}"/>
              </a:ext>
            </a:extLst>
          </p:cNvPr>
          <p:cNvSpPr txBox="1"/>
          <p:nvPr/>
        </p:nvSpPr>
        <p:spPr>
          <a:xfrm>
            <a:off x="-8877" y="5334506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one FIFO is writable by core0 and only one FIFO is writable by core1. This way no core is writing to the same location at the same time.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A944C4-252B-1367-FEAA-309A0A712215}"/>
              </a:ext>
            </a:extLst>
          </p:cNvPr>
          <p:cNvSpPr txBox="1"/>
          <p:nvPr/>
        </p:nvSpPr>
        <p:spPr>
          <a:xfrm>
            <a:off x="0" y="597053"/>
            <a:ext cx="5024761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core </a:t>
            </a:r>
            <a:r>
              <a:rPr lang="en-US" sz="2200" b="0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separately runs </a:t>
            </a: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sz="2200" b="0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 code </a:t>
            </a: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have </a:t>
            </a:r>
            <a:r>
              <a:rPr lang="en-US" sz="2200" b="0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 program code 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0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space. </a:t>
            </a: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cores can also share program code and memory space.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Fetching code </a:t>
            </a: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 read instruction and it </a:t>
            </a:r>
            <a:r>
              <a:rPr lang="en-US" sz="22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create a race condition</a:t>
            </a: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Sharing </a:t>
            </a:r>
            <a:r>
              <a:rPr lang="en-US" sz="22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same location for data, </a:t>
            </a:r>
            <a:r>
              <a:rPr lang="en-US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</a:t>
            </a:r>
            <a:r>
              <a:rPr lang="en-US" sz="22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 possibility for a race condition to exist where </a:t>
            </a:r>
            <a:r>
              <a:rPr lang="en-US" sz="2200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mutual accesses </a:t>
            </a:r>
            <a:r>
              <a:rPr lang="en-US" sz="22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the memory is not assured. So the cores should not share memory directly.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242FE0-7C03-E5EA-CBBB-3C5CFFE7C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775" y="607439"/>
            <a:ext cx="4039347" cy="2865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5060C7-ACE8-974B-A780-80E53E1E8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75" y="3713353"/>
            <a:ext cx="4128117" cy="155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354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CBC6-C31F-B2A3-0F92-88D90CF313A8}"/>
              </a:ext>
            </a:extLst>
          </p:cNvPr>
          <p:cNvSpPr txBox="1">
            <a:spLocks/>
          </p:cNvSpPr>
          <p:nvPr/>
        </p:nvSpPr>
        <p:spPr>
          <a:xfrm>
            <a:off x="0" y="957297"/>
            <a:ext cx="9144000" cy="97011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dirty="0">
                <a:latin typeface="Candara" panose="020E0502030303020204" pitchFamily="34" charset="0"/>
              </a:rPr>
              <a:t>Hands-on Session</a:t>
            </a:r>
          </a:p>
        </p:txBody>
      </p:sp>
    </p:spTree>
    <p:extLst>
      <p:ext uri="{BB962C8B-B14F-4D97-AF65-F5344CB8AC3E}">
        <p14:creationId xmlns:p14="http://schemas.microsoft.com/office/powerpoint/2010/main" val="39429338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43C7-5F3E-0CC9-211C-4D8FADC0ABDB}"/>
              </a:ext>
            </a:extLst>
          </p:cNvPr>
          <p:cNvSpPr>
            <a:spLocks noGrp="1"/>
          </p:cNvSpPr>
          <p:nvPr/>
        </p:nvSpPr>
        <p:spPr>
          <a:xfrm>
            <a:off x="0" y="23795"/>
            <a:ext cx="9144000" cy="481954"/>
          </a:xfrm>
          <a:prstGeom prst="rect">
            <a:avLst/>
          </a:prstGeom>
        </p:spPr>
        <p:txBody>
          <a:bodyPr vert="horz" lIns="0" rIns="0" bIns="0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26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Multithreading using Dual Core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21497-FD13-8B13-2752-D0CE0BEA1D8B}"/>
              </a:ext>
            </a:extLst>
          </p:cNvPr>
          <p:cNvSpPr>
            <a:spLocks noGrp="1"/>
          </p:cNvSpPr>
          <p:nvPr/>
        </p:nvSpPr>
        <p:spPr>
          <a:xfrm>
            <a:off x="107869" y="325229"/>
            <a:ext cx="7348733" cy="6352252"/>
          </a:xfrm>
          <a:prstGeom prst="rect">
            <a:avLst/>
          </a:prstGeom>
        </p:spPr>
        <p:txBody>
          <a:bodyPr vert="horz" lIns="18288" rIns="18288">
            <a:no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None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/>
              <a:buNone/>
              <a:defRPr kumimoji="0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/>
              <a:buNone/>
              <a:defRPr kumimoji="0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 panose="05020102010507070707"/>
              <a:buNone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 panose="05020102010507070707"/>
              <a:buNone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185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Prog-9</a:t>
            </a:r>
            <a:endParaRPr lang="en-IN" sz="2800" dirty="0">
              <a:solidFill>
                <a:srgbClr val="392DD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from machine import Pin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import time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import _thread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led1=Pin(2,Pin.OUT)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led2=Pin(3,Pin.OUT)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def </a:t>
            </a:r>
            <a:r>
              <a:rPr lang="en-US" sz="2400" b="1" dirty="0" err="1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second_core_function</a:t>
            </a:r>
            <a:r>
              <a:rPr lang="en-US" sz="2400" b="1" dirty="0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    while(1):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           led2.toggle()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dirty="0" err="1">
                <a:latin typeface="Constantia" panose="02030602050306030303" pitchFamily="18" charset="0"/>
                <a:cs typeface="Times New Roman" panose="02020603050405020304" pitchFamily="18" charset="0"/>
              </a:rPr>
              <a:t>time.sleep</a:t>
            </a: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(0.5)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_</a:t>
            </a:r>
            <a:r>
              <a:rPr lang="en-US" sz="2400" dirty="0" err="1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thread.start_new_thread</a:t>
            </a:r>
            <a:r>
              <a:rPr lang="en-US" sz="2400" dirty="0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second_core_function</a:t>
            </a:r>
            <a:r>
              <a:rPr lang="en-US" sz="2400" dirty="0">
                <a:solidFill>
                  <a:srgbClr val="FF0000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, ())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while True: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    led1.toggle()   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Constantia" panose="02030602050306030303" pitchFamily="18" charset="0"/>
                <a:cs typeface="Times New Roman" panose="02020603050405020304" pitchFamily="18" charset="0"/>
              </a:rPr>
              <a:t>time.sleep</a:t>
            </a:r>
            <a:r>
              <a:rPr lang="en-US" sz="2400" dirty="0">
                <a:latin typeface="Constantia" panose="02030602050306030303" pitchFamily="18" charset="0"/>
                <a:cs typeface="Times New Roman" panose="02020603050405020304" pitchFamily="18" charset="0"/>
              </a:rPr>
              <a:t>(1)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247DD0F-7D9D-6416-0388-6A683D66F35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688" y="743256"/>
            <a:ext cx="3186106" cy="258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245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43C7-5F3E-0CC9-211C-4D8FADC0ABDB}"/>
              </a:ext>
            </a:extLst>
          </p:cNvPr>
          <p:cNvSpPr>
            <a:spLocks noGrp="1"/>
          </p:cNvSpPr>
          <p:nvPr/>
        </p:nvSpPr>
        <p:spPr>
          <a:xfrm>
            <a:off x="0" y="23794"/>
            <a:ext cx="9144000" cy="519963"/>
          </a:xfrm>
          <a:prstGeom prst="rect">
            <a:avLst/>
          </a:prstGeom>
        </p:spPr>
        <p:txBody>
          <a:bodyPr vert="horz" lIns="0" rIns="0" bIns="0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26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Multithreading using Dual Core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21497-FD13-8B13-2752-D0CE0BEA1D8B}"/>
              </a:ext>
            </a:extLst>
          </p:cNvPr>
          <p:cNvSpPr>
            <a:spLocks noGrp="1"/>
          </p:cNvSpPr>
          <p:nvPr/>
        </p:nvSpPr>
        <p:spPr>
          <a:xfrm>
            <a:off x="107869" y="47518"/>
            <a:ext cx="6607563" cy="6314243"/>
          </a:xfrm>
          <a:prstGeom prst="rect">
            <a:avLst/>
          </a:prstGeom>
        </p:spPr>
        <p:txBody>
          <a:bodyPr vert="horz" lIns="18288" rIns="18288">
            <a:no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None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/>
              <a:buNone/>
              <a:defRPr kumimoji="0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/>
              <a:buNone/>
              <a:defRPr kumimoji="0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 panose="05020102010507070707"/>
              <a:buNone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 panose="05020102010507070707"/>
              <a:buNone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185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Prog-10</a:t>
            </a:r>
            <a:endParaRPr lang="en-IN" sz="2800" dirty="0">
              <a:solidFill>
                <a:srgbClr val="392DD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machine import Pin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time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_thread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Arial Narrow" panose="020B0606020202030204" pitchFamily="34" charset="0"/>
              </a:rPr>
              <a:t># </a:t>
            </a:r>
            <a:r>
              <a:rPr lang="en-US" sz="2400" dirty="0" err="1">
                <a:latin typeface="Arial Narrow" panose="020B0606020202030204" pitchFamily="34" charset="0"/>
              </a:rPr>
              <a:t>sLock</a:t>
            </a:r>
            <a:r>
              <a:rPr lang="en-US" sz="2400" dirty="0">
                <a:latin typeface="Arial Narrow" panose="020B0606020202030204" pitchFamily="34" charset="0"/>
              </a:rPr>
              <a:t> = _</a:t>
            </a:r>
            <a:r>
              <a:rPr lang="en-US" sz="2400" dirty="0" err="1">
                <a:latin typeface="Arial Narrow" panose="020B0606020202030204" pitchFamily="34" charset="0"/>
              </a:rPr>
              <a:t>thread.allocate_lock</a:t>
            </a:r>
            <a:r>
              <a:rPr lang="en-US" sz="2400" dirty="0">
                <a:latin typeface="Arial Narrow" panose="020B0606020202030204" pitchFamily="34" charset="0"/>
              </a:rPr>
              <a:t>()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second_core_function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while(1):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x in range(5):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print("core1",x)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(0.5)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thread.start_new_thread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second_core_function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())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True: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x in range(5):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print("core0",x)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247DD0F-7D9D-6416-0388-6A683D66F35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68" y="1397246"/>
            <a:ext cx="3186106" cy="2580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0E4856-DF71-A63D-5E51-5A9BBA0CD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803" y="5132439"/>
            <a:ext cx="4321636" cy="162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6887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4B791-D79E-7C82-1547-5EC608CE2D8C}"/>
              </a:ext>
            </a:extLst>
          </p:cNvPr>
          <p:cNvSpPr txBox="1"/>
          <p:nvPr/>
        </p:nvSpPr>
        <p:spPr>
          <a:xfrm>
            <a:off x="0" y="0"/>
            <a:ext cx="507274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machine import Pin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time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_thread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led1 = Pin(2,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machine.Pin.OUT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led2 = Pin(3,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machine.Pin.OUT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sLock</a:t>
            </a: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_</a:t>
            </a:r>
            <a:r>
              <a:rPr lang="en-IN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thread.allocate_lock</a:t>
            </a: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CoreTask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sLock.acquire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x in range(5):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print("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",x)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print(x)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sLock.release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thread.start_new_thread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CoreTask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D3706-D253-1234-E31D-034D093C8D4B}"/>
              </a:ext>
            </a:extLst>
          </p:cNvPr>
          <p:cNvSpPr txBox="1"/>
          <p:nvPr/>
        </p:nvSpPr>
        <p:spPr>
          <a:xfrm>
            <a:off x="5119008" y="1399711"/>
            <a:ext cx="40249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while True: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sLock.acquire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()                   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 Acquire the semaphore lock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for x in range(5):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print("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core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",x)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print(x)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time.sleep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sLock.release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()                          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 Release the semaphore lock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B61566-7F7E-5D35-28D7-2C7415C47057}"/>
              </a:ext>
            </a:extLst>
          </p:cNvPr>
          <p:cNvSpPr txBox="1"/>
          <p:nvPr/>
        </p:nvSpPr>
        <p:spPr>
          <a:xfrm>
            <a:off x="4106636" y="117693"/>
            <a:ext cx="4620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392DD3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Prog-10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Modified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2086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E9A436-4215-2A0C-B4CF-4B3D3BA17C48}"/>
              </a:ext>
            </a:extLst>
          </p:cNvPr>
          <p:cNvSpPr txBox="1"/>
          <p:nvPr/>
        </p:nvSpPr>
        <p:spPr>
          <a:xfrm>
            <a:off x="0" y="73570"/>
            <a:ext cx="492883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Prog-11</a:t>
            </a:r>
            <a:endParaRPr lang="en-IN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from machine import Pin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import </a:t>
            </a:r>
            <a:r>
              <a:rPr lang="en-US" sz="2400" dirty="0" err="1">
                <a:latin typeface="Arial Narrow" panose="020B0606020202030204" pitchFamily="34" charset="0"/>
              </a:rPr>
              <a:t>utime</a:t>
            </a:r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import _thread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led1 = Pin(2, </a:t>
            </a:r>
            <a:r>
              <a:rPr lang="en-US" sz="2400" dirty="0" err="1">
                <a:latin typeface="Arial Narrow" panose="020B0606020202030204" pitchFamily="34" charset="0"/>
              </a:rPr>
              <a:t>machine.Pin.OUT</a:t>
            </a:r>
            <a:r>
              <a:rPr lang="en-US" sz="2400" dirty="0">
                <a:latin typeface="Arial Narrow" panose="020B0606020202030204" pitchFamily="34" charset="0"/>
              </a:rPr>
              <a:t>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led2 = Pin(3, </a:t>
            </a:r>
            <a:r>
              <a:rPr lang="en-US" sz="2400" dirty="0" err="1">
                <a:latin typeface="Arial Narrow" panose="020B0606020202030204" pitchFamily="34" charset="0"/>
              </a:rPr>
              <a:t>machine.Pin.OUT</a:t>
            </a:r>
            <a:r>
              <a:rPr lang="en-US" sz="2400" dirty="0">
                <a:latin typeface="Arial Narrow" panose="020B0606020202030204" pitchFamily="34" charset="0"/>
              </a:rPr>
              <a:t>)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sLock</a:t>
            </a:r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= _</a:t>
            </a:r>
            <a:r>
              <a:rPr lang="en-US" sz="24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thread.allocate_lock</a:t>
            </a:r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()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def </a:t>
            </a:r>
            <a:r>
              <a:rPr lang="en-US" sz="2400" dirty="0" err="1">
                <a:latin typeface="Arial Narrow" panose="020B0606020202030204" pitchFamily="34" charset="0"/>
              </a:rPr>
              <a:t>CoreTask</a:t>
            </a:r>
            <a:r>
              <a:rPr lang="en-US" sz="2400" dirty="0">
                <a:latin typeface="Arial Narrow" panose="020B0606020202030204" pitchFamily="34" charset="0"/>
              </a:rPr>
              <a:t>():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    while True:</a:t>
            </a:r>
          </a:p>
          <a:p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       </a:t>
            </a:r>
            <a:r>
              <a:rPr lang="en-US" sz="24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sLock.acquire</a:t>
            </a:r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()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        print</a:t>
            </a:r>
            <a:r>
              <a:rPr lang="en-US" sz="2200" dirty="0">
                <a:latin typeface="Arial Narrow" panose="020B0606020202030204" pitchFamily="34" charset="0"/>
              </a:rPr>
              <a:t>("Entered into the 2nd Thread")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        </a:t>
            </a:r>
            <a:r>
              <a:rPr lang="en-US" sz="2400" dirty="0" err="1">
                <a:latin typeface="Arial Narrow" panose="020B0606020202030204" pitchFamily="34" charset="0"/>
              </a:rPr>
              <a:t>utime.sleep</a:t>
            </a:r>
            <a:r>
              <a:rPr lang="en-US" sz="2400" dirty="0">
                <a:latin typeface="Arial Narrow" panose="020B0606020202030204" pitchFamily="34" charset="0"/>
              </a:rPr>
              <a:t>(1)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        led2.high()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        print("Led 2 turned on")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        </a:t>
            </a:r>
            <a:r>
              <a:rPr lang="en-US" sz="2400" dirty="0" err="1">
                <a:latin typeface="Arial Narrow" panose="020B0606020202030204" pitchFamily="34" charset="0"/>
              </a:rPr>
              <a:t>utime.sleep</a:t>
            </a:r>
            <a:r>
              <a:rPr lang="en-US" sz="2400" dirty="0">
                <a:latin typeface="Arial Narrow" panose="020B0606020202030204" pitchFamily="34" charset="0"/>
              </a:rPr>
              <a:t>(2)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        led2.low()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4293B-0D74-5CF7-F321-ED3D0C63FBC8}"/>
              </a:ext>
            </a:extLst>
          </p:cNvPr>
          <p:cNvSpPr txBox="1"/>
          <p:nvPr/>
        </p:nvSpPr>
        <p:spPr>
          <a:xfrm>
            <a:off x="4445876" y="157867"/>
            <a:ext cx="469812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print("Led 2 turned off")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utime.sleep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print("Exiting from the 2nd Thread")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utime.sleep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sLock.release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_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thread.start_new_thread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CoreTask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())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while True: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sLock.acquire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print("Entered into the main Thread")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led1.toggle()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utime.sleep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(0.15)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print("Led 1 started to toggle.")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utime.sleep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print("Exiting from the main Thread")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utime.sleep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sLock.release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# Release the lock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0858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Waiting for a Serial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Say I’ve got two tasks that can write to a serial port (using </a:t>
            </a:r>
            <a:r>
              <a:rPr lang="en-US" dirty="0" err="1"/>
              <a:t>printf</a:t>
            </a:r>
            <a:r>
              <a:rPr lang="en-US" dirty="0"/>
              <a:t>()* let’s say).</a:t>
            </a:r>
          </a:p>
          <a:p>
            <a:pPr lvl="1"/>
            <a:r>
              <a:rPr lang="en-US" dirty="0"/>
              <a:t>They are writing messages to a terminal.</a:t>
            </a:r>
          </a:p>
          <a:p>
            <a:pPr lvl="1"/>
            <a:r>
              <a:rPr lang="en-US" dirty="0"/>
              <a:t>If one is in the middle of a message, I can’t preempt it with another that can/will write to the serial port.</a:t>
            </a:r>
          </a:p>
          <a:p>
            <a:pPr lvl="2"/>
            <a:r>
              <a:rPr lang="en-US" dirty="0"/>
              <a:t>My message will be jumbled as one message hits the middle of the other.</a:t>
            </a:r>
          </a:p>
          <a:p>
            <a:r>
              <a:rPr lang="en-US" dirty="0"/>
              <a:t>This can happen with all kinds of resources including other ports (e.g. I2C, USB) and timers</a:t>
            </a:r>
          </a:p>
          <a:p>
            <a:pPr lvl="1"/>
            <a:r>
              <a:rPr lang="en-US" dirty="0"/>
              <a:t>Common to have a shared data structure where if one task is writing, no task can use it.</a:t>
            </a:r>
          </a:p>
          <a:p>
            <a:pPr lvl="2"/>
            <a:r>
              <a:rPr lang="en-US" dirty="0"/>
              <a:t>Why might someone else not be able to read?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6477000"/>
            <a:ext cx="8241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*The standard version of </a:t>
            </a:r>
            <a:r>
              <a:rPr lang="en-US" sz="1600" dirty="0" err="1"/>
              <a:t>printf</a:t>
            </a:r>
            <a:r>
              <a:rPr lang="en-US" sz="1600" dirty="0"/>
              <a:t> is not “reentrant”.  This is a good thing to know (and understand) </a:t>
            </a:r>
          </a:p>
        </p:txBody>
      </p:sp>
    </p:spTree>
    <p:extLst>
      <p:ext uri="{BB962C8B-B14F-4D97-AF65-F5344CB8AC3E}">
        <p14:creationId xmlns:p14="http://schemas.microsoft.com/office/powerpoint/2010/main" val="22256392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839BF9-3E6E-94FC-0C18-8152BDC135D3}"/>
              </a:ext>
            </a:extLst>
          </p:cNvPr>
          <p:cNvSpPr txBox="1"/>
          <p:nvPr/>
        </p:nvSpPr>
        <p:spPr>
          <a:xfrm>
            <a:off x="0" y="494404"/>
            <a:ext cx="270974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Prog-12</a:t>
            </a:r>
            <a:endParaRPr lang="en-IN" sz="2400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from time import sleep</a:t>
            </a:r>
          </a:p>
          <a:p>
            <a:r>
              <a:rPr lang="en-I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import _thread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def </a:t>
            </a:r>
            <a:r>
              <a:rPr lang="en-I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core0_thread():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while True: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print('C')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print('O')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print('R')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print('E')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print('0')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 sleep(0.5)</a:t>
            </a:r>
          </a:p>
          <a:p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B4252-49E2-1BCF-C851-435B9E52C324}"/>
              </a:ext>
            </a:extLst>
          </p:cNvPr>
          <p:cNvSpPr txBox="1"/>
          <p:nvPr/>
        </p:nvSpPr>
        <p:spPr>
          <a:xfrm>
            <a:off x="3423424" y="494404"/>
            <a:ext cx="57205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def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core1_thread():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while True: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print('c')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print('o')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print('r')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print('e')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print('1')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second_thread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= _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thread.start_new_thread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(core1_thread, ())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core0_thread()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5433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839BF9-3E6E-94FC-0C18-8152BDC135D3}"/>
              </a:ext>
            </a:extLst>
          </p:cNvPr>
          <p:cNvSpPr txBox="1"/>
          <p:nvPr/>
        </p:nvSpPr>
        <p:spPr>
          <a:xfrm>
            <a:off x="0" y="48353"/>
            <a:ext cx="4267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ato" panose="020F0502020204030203" pitchFamily="34" charset="0"/>
                <a:cs typeface="Times New Roman" panose="02020603050405020304" pitchFamily="18" charset="0"/>
              </a:rPr>
              <a:t>Prog-13</a:t>
            </a:r>
            <a:endParaRPr lang="en-IN" sz="2400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from time import sleep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import _thread</a:t>
            </a:r>
          </a:p>
          <a:p>
            <a:r>
              <a:rPr lang="en-IN" sz="24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spLock</a:t>
            </a:r>
            <a:r>
              <a:rPr lang="en-I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= _</a:t>
            </a:r>
            <a:r>
              <a:rPr lang="en-IN" sz="24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thread.allocate_lock</a:t>
            </a:r>
            <a:r>
              <a:rPr lang="en-I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() 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def core0_thread():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while True: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	</a:t>
            </a: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spLock.acquire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()</a:t>
            </a:r>
            <a:r>
              <a:rPr lang="en-IN" sz="2400" dirty="0">
                <a:latin typeface="Arial Narrow" panose="020B0606020202030204" pitchFamily="34" charset="0"/>
              </a:rPr>
              <a:t> 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	print('C')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print('O')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print('R')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print('E')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print('0')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       sleep(0.5)</a:t>
            </a:r>
          </a:p>
          <a:p>
            <a:r>
              <a:rPr lang="en-IN" sz="2400" dirty="0">
                <a:latin typeface="Arial Narrow" panose="020B0606020202030204" pitchFamily="34" charset="0"/>
              </a:rPr>
              <a:t>	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spLock.release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()</a:t>
            </a: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B4252-49E2-1BCF-C851-435B9E52C324}"/>
              </a:ext>
            </a:extLst>
          </p:cNvPr>
          <p:cNvSpPr txBox="1"/>
          <p:nvPr/>
        </p:nvSpPr>
        <p:spPr>
          <a:xfrm>
            <a:off x="3980984" y="115266"/>
            <a:ext cx="516301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def core1_thread():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while True: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	</a:t>
            </a: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spLock.acquire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()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	print('c')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print('o')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print('r')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print('e')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print('1')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      sleep(0.5)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	</a:t>
            </a:r>
            <a:r>
              <a:rPr lang="en-IN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spLock.release</a:t>
            </a:r>
            <a:r>
              <a:rPr lang="en-IN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()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second_thread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= _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thread.start_new_thread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(core1_thread, ())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core0_thread()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9945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EB451-AEC9-128C-5403-732964668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63" y="1114102"/>
            <a:ext cx="7516274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63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386</TotalTime>
  <Words>7627</Words>
  <Application>Microsoft Office PowerPoint</Application>
  <PresentationFormat>On-screen Show (4:3)</PresentationFormat>
  <Paragraphs>747</Paragraphs>
  <Slides>89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112" baseType="lpstr">
      <vt:lpstr>Aptos Narrow</vt:lpstr>
      <vt:lpstr>Arial</vt:lpstr>
      <vt:lpstr>Arial Narrow</vt:lpstr>
      <vt:lpstr>Arial Unicode MS</vt:lpstr>
      <vt:lpstr>ArialMT</vt:lpstr>
      <vt:lpstr>Bahnschrift</vt:lpstr>
      <vt:lpstr>Bahnschrift SemiLight SemiConde</vt:lpstr>
      <vt:lpstr>Calibri</vt:lpstr>
      <vt:lpstr>Calibri Light</vt:lpstr>
      <vt:lpstr>Candara</vt:lpstr>
      <vt:lpstr>Castellar</vt:lpstr>
      <vt:lpstr>Comic Sans MS</vt:lpstr>
      <vt:lpstr>Consolas</vt:lpstr>
      <vt:lpstr>Constantia</vt:lpstr>
      <vt:lpstr>Courier New</vt:lpstr>
      <vt:lpstr>Helvetica</vt:lpstr>
      <vt:lpstr>Lato</vt:lpstr>
      <vt:lpstr>Monotype Corsiva</vt:lpstr>
      <vt:lpstr>Roboto</vt:lpstr>
      <vt:lpstr>Times New Roman</vt:lpstr>
      <vt:lpstr>TimesNewRomanPSMT</vt:lpstr>
      <vt:lpstr>Wingdings</vt:lpstr>
      <vt:lpstr>Office Theme</vt:lpstr>
      <vt:lpstr>RP2040 - Microcontroller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RP2040 Integrated Development Environment with Hands-on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RP2040 Timers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Waiting for a Serial Port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Dr.K. Rajasekaran</dc:creator>
  <cp:lastModifiedBy>Dr.K. Rajasekaran</cp:lastModifiedBy>
  <cp:revision>11</cp:revision>
  <dcterms:created xsi:type="dcterms:W3CDTF">2025-10-22T13:45:45Z</dcterms:created>
  <dcterms:modified xsi:type="dcterms:W3CDTF">2025-10-28T08:53:38Z</dcterms:modified>
</cp:coreProperties>
</file>