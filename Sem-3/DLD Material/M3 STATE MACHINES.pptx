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7" r:id="rId3"/>
    <p:sldId id="258" r:id="rId4"/>
    <p:sldId id="259" r:id="rId5"/>
    <p:sldId id="260" r:id="rId6"/>
    <p:sldId id="261" r:id="rId7"/>
    <p:sldId id="268" r:id="rId8"/>
    <p:sldId id="269" r:id="rId9"/>
    <p:sldId id="270" r:id="rId10"/>
    <p:sldId id="271" r:id="rId11"/>
    <p:sldId id="272" r:id="rId12"/>
    <p:sldId id="273" r:id="rId13"/>
    <p:sldId id="276" r:id="rId14"/>
    <p:sldId id="277" r:id="rId15"/>
    <p:sldId id="263" r:id="rId16"/>
    <p:sldId id="264" r:id="rId17"/>
    <p:sldId id="265" r:id="rId18"/>
    <p:sldId id="266" r:id="rId19"/>
    <p:sldId id="26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A5C1F98-F1AF-4DE0-8527-85F340D536D2}" type="datetimeFigureOut">
              <a:rPr lang="en-IN" smtClean="0"/>
              <a:t>29-04-2024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329E7E-6900-481A-8F76-01A26E6ECC5A}" type="slidenum">
              <a:rPr lang="en-IN" smtClean="0"/>
              <a:t>‹#›</a:t>
            </a:fld>
            <a:endParaRPr lang="en-IN"/>
          </a:p>
        </p:txBody>
      </p:sp>
    </p:spTree>
    <p:extLst>
      <p:ext uri="{BB962C8B-B14F-4D97-AF65-F5344CB8AC3E}">
        <p14:creationId xmlns:p14="http://schemas.microsoft.com/office/powerpoint/2010/main" val="4061233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A5C1F98-F1AF-4DE0-8527-85F340D536D2}" type="datetimeFigureOut">
              <a:rPr lang="en-IN" smtClean="0"/>
              <a:t>29-04-2024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329E7E-6900-481A-8F76-01A26E6ECC5A}" type="slidenum">
              <a:rPr lang="en-IN" smtClean="0"/>
              <a:t>‹#›</a:t>
            </a:fld>
            <a:endParaRPr lang="en-IN"/>
          </a:p>
        </p:txBody>
      </p:sp>
    </p:spTree>
    <p:extLst>
      <p:ext uri="{BB962C8B-B14F-4D97-AF65-F5344CB8AC3E}">
        <p14:creationId xmlns:p14="http://schemas.microsoft.com/office/powerpoint/2010/main" val="237072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5C1F98-F1AF-4DE0-8527-85F340D536D2}" type="datetimeFigureOut">
              <a:rPr lang="en-IN" smtClean="0"/>
              <a:t>29-04-2024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329E7E-6900-481A-8F76-01A26E6ECC5A}" type="slidenum">
              <a:rPr lang="en-IN" smtClean="0"/>
              <a:t>‹#›</a:t>
            </a:fld>
            <a:endParaRPr lang="en-IN"/>
          </a:p>
        </p:txBody>
      </p:sp>
    </p:spTree>
    <p:extLst>
      <p:ext uri="{BB962C8B-B14F-4D97-AF65-F5344CB8AC3E}">
        <p14:creationId xmlns:p14="http://schemas.microsoft.com/office/powerpoint/2010/main" val="342948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A5C1F98-F1AF-4DE0-8527-85F340D536D2}" type="datetimeFigureOut">
              <a:rPr lang="en-IN" smtClean="0"/>
              <a:t>29-04-2024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329E7E-6900-481A-8F76-01A26E6ECC5A}" type="slidenum">
              <a:rPr lang="en-IN" smtClean="0"/>
              <a:t>‹#›</a:t>
            </a:fld>
            <a:endParaRPr lang="en-IN"/>
          </a:p>
        </p:txBody>
      </p:sp>
    </p:spTree>
    <p:extLst>
      <p:ext uri="{BB962C8B-B14F-4D97-AF65-F5344CB8AC3E}">
        <p14:creationId xmlns:p14="http://schemas.microsoft.com/office/powerpoint/2010/main" val="2822328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A5C1F98-F1AF-4DE0-8527-85F340D536D2}" type="datetimeFigureOut">
              <a:rPr lang="en-IN" smtClean="0"/>
              <a:t>29-04-2024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4329E7E-6900-481A-8F76-01A26E6ECC5A}" type="slidenum">
              <a:rPr lang="en-IN" smtClean="0"/>
              <a:t>‹#›</a:t>
            </a:fld>
            <a:endParaRPr lang="en-IN"/>
          </a:p>
        </p:txBody>
      </p:sp>
    </p:spTree>
    <p:extLst>
      <p:ext uri="{BB962C8B-B14F-4D97-AF65-F5344CB8AC3E}">
        <p14:creationId xmlns:p14="http://schemas.microsoft.com/office/powerpoint/2010/main" val="1481371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A5C1F98-F1AF-4DE0-8527-85F340D536D2}" type="datetimeFigureOut">
              <a:rPr lang="en-IN" smtClean="0"/>
              <a:t>29-04-2024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4329E7E-6900-481A-8F76-01A26E6ECC5A}" type="slidenum">
              <a:rPr lang="en-IN" smtClean="0"/>
              <a:t>‹#›</a:t>
            </a:fld>
            <a:endParaRPr lang="en-IN"/>
          </a:p>
        </p:txBody>
      </p:sp>
    </p:spTree>
    <p:extLst>
      <p:ext uri="{BB962C8B-B14F-4D97-AF65-F5344CB8AC3E}">
        <p14:creationId xmlns:p14="http://schemas.microsoft.com/office/powerpoint/2010/main" val="661914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5C1F98-F1AF-4DE0-8527-85F340D536D2}" type="datetimeFigureOut">
              <a:rPr lang="en-IN" smtClean="0"/>
              <a:t>29-04-2024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4329E7E-6900-481A-8F76-01A26E6ECC5A}" type="slidenum">
              <a:rPr lang="en-IN" smtClean="0"/>
              <a:t>‹#›</a:t>
            </a:fld>
            <a:endParaRPr lang="en-IN"/>
          </a:p>
        </p:txBody>
      </p:sp>
    </p:spTree>
    <p:extLst>
      <p:ext uri="{BB962C8B-B14F-4D97-AF65-F5344CB8AC3E}">
        <p14:creationId xmlns:p14="http://schemas.microsoft.com/office/powerpoint/2010/main" val="3519227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5C1F98-F1AF-4DE0-8527-85F340D536D2}" type="datetimeFigureOut">
              <a:rPr lang="en-IN" smtClean="0"/>
              <a:t>29-04-2024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329E7E-6900-481A-8F76-01A26E6ECC5A}" type="slidenum">
              <a:rPr lang="en-IN" smtClean="0"/>
              <a:t>‹#›</a:t>
            </a:fld>
            <a:endParaRPr lang="en-IN"/>
          </a:p>
        </p:txBody>
      </p:sp>
    </p:spTree>
    <p:extLst>
      <p:ext uri="{BB962C8B-B14F-4D97-AF65-F5344CB8AC3E}">
        <p14:creationId xmlns:p14="http://schemas.microsoft.com/office/powerpoint/2010/main" val="944452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5C1F98-F1AF-4DE0-8527-85F340D536D2}" type="datetimeFigureOut">
              <a:rPr lang="en-IN" smtClean="0"/>
              <a:t>29-04-2024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329E7E-6900-481A-8F76-01A26E6ECC5A}" type="slidenum">
              <a:rPr lang="en-IN" smtClean="0"/>
              <a:t>‹#›</a:t>
            </a:fld>
            <a:endParaRPr lang="en-IN"/>
          </a:p>
        </p:txBody>
      </p:sp>
    </p:spTree>
    <p:extLst>
      <p:ext uri="{BB962C8B-B14F-4D97-AF65-F5344CB8AC3E}">
        <p14:creationId xmlns:p14="http://schemas.microsoft.com/office/powerpoint/2010/main" val="110192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A5C1F98-F1AF-4DE0-8527-85F340D536D2}" type="datetimeFigureOut">
              <a:rPr lang="en-IN" smtClean="0"/>
              <a:t>29-04-2024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329E7E-6900-481A-8F76-01A26E6ECC5A}" type="slidenum">
              <a:rPr lang="en-IN" smtClean="0"/>
              <a:t>‹#›</a:t>
            </a:fld>
            <a:endParaRPr lang="en-IN"/>
          </a:p>
        </p:txBody>
      </p:sp>
    </p:spTree>
    <p:extLst>
      <p:ext uri="{BB962C8B-B14F-4D97-AF65-F5344CB8AC3E}">
        <p14:creationId xmlns:p14="http://schemas.microsoft.com/office/powerpoint/2010/main" val="454707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A5C1F98-F1AF-4DE0-8527-85F340D536D2}" type="datetimeFigureOut">
              <a:rPr lang="en-IN" smtClean="0"/>
              <a:t>29-04-2024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329E7E-6900-481A-8F76-01A26E6ECC5A}" type="slidenum">
              <a:rPr lang="en-IN" smtClean="0"/>
              <a:t>‹#›</a:t>
            </a:fld>
            <a:endParaRPr lang="en-IN"/>
          </a:p>
        </p:txBody>
      </p:sp>
    </p:spTree>
    <p:extLst>
      <p:ext uri="{BB962C8B-B14F-4D97-AF65-F5344CB8AC3E}">
        <p14:creationId xmlns:p14="http://schemas.microsoft.com/office/powerpoint/2010/main" val="4895982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00591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088008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85272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91358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62556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553981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64458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551704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60439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919697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1619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5C1F98-F1AF-4DE0-8527-85F340D536D2}" type="datetimeFigureOut">
              <a:rPr lang="en-IN" smtClean="0"/>
              <a:t>29-04-2024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329E7E-6900-481A-8F76-01A26E6ECC5A}" type="slidenum">
              <a:rPr lang="en-IN" smtClean="0"/>
              <a:t>‹#›</a:t>
            </a:fld>
            <a:endParaRPr lang="en-IN"/>
          </a:p>
        </p:txBody>
      </p:sp>
    </p:spTree>
    <p:extLst>
      <p:ext uri="{BB962C8B-B14F-4D97-AF65-F5344CB8AC3E}">
        <p14:creationId xmlns:p14="http://schemas.microsoft.com/office/powerpoint/2010/main" val="2816511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68519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43885" y="154889"/>
            <a:ext cx="3850640" cy="574675"/>
          </a:xfrm>
          <a:prstGeom prst="rect">
            <a:avLst/>
          </a:prstGeom>
        </p:spPr>
        <p:txBody>
          <a:bodyPr vert="horz" wrap="square" lIns="0" tIns="12700" rIns="0" bIns="0" rtlCol="0">
            <a:spAutoFit/>
          </a:bodyPr>
          <a:lstStyle/>
          <a:p>
            <a:pPr marL="12700">
              <a:lnSpc>
                <a:spcPct val="100000"/>
              </a:lnSpc>
              <a:spcBef>
                <a:spcPts val="100"/>
              </a:spcBef>
            </a:pPr>
            <a:r>
              <a:rPr sz="3600" spc="-155" dirty="0"/>
              <a:t>S</a:t>
            </a:r>
            <a:r>
              <a:rPr sz="3600" spc="-135" dirty="0"/>
              <a:t>T</a:t>
            </a:r>
            <a:r>
              <a:rPr sz="3600" spc="-155" dirty="0"/>
              <a:t>A</a:t>
            </a:r>
            <a:r>
              <a:rPr sz="3600" spc="-135" dirty="0"/>
              <a:t>T</a:t>
            </a:r>
            <a:r>
              <a:rPr sz="3600" dirty="0"/>
              <a:t>E</a:t>
            </a:r>
            <a:r>
              <a:rPr sz="3600" spc="-204" dirty="0"/>
              <a:t> </a:t>
            </a:r>
            <a:r>
              <a:rPr sz="3600" dirty="0"/>
              <a:t>M</a:t>
            </a:r>
            <a:r>
              <a:rPr sz="3600" spc="-15" dirty="0"/>
              <a:t>A</a:t>
            </a:r>
            <a:r>
              <a:rPr sz="3600" dirty="0"/>
              <a:t>CHI</a:t>
            </a:r>
            <a:r>
              <a:rPr sz="3600" spc="-15" dirty="0"/>
              <a:t>N</a:t>
            </a:r>
            <a:r>
              <a:rPr sz="3600" dirty="0"/>
              <a:t>ES</a:t>
            </a:r>
            <a:endParaRPr sz="3600"/>
          </a:p>
        </p:txBody>
      </p:sp>
      <p:sp>
        <p:nvSpPr>
          <p:cNvPr id="4" name="object 4"/>
          <p:cNvSpPr txBox="1"/>
          <p:nvPr/>
        </p:nvSpPr>
        <p:spPr>
          <a:xfrm>
            <a:off x="78130" y="930402"/>
            <a:ext cx="8054975" cy="129095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Times New Roman"/>
                <a:cs typeface="Times New Roman"/>
              </a:rPr>
              <a:t>State</a:t>
            </a:r>
            <a:r>
              <a:rPr sz="2400" spc="-110" dirty="0">
                <a:solidFill>
                  <a:srgbClr val="FF0000"/>
                </a:solidFill>
                <a:latin typeface="Times New Roman"/>
                <a:cs typeface="Times New Roman"/>
              </a:rPr>
              <a:t> </a:t>
            </a:r>
            <a:r>
              <a:rPr sz="2400" spc="-5" dirty="0">
                <a:solidFill>
                  <a:srgbClr val="FF0000"/>
                </a:solidFill>
                <a:latin typeface="Times New Roman"/>
                <a:cs typeface="Times New Roman"/>
              </a:rPr>
              <a:t>Machine</a:t>
            </a:r>
            <a:endParaRPr sz="2400">
              <a:latin typeface="Times New Roman"/>
              <a:cs typeface="Times New Roman"/>
            </a:endParaRPr>
          </a:p>
          <a:p>
            <a:pPr marL="12700">
              <a:lnSpc>
                <a:spcPct val="100000"/>
              </a:lnSpc>
            </a:pPr>
            <a:r>
              <a:rPr sz="1800" dirty="0">
                <a:latin typeface="Times New Roman"/>
                <a:cs typeface="Times New Roman"/>
              </a:rPr>
              <a:t>Another</a:t>
            </a:r>
            <a:r>
              <a:rPr sz="1800" spc="-90" dirty="0">
                <a:latin typeface="Times New Roman"/>
                <a:cs typeface="Times New Roman"/>
              </a:rPr>
              <a:t> </a:t>
            </a:r>
            <a:r>
              <a:rPr sz="1800" spc="-10" dirty="0">
                <a:latin typeface="Times New Roman"/>
                <a:cs typeface="Times New Roman"/>
              </a:rPr>
              <a:t>type</a:t>
            </a:r>
            <a:r>
              <a:rPr sz="1800" spc="-35" dirty="0">
                <a:latin typeface="Times New Roman"/>
                <a:cs typeface="Times New Roman"/>
              </a:rPr>
              <a:t> </a:t>
            </a:r>
            <a:r>
              <a:rPr sz="1800" spc="5" dirty="0">
                <a:latin typeface="Times New Roman"/>
                <a:cs typeface="Times New Roman"/>
              </a:rPr>
              <a:t>of</a:t>
            </a:r>
            <a:r>
              <a:rPr sz="1800" spc="-30" dirty="0">
                <a:latin typeface="Times New Roman"/>
                <a:cs typeface="Times New Roman"/>
              </a:rPr>
              <a:t> </a:t>
            </a:r>
            <a:r>
              <a:rPr sz="1800" dirty="0">
                <a:latin typeface="Times New Roman"/>
                <a:cs typeface="Times New Roman"/>
              </a:rPr>
              <a:t>sequential</a:t>
            </a:r>
            <a:r>
              <a:rPr sz="1800" spc="-110" dirty="0">
                <a:latin typeface="Times New Roman"/>
                <a:cs typeface="Times New Roman"/>
              </a:rPr>
              <a:t> </a:t>
            </a:r>
            <a:r>
              <a:rPr sz="1800" dirty="0">
                <a:latin typeface="Times New Roman"/>
                <a:cs typeface="Times New Roman"/>
              </a:rPr>
              <a:t>circuit</a:t>
            </a:r>
            <a:endParaRPr sz="1800">
              <a:latin typeface="Times New Roman"/>
              <a:cs typeface="Times New Roman"/>
            </a:endParaRPr>
          </a:p>
          <a:p>
            <a:pPr marL="356870">
              <a:lnSpc>
                <a:spcPct val="100000"/>
              </a:lnSpc>
            </a:pPr>
            <a:r>
              <a:rPr sz="1800" spc="-5" dirty="0">
                <a:latin typeface="Times New Roman"/>
                <a:cs typeface="Times New Roman"/>
              </a:rPr>
              <a:t>Combines</a:t>
            </a:r>
            <a:r>
              <a:rPr sz="1800" spc="-85" dirty="0">
                <a:latin typeface="Times New Roman"/>
                <a:cs typeface="Times New Roman"/>
              </a:rPr>
              <a:t> </a:t>
            </a:r>
            <a:r>
              <a:rPr sz="1800" dirty="0">
                <a:latin typeface="Times New Roman"/>
                <a:cs typeface="Times New Roman"/>
              </a:rPr>
              <a:t>combinational</a:t>
            </a:r>
            <a:r>
              <a:rPr sz="1800" spc="-95" dirty="0">
                <a:latin typeface="Times New Roman"/>
                <a:cs typeface="Times New Roman"/>
              </a:rPr>
              <a:t> </a:t>
            </a:r>
            <a:r>
              <a:rPr sz="1800" dirty="0">
                <a:latin typeface="Times New Roman"/>
                <a:cs typeface="Times New Roman"/>
              </a:rPr>
              <a:t>logic</a:t>
            </a:r>
            <a:r>
              <a:rPr sz="1800" spc="-60" dirty="0">
                <a:latin typeface="Times New Roman"/>
                <a:cs typeface="Times New Roman"/>
              </a:rPr>
              <a:t> </a:t>
            </a:r>
            <a:r>
              <a:rPr sz="1800" spc="-10" dirty="0">
                <a:latin typeface="Times New Roman"/>
                <a:cs typeface="Times New Roman"/>
              </a:rPr>
              <a:t>with</a:t>
            </a:r>
            <a:r>
              <a:rPr sz="1800" spc="-60" dirty="0">
                <a:latin typeface="Times New Roman"/>
                <a:cs typeface="Times New Roman"/>
              </a:rPr>
              <a:t> </a:t>
            </a:r>
            <a:r>
              <a:rPr sz="1800" dirty="0">
                <a:latin typeface="Times New Roman"/>
                <a:cs typeface="Times New Roman"/>
              </a:rPr>
              <a:t>storage</a:t>
            </a:r>
            <a:endParaRPr sz="1800">
              <a:latin typeface="Times New Roman"/>
              <a:cs typeface="Times New Roman"/>
            </a:endParaRPr>
          </a:p>
          <a:p>
            <a:pPr marL="356870">
              <a:lnSpc>
                <a:spcPct val="100000"/>
              </a:lnSpc>
              <a:spcBef>
                <a:spcPts val="600"/>
              </a:spcBef>
            </a:pPr>
            <a:r>
              <a:rPr sz="1800" spc="-75" dirty="0">
                <a:latin typeface="Times New Roman"/>
                <a:cs typeface="Times New Roman"/>
              </a:rPr>
              <a:t>―Remembers‖ </a:t>
            </a:r>
            <a:r>
              <a:rPr sz="1800" dirty="0">
                <a:latin typeface="Times New Roman"/>
                <a:cs typeface="Times New Roman"/>
              </a:rPr>
              <a:t>state,</a:t>
            </a:r>
            <a:r>
              <a:rPr sz="1800" spc="-35" dirty="0">
                <a:latin typeface="Times New Roman"/>
                <a:cs typeface="Times New Roman"/>
              </a:rPr>
              <a:t> </a:t>
            </a:r>
            <a:r>
              <a:rPr sz="1800" dirty="0">
                <a:latin typeface="Times New Roman"/>
                <a:cs typeface="Times New Roman"/>
              </a:rPr>
              <a:t>and</a:t>
            </a:r>
            <a:r>
              <a:rPr sz="1800" spc="-10" dirty="0">
                <a:latin typeface="Times New Roman"/>
                <a:cs typeface="Times New Roman"/>
              </a:rPr>
              <a:t> </a:t>
            </a:r>
            <a:r>
              <a:rPr sz="1800" dirty="0">
                <a:latin typeface="Times New Roman"/>
                <a:cs typeface="Times New Roman"/>
              </a:rPr>
              <a:t>changes</a:t>
            </a:r>
            <a:r>
              <a:rPr sz="1800" spc="-75" dirty="0">
                <a:latin typeface="Times New Roman"/>
                <a:cs typeface="Times New Roman"/>
              </a:rPr>
              <a:t> </a:t>
            </a:r>
            <a:r>
              <a:rPr sz="1800" spc="5" dirty="0">
                <a:latin typeface="Times New Roman"/>
                <a:cs typeface="Times New Roman"/>
              </a:rPr>
              <a:t>output</a:t>
            </a:r>
            <a:r>
              <a:rPr sz="1800" spc="-15"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state)</a:t>
            </a:r>
            <a:r>
              <a:rPr sz="1800" spc="-15" dirty="0">
                <a:latin typeface="Times New Roman"/>
                <a:cs typeface="Times New Roman"/>
              </a:rPr>
              <a:t> </a:t>
            </a:r>
            <a:r>
              <a:rPr sz="1800" spc="-5" dirty="0">
                <a:latin typeface="Times New Roman"/>
                <a:cs typeface="Times New Roman"/>
              </a:rPr>
              <a:t>based</a:t>
            </a:r>
            <a:r>
              <a:rPr sz="1800" spc="-60" dirty="0">
                <a:latin typeface="Times New Roman"/>
                <a:cs typeface="Times New Roman"/>
              </a:rPr>
              <a:t> </a:t>
            </a:r>
            <a:r>
              <a:rPr sz="1800" spc="5" dirty="0">
                <a:latin typeface="Times New Roman"/>
                <a:cs typeface="Times New Roman"/>
              </a:rPr>
              <a:t>on</a:t>
            </a:r>
            <a:r>
              <a:rPr sz="1800" spc="-10" dirty="0">
                <a:latin typeface="Times New Roman"/>
                <a:cs typeface="Times New Roman"/>
              </a:rPr>
              <a:t> </a:t>
            </a:r>
            <a:r>
              <a:rPr sz="1800" spc="5" dirty="0">
                <a:solidFill>
                  <a:srgbClr val="009900"/>
                </a:solidFill>
                <a:latin typeface="Times New Roman"/>
                <a:cs typeface="Times New Roman"/>
              </a:rPr>
              <a:t>inputs</a:t>
            </a:r>
            <a:r>
              <a:rPr sz="1800" spc="-50" dirty="0">
                <a:solidFill>
                  <a:srgbClr val="009900"/>
                </a:solidFill>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dirty="0">
                <a:solidFill>
                  <a:srgbClr val="009900"/>
                </a:solidFill>
                <a:latin typeface="Times New Roman"/>
                <a:cs typeface="Times New Roman"/>
              </a:rPr>
              <a:t>current</a:t>
            </a:r>
            <a:r>
              <a:rPr sz="1800" spc="50" dirty="0">
                <a:solidFill>
                  <a:srgbClr val="009900"/>
                </a:solidFill>
                <a:latin typeface="Times New Roman"/>
                <a:cs typeface="Times New Roman"/>
              </a:rPr>
              <a:t> </a:t>
            </a:r>
            <a:r>
              <a:rPr sz="1800" dirty="0">
                <a:solidFill>
                  <a:srgbClr val="009900"/>
                </a:solidFill>
                <a:latin typeface="Times New Roman"/>
                <a:cs typeface="Times New Roman"/>
              </a:rPr>
              <a:t>state</a:t>
            </a:r>
            <a:endParaRPr sz="1800">
              <a:latin typeface="Times New Roman"/>
              <a:cs typeface="Times New Roman"/>
            </a:endParaRPr>
          </a:p>
        </p:txBody>
      </p:sp>
      <p:pic>
        <p:nvPicPr>
          <p:cNvPr id="5" name="object 5"/>
          <p:cNvPicPr/>
          <p:nvPr/>
        </p:nvPicPr>
        <p:blipFill>
          <a:blip r:embed="rId2" cstate="print"/>
          <a:stretch>
            <a:fillRect/>
          </a:stretch>
        </p:blipFill>
        <p:spPr>
          <a:xfrm>
            <a:off x="2209800" y="2209800"/>
            <a:ext cx="4343400" cy="1956816"/>
          </a:xfrm>
          <a:prstGeom prst="rect">
            <a:avLst/>
          </a:prstGeom>
        </p:spPr>
      </p:pic>
      <p:sp>
        <p:nvSpPr>
          <p:cNvPr id="6" name="object 6"/>
          <p:cNvSpPr txBox="1"/>
          <p:nvPr/>
        </p:nvSpPr>
        <p:spPr>
          <a:xfrm>
            <a:off x="78130" y="3807851"/>
            <a:ext cx="8770620" cy="2302510"/>
          </a:xfrm>
          <a:prstGeom prst="rect">
            <a:avLst/>
          </a:prstGeom>
        </p:spPr>
        <p:txBody>
          <a:bodyPr vert="horz" wrap="square" lIns="0" tIns="33020" rIns="0" bIns="0" rtlCol="0">
            <a:spAutoFit/>
          </a:bodyPr>
          <a:lstStyle/>
          <a:p>
            <a:pPr marL="12700">
              <a:lnSpc>
                <a:spcPct val="100000"/>
              </a:lnSpc>
              <a:spcBef>
                <a:spcPts val="260"/>
              </a:spcBef>
            </a:pPr>
            <a:r>
              <a:rPr sz="2400" dirty="0">
                <a:solidFill>
                  <a:srgbClr val="FF0000"/>
                </a:solidFill>
                <a:latin typeface="Times New Roman"/>
                <a:cs typeface="Times New Roman"/>
              </a:rPr>
              <a:t>State</a:t>
            </a:r>
            <a:endParaRPr sz="2400">
              <a:latin typeface="Times New Roman"/>
              <a:cs typeface="Times New Roman"/>
            </a:endParaRPr>
          </a:p>
          <a:p>
            <a:pPr marL="12700">
              <a:lnSpc>
                <a:spcPct val="100000"/>
              </a:lnSpc>
              <a:spcBef>
                <a:spcPts val="120"/>
              </a:spcBef>
            </a:pPr>
            <a:r>
              <a:rPr sz="1800" spc="-5" dirty="0">
                <a:latin typeface="Times New Roman"/>
                <a:cs typeface="Times New Roman"/>
              </a:rPr>
              <a:t>The</a:t>
            </a:r>
            <a:r>
              <a:rPr sz="1800" spc="-25" dirty="0">
                <a:latin typeface="Times New Roman"/>
                <a:cs typeface="Times New Roman"/>
              </a:rPr>
              <a:t> </a:t>
            </a:r>
            <a:r>
              <a:rPr sz="1800" dirty="0">
                <a:latin typeface="Times New Roman"/>
                <a:cs typeface="Times New Roman"/>
              </a:rPr>
              <a:t>state</a:t>
            </a:r>
            <a:r>
              <a:rPr sz="1800" spc="-25" dirty="0">
                <a:latin typeface="Times New Roman"/>
                <a:cs typeface="Times New Roman"/>
              </a:rPr>
              <a:t> </a:t>
            </a:r>
            <a:r>
              <a:rPr sz="1800" spc="5" dirty="0">
                <a:latin typeface="Times New Roman"/>
                <a:cs typeface="Times New Roman"/>
              </a:rPr>
              <a:t>of</a:t>
            </a:r>
            <a:r>
              <a:rPr sz="1800" spc="-15" dirty="0">
                <a:latin typeface="Times New Roman"/>
                <a:cs typeface="Times New Roman"/>
              </a:rPr>
              <a:t> </a:t>
            </a:r>
            <a:r>
              <a:rPr sz="1800" dirty="0">
                <a:latin typeface="Times New Roman"/>
                <a:cs typeface="Times New Roman"/>
              </a:rPr>
              <a:t>a</a:t>
            </a:r>
            <a:r>
              <a:rPr sz="1800" spc="20" dirty="0">
                <a:latin typeface="Times New Roman"/>
                <a:cs typeface="Times New Roman"/>
              </a:rPr>
              <a:t> </a:t>
            </a:r>
            <a:r>
              <a:rPr sz="1800" spc="-10" dirty="0">
                <a:latin typeface="Times New Roman"/>
                <a:cs typeface="Times New Roman"/>
              </a:rPr>
              <a:t>system</a:t>
            </a:r>
            <a:r>
              <a:rPr sz="1800" spc="-35" dirty="0">
                <a:latin typeface="Times New Roman"/>
                <a:cs typeface="Times New Roman"/>
              </a:rPr>
              <a:t> </a:t>
            </a:r>
            <a:r>
              <a:rPr sz="1800" spc="-5" dirty="0">
                <a:latin typeface="Times New Roman"/>
                <a:cs typeface="Times New Roman"/>
              </a:rPr>
              <a:t>is</a:t>
            </a:r>
            <a:r>
              <a:rPr sz="1800" spc="-20" dirty="0">
                <a:latin typeface="Times New Roman"/>
                <a:cs typeface="Times New Roman"/>
              </a:rPr>
              <a:t> </a:t>
            </a:r>
            <a:r>
              <a:rPr sz="1800" dirty="0">
                <a:latin typeface="Times New Roman"/>
                <a:cs typeface="Times New Roman"/>
              </a:rPr>
              <a:t>a snapshot</a:t>
            </a:r>
            <a:r>
              <a:rPr sz="1800" spc="-45" dirty="0">
                <a:latin typeface="Times New Roman"/>
                <a:cs typeface="Times New Roman"/>
              </a:rPr>
              <a:t> </a:t>
            </a:r>
            <a:r>
              <a:rPr sz="1800" spc="5" dirty="0">
                <a:latin typeface="Times New Roman"/>
                <a:cs typeface="Times New Roman"/>
              </a:rPr>
              <a:t>of</a:t>
            </a:r>
            <a:r>
              <a:rPr sz="1800" spc="10" dirty="0">
                <a:latin typeface="Times New Roman"/>
                <a:cs typeface="Times New Roman"/>
              </a:rPr>
              <a:t> </a:t>
            </a:r>
            <a:r>
              <a:rPr sz="1800" dirty="0">
                <a:latin typeface="Times New Roman"/>
                <a:cs typeface="Times New Roman"/>
              </a:rPr>
              <a:t>all</a:t>
            </a:r>
            <a:r>
              <a:rPr sz="1800" spc="-15"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spc="-5" dirty="0">
                <a:latin typeface="Times New Roman"/>
                <a:cs typeface="Times New Roman"/>
              </a:rPr>
              <a:t>relevant</a:t>
            </a:r>
            <a:r>
              <a:rPr sz="1800" spc="-20" dirty="0">
                <a:latin typeface="Times New Roman"/>
                <a:cs typeface="Times New Roman"/>
              </a:rPr>
              <a:t> </a:t>
            </a:r>
            <a:r>
              <a:rPr sz="1800" spc="-5" dirty="0">
                <a:latin typeface="Times New Roman"/>
                <a:cs typeface="Times New Roman"/>
              </a:rPr>
              <a:t>elements</a:t>
            </a:r>
            <a:r>
              <a:rPr sz="1800" spc="-50" dirty="0">
                <a:latin typeface="Times New Roman"/>
                <a:cs typeface="Times New Roman"/>
              </a:rPr>
              <a:t> </a:t>
            </a:r>
            <a:r>
              <a:rPr sz="1800" spc="5" dirty="0">
                <a:latin typeface="Times New Roman"/>
                <a:cs typeface="Times New Roman"/>
              </a:rPr>
              <a:t>of</a:t>
            </a:r>
            <a:r>
              <a:rPr sz="1800" spc="-20"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spc="-10" dirty="0">
                <a:latin typeface="Times New Roman"/>
                <a:cs typeface="Times New Roman"/>
              </a:rPr>
              <a:t>system</a:t>
            </a:r>
            <a:r>
              <a:rPr sz="1800" spc="-35" dirty="0">
                <a:latin typeface="Times New Roman"/>
                <a:cs typeface="Times New Roman"/>
              </a:rPr>
              <a:t> </a:t>
            </a:r>
            <a:r>
              <a:rPr sz="1800" dirty="0">
                <a:latin typeface="Times New Roman"/>
                <a:cs typeface="Times New Roman"/>
              </a:rPr>
              <a:t>at</a:t>
            </a:r>
            <a:r>
              <a:rPr sz="1800" spc="-20" dirty="0">
                <a:latin typeface="Times New Roman"/>
                <a:cs typeface="Times New Roman"/>
              </a:rPr>
              <a:t> </a:t>
            </a:r>
            <a:r>
              <a:rPr sz="1800" dirty="0">
                <a:latin typeface="Times New Roman"/>
                <a:cs typeface="Times New Roman"/>
              </a:rPr>
              <a:t>the </a:t>
            </a:r>
            <a:r>
              <a:rPr sz="1800" spc="-10" dirty="0">
                <a:latin typeface="Times New Roman"/>
                <a:cs typeface="Times New Roman"/>
              </a:rPr>
              <a:t>moment</a:t>
            </a:r>
            <a:r>
              <a:rPr sz="1800" spc="130" dirty="0">
                <a:latin typeface="Times New Roman"/>
                <a:cs typeface="Times New Roman"/>
              </a:rPr>
              <a:t> </a:t>
            </a:r>
            <a:r>
              <a:rPr sz="1800" dirty="0">
                <a:latin typeface="Times New Roman"/>
                <a:cs typeface="Times New Roman"/>
              </a:rPr>
              <a:t>the</a:t>
            </a:r>
            <a:endParaRPr sz="1800">
              <a:latin typeface="Times New Roman"/>
              <a:cs typeface="Times New Roman"/>
            </a:endParaRPr>
          </a:p>
          <a:p>
            <a:pPr marL="12700">
              <a:lnSpc>
                <a:spcPct val="100000"/>
              </a:lnSpc>
            </a:pPr>
            <a:r>
              <a:rPr sz="1800" dirty="0">
                <a:latin typeface="Times New Roman"/>
                <a:cs typeface="Times New Roman"/>
              </a:rPr>
              <a:t>snapshot</a:t>
            </a:r>
            <a:r>
              <a:rPr sz="1800" spc="-80" dirty="0">
                <a:latin typeface="Times New Roman"/>
                <a:cs typeface="Times New Roman"/>
              </a:rPr>
              <a:t> </a:t>
            </a:r>
            <a:r>
              <a:rPr sz="1800" dirty="0">
                <a:latin typeface="Times New Roman"/>
                <a:cs typeface="Times New Roman"/>
              </a:rPr>
              <a:t>is</a:t>
            </a:r>
            <a:r>
              <a:rPr sz="1800" spc="-70" dirty="0">
                <a:latin typeface="Times New Roman"/>
                <a:cs typeface="Times New Roman"/>
              </a:rPr>
              <a:t> </a:t>
            </a:r>
            <a:r>
              <a:rPr sz="1800" spc="-5" dirty="0">
                <a:latin typeface="Times New Roman"/>
                <a:cs typeface="Times New Roman"/>
              </a:rPr>
              <a:t>taken.</a:t>
            </a:r>
            <a:endParaRPr sz="1800">
              <a:latin typeface="Times New Roman"/>
              <a:cs typeface="Times New Roman"/>
            </a:endParaRPr>
          </a:p>
          <a:p>
            <a:pPr marL="12700">
              <a:lnSpc>
                <a:spcPct val="100000"/>
              </a:lnSpc>
              <a:spcBef>
                <a:spcPts val="1080"/>
              </a:spcBef>
            </a:pPr>
            <a:r>
              <a:rPr sz="2400" dirty="0">
                <a:solidFill>
                  <a:srgbClr val="FF0000"/>
                </a:solidFill>
                <a:latin typeface="Times New Roman"/>
                <a:cs typeface="Times New Roman"/>
              </a:rPr>
              <a:t>Examples:</a:t>
            </a:r>
            <a:endParaRPr sz="2400">
              <a:latin typeface="Times New Roman"/>
              <a:cs typeface="Times New Roman"/>
            </a:endParaRPr>
          </a:p>
          <a:p>
            <a:pPr marL="12700">
              <a:lnSpc>
                <a:spcPct val="100000"/>
              </a:lnSpc>
              <a:spcBef>
                <a:spcPts val="5"/>
              </a:spcBef>
            </a:pPr>
            <a:r>
              <a:rPr sz="1800" spc="-5" dirty="0">
                <a:latin typeface="Times New Roman"/>
                <a:cs typeface="Times New Roman"/>
              </a:rPr>
              <a:t>The</a:t>
            </a:r>
            <a:r>
              <a:rPr sz="1800" spc="-55" dirty="0">
                <a:latin typeface="Times New Roman"/>
                <a:cs typeface="Times New Roman"/>
              </a:rPr>
              <a:t> </a:t>
            </a:r>
            <a:r>
              <a:rPr sz="1800" dirty="0">
                <a:latin typeface="Times New Roman"/>
                <a:cs typeface="Times New Roman"/>
              </a:rPr>
              <a:t>state </a:t>
            </a:r>
            <a:r>
              <a:rPr sz="1800" spc="5" dirty="0">
                <a:latin typeface="Times New Roman"/>
                <a:cs typeface="Times New Roman"/>
              </a:rPr>
              <a:t>of</a:t>
            </a:r>
            <a:r>
              <a:rPr sz="1800" spc="-15" dirty="0">
                <a:latin typeface="Times New Roman"/>
                <a:cs typeface="Times New Roman"/>
              </a:rPr>
              <a:t> </a:t>
            </a:r>
            <a:r>
              <a:rPr sz="1800" dirty="0">
                <a:latin typeface="Times New Roman"/>
                <a:cs typeface="Times New Roman"/>
              </a:rPr>
              <a:t>a</a:t>
            </a:r>
            <a:r>
              <a:rPr sz="1800" spc="-20" dirty="0">
                <a:latin typeface="Times New Roman"/>
                <a:cs typeface="Times New Roman"/>
              </a:rPr>
              <a:t> </a:t>
            </a:r>
            <a:r>
              <a:rPr sz="1800" spc="-5" dirty="0">
                <a:latin typeface="Times New Roman"/>
                <a:cs typeface="Times New Roman"/>
              </a:rPr>
              <a:t>basketball</a:t>
            </a:r>
            <a:r>
              <a:rPr sz="1800" spc="-45" dirty="0">
                <a:latin typeface="Times New Roman"/>
                <a:cs typeface="Times New Roman"/>
              </a:rPr>
              <a:t> </a:t>
            </a:r>
            <a:r>
              <a:rPr sz="1800" spc="-35" dirty="0">
                <a:latin typeface="Times New Roman"/>
                <a:cs typeface="Times New Roman"/>
              </a:rPr>
              <a:t>game</a:t>
            </a:r>
            <a:r>
              <a:rPr sz="1800" spc="40" dirty="0">
                <a:latin typeface="Times New Roman"/>
                <a:cs typeface="Times New Roman"/>
              </a:rPr>
              <a:t> </a:t>
            </a:r>
            <a:r>
              <a:rPr sz="1800" spc="-10" dirty="0">
                <a:latin typeface="Times New Roman"/>
                <a:cs typeface="Times New Roman"/>
              </a:rPr>
              <a:t>can</a:t>
            </a:r>
            <a:r>
              <a:rPr sz="1800" spc="-35" dirty="0">
                <a:latin typeface="Times New Roman"/>
                <a:cs typeface="Times New Roman"/>
              </a:rPr>
              <a:t> </a:t>
            </a:r>
            <a:r>
              <a:rPr sz="1800" spc="5" dirty="0">
                <a:latin typeface="Times New Roman"/>
                <a:cs typeface="Times New Roman"/>
              </a:rPr>
              <a:t>be</a:t>
            </a:r>
            <a:r>
              <a:rPr sz="1800" spc="20" dirty="0">
                <a:latin typeface="Times New Roman"/>
                <a:cs typeface="Times New Roman"/>
              </a:rPr>
              <a:t> </a:t>
            </a:r>
            <a:r>
              <a:rPr sz="1800" dirty="0">
                <a:latin typeface="Times New Roman"/>
                <a:cs typeface="Times New Roman"/>
              </a:rPr>
              <a:t>represented</a:t>
            </a:r>
            <a:r>
              <a:rPr sz="1800" spc="-65" dirty="0">
                <a:latin typeface="Times New Roman"/>
                <a:cs typeface="Times New Roman"/>
              </a:rPr>
              <a:t> </a:t>
            </a:r>
            <a:r>
              <a:rPr sz="1800" spc="5" dirty="0">
                <a:latin typeface="Times New Roman"/>
                <a:cs typeface="Times New Roman"/>
              </a:rPr>
              <a:t>by</a:t>
            </a:r>
            <a:r>
              <a:rPr sz="1800" spc="-30" dirty="0">
                <a:latin typeface="Times New Roman"/>
                <a:cs typeface="Times New Roman"/>
              </a:rPr>
              <a:t> </a:t>
            </a:r>
            <a:r>
              <a:rPr sz="1800" spc="5" dirty="0">
                <a:latin typeface="Times New Roman"/>
                <a:cs typeface="Times New Roman"/>
              </a:rPr>
              <a:t>the</a:t>
            </a:r>
            <a:r>
              <a:rPr sz="1800" spc="-10" dirty="0">
                <a:latin typeface="Times New Roman"/>
                <a:cs typeface="Times New Roman"/>
              </a:rPr>
              <a:t> </a:t>
            </a:r>
            <a:r>
              <a:rPr sz="1800" dirty="0">
                <a:latin typeface="Times New Roman"/>
                <a:cs typeface="Times New Roman"/>
              </a:rPr>
              <a:t>scoreboard.</a:t>
            </a:r>
            <a:endParaRPr sz="1800">
              <a:latin typeface="Times New Roman"/>
              <a:cs typeface="Times New Roman"/>
            </a:endParaRPr>
          </a:p>
          <a:p>
            <a:pPr marL="927100">
              <a:lnSpc>
                <a:spcPct val="100000"/>
              </a:lnSpc>
            </a:pPr>
            <a:r>
              <a:rPr sz="1800" spc="-5" dirty="0">
                <a:latin typeface="Times New Roman"/>
                <a:cs typeface="Times New Roman"/>
              </a:rPr>
              <a:t>Number</a:t>
            </a:r>
            <a:r>
              <a:rPr sz="1800" spc="-75" dirty="0">
                <a:latin typeface="Times New Roman"/>
                <a:cs typeface="Times New Roman"/>
              </a:rPr>
              <a:t> </a:t>
            </a:r>
            <a:r>
              <a:rPr sz="1800" spc="5" dirty="0">
                <a:latin typeface="Times New Roman"/>
                <a:cs typeface="Times New Roman"/>
              </a:rPr>
              <a:t>of </a:t>
            </a:r>
            <a:r>
              <a:rPr sz="1800" dirty="0">
                <a:latin typeface="Times New Roman"/>
                <a:cs typeface="Times New Roman"/>
              </a:rPr>
              <a:t>points,</a:t>
            </a:r>
            <a:r>
              <a:rPr sz="1800" spc="-70" dirty="0">
                <a:latin typeface="Times New Roman"/>
                <a:cs typeface="Times New Roman"/>
              </a:rPr>
              <a:t> </a:t>
            </a:r>
            <a:r>
              <a:rPr sz="1800" spc="-10" dirty="0">
                <a:latin typeface="Times New Roman"/>
                <a:cs typeface="Times New Roman"/>
              </a:rPr>
              <a:t>time</a:t>
            </a:r>
            <a:r>
              <a:rPr sz="1800" spc="-25" dirty="0">
                <a:latin typeface="Times New Roman"/>
                <a:cs typeface="Times New Roman"/>
              </a:rPr>
              <a:t> </a:t>
            </a:r>
            <a:r>
              <a:rPr sz="1800" spc="-5" dirty="0">
                <a:latin typeface="Times New Roman"/>
                <a:cs typeface="Times New Roman"/>
              </a:rPr>
              <a:t>remaining,</a:t>
            </a:r>
            <a:r>
              <a:rPr sz="1800" spc="-30" dirty="0">
                <a:latin typeface="Times New Roman"/>
                <a:cs typeface="Times New Roman"/>
              </a:rPr>
              <a:t> </a:t>
            </a:r>
            <a:r>
              <a:rPr sz="1800" dirty="0">
                <a:latin typeface="Times New Roman"/>
                <a:cs typeface="Times New Roman"/>
              </a:rPr>
              <a:t>possession,</a:t>
            </a:r>
            <a:r>
              <a:rPr sz="1800" spc="-50" dirty="0">
                <a:latin typeface="Times New Roman"/>
                <a:cs typeface="Times New Roman"/>
              </a:rPr>
              <a:t> </a:t>
            </a:r>
            <a:r>
              <a:rPr sz="1800" dirty="0">
                <a:latin typeface="Times New Roman"/>
                <a:cs typeface="Times New Roman"/>
              </a:rPr>
              <a:t>etc.</a:t>
            </a:r>
            <a:endParaRPr sz="1800">
              <a:latin typeface="Times New Roman"/>
              <a:cs typeface="Times New Roman"/>
            </a:endParaRPr>
          </a:p>
          <a:p>
            <a:pPr marL="12700">
              <a:lnSpc>
                <a:spcPct val="100000"/>
              </a:lnSpc>
            </a:pPr>
            <a:r>
              <a:rPr sz="1800" spc="-5" dirty="0">
                <a:latin typeface="Times New Roman"/>
                <a:cs typeface="Times New Roman"/>
              </a:rPr>
              <a:t>The</a:t>
            </a:r>
            <a:r>
              <a:rPr sz="1800" spc="-55" dirty="0">
                <a:latin typeface="Times New Roman"/>
                <a:cs typeface="Times New Roman"/>
              </a:rPr>
              <a:t> </a:t>
            </a:r>
            <a:r>
              <a:rPr sz="1800" dirty="0">
                <a:latin typeface="Times New Roman"/>
                <a:cs typeface="Times New Roman"/>
              </a:rPr>
              <a:t>state</a:t>
            </a:r>
            <a:r>
              <a:rPr sz="1800" spc="5" dirty="0">
                <a:latin typeface="Times New Roman"/>
                <a:cs typeface="Times New Roman"/>
              </a:rPr>
              <a:t> of</a:t>
            </a:r>
            <a:r>
              <a:rPr sz="1800" spc="-20" dirty="0">
                <a:latin typeface="Times New Roman"/>
                <a:cs typeface="Times New Roman"/>
              </a:rPr>
              <a:t> </a:t>
            </a:r>
            <a:r>
              <a:rPr sz="1800" dirty="0">
                <a:latin typeface="Times New Roman"/>
                <a:cs typeface="Times New Roman"/>
              </a:rPr>
              <a:t>a</a:t>
            </a:r>
            <a:r>
              <a:rPr sz="1800" spc="5" dirty="0">
                <a:latin typeface="Times New Roman"/>
                <a:cs typeface="Times New Roman"/>
              </a:rPr>
              <a:t> </a:t>
            </a:r>
            <a:r>
              <a:rPr sz="1800" spc="-5" dirty="0">
                <a:latin typeface="Times New Roman"/>
                <a:cs typeface="Times New Roman"/>
              </a:rPr>
              <a:t>tic-tac-toe </a:t>
            </a:r>
            <a:r>
              <a:rPr sz="1800" spc="-35" dirty="0">
                <a:latin typeface="Times New Roman"/>
                <a:cs typeface="Times New Roman"/>
              </a:rPr>
              <a:t>game</a:t>
            </a:r>
            <a:r>
              <a:rPr sz="1800" spc="45" dirty="0">
                <a:latin typeface="Times New Roman"/>
                <a:cs typeface="Times New Roman"/>
              </a:rPr>
              <a:t> </a:t>
            </a:r>
            <a:r>
              <a:rPr sz="1800" spc="-10" dirty="0">
                <a:latin typeface="Times New Roman"/>
                <a:cs typeface="Times New Roman"/>
              </a:rPr>
              <a:t>can</a:t>
            </a:r>
            <a:r>
              <a:rPr sz="1800" spc="-15" dirty="0">
                <a:latin typeface="Times New Roman"/>
                <a:cs typeface="Times New Roman"/>
              </a:rPr>
              <a:t> </a:t>
            </a:r>
            <a:r>
              <a:rPr sz="1800" spc="5" dirty="0">
                <a:latin typeface="Times New Roman"/>
                <a:cs typeface="Times New Roman"/>
              </a:rPr>
              <a:t>be</a:t>
            </a:r>
            <a:r>
              <a:rPr sz="1800" dirty="0">
                <a:latin typeface="Times New Roman"/>
                <a:cs typeface="Times New Roman"/>
              </a:rPr>
              <a:t> represented</a:t>
            </a:r>
            <a:r>
              <a:rPr sz="1800" spc="-65" dirty="0">
                <a:latin typeface="Times New Roman"/>
                <a:cs typeface="Times New Roman"/>
              </a:rPr>
              <a:t> </a:t>
            </a:r>
            <a:r>
              <a:rPr sz="1800" spc="5" dirty="0">
                <a:latin typeface="Times New Roman"/>
                <a:cs typeface="Times New Roman"/>
              </a:rPr>
              <a:t>by</a:t>
            </a:r>
            <a:r>
              <a:rPr sz="1800" spc="-5" dirty="0">
                <a:latin typeface="Times New Roman"/>
                <a:cs typeface="Times New Roman"/>
              </a:rPr>
              <a:t> </a:t>
            </a:r>
            <a:r>
              <a:rPr sz="1800" spc="5" dirty="0">
                <a:latin typeface="Times New Roman"/>
                <a:cs typeface="Times New Roman"/>
              </a:rPr>
              <a:t>the</a:t>
            </a:r>
            <a:r>
              <a:rPr sz="1800" spc="-30" dirty="0">
                <a:latin typeface="Times New Roman"/>
                <a:cs typeface="Times New Roman"/>
              </a:rPr>
              <a:t> </a:t>
            </a:r>
            <a:r>
              <a:rPr sz="1800" spc="-5" dirty="0">
                <a:latin typeface="Times New Roman"/>
                <a:cs typeface="Times New Roman"/>
              </a:rPr>
              <a:t>placement</a:t>
            </a:r>
            <a:r>
              <a:rPr sz="1800" spc="-75" dirty="0">
                <a:latin typeface="Times New Roman"/>
                <a:cs typeface="Times New Roman"/>
              </a:rPr>
              <a:t> </a:t>
            </a:r>
            <a:r>
              <a:rPr sz="1800" spc="5" dirty="0">
                <a:latin typeface="Times New Roman"/>
                <a:cs typeface="Times New Roman"/>
              </a:rPr>
              <a:t>of</a:t>
            </a:r>
            <a:r>
              <a:rPr sz="1800" spc="-15" dirty="0">
                <a:latin typeface="Times New Roman"/>
                <a:cs typeface="Times New Roman"/>
              </a:rPr>
              <a:t> </a:t>
            </a:r>
            <a:r>
              <a:rPr sz="1800" spc="-45" dirty="0">
                <a:latin typeface="Times New Roman"/>
                <a:cs typeface="Times New Roman"/>
              </a:rPr>
              <a:t>X’s</a:t>
            </a:r>
            <a:r>
              <a:rPr sz="1800" spc="-100"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spc="-50" dirty="0">
                <a:latin typeface="Times New Roman"/>
                <a:cs typeface="Times New Roman"/>
              </a:rPr>
              <a:t>O’s</a:t>
            </a:r>
            <a:r>
              <a:rPr sz="1800" spc="-80" dirty="0">
                <a:latin typeface="Times New Roman"/>
                <a:cs typeface="Times New Roman"/>
              </a:rPr>
              <a:t> </a:t>
            </a:r>
            <a:r>
              <a:rPr sz="1800" spc="5" dirty="0">
                <a:latin typeface="Times New Roman"/>
                <a:cs typeface="Times New Roman"/>
              </a:rPr>
              <a:t>on</a:t>
            </a:r>
            <a:r>
              <a:rPr sz="1800" spc="-30" dirty="0">
                <a:latin typeface="Times New Roman"/>
                <a:cs typeface="Times New Roman"/>
              </a:rPr>
              <a:t> </a:t>
            </a:r>
            <a:r>
              <a:rPr sz="1800" spc="5" dirty="0">
                <a:latin typeface="Times New Roman"/>
                <a:cs typeface="Times New Roman"/>
              </a:rPr>
              <a:t>the</a:t>
            </a:r>
            <a:r>
              <a:rPr sz="1800" spc="140" dirty="0">
                <a:latin typeface="Times New Roman"/>
                <a:cs typeface="Times New Roman"/>
              </a:rPr>
              <a:t> </a:t>
            </a:r>
            <a:r>
              <a:rPr sz="1800" dirty="0">
                <a:latin typeface="Times New Roman"/>
                <a:cs typeface="Times New Roman"/>
              </a:rPr>
              <a:t>board.</a:t>
            </a:r>
            <a:endParaRPr sz="1800">
              <a:latin typeface="Times New Roman"/>
              <a:cs typeface="Times New Roman"/>
            </a:endParaRPr>
          </a:p>
        </p:txBody>
      </p:sp>
      <p:sp>
        <p:nvSpPr>
          <p:cNvPr id="7" name="object 7"/>
          <p:cNvSpPr txBox="1">
            <a:spLocks noGrp="1"/>
          </p:cNvSpPr>
          <p:nvPr>
            <p:ph type="sldNum" sz="quarter" idx="4294967295"/>
          </p:nvPr>
        </p:nvSpPr>
        <p:spPr>
          <a:xfrm>
            <a:off x="8304021" y="6410197"/>
            <a:ext cx="424815" cy="254000"/>
          </a:xfrm>
          <a:prstGeom prst="rect">
            <a:avLst/>
          </a:prstGeom>
        </p:spPr>
        <p:txBody>
          <a:bodyPr vert="horz" wrap="square" lIns="0" tIns="0" rIns="0" bIns="0" rtlCol="0">
            <a:spAutoFit/>
          </a:bodyPr>
          <a:lstStyle/>
          <a:p>
            <a:pPr marL="38100">
              <a:lnSpc>
                <a:spcPts val="1810"/>
              </a:lnSpc>
            </a:pPr>
            <a:fld id="{81D60167-4931-47E6-BA6A-407CBD079E47}" type="slidenum">
              <a:rPr dirty="0"/>
              <a:t>1</a:t>
            </a:fld>
            <a:endParaRPr dirty="0"/>
          </a:p>
        </p:txBody>
      </p:sp>
    </p:spTree>
    <p:extLst>
      <p:ext uri="{BB962C8B-B14F-4D97-AF65-F5344CB8AC3E}">
        <p14:creationId xmlns:p14="http://schemas.microsoft.com/office/powerpoint/2010/main" val="3781529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43885" y="154889"/>
            <a:ext cx="3850640" cy="574675"/>
          </a:xfrm>
          <a:prstGeom prst="rect">
            <a:avLst/>
          </a:prstGeom>
        </p:spPr>
        <p:txBody>
          <a:bodyPr vert="horz" wrap="square" lIns="0" tIns="12700" rIns="0" bIns="0" rtlCol="0">
            <a:spAutoFit/>
          </a:bodyPr>
          <a:lstStyle/>
          <a:p>
            <a:pPr marL="12700">
              <a:lnSpc>
                <a:spcPct val="100000"/>
              </a:lnSpc>
              <a:spcBef>
                <a:spcPts val="100"/>
              </a:spcBef>
            </a:pPr>
            <a:r>
              <a:rPr sz="3600" spc="-155" dirty="0"/>
              <a:t>S</a:t>
            </a:r>
            <a:r>
              <a:rPr sz="3600" spc="-135" dirty="0"/>
              <a:t>T</a:t>
            </a:r>
            <a:r>
              <a:rPr sz="3600" spc="-155" dirty="0"/>
              <a:t>A</a:t>
            </a:r>
            <a:r>
              <a:rPr sz="3600" spc="-135" dirty="0"/>
              <a:t>T</a:t>
            </a:r>
            <a:r>
              <a:rPr sz="3600" dirty="0"/>
              <a:t>E</a:t>
            </a:r>
            <a:r>
              <a:rPr sz="3600" spc="-204" dirty="0"/>
              <a:t> </a:t>
            </a:r>
            <a:r>
              <a:rPr sz="3600" dirty="0"/>
              <a:t>M</a:t>
            </a:r>
            <a:r>
              <a:rPr sz="3600" spc="-15" dirty="0"/>
              <a:t>A</a:t>
            </a:r>
            <a:r>
              <a:rPr sz="3600" dirty="0"/>
              <a:t>CHI</a:t>
            </a:r>
            <a:r>
              <a:rPr sz="3600" spc="-15" dirty="0"/>
              <a:t>N</a:t>
            </a:r>
            <a:r>
              <a:rPr sz="3600" dirty="0"/>
              <a:t>ES</a:t>
            </a:r>
            <a:endParaRPr sz="3600"/>
          </a:p>
        </p:txBody>
      </p:sp>
      <p:sp>
        <p:nvSpPr>
          <p:cNvPr id="4" name="object 4"/>
          <p:cNvSpPr txBox="1"/>
          <p:nvPr/>
        </p:nvSpPr>
        <p:spPr>
          <a:xfrm>
            <a:off x="78130" y="76657"/>
            <a:ext cx="2804795" cy="271145"/>
          </a:xfrm>
          <a:prstGeom prst="rect">
            <a:avLst/>
          </a:prstGeom>
        </p:spPr>
        <p:txBody>
          <a:bodyPr vert="horz" wrap="square" lIns="0" tIns="13970" rIns="0" bIns="0" rtlCol="0">
            <a:spAutoFit/>
          </a:bodyPr>
          <a:lstStyle/>
          <a:p>
            <a:pPr marL="12700">
              <a:lnSpc>
                <a:spcPct val="100000"/>
              </a:lnSpc>
              <a:spcBef>
                <a:spcPts val="110"/>
              </a:spcBef>
            </a:pPr>
            <a:r>
              <a:rPr sz="1600" b="1" dirty="0">
                <a:latin typeface="Times New Roman"/>
                <a:cs typeface="Times New Roman"/>
              </a:rPr>
              <a:t>S</a:t>
            </a:r>
            <a:r>
              <a:rPr sz="1600" b="1" spc="-10" dirty="0">
                <a:latin typeface="Times New Roman"/>
                <a:cs typeface="Times New Roman"/>
              </a:rPr>
              <a:t>t</a:t>
            </a:r>
            <a:r>
              <a:rPr sz="1600" b="1" spc="15" dirty="0">
                <a:latin typeface="Times New Roman"/>
                <a:cs typeface="Times New Roman"/>
              </a:rPr>
              <a:t>a</a:t>
            </a:r>
            <a:r>
              <a:rPr sz="1600" b="1" spc="-10" dirty="0">
                <a:latin typeface="Times New Roman"/>
                <a:cs typeface="Times New Roman"/>
              </a:rPr>
              <a:t>t</a:t>
            </a:r>
            <a:r>
              <a:rPr sz="1600" b="1" dirty="0">
                <a:latin typeface="Times New Roman"/>
                <a:cs typeface="Times New Roman"/>
              </a:rPr>
              <a:t>e</a:t>
            </a:r>
            <a:r>
              <a:rPr sz="1600" b="1" spc="-90" dirty="0">
                <a:latin typeface="Times New Roman"/>
                <a:cs typeface="Times New Roman"/>
              </a:rPr>
              <a:t> </a:t>
            </a:r>
            <a:r>
              <a:rPr sz="1600" b="1" spc="-155" dirty="0">
                <a:latin typeface="Times New Roman"/>
                <a:cs typeface="Times New Roman"/>
              </a:rPr>
              <a:t>T</a:t>
            </a:r>
            <a:r>
              <a:rPr sz="1600" b="1" spc="-10" dirty="0">
                <a:latin typeface="Times New Roman"/>
                <a:cs typeface="Times New Roman"/>
              </a:rPr>
              <a:t>a</a:t>
            </a:r>
            <a:r>
              <a:rPr sz="1600" b="1" spc="-25" dirty="0">
                <a:latin typeface="Times New Roman"/>
                <a:cs typeface="Times New Roman"/>
              </a:rPr>
              <a:t>b</a:t>
            </a:r>
            <a:r>
              <a:rPr sz="1600" b="1" spc="-20" dirty="0">
                <a:latin typeface="Times New Roman"/>
                <a:cs typeface="Times New Roman"/>
              </a:rPr>
              <a:t>le</a:t>
            </a:r>
            <a:r>
              <a:rPr sz="1600" b="1" dirty="0">
                <a:latin typeface="Times New Roman"/>
                <a:cs typeface="Times New Roman"/>
              </a:rPr>
              <a:t>s</a:t>
            </a:r>
            <a:r>
              <a:rPr sz="1600" b="1" spc="-75" dirty="0">
                <a:latin typeface="Times New Roman"/>
                <a:cs typeface="Times New Roman"/>
              </a:rPr>
              <a:t> </a:t>
            </a:r>
            <a:r>
              <a:rPr sz="1600" b="1" spc="15" dirty="0">
                <a:latin typeface="Times New Roman"/>
                <a:cs typeface="Times New Roman"/>
              </a:rPr>
              <a:t>a</a:t>
            </a:r>
            <a:r>
              <a:rPr sz="1600" b="1" dirty="0">
                <a:latin typeface="Times New Roman"/>
                <a:cs typeface="Times New Roman"/>
              </a:rPr>
              <a:t>n</a:t>
            </a:r>
            <a:r>
              <a:rPr sz="1600" b="1" spc="5" dirty="0">
                <a:latin typeface="Times New Roman"/>
                <a:cs typeface="Times New Roman"/>
              </a:rPr>
              <a:t>d</a:t>
            </a:r>
            <a:r>
              <a:rPr sz="1600" b="1" spc="-30" dirty="0">
                <a:latin typeface="Times New Roman"/>
                <a:cs typeface="Times New Roman"/>
              </a:rPr>
              <a:t> </a:t>
            </a:r>
            <a:r>
              <a:rPr sz="1600" b="1" dirty="0">
                <a:latin typeface="Times New Roman"/>
                <a:cs typeface="Times New Roman"/>
              </a:rPr>
              <a:t>S</a:t>
            </a:r>
            <a:r>
              <a:rPr sz="1600" b="1" spc="-10" dirty="0">
                <a:latin typeface="Times New Roman"/>
                <a:cs typeface="Times New Roman"/>
              </a:rPr>
              <a:t>t</a:t>
            </a:r>
            <a:r>
              <a:rPr sz="1600" b="1" spc="15" dirty="0">
                <a:latin typeface="Times New Roman"/>
                <a:cs typeface="Times New Roman"/>
              </a:rPr>
              <a:t>a</a:t>
            </a:r>
            <a:r>
              <a:rPr sz="1600" b="1" spc="-10" dirty="0">
                <a:latin typeface="Times New Roman"/>
                <a:cs typeface="Times New Roman"/>
              </a:rPr>
              <a:t>t</a:t>
            </a:r>
            <a:r>
              <a:rPr sz="1600" b="1" dirty="0">
                <a:latin typeface="Times New Roman"/>
                <a:cs typeface="Times New Roman"/>
              </a:rPr>
              <a:t>e</a:t>
            </a:r>
            <a:r>
              <a:rPr sz="1600" b="1" spc="-140" dirty="0">
                <a:latin typeface="Times New Roman"/>
                <a:cs typeface="Times New Roman"/>
              </a:rPr>
              <a:t> </a:t>
            </a:r>
            <a:r>
              <a:rPr sz="1600" b="1" spc="-5" dirty="0">
                <a:latin typeface="Times New Roman"/>
                <a:cs typeface="Times New Roman"/>
              </a:rPr>
              <a:t>D</a:t>
            </a:r>
            <a:r>
              <a:rPr sz="1600" b="1" spc="5" dirty="0">
                <a:latin typeface="Times New Roman"/>
                <a:cs typeface="Times New Roman"/>
              </a:rPr>
              <a:t>i</a:t>
            </a:r>
            <a:r>
              <a:rPr sz="1600" b="1" spc="15" dirty="0">
                <a:latin typeface="Times New Roman"/>
                <a:cs typeface="Times New Roman"/>
              </a:rPr>
              <a:t>ag</a:t>
            </a:r>
            <a:r>
              <a:rPr sz="1600" b="1" spc="5" dirty="0">
                <a:latin typeface="Times New Roman"/>
                <a:cs typeface="Times New Roman"/>
              </a:rPr>
              <a:t>r</a:t>
            </a:r>
            <a:r>
              <a:rPr sz="1600" b="1" spc="15" dirty="0">
                <a:latin typeface="Times New Roman"/>
                <a:cs typeface="Times New Roman"/>
              </a:rPr>
              <a:t>a</a:t>
            </a:r>
            <a:r>
              <a:rPr sz="1600" b="1" spc="-40" dirty="0">
                <a:latin typeface="Times New Roman"/>
                <a:cs typeface="Times New Roman"/>
              </a:rPr>
              <a:t>m</a:t>
            </a:r>
            <a:r>
              <a:rPr sz="1600" b="1" dirty="0">
                <a:latin typeface="Times New Roman"/>
                <a:cs typeface="Times New Roman"/>
              </a:rPr>
              <a:t>s</a:t>
            </a:r>
            <a:endParaRPr sz="1600">
              <a:latin typeface="Times New Roman"/>
              <a:cs typeface="Times New Roman"/>
            </a:endParaRPr>
          </a:p>
        </p:txBody>
      </p:sp>
      <p:sp>
        <p:nvSpPr>
          <p:cNvPr id="5" name="object 5"/>
          <p:cNvSpPr txBox="1"/>
          <p:nvPr/>
        </p:nvSpPr>
        <p:spPr>
          <a:xfrm>
            <a:off x="307035" y="985393"/>
            <a:ext cx="8625205" cy="3428365"/>
          </a:xfrm>
          <a:prstGeom prst="rect">
            <a:avLst/>
          </a:prstGeom>
        </p:spPr>
        <p:txBody>
          <a:bodyPr vert="horz" wrap="square" lIns="0" tIns="33020" rIns="0" bIns="0" rtlCol="0">
            <a:spAutoFit/>
          </a:bodyPr>
          <a:lstStyle/>
          <a:p>
            <a:pPr marL="12700" algn="just">
              <a:lnSpc>
                <a:spcPct val="100000"/>
              </a:lnSpc>
              <a:spcBef>
                <a:spcPts val="260"/>
              </a:spcBef>
            </a:pPr>
            <a:r>
              <a:rPr sz="2400" spc="-95" dirty="0">
                <a:solidFill>
                  <a:srgbClr val="FF0000"/>
                </a:solidFill>
                <a:latin typeface="Times New Roman"/>
                <a:cs typeface="Times New Roman"/>
              </a:rPr>
              <a:t>S</a:t>
            </a:r>
            <a:r>
              <a:rPr sz="2400" spc="-295" dirty="0">
                <a:solidFill>
                  <a:srgbClr val="FF0000"/>
                </a:solidFill>
                <a:latin typeface="Times New Roman"/>
                <a:cs typeface="Times New Roman"/>
              </a:rPr>
              <a:t>T</a:t>
            </a:r>
            <a:r>
              <a:rPr sz="2400" spc="-370" dirty="0">
                <a:solidFill>
                  <a:srgbClr val="FF0000"/>
                </a:solidFill>
                <a:latin typeface="Times New Roman"/>
                <a:cs typeface="Times New Roman"/>
              </a:rPr>
              <a:t>A</a:t>
            </a:r>
            <a:r>
              <a:rPr sz="2400" spc="-100" dirty="0">
                <a:solidFill>
                  <a:srgbClr val="FF0000"/>
                </a:solidFill>
                <a:latin typeface="Times New Roman"/>
                <a:cs typeface="Times New Roman"/>
              </a:rPr>
              <a:t>T</a:t>
            </a:r>
            <a:r>
              <a:rPr sz="2400" dirty="0">
                <a:solidFill>
                  <a:srgbClr val="FF0000"/>
                </a:solidFill>
                <a:latin typeface="Times New Roman"/>
                <a:cs typeface="Times New Roman"/>
              </a:rPr>
              <a:t>E</a:t>
            </a:r>
            <a:r>
              <a:rPr sz="2400" spc="-265" dirty="0">
                <a:solidFill>
                  <a:srgbClr val="FF0000"/>
                </a:solidFill>
                <a:latin typeface="Times New Roman"/>
                <a:cs typeface="Times New Roman"/>
              </a:rPr>
              <a:t> </a:t>
            </a:r>
            <a:r>
              <a:rPr sz="2400" spc="-245" dirty="0">
                <a:solidFill>
                  <a:srgbClr val="FF0000"/>
                </a:solidFill>
                <a:latin typeface="Times New Roman"/>
                <a:cs typeface="Times New Roman"/>
              </a:rPr>
              <a:t>T</a:t>
            </a:r>
            <a:r>
              <a:rPr sz="2400" spc="-60" dirty="0">
                <a:solidFill>
                  <a:srgbClr val="FF0000"/>
                </a:solidFill>
                <a:latin typeface="Times New Roman"/>
                <a:cs typeface="Times New Roman"/>
              </a:rPr>
              <a:t>A</a:t>
            </a:r>
            <a:r>
              <a:rPr sz="2400" spc="-65" dirty="0">
                <a:solidFill>
                  <a:srgbClr val="FF0000"/>
                </a:solidFill>
                <a:latin typeface="Times New Roman"/>
                <a:cs typeface="Times New Roman"/>
              </a:rPr>
              <a:t>B</a:t>
            </a:r>
            <a:r>
              <a:rPr sz="2400" spc="-100" dirty="0">
                <a:solidFill>
                  <a:srgbClr val="FF0000"/>
                </a:solidFill>
                <a:latin typeface="Times New Roman"/>
                <a:cs typeface="Times New Roman"/>
              </a:rPr>
              <a:t>L</a:t>
            </a:r>
            <a:r>
              <a:rPr sz="2400" spc="-55" dirty="0">
                <a:solidFill>
                  <a:srgbClr val="FF0000"/>
                </a:solidFill>
                <a:latin typeface="Times New Roman"/>
                <a:cs typeface="Times New Roman"/>
              </a:rPr>
              <a:t>E</a:t>
            </a:r>
            <a:r>
              <a:rPr sz="2400" spc="-5" dirty="0">
                <a:solidFill>
                  <a:srgbClr val="FF0000"/>
                </a:solidFill>
                <a:latin typeface="Times New Roman"/>
                <a:cs typeface="Times New Roman"/>
              </a:rPr>
              <a:t>S</a:t>
            </a:r>
            <a:r>
              <a:rPr sz="2400" spc="-135" dirty="0">
                <a:solidFill>
                  <a:srgbClr val="FF0000"/>
                </a:solidFill>
                <a:latin typeface="Times New Roman"/>
                <a:cs typeface="Times New Roman"/>
              </a:rPr>
              <a:t> </a:t>
            </a:r>
            <a:r>
              <a:rPr sz="2400" spc="-10" dirty="0">
                <a:solidFill>
                  <a:srgbClr val="FF0000"/>
                </a:solidFill>
                <a:latin typeface="Times New Roman"/>
                <a:cs typeface="Times New Roman"/>
              </a:rPr>
              <a:t>AN</a:t>
            </a:r>
            <a:r>
              <a:rPr sz="2400" spc="-5" dirty="0">
                <a:solidFill>
                  <a:srgbClr val="FF0000"/>
                </a:solidFill>
                <a:latin typeface="Times New Roman"/>
                <a:cs typeface="Times New Roman"/>
              </a:rPr>
              <a:t>D</a:t>
            </a:r>
            <a:r>
              <a:rPr sz="2400" spc="20" dirty="0">
                <a:solidFill>
                  <a:srgbClr val="FF0000"/>
                </a:solidFill>
                <a:latin typeface="Times New Roman"/>
                <a:cs typeface="Times New Roman"/>
              </a:rPr>
              <a:t> </a:t>
            </a:r>
            <a:r>
              <a:rPr sz="2400" spc="-95" dirty="0">
                <a:solidFill>
                  <a:srgbClr val="FF0000"/>
                </a:solidFill>
                <a:latin typeface="Times New Roman"/>
                <a:cs typeface="Times New Roman"/>
              </a:rPr>
              <a:t>S</a:t>
            </a:r>
            <a:r>
              <a:rPr sz="2400" spc="-295" dirty="0">
                <a:solidFill>
                  <a:srgbClr val="FF0000"/>
                </a:solidFill>
                <a:latin typeface="Times New Roman"/>
                <a:cs typeface="Times New Roman"/>
              </a:rPr>
              <a:t>T</a:t>
            </a:r>
            <a:r>
              <a:rPr sz="2400" spc="-370" dirty="0">
                <a:solidFill>
                  <a:srgbClr val="FF0000"/>
                </a:solidFill>
                <a:latin typeface="Times New Roman"/>
                <a:cs typeface="Times New Roman"/>
              </a:rPr>
              <a:t>A</a:t>
            </a:r>
            <a:r>
              <a:rPr sz="2400" spc="-100" dirty="0">
                <a:solidFill>
                  <a:srgbClr val="FF0000"/>
                </a:solidFill>
                <a:latin typeface="Times New Roman"/>
                <a:cs typeface="Times New Roman"/>
              </a:rPr>
              <a:t>T</a:t>
            </a:r>
            <a:r>
              <a:rPr sz="2400" dirty="0">
                <a:solidFill>
                  <a:srgbClr val="FF0000"/>
                </a:solidFill>
                <a:latin typeface="Times New Roman"/>
                <a:cs typeface="Times New Roman"/>
              </a:rPr>
              <a:t>E</a:t>
            </a:r>
            <a:r>
              <a:rPr sz="2400" spc="-75" dirty="0">
                <a:solidFill>
                  <a:srgbClr val="FF0000"/>
                </a:solidFill>
                <a:latin typeface="Times New Roman"/>
                <a:cs typeface="Times New Roman"/>
              </a:rPr>
              <a:t> </a:t>
            </a:r>
            <a:r>
              <a:rPr sz="2400" spc="-5" dirty="0">
                <a:solidFill>
                  <a:srgbClr val="FF0000"/>
                </a:solidFill>
                <a:latin typeface="Times New Roman"/>
                <a:cs typeface="Times New Roman"/>
              </a:rPr>
              <a:t>D</a:t>
            </a:r>
            <a:r>
              <a:rPr sz="2400" spc="-65" dirty="0">
                <a:solidFill>
                  <a:srgbClr val="FF0000"/>
                </a:solidFill>
                <a:latin typeface="Times New Roman"/>
                <a:cs typeface="Times New Roman"/>
              </a:rPr>
              <a:t>I</a:t>
            </a:r>
            <a:r>
              <a:rPr sz="2400" spc="-5" dirty="0">
                <a:solidFill>
                  <a:srgbClr val="FF0000"/>
                </a:solidFill>
                <a:latin typeface="Times New Roman"/>
                <a:cs typeface="Times New Roman"/>
              </a:rPr>
              <a:t>A</a:t>
            </a:r>
            <a:r>
              <a:rPr sz="2400" spc="-15" dirty="0">
                <a:solidFill>
                  <a:srgbClr val="FF0000"/>
                </a:solidFill>
                <a:latin typeface="Times New Roman"/>
                <a:cs typeface="Times New Roman"/>
              </a:rPr>
              <a:t>G</a:t>
            </a:r>
            <a:r>
              <a:rPr sz="2400" dirty="0">
                <a:solidFill>
                  <a:srgbClr val="FF0000"/>
                </a:solidFill>
                <a:latin typeface="Times New Roman"/>
                <a:cs typeface="Times New Roman"/>
              </a:rPr>
              <a:t>R</a:t>
            </a:r>
            <a:r>
              <a:rPr sz="2400" spc="-5" dirty="0">
                <a:solidFill>
                  <a:srgbClr val="FF0000"/>
                </a:solidFill>
                <a:latin typeface="Times New Roman"/>
                <a:cs typeface="Times New Roman"/>
              </a:rPr>
              <a:t>AMS</a:t>
            </a:r>
            <a:endParaRPr sz="2400">
              <a:latin typeface="Times New Roman"/>
              <a:cs typeface="Times New Roman"/>
            </a:endParaRPr>
          </a:p>
          <a:p>
            <a:pPr marL="88900" marR="5080" algn="just">
              <a:lnSpc>
                <a:spcPct val="100000"/>
              </a:lnSpc>
              <a:spcBef>
                <a:spcPts val="125"/>
              </a:spcBef>
            </a:pPr>
            <a:r>
              <a:rPr sz="1800" dirty="0">
                <a:latin typeface="Times New Roman"/>
                <a:cs typeface="Times New Roman"/>
              </a:rPr>
              <a:t>In </a:t>
            </a:r>
            <a:r>
              <a:rPr sz="1800" spc="-5" dirty="0">
                <a:latin typeface="Times New Roman"/>
                <a:cs typeface="Times New Roman"/>
              </a:rPr>
              <a:t>this </a:t>
            </a:r>
            <a:r>
              <a:rPr sz="1800" spc="-15" dirty="0">
                <a:latin typeface="Times New Roman"/>
                <a:cs typeface="Times New Roman"/>
              </a:rPr>
              <a:t>model </a:t>
            </a:r>
            <a:r>
              <a:rPr sz="1800" spc="-5" dirty="0">
                <a:latin typeface="Times New Roman"/>
                <a:cs typeface="Times New Roman"/>
              </a:rPr>
              <a:t>the </a:t>
            </a:r>
            <a:r>
              <a:rPr sz="1800" spc="-30" dirty="0">
                <a:latin typeface="Times New Roman"/>
                <a:cs typeface="Times New Roman"/>
              </a:rPr>
              <a:t>effect </a:t>
            </a:r>
            <a:r>
              <a:rPr sz="1800" spc="5" dirty="0">
                <a:latin typeface="Times New Roman"/>
                <a:cs typeface="Times New Roman"/>
              </a:rPr>
              <a:t>of </a:t>
            </a:r>
            <a:r>
              <a:rPr sz="1800" spc="-5" dirty="0">
                <a:latin typeface="Times New Roman"/>
                <a:cs typeface="Times New Roman"/>
              </a:rPr>
              <a:t>all </a:t>
            </a:r>
            <a:r>
              <a:rPr sz="1800" dirty="0">
                <a:latin typeface="Times New Roman"/>
                <a:cs typeface="Times New Roman"/>
              </a:rPr>
              <a:t>previous </a:t>
            </a:r>
            <a:r>
              <a:rPr sz="1800" spc="-10" dirty="0">
                <a:latin typeface="Times New Roman"/>
                <a:cs typeface="Times New Roman"/>
              </a:rPr>
              <a:t>inputs on </a:t>
            </a:r>
            <a:r>
              <a:rPr sz="1800" spc="-5" dirty="0">
                <a:latin typeface="Times New Roman"/>
                <a:cs typeface="Times New Roman"/>
              </a:rPr>
              <a:t>the outputs is </a:t>
            </a:r>
            <a:r>
              <a:rPr sz="1800" spc="-10" dirty="0">
                <a:latin typeface="Times New Roman"/>
                <a:cs typeface="Times New Roman"/>
              </a:rPr>
              <a:t>represented </a:t>
            </a:r>
            <a:r>
              <a:rPr sz="1800" spc="5" dirty="0">
                <a:latin typeface="Times New Roman"/>
                <a:cs typeface="Times New Roman"/>
              </a:rPr>
              <a:t>by </a:t>
            </a:r>
            <a:r>
              <a:rPr sz="1800" dirty="0">
                <a:latin typeface="Times New Roman"/>
                <a:cs typeface="Times New Roman"/>
              </a:rPr>
              <a:t>a </a:t>
            </a:r>
            <a:r>
              <a:rPr sz="1800" spc="-5" dirty="0">
                <a:latin typeface="Times New Roman"/>
                <a:cs typeface="Times New Roman"/>
              </a:rPr>
              <a:t>state </a:t>
            </a:r>
            <a:r>
              <a:rPr sz="1800" spc="5" dirty="0">
                <a:latin typeface="Times New Roman"/>
                <a:cs typeface="Times New Roman"/>
              </a:rPr>
              <a:t>of </a:t>
            </a:r>
            <a:r>
              <a:rPr sz="1800" dirty="0">
                <a:latin typeface="Times New Roman"/>
                <a:cs typeface="Times New Roman"/>
              </a:rPr>
              <a:t>the </a:t>
            </a:r>
            <a:r>
              <a:rPr sz="1800" spc="5" dirty="0">
                <a:latin typeface="Times New Roman"/>
                <a:cs typeface="Times New Roman"/>
              </a:rPr>
              <a:t> </a:t>
            </a:r>
            <a:r>
              <a:rPr sz="1800" dirty="0">
                <a:latin typeface="Times New Roman"/>
                <a:cs typeface="Times New Roman"/>
              </a:rPr>
              <a:t>circuit.</a:t>
            </a:r>
            <a:r>
              <a:rPr sz="1800" spc="5" dirty="0">
                <a:latin typeface="Times New Roman"/>
                <a:cs typeface="Times New Roman"/>
              </a:rPr>
              <a:t> </a:t>
            </a:r>
            <a:r>
              <a:rPr sz="1800" spc="-20" dirty="0">
                <a:latin typeface="Times New Roman"/>
                <a:cs typeface="Times New Roman"/>
              </a:rPr>
              <a:t>Thus,</a:t>
            </a:r>
            <a:r>
              <a:rPr sz="1800" spc="-15" dirty="0">
                <a:latin typeface="Times New Roman"/>
                <a:cs typeface="Times New Roman"/>
              </a:rPr>
              <a:t> </a:t>
            </a:r>
            <a:r>
              <a:rPr sz="1800" dirty="0">
                <a:latin typeface="Times New Roman"/>
                <a:cs typeface="Times New Roman"/>
              </a:rPr>
              <a:t>the </a:t>
            </a:r>
            <a:r>
              <a:rPr sz="1800" spc="-5" dirty="0">
                <a:latin typeface="Times New Roman"/>
                <a:cs typeface="Times New Roman"/>
              </a:rPr>
              <a:t>output </a:t>
            </a:r>
            <a:r>
              <a:rPr sz="1800" spc="5" dirty="0">
                <a:latin typeface="Times New Roman"/>
                <a:cs typeface="Times New Roman"/>
              </a:rPr>
              <a:t>of </a:t>
            </a:r>
            <a:r>
              <a:rPr sz="1800" dirty="0">
                <a:latin typeface="Times New Roman"/>
                <a:cs typeface="Times New Roman"/>
              </a:rPr>
              <a:t>the </a:t>
            </a:r>
            <a:r>
              <a:rPr sz="1800" spc="-5" dirty="0">
                <a:latin typeface="Times New Roman"/>
                <a:cs typeface="Times New Roman"/>
              </a:rPr>
              <a:t>circuit</a:t>
            </a:r>
            <a:r>
              <a:rPr sz="1800" dirty="0">
                <a:latin typeface="Times New Roman"/>
                <a:cs typeface="Times New Roman"/>
              </a:rPr>
              <a:t> </a:t>
            </a:r>
            <a:r>
              <a:rPr sz="1800" spc="-20" dirty="0">
                <a:latin typeface="Times New Roman"/>
                <a:cs typeface="Times New Roman"/>
              </a:rPr>
              <a:t>at</a:t>
            </a:r>
            <a:r>
              <a:rPr sz="1800" spc="-15" dirty="0">
                <a:latin typeface="Times New Roman"/>
                <a:cs typeface="Times New Roman"/>
              </a:rPr>
              <a:t> </a:t>
            </a:r>
            <a:r>
              <a:rPr sz="1800" spc="-10" dirty="0">
                <a:latin typeface="Times New Roman"/>
                <a:cs typeface="Times New Roman"/>
              </a:rPr>
              <a:t>any time</a:t>
            </a:r>
            <a:r>
              <a:rPr sz="1800" spc="-5" dirty="0">
                <a:latin typeface="Times New Roman"/>
                <a:cs typeface="Times New Roman"/>
              </a:rPr>
              <a:t> depends </a:t>
            </a:r>
            <a:r>
              <a:rPr sz="1800" spc="-15" dirty="0">
                <a:latin typeface="Times New Roman"/>
                <a:cs typeface="Times New Roman"/>
              </a:rPr>
              <a:t>upon</a:t>
            </a:r>
            <a:r>
              <a:rPr sz="1800" spc="-10" dirty="0">
                <a:latin typeface="Times New Roman"/>
                <a:cs typeface="Times New Roman"/>
              </a:rPr>
              <a:t> its</a:t>
            </a:r>
            <a:r>
              <a:rPr sz="1800" spc="-5" dirty="0">
                <a:latin typeface="Times New Roman"/>
                <a:cs typeface="Times New Roman"/>
              </a:rPr>
              <a:t> </a:t>
            </a:r>
            <a:r>
              <a:rPr sz="1800" spc="-10" dirty="0">
                <a:latin typeface="Times New Roman"/>
                <a:cs typeface="Times New Roman"/>
              </a:rPr>
              <a:t>current</a:t>
            </a:r>
            <a:r>
              <a:rPr sz="1800" spc="-5" dirty="0">
                <a:latin typeface="Times New Roman"/>
                <a:cs typeface="Times New Roman"/>
              </a:rPr>
              <a:t> </a:t>
            </a:r>
            <a:r>
              <a:rPr sz="1800" spc="-10" dirty="0">
                <a:latin typeface="Times New Roman"/>
                <a:cs typeface="Times New Roman"/>
              </a:rPr>
              <a:t>state</a:t>
            </a:r>
            <a:r>
              <a:rPr sz="1800" spc="430" dirty="0">
                <a:latin typeface="Times New Roman"/>
                <a:cs typeface="Times New Roman"/>
              </a:rPr>
              <a:t> </a:t>
            </a:r>
            <a:r>
              <a:rPr sz="1800" spc="-20" dirty="0">
                <a:latin typeface="Times New Roman"/>
                <a:cs typeface="Times New Roman"/>
              </a:rPr>
              <a:t>and</a:t>
            </a:r>
            <a:r>
              <a:rPr sz="1800" spc="409" dirty="0">
                <a:latin typeface="Times New Roman"/>
                <a:cs typeface="Times New Roman"/>
              </a:rPr>
              <a:t> </a:t>
            </a:r>
            <a:r>
              <a:rPr sz="1800" spc="-5" dirty="0">
                <a:latin typeface="Times New Roman"/>
                <a:cs typeface="Times New Roman"/>
              </a:rPr>
              <a:t>the </a:t>
            </a:r>
            <a:r>
              <a:rPr sz="1800" dirty="0">
                <a:latin typeface="Times New Roman"/>
                <a:cs typeface="Times New Roman"/>
              </a:rPr>
              <a:t> input.</a:t>
            </a:r>
            <a:r>
              <a:rPr sz="1800" spc="160" dirty="0">
                <a:latin typeface="Times New Roman"/>
                <a:cs typeface="Times New Roman"/>
              </a:rPr>
              <a:t> </a:t>
            </a:r>
            <a:r>
              <a:rPr sz="1800" spc="-5" dirty="0">
                <a:latin typeface="Times New Roman"/>
                <a:cs typeface="Times New Roman"/>
              </a:rPr>
              <a:t>These</a:t>
            </a:r>
            <a:r>
              <a:rPr sz="1800" spc="150" dirty="0">
                <a:latin typeface="Times New Roman"/>
                <a:cs typeface="Times New Roman"/>
              </a:rPr>
              <a:t> </a:t>
            </a:r>
            <a:r>
              <a:rPr sz="1800" spc="-10" dirty="0">
                <a:latin typeface="Times New Roman"/>
                <a:cs typeface="Times New Roman"/>
              </a:rPr>
              <a:t>also</a:t>
            </a:r>
            <a:r>
              <a:rPr sz="1800" spc="165" dirty="0">
                <a:latin typeface="Times New Roman"/>
                <a:cs typeface="Times New Roman"/>
              </a:rPr>
              <a:t> </a:t>
            </a:r>
            <a:r>
              <a:rPr sz="1800" spc="-10" dirty="0">
                <a:latin typeface="Times New Roman"/>
                <a:cs typeface="Times New Roman"/>
              </a:rPr>
              <a:t>determine</a:t>
            </a:r>
            <a:r>
              <a:rPr sz="1800" spc="180" dirty="0">
                <a:latin typeface="Times New Roman"/>
                <a:cs typeface="Times New Roman"/>
              </a:rPr>
              <a:t> </a:t>
            </a:r>
            <a:r>
              <a:rPr sz="1800" spc="-10" dirty="0">
                <a:latin typeface="Times New Roman"/>
                <a:cs typeface="Times New Roman"/>
              </a:rPr>
              <a:t>the</a:t>
            </a:r>
            <a:r>
              <a:rPr sz="1800" spc="145" dirty="0">
                <a:latin typeface="Times New Roman"/>
                <a:cs typeface="Times New Roman"/>
              </a:rPr>
              <a:t> </a:t>
            </a:r>
            <a:r>
              <a:rPr sz="1800" spc="-5" dirty="0">
                <a:latin typeface="Times New Roman"/>
                <a:cs typeface="Times New Roman"/>
              </a:rPr>
              <a:t>next</a:t>
            </a:r>
            <a:r>
              <a:rPr sz="1800" spc="165" dirty="0">
                <a:latin typeface="Times New Roman"/>
                <a:cs typeface="Times New Roman"/>
              </a:rPr>
              <a:t> </a:t>
            </a:r>
            <a:r>
              <a:rPr sz="1800" spc="-5" dirty="0">
                <a:latin typeface="Times New Roman"/>
                <a:cs typeface="Times New Roman"/>
              </a:rPr>
              <a:t>state</a:t>
            </a:r>
            <a:r>
              <a:rPr sz="1800" spc="125" dirty="0">
                <a:latin typeface="Times New Roman"/>
                <a:cs typeface="Times New Roman"/>
              </a:rPr>
              <a:t> </a:t>
            </a:r>
            <a:r>
              <a:rPr sz="1800" spc="15" dirty="0">
                <a:latin typeface="Times New Roman"/>
                <a:cs typeface="Times New Roman"/>
              </a:rPr>
              <a:t>of</a:t>
            </a:r>
            <a:r>
              <a:rPr sz="1800" spc="185" dirty="0">
                <a:latin typeface="Times New Roman"/>
                <a:cs typeface="Times New Roman"/>
              </a:rPr>
              <a:t> </a:t>
            </a:r>
            <a:r>
              <a:rPr sz="1800" spc="-10" dirty="0">
                <a:latin typeface="Times New Roman"/>
                <a:cs typeface="Times New Roman"/>
              </a:rPr>
              <a:t>the</a:t>
            </a:r>
            <a:r>
              <a:rPr sz="1800" spc="145" dirty="0">
                <a:latin typeface="Times New Roman"/>
                <a:cs typeface="Times New Roman"/>
              </a:rPr>
              <a:t> </a:t>
            </a:r>
            <a:r>
              <a:rPr sz="1800" spc="-10" dirty="0">
                <a:latin typeface="Times New Roman"/>
                <a:cs typeface="Times New Roman"/>
              </a:rPr>
              <a:t>circuit.</a:t>
            </a:r>
            <a:r>
              <a:rPr sz="1800" spc="165" dirty="0">
                <a:latin typeface="Times New Roman"/>
                <a:cs typeface="Times New Roman"/>
              </a:rPr>
              <a:t> </a:t>
            </a:r>
            <a:r>
              <a:rPr sz="1800" spc="-10" dirty="0">
                <a:latin typeface="Times New Roman"/>
                <a:cs typeface="Times New Roman"/>
              </a:rPr>
              <a:t>The</a:t>
            </a:r>
            <a:r>
              <a:rPr sz="1800" spc="150" dirty="0">
                <a:latin typeface="Times New Roman"/>
                <a:cs typeface="Times New Roman"/>
              </a:rPr>
              <a:t> </a:t>
            </a:r>
            <a:r>
              <a:rPr sz="1800" spc="-10" dirty="0">
                <a:latin typeface="Times New Roman"/>
                <a:cs typeface="Times New Roman"/>
              </a:rPr>
              <a:t>relationship</a:t>
            </a:r>
            <a:r>
              <a:rPr sz="1800" spc="175" dirty="0">
                <a:latin typeface="Times New Roman"/>
                <a:cs typeface="Times New Roman"/>
              </a:rPr>
              <a:t> </a:t>
            </a:r>
            <a:r>
              <a:rPr sz="1800" spc="-15" dirty="0">
                <a:latin typeface="Times New Roman"/>
                <a:cs typeface="Times New Roman"/>
              </a:rPr>
              <a:t>that</a:t>
            </a:r>
            <a:r>
              <a:rPr sz="1800" spc="165" dirty="0">
                <a:latin typeface="Times New Roman"/>
                <a:cs typeface="Times New Roman"/>
              </a:rPr>
              <a:t> </a:t>
            </a:r>
            <a:r>
              <a:rPr sz="1800" spc="-5" dirty="0">
                <a:latin typeface="Times New Roman"/>
                <a:cs typeface="Times New Roman"/>
              </a:rPr>
              <a:t>exists</a:t>
            </a:r>
            <a:r>
              <a:rPr sz="1800" spc="150" dirty="0">
                <a:latin typeface="Times New Roman"/>
                <a:cs typeface="Times New Roman"/>
              </a:rPr>
              <a:t> </a:t>
            </a:r>
            <a:r>
              <a:rPr sz="1800" spc="-10" dirty="0">
                <a:latin typeface="Times New Roman"/>
                <a:cs typeface="Times New Roman"/>
              </a:rPr>
              <a:t>among </a:t>
            </a:r>
            <a:r>
              <a:rPr sz="1800" spc="-434" dirty="0">
                <a:latin typeface="Times New Roman"/>
                <a:cs typeface="Times New Roman"/>
              </a:rPr>
              <a:t> </a:t>
            </a:r>
            <a:r>
              <a:rPr sz="1800" dirty="0">
                <a:latin typeface="Times New Roman"/>
                <a:cs typeface="Times New Roman"/>
              </a:rPr>
              <a:t>the </a:t>
            </a:r>
            <a:r>
              <a:rPr sz="1800" spc="-10" dirty="0">
                <a:latin typeface="Times New Roman"/>
                <a:cs typeface="Times New Roman"/>
              </a:rPr>
              <a:t>inputs, </a:t>
            </a:r>
            <a:r>
              <a:rPr sz="1800" spc="-5" dirty="0">
                <a:latin typeface="Times New Roman"/>
                <a:cs typeface="Times New Roman"/>
              </a:rPr>
              <a:t>outputs, present </a:t>
            </a:r>
            <a:r>
              <a:rPr sz="1800" spc="-10" dirty="0">
                <a:latin typeface="Times New Roman"/>
                <a:cs typeface="Times New Roman"/>
              </a:rPr>
              <a:t>states </a:t>
            </a:r>
            <a:r>
              <a:rPr sz="1800" dirty="0">
                <a:latin typeface="Times New Roman"/>
                <a:cs typeface="Times New Roman"/>
              </a:rPr>
              <a:t>and </a:t>
            </a:r>
            <a:r>
              <a:rPr sz="1800" spc="-5" dirty="0">
                <a:latin typeface="Times New Roman"/>
                <a:cs typeface="Times New Roman"/>
              </a:rPr>
              <a:t>next states </a:t>
            </a:r>
            <a:r>
              <a:rPr sz="1800" spc="-15" dirty="0">
                <a:latin typeface="Times New Roman"/>
                <a:cs typeface="Times New Roman"/>
              </a:rPr>
              <a:t>can </a:t>
            </a:r>
            <a:r>
              <a:rPr sz="1800" spc="5" dirty="0">
                <a:latin typeface="Times New Roman"/>
                <a:cs typeface="Times New Roman"/>
              </a:rPr>
              <a:t>be </a:t>
            </a:r>
            <a:r>
              <a:rPr sz="1800" spc="-10" dirty="0">
                <a:latin typeface="Times New Roman"/>
                <a:cs typeface="Times New Roman"/>
              </a:rPr>
              <a:t>specified by </a:t>
            </a:r>
            <a:r>
              <a:rPr sz="1800" spc="-5" dirty="0">
                <a:latin typeface="Times New Roman"/>
                <a:cs typeface="Times New Roman"/>
              </a:rPr>
              <a:t>either </a:t>
            </a:r>
            <a:r>
              <a:rPr sz="1800" dirty="0">
                <a:latin typeface="Times New Roman"/>
                <a:cs typeface="Times New Roman"/>
              </a:rPr>
              <a:t>the </a:t>
            </a:r>
            <a:r>
              <a:rPr sz="1800" b="1" spc="-5" dirty="0">
                <a:latin typeface="Times New Roman"/>
                <a:cs typeface="Times New Roman"/>
              </a:rPr>
              <a:t>state </a:t>
            </a:r>
            <a:r>
              <a:rPr sz="1800" b="1" spc="-10" dirty="0">
                <a:latin typeface="Times New Roman"/>
                <a:cs typeface="Times New Roman"/>
              </a:rPr>
              <a:t>table </a:t>
            </a:r>
            <a:r>
              <a:rPr sz="1800" spc="10" dirty="0">
                <a:latin typeface="Times New Roman"/>
                <a:cs typeface="Times New Roman"/>
              </a:rPr>
              <a:t>or </a:t>
            </a:r>
            <a:r>
              <a:rPr sz="1800" spc="15"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b="1" spc="-5" dirty="0">
                <a:latin typeface="Times New Roman"/>
                <a:cs typeface="Times New Roman"/>
              </a:rPr>
              <a:t>state</a:t>
            </a:r>
            <a:r>
              <a:rPr sz="1800" b="1" spc="-25" dirty="0">
                <a:latin typeface="Times New Roman"/>
                <a:cs typeface="Times New Roman"/>
              </a:rPr>
              <a:t> </a:t>
            </a:r>
            <a:r>
              <a:rPr sz="1800" b="1" spc="-30" dirty="0">
                <a:latin typeface="Times New Roman"/>
                <a:cs typeface="Times New Roman"/>
              </a:rPr>
              <a:t>diagram</a:t>
            </a:r>
            <a:r>
              <a:rPr sz="1800" spc="-30" dirty="0">
                <a:latin typeface="Times New Roman"/>
                <a:cs typeface="Times New Roman"/>
              </a:rPr>
              <a:t>.</a:t>
            </a:r>
            <a:endParaRPr sz="1800">
              <a:latin typeface="Times New Roman"/>
              <a:cs typeface="Times New Roman"/>
            </a:endParaRPr>
          </a:p>
          <a:p>
            <a:pPr marL="88900" algn="just">
              <a:lnSpc>
                <a:spcPct val="100000"/>
              </a:lnSpc>
              <a:spcBef>
                <a:spcPts val="580"/>
              </a:spcBef>
            </a:pPr>
            <a:r>
              <a:rPr sz="2400" b="1" dirty="0">
                <a:solidFill>
                  <a:srgbClr val="FF0000"/>
                </a:solidFill>
                <a:latin typeface="Times New Roman"/>
                <a:cs typeface="Times New Roman"/>
              </a:rPr>
              <a:t>Sta</a:t>
            </a:r>
            <a:r>
              <a:rPr sz="2400" b="1" spc="-15" dirty="0">
                <a:solidFill>
                  <a:srgbClr val="FF0000"/>
                </a:solidFill>
                <a:latin typeface="Times New Roman"/>
                <a:cs typeface="Times New Roman"/>
              </a:rPr>
              <a:t>t</a:t>
            </a:r>
            <a:r>
              <a:rPr sz="2400" b="1" dirty="0">
                <a:solidFill>
                  <a:srgbClr val="FF0000"/>
                </a:solidFill>
                <a:latin typeface="Times New Roman"/>
                <a:cs typeface="Times New Roman"/>
              </a:rPr>
              <a:t>e</a:t>
            </a:r>
            <a:r>
              <a:rPr sz="2400" b="1" spc="-125" dirty="0">
                <a:solidFill>
                  <a:srgbClr val="FF0000"/>
                </a:solidFill>
                <a:latin typeface="Times New Roman"/>
                <a:cs typeface="Times New Roman"/>
              </a:rPr>
              <a:t> </a:t>
            </a:r>
            <a:r>
              <a:rPr sz="2400" b="1" spc="-260" dirty="0">
                <a:solidFill>
                  <a:srgbClr val="FF0000"/>
                </a:solidFill>
                <a:latin typeface="Times New Roman"/>
                <a:cs typeface="Times New Roman"/>
              </a:rPr>
              <a:t>T</a:t>
            </a:r>
            <a:r>
              <a:rPr sz="2400" b="1" spc="-50" dirty="0">
                <a:solidFill>
                  <a:srgbClr val="FF0000"/>
                </a:solidFill>
                <a:latin typeface="Times New Roman"/>
                <a:cs typeface="Times New Roman"/>
              </a:rPr>
              <a:t>a</a:t>
            </a:r>
            <a:r>
              <a:rPr sz="2400" b="1" spc="-45" dirty="0">
                <a:solidFill>
                  <a:srgbClr val="FF0000"/>
                </a:solidFill>
                <a:latin typeface="Times New Roman"/>
                <a:cs typeface="Times New Roman"/>
              </a:rPr>
              <a:t>bl</a:t>
            </a:r>
            <a:r>
              <a:rPr sz="2400" b="1" dirty="0">
                <a:solidFill>
                  <a:srgbClr val="FF0000"/>
                </a:solidFill>
                <a:latin typeface="Times New Roman"/>
                <a:cs typeface="Times New Roman"/>
              </a:rPr>
              <a:t>e</a:t>
            </a:r>
            <a:endParaRPr sz="2400">
              <a:latin typeface="Times New Roman"/>
              <a:cs typeface="Times New Roman"/>
            </a:endParaRPr>
          </a:p>
          <a:p>
            <a:pPr marL="12700" marR="84455" algn="just">
              <a:lnSpc>
                <a:spcPct val="100000"/>
              </a:lnSpc>
              <a:spcBef>
                <a:spcPts val="725"/>
              </a:spcBef>
            </a:pPr>
            <a:r>
              <a:rPr sz="1800" spc="-10" dirty="0">
                <a:latin typeface="Times New Roman"/>
                <a:cs typeface="Times New Roman"/>
              </a:rPr>
              <a:t>The </a:t>
            </a:r>
            <a:r>
              <a:rPr sz="1800" spc="-5" dirty="0">
                <a:latin typeface="Times New Roman"/>
                <a:cs typeface="Times New Roman"/>
              </a:rPr>
              <a:t>state </a:t>
            </a:r>
            <a:r>
              <a:rPr sz="1800" dirty="0">
                <a:latin typeface="Times New Roman"/>
                <a:cs typeface="Times New Roman"/>
              </a:rPr>
              <a:t>table </a:t>
            </a:r>
            <a:r>
              <a:rPr sz="1800" spc="-5" dirty="0">
                <a:latin typeface="Times New Roman"/>
                <a:cs typeface="Times New Roman"/>
              </a:rPr>
              <a:t>representation </a:t>
            </a:r>
            <a:r>
              <a:rPr sz="1800" spc="5" dirty="0">
                <a:latin typeface="Times New Roman"/>
                <a:cs typeface="Times New Roman"/>
              </a:rPr>
              <a:t>of </a:t>
            </a:r>
            <a:r>
              <a:rPr sz="1800" dirty="0">
                <a:latin typeface="Times New Roman"/>
                <a:cs typeface="Times New Roman"/>
              </a:rPr>
              <a:t>a </a:t>
            </a:r>
            <a:r>
              <a:rPr sz="1800" spc="-10" dirty="0">
                <a:latin typeface="Times New Roman"/>
                <a:cs typeface="Times New Roman"/>
              </a:rPr>
              <a:t>sequential circuit consists </a:t>
            </a:r>
            <a:r>
              <a:rPr sz="1800" spc="5" dirty="0">
                <a:latin typeface="Times New Roman"/>
                <a:cs typeface="Times New Roman"/>
              </a:rPr>
              <a:t>of </a:t>
            </a:r>
            <a:r>
              <a:rPr sz="1800" spc="-5" dirty="0">
                <a:latin typeface="Times New Roman"/>
                <a:cs typeface="Times New Roman"/>
              </a:rPr>
              <a:t>three </a:t>
            </a:r>
            <a:r>
              <a:rPr sz="1800" spc="-10" dirty="0">
                <a:latin typeface="Times New Roman"/>
                <a:cs typeface="Times New Roman"/>
              </a:rPr>
              <a:t>sections </a:t>
            </a:r>
            <a:r>
              <a:rPr sz="1800" spc="-5" dirty="0">
                <a:latin typeface="Times New Roman"/>
                <a:cs typeface="Times New Roman"/>
              </a:rPr>
              <a:t>labeled </a:t>
            </a:r>
            <a:r>
              <a:rPr sz="1800" i="1" spc="-35" dirty="0">
                <a:latin typeface="Times New Roman"/>
                <a:cs typeface="Times New Roman"/>
              </a:rPr>
              <a:t>present </a:t>
            </a:r>
            <a:r>
              <a:rPr sz="1800" i="1" spc="-30" dirty="0">
                <a:latin typeface="Times New Roman"/>
                <a:cs typeface="Times New Roman"/>
              </a:rPr>
              <a:t> </a:t>
            </a:r>
            <a:r>
              <a:rPr sz="1800" i="1" dirty="0">
                <a:latin typeface="Times New Roman"/>
                <a:cs typeface="Times New Roman"/>
              </a:rPr>
              <a:t>state</a:t>
            </a:r>
            <a:r>
              <a:rPr sz="1800" dirty="0">
                <a:latin typeface="Times New Roman"/>
                <a:cs typeface="Times New Roman"/>
              </a:rPr>
              <a:t>, </a:t>
            </a:r>
            <a:r>
              <a:rPr sz="1800" i="1" spc="-5" dirty="0">
                <a:latin typeface="Times New Roman"/>
                <a:cs typeface="Times New Roman"/>
              </a:rPr>
              <a:t>next state </a:t>
            </a:r>
            <a:r>
              <a:rPr sz="1800" spc="-20" dirty="0">
                <a:latin typeface="Times New Roman"/>
                <a:cs typeface="Times New Roman"/>
              </a:rPr>
              <a:t>and </a:t>
            </a:r>
            <a:r>
              <a:rPr sz="1800" i="1" dirty="0">
                <a:latin typeface="Times New Roman"/>
                <a:cs typeface="Times New Roman"/>
              </a:rPr>
              <a:t>output</a:t>
            </a:r>
            <a:r>
              <a:rPr sz="1800" dirty="0">
                <a:latin typeface="Times New Roman"/>
                <a:cs typeface="Times New Roman"/>
              </a:rPr>
              <a:t>. </a:t>
            </a:r>
            <a:r>
              <a:rPr sz="1800" spc="-5" dirty="0">
                <a:latin typeface="Times New Roman"/>
                <a:cs typeface="Times New Roman"/>
              </a:rPr>
              <a:t>The present state designates </a:t>
            </a:r>
            <a:r>
              <a:rPr sz="1800" dirty="0">
                <a:latin typeface="Times New Roman"/>
                <a:cs typeface="Times New Roman"/>
              </a:rPr>
              <a:t>the </a:t>
            </a:r>
            <a:r>
              <a:rPr sz="1800" spc="-10" dirty="0">
                <a:latin typeface="Times New Roman"/>
                <a:cs typeface="Times New Roman"/>
              </a:rPr>
              <a:t>state </a:t>
            </a:r>
            <a:r>
              <a:rPr sz="1800" spc="5" dirty="0">
                <a:latin typeface="Times New Roman"/>
                <a:cs typeface="Times New Roman"/>
              </a:rPr>
              <a:t>of </a:t>
            </a:r>
            <a:r>
              <a:rPr sz="1800" spc="-5" dirty="0">
                <a:latin typeface="Times New Roman"/>
                <a:cs typeface="Times New Roman"/>
              </a:rPr>
              <a:t>flip-flops before the </a:t>
            </a:r>
            <a:r>
              <a:rPr sz="1800" dirty="0">
                <a:latin typeface="Times New Roman"/>
                <a:cs typeface="Times New Roman"/>
              </a:rPr>
              <a:t> </a:t>
            </a:r>
            <a:r>
              <a:rPr sz="1800" spc="-5" dirty="0">
                <a:latin typeface="Times New Roman"/>
                <a:cs typeface="Times New Roman"/>
              </a:rPr>
              <a:t>occurrence</a:t>
            </a:r>
            <a:r>
              <a:rPr sz="1800" dirty="0">
                <a:latin typeface="Times New Roman"/>
                <a:cs typeface="Times New Roman"/>
              </a:rPr>
              <a:t> </a:t>
            </a:r>
            <a:r>
              <a:rPr sz="1800" spc="5" dirty="0">
                <a:latin typeface="Times New Roman"/>
                <a:cs typeface="Times New Roman"/>
              </a:rPr>
              <a:t>of </a:t>
            </a:r>
            <a:r>
              <a:rPr sz="1800" dirty="0">
                <a:latin typeface="Times New Roman"/>
                <a:cs typeface="Times New Roman"/>
              </a:rPr>
              <a:t>a </a:t>
            </a:r>
            <a:r>
              <a:rPr sz="1800" spc="-5" dirty="0">
                <a:latin typeface="Times New Roman"/>
                <a:cs typeface="Times New Roman"/>
              </a:rPr>
              <a:t>clock </a:t>
            </a:r>
            <a:r>
              <a:rPr sz="1800" dirty="0">
                <a:latin typeface="Times New Roman"/>
                <a:cs typeface="Times New Roman"/>
              </a:rPr>
              <a:t>pulse.</a:t>
            </a:r>
            <a:r>
              <a:rPr sz="1800" spc="5" dirty="0">
                <a:latin typeface="Times New Roman"/>
                <a:cs typeface="Times New Roman"/>
              </a:rPr>
              <a:t> </a:t>
            </a:r>
            <a:r>
              <a:rPr sz="1800" spc="-20" dirty="0">
                <a:latin typeface="Times New Roman"/>
                <a:cs typeface="Times New Roman"/>
              </a:rPr>
              <a:t>The</a:t>
            </a:r>
            <a:r>
              <a:rPr sz="1800" spc="-15" dirty="0">
                <a:latin typeface="Times New Roman"/>
                <a:cs typeface="Times New Roman"/>
              </a:rPr>
              <a:t> </a:t>
            </a:r>
            <a:r>
              <a:rPr sz="1800" spc="-5" dirty="0">
                <a:latin typeface="Times New Roman"/>
                <a:cs typeface="Times New Roman"/>
              </a:rPr>
              <a:t>next</a:t>
            </a:r>
            <a:r>
              <a:rPr sz="1800" dirty="0">
                <a:latin typeface="Times New Roman"/>
                <a:cs typeface="Times New Roman"/>
              </a:rPr>
              <a:t> </a:t>
            </a:r>
            <a:r>
              <a:rPr sz="1800" spc="-10" dirty="0">
                <a:latin typeface="Times New Roman"/>
                <a:cs typeface="Times New Roman"/>
              </a:rPr>
              <a:t>state</a:t>
            </a:r>
            <a:r>
              <a:rPr sz="1800" spc="430" dirty="0">
                <a:latin typeface="Times New Roman"/>
                <a:cs typeface="Times New Roman"/>
              </a:rPr>
              <a:t> </a:t>
            </a:r>
            <a:r>
              <a:rPr sz="1800" spc="-15" dirty="0">
                <a:latin typeface="Times New Roman"/>
                <a:cs typeface="Times New Roman"/>
              </a:rPr>
              <a:t>shows</a:t>
            </a:r>
            <a:r>
              <a:rPr sz="1800" spc="420" dirty="0">
                <a:latin typeface="Times New Roman"/>
                <a:cs typeface="Times New Roman"/>
              </a:rPr>
              <a:t> </a:t>
            </a:r>
            <a:r>
              <a:rPr sz="1800" dirty="0">
                <a:latin typeface="Times New Roman"/>
                <a:cs typeface="Times New Roman"/>
              </a:rPr>
              <a:t>the </a:t>
            </a:r>
            <a:r>
              <a:rPr sz="1800" spc="-5" dirty="0">
                <a:latin typeface="Times New Roman"/>
                <a:cs typeface="Times New Roman"/>
              </a:rPr>
              <a:t>states </a:t>
            </a:r>
            <a:r>
              <a:rPr sz="1800" spc="5" dirty="0">
                <a:latin typeface="Times New Roman"/>
                <a:cs typeface="Times New Roman"/>
              </a:rPr>
              <a:t>of </a:t>
            </a:r>
            <a:r>
              <a:rPr sz="1800" spc="-5" dirty="0">
                <a:latin typeface="Times New Roman"/>
                <a:cs typeface="Times New Roman"/>
              </a:rPr>
              <a:t>flip-flops </a:t>
            </a:r>
            <a:r>
              <a:rPr sz="1800" spc="-10" dirty="0">
                <a:latin typeface="Times New Roman"/>
                <a:cs typeface="Times New Roman"/>
              </a:rPr>
              <a:t>after </a:t>
            </a:r>
            <a:r>
              <a:rPr sz="1800" dirty="0">
                <a:latin typeface="Times New Roman"/>
                <a:cs typeface="Times New Roman"/>
              </a:rPr>
              <a:t>the </a:t>
            </a:r>
            <a:r>
              <a:rPr sz="1800" spc="-5" dirty="0">
                <a:latin typeface="Times New Roman"/>
                <a:cs typeface="Times New Roman"/>
              </a:rPr>
              <a:t>clock </a:t>
            </a:r>
            <a:r>
              <a:rPr sz="1800" dirty="0">
                <a:latin typeface="Times New Roman"/>
                <a:cs typeface="Times New Roman"/>
              </a:rPr>
              <a:t> pulse,</a:t>
            </a:r>
            <a:r>
              <a:rPr sz="1800" spc="-35" dirty="0">
                <a:latin typeface="Times New Roman"/>
                <a:cs typeface="Times New Roman"/>
              </a:rPr>
              <a:t> </a:t>
            </a:r>
            <a:r>
              <a:rPr sz="1800" dirty="0">
                <a:latin typeface="Times New Roman"/>
                <a:cs typeface="Times New Roman"/>
              </a:rPr>
              <a:t>and the</a:t>
            </a:r>
            <a:r>
              <a:rPr sz="1800" spc="-20" dirty="0">
                <a:latin typeface="Times New Roman"/>
                <a:cs typeface="Times New Roman"/>
              </a:rPr>
              <a:t> </a:t>
            </a:r>
            <a:r>
              <a:rPr sz="1800" spc="5" dirty="0">
                <a:latin typeface="Times New Roman"/>
                <a:cs typeface="Times New Roman"/>
              </a:rPr>
              <a:t>output</a:t>
            </a:r>
            <a:r>
              <a:rPr sz="1800" spc="-5" dirty="0">
                <a:latin typeface="Times New Roman"/>
                <a:cs typeface="Times New Roman"/>
              </a:rPr>
              <a:t> section</a:t>
            </a:r>
            <a:r>
              <a:rPr sz="1800" spc="-25" dirty="0">
                <a:latin typeface="Times New Roman"/>
                <a:cs typeface="Times New Roman"/>
              </a:rPr>
              <a:t> </a:t>
            </a:r>
            <a:r>
              <a:rPr sz="1800" dirty="0">
                <a:latin typeface="Times New Roman"/>
                <a:cs typeface="Times New Roman"/>
              </a:rPr>
              <a:t>lists</a:t>
            </a:r>
            <a:r>
              <a:rPr sz="1800" spc="-20"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spc="-5" dirty="0">
                <a:latin typeface="Times New Roman"/>
                <a:cs typeface="Times New Roman"/>
              </a:rPr>
              <a:t>value</a:t>
            </a:r>
            <a:r>
              <a:rPr sz="1800" spc="-20" dirty="0">
                <a:latin typeface="Times New Roman"/>
                <a:cs typeface="Times New Roman"/>
              </a:rPr>
              <a:t> </a:t>
            </a:r>
            <a:r>
              <a:rPr sz="1800" spc="5" dirty="0">
                <a:latin typeface="Times New Roman"/>
                <a:cs typeface="Times New Roman"/>
              </a:rPr>
              <a:t>of</a:t>
            </a:r>
            <a:r>
              <a:rPr sz="1800" spc="10"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spc="5" dirty="0">
                <a:latin typeface="Times New Roman"/>
                <a:cs typeface="Times New Roman"/>
              </a:rPr>
              <a:t>output</a:t>
            </a:r>
            <a:r>
              <a:rPr sz="1800" spc="-5" dirty="0">
                <a:latin typeface="Times New Roman"/>
                <a:cs typeface="Times New Roman"/>
              </a:rPr>
              <a:t> variables</a:t>
            </a:r>
            <a:r>
              <a:rPr sz="1800" spc="-40" dirty="0">
                <a:latin typeface="Times New Roman"/>
                <a:cs typeface="Times New Roman"/>
              </a:rPr>
              <a:t> </a:t>
            </a:r>
            <a:r>
              <a:rPr sz="1800" spc="5" dirty="0">
                <a:latin typeface="Times New Roman"/>
                <a:cs typeface="Times New Roman"/>
              </a:rPr>
              <a:t>during</a:t>
            </a:r>
            <a:r>
              <a:rPr sz="1800" spc="25" dirty="0">
                <a:latin typeface="Times New Roman"/>
                <a:cs typeface="Times New Roman"/>
              </a:rPr>
              <a:t> </a:t>
            </a:r>
            <a:r>
              <a:rPr sz="1800" dirty="0">
                <a:latin typeface="Times New Roman"/>
                <a:cs typeface="Times New Roman"/>
              </a:rPr>
              <a:t>the</a:t>
            </a:r>
            <a:r>
              <a:rPr sz="1800" spc="-20" dirty="0">
                <a:latin typeface="Times New Roman"/>
                <a:cs typeface="Times New Roman"/>
              </a:rPr>
              <a:t> </a:t>
            </a:r>
            <a:r>
              <a:rPr sz="1800" spc="-5" dirty="0">
                <a:latin typeface="Times New Roman"/>
                <a:cs typeface="Times New Roman"/>
              </a:rPr>
              <a:t>present</a:t>
            </a:r>
            <a:r>
              <a:rPr sz="1800" spc="-204" dirty="0">
                <a:latin typeface="Times New Roman"/>
                <a:cs typeface="Times New Roman"/>
              </a:rPr>
              <a:t> </a:t>
            </a:r>
            <a:r>
              <a:rPr sz="1800" spc="-5" dirty="0">
                <a:latin typeface="Times New Roman"/>
                <a:cs typeface="Times New Roman"/>
              </a:rPr>
              <a:t>state.</a:t>
            </a:r>
            <a:endParaRPr sz="1800">
              <a:latin typeface="Times New Roman"/>
              <a:cs typeface="Times New Roman"/>
            </a:endParaRPr>
          </a:p>
        </p:txBody>
      </p:sp>
      <p:pic>
        <p:nvPicPr>
          <p:cNvPr id="6" name="object 6"/>
          <p:cNvPicPr/>
          <p:nvPr/>
        </p:nvPicPr>
        <p:blipFill>
          <a:blip r:embed="rId2" cstate="print"/>
          <a:stretch>
            <a:fillRect/>
          </a:stretch>
        </p:blipFill>
        <p:spPr>
          <a:xfrm>
            <a:off x="2286000" y="4495800"/>
            <a:ext cx="4617720" cy="1600200"/>
          </a:xfrm>
          <a:prstGeom prst="rect">
            <a:avLst/>
          </a:prstGeom>
        </p:spPr>
      </p:pic>
      <p:sp>
        <p:nvSpPr>
          <p:cNvPr id="7" name="object 7"/>
          <p:cNvSpPr txBox="1">
            <a:spLocks noGrp="1"/>
          </p:cNvSpPr>
          <p:nvPr>
            <p:ph type="sldNum" sz="quarter" idx="4294967295"/>
          </p:nvPr>
        </p:nvSpPr>
        <p:spPr>
          <a:xfrm>
            <a:off x="8304021" y="6410197"/>
            <a:ext cx="424815" cy="254000"/>
          </a:xfrm>
          <a:prstGeom prst="rect">
            <a:avLst/>
          </a:prstGeom>
        </p:spPr>
        <p:txBody>
          <a:bodyPr vert="horz" wrap="square" lIns="0" tIns="0" rIns="0" bIns="0" rtlCol="0">
            <a:spAutoFit/>
          </a:bodyPr>
          <a:lstStyle/>
          <a:p>
            <a:pPr marL="38100">
              <a:lnSpc>
                <a:spcPts val="1810"/>
              </a:lnSpc>
            </a:pPr>
            <a:fld id="{81D60167-4931-47E6-BA6A-407CBD079E47}" type="slidenum">
              <a:rPr dirty="0"/>
              <a:t>2</a:t>
            </a:fld>
            <a:endParaRPr dirty="0"/>
          </a:p>
        </p:txBody>
      </p:sp>
    </p:spTree>
    <p:extLst>
      <p:ext uri="{BB962C8B-B14F-4D97-AF65-F5344CB8AC3E}">
        <p14:creationId xmlns:p14="http://schemas.microsoft.com/office/powerpoint/2010/main" val="3069959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43885" y="154889"/>
            <a:ext cx="3850640" cy="574675"/>
          </a:xfrm>
          <a:prstGeom prst="rect">
            <a:avLst/>
          </a:prstGeom>
        </p:spPr>
        <p:txBody>
          <a:bodyPr vert="horz" wrap="square" lIns="0" tIns="12700" rIns="0" bIns="0" rtlCol="0">
            <a:spAutoFit/>
          </a:bodyPr>
          <a:lstStyle/>
          <a:p>
            <a:pPr marL="12700">
              <a:lnSpc>
                <a:spcPct val="100000"/>
              </a:lnSpc>
              <a:spcBef>
                <a:spcPts val="100"/>
              </a:spcBef>
            </a:pPr>
            <a:r>
              <a:rPr sz="3600" spc="-155" dirty="0"/>
              <a:t>S</a:t>
            </a:r>
            <a:r>
              <a:rPr sz="3600" spc="-135" dirty="0"/>
              <a:t>T</a:t>
            </a:r>
            <a:r>
              <a:rPr sz="3600" spc="-155" dirty="0"/>
              <a:t>A</a:t>
            </a:r>
            <a:r>
              <a:rPr sz="3600" spc="-135" dirty="0"/>
              <a:t>T</a:t>
            </a:r>
            <a:r>
              <a:rPr sz="3600" dirty="0"/>
              <a:t>E</a:t>
            </a:r>
            <a:r>
              <a:rPr sz="3600" spc="-204" dirty="0"/>
              <a:t> </a:t>
            </a:r>
            <a:r>
              <a:rPr sz="3600" dirty="0"/>
              <a:t>M</a:t>
            </a:r>
            <a:r>
              <a:rPr sz="3600" spc="-15" dirty="0"/>
              <a:t>A</a:t>
            </a:r>
            <a:r>
              <a:rPr sz="3600" dirty="0"/>
              <a:t>CHI</a:t>
            </a:r>
            <a:r>
              <a:rPr sz="3600" spc="-15" dirty="0"/>
              <a:t>N</a:t>
            </a:r>
            <a:r>
              <a:rPr sz="3600" dirty="0"/>
              <a:t>ES</a:t>
            </a:r>
            <a:endParaRPr sz="3600"/>
          </a:p>
        </p:txBody>
      </p:sp>
      <p:pic>
        <p:nvPicPr>
          <p:cNvPr id="4" name="object 4"/>
          <p:cNvPicPr/>
          <p:nvPr/>
        </p:nvPicPr>
        <p:blipFill>
          <a:blip r:embed="rId2" cstate="print"/>
          <a:stretch>
            <a:fillRect/>
          </a:stretch>
        </p:blipFill>
        <p:spPr>
          <a:xfrm>
            <a:off x="6248400" y="2209800"/>
            <a:ext cx="2770631" cy="3200400"/>
          </a:xfrm>
          <a:prstGeom prst="rect">
            <a:avLst/>
          </a:prstGeom>
        </p:spPr>
      </p:pic>
      <p:sp>
        <p:nvSpPr>
          <p:cNvPr id="5" name="object 5"/>
          <p:cNvSpPr txBox="1"/>
          <p:nvPr/>
        </p:nvSpPr>
        <p:spPr>
          <a:xfrm>
            <a:off x="230835" y="985393"/>
            <a:ext cx="8697595" cy="4866005"/>
          </a:xfrm>
          <a:prstGeom prst="rect">
            <a:avLst/>
          </a:prstGeom>
        </p:spPr>
        <p:txBody>
          <a:bodyPr vert="horz" wrap="square" lIns="0" tIns="33020" rIns="0" bIns="0" rtlCol="0">
            <a:spAutoFit/>
          </a:bodyPr>
          <a:lstStyle/>
          <a:p>
            <a:pPr marL="12700" algn="just">
              <a:lnSpc>
                <a:spcPct val="100000"/>
              </a:lnSpc>
              <a:spcBef>
                <a:spcPts val="260"/>
              </a:spcBef>
            </a:pPr>
            <a:r>
              <a:rPr sz="2400" b="1" spc="-5" dirty="0">
                <a:solidFill>
                  <a:srgbClr val="FF0000"/>
                </a:solidFill>
                <a:latin typeface="Times New Roman"/>
                <a:cs typeface="Times New Roman"/>
              </a:rPr>
              <a:t>State</a:t>
            </a:r>
            <a:r>
              <a:rPr sz="2400" b="1" spc="-60" dirty="0">
                <a:solidFill>
                  <a:srgbClr val="FF0000"/>
                </a:solidFill>
                <a:latin typeface="Times New Roman"/>
                <a:cs typeface="Times New Roman"/>
              </a:rPr>
              <a:t> </a:t>
            </a:r>
            <a:r>
              <a:rPr sz="2400" b="1" spc="-5" dirty="0">
                <a:solidFill>
                  <a:srgbClr val="FF0000"/>
                </a:solidFill>
                <a:latin typeface="Times New Roman"/>
                <a:cs typeface="Times New Roman"/>
              </a:rPr>
              <a:t>Diagram</a:t>
            </a:r>
            <a:endParaRPr sz="2400">
              <a:latin typeface="Times New Roman"/>
              <a:cs typeface="Times New Roman"/>
            </a:endParaRPr>
          </a:p>
          <a:p>
            <a:pPr marL="12700" marR="5080" algn="just">
              <a:lnSpc>
                <a:spcPct val="100000"/>
              </a:lnSpc>
              <a:spcBef>
                <a:spcPts val="125"/>
              </a:spcBef>
            </a:pPr>
            <a:r>
              <a:rPr sz="1800" dirty="0">
                <a:latin typeface="Times New Roman"/>
                <a:cs typeface="Times New Roman"/>
              </a:rPr>
              <a:t>In</a:t>
            </a:r>
            <a:r>
              <a:rPr sz="1800" spc="5" dirty="0">
                <a:latin typeface="Times New Roman"/>
                <a:cs typeface="Times New Roman"/>
              </a:rPr>
              <a:t> </a:t>
            </a:r>
            <a:r>
              <a:rPr sz="1800" spc="-10" dirty="0">
                <a:latin typeface="Times New Roman"/>
                <a:cs typeface="Times New Roman"/>
              </a:rPr>
              <a:t>addition</a:t>
            </a:r>
            <a:r>
              <a:rPr sz="1800" spc="-5" dirty="0">
                <a:latin typeface="Times New Roman"/>
                <a:cs typeface="Times New Roman"/>
              </a:rPr>
              <a:t> </a:t>
            </a:r>
            <a:r>
              <a:rPr sz="1800" spc="-15" dirty="0">
                <a:latin typeface="Times New Roman"/>
                <a:cs typeface="Times New Roman"/>
              </a:rPr>
              <a:t>to</a:t>
            </a:r>
            <a:r>
              <a:rPr sz="1800" spc="-10" dirty="0">
                <a:latin typeface="Times New Roman"/>
                <a:cs typeface="Times New Roman"/>
              </a:rPr>
              <a:t> graphical</a:t>
            </a:r>
            <a:r>
              <a:rPr sz="1800" spc="-5" dirty="0">
                <a:latin typeface="Times New Roman"/>
                <a:cs typeface="Times New Roman"/>
              </a:rPr>
              <a:t> </a:t>
            </a:r>
            <a:r>
              <a:rPr sz="1800" spc="-10" dirty="0">
                <a:latin typeface="Times New Roman"/>
                <a:cs typeface="Times New Roman"/>
              </a:rPr>
              <a:t>symbols,</a:t>
            </a:r>
            <a:r>
              <a:rPr sz="1800" spc="-5" dirty="0">
                <a:latin typeface="Times New Roman"/>
                <a:cs typeface="Times New Roman"/>
              </a:rPr>
              <a:t> </a:t>
            </a:r>
            <a:r>
              <a:rPr sz="1800" dirty="0">
                <a:latin typeface="Times New Roman"/>
                <a:cs typeface="Times New Roman"/>
              </a:rPr>
              <a:t>tables</a:t>
            </a:r>
            <a:r>
              <a:rPr sz="1800" spc="5" dirty="0">
                <a:latin typeface="Times New Roman"/>
                <a:cs typeface="Times New Roman"/>
              </a:rPr>
              <a:t> or</a:t>
            </a:r>
            <a:r>
              <a:rPr sz="1800" spc="10" dirty="0">
                <a:latin typeface="Times New Roman"/>
                <a:cs typeface="Times New Roman"/>
              </a:rPr>
              <a:t> </a:t>
            </a:r>
            <a:r>
              <a:rPr sz="1800" spc="-10" dirty="0">
                <a:latin typeface="Times New Roman"/>
                <a:cs typeface="Times New Roman"/>
              </a:rPr>
              <a:t>equations,</a:t>
            </a:r>
            <a:r>
              <a:rPr sz="1800" spc="-5" dirty="0">
                <a:latin typeface="Times New Roman"/>
                <a:cs typeface="Times New Roman"/>
              </a:rPr>
              <a:t> </a:t>
            </a:r>
            <a:r>
              <a:rPr sz="1800" spc="-10" dirty="0">
                <a:latin typeface="Times New Roman"/>
                <a:cs typeface="Times New Roman"/>
              </a:rPr>
              <a:t>flip-flops</a:t>
            </a:r>
            <a:r>
              <a:rPr sz="1800" spc="-5" dirty="0">
                <a:latin typeface="Times New Roman"/>
                <a:cs typeface="Times New Roman"/>
              </a:rPr>
              <a:t> </a:t>
            </a:r>
            <a:r>
              <a:rPr sz="1800" spc="-10" dirty="0">
                <a:latin typeface="Times New Roman"/>
                <a:cs typeface="Times New Roman"/>
              </a:rPr>
              <a:t>can</a:t>
            </a:r>
            <a:r>
              <a:rPr sz="1800" spc="-5" dirty="0">
                <a:latin typeface="Times New Roman"/>
                <a:cs typeface="Times New Roman"/>
              </a:rPr>
              <a:t> </a:t>
            </a:r>
            <a:r>
              <a:rPr sz="1800" spc="-10" dirty="0">
                <a:latin typeface="Times New Roman"/>
                <a:cs typeface="Times New Roman"/>
              </a:rPr>
              <a:t>also</a:t>
            </a:r>
            <a:r>
              <a:rPr sz="1800" spc="-5" dirty="0">
                <a:latin typeface="Times New Roman"/>
                <a:cs typeface="Times New Roman"/>
              </a:rPr>
              <a:t> </a:t>
            </a:r>
            <a:r>
              <a:rPr sz="1800" spc="5" dirty="0">
                <a:latin typeface="Times New Roman"/>
                <a:cs typeface="Times New Roman"/>
              </a:rPr>
              <a:t>be</a:t>
            </a:r>
            <a:r>
              <a:rPr sz="1800" spc="10" dirty="0">
                <a:latin typeface="Times New Roman"/>
                <a:cs typeface="Times New Roman"/>
              </a:rPr>
              <a:t> </a:t>
            </a:r>
            <a:r>
              <a:rPr sz="1800" spc="-10" dirty="0">
                <a:latin typeface="Times New Roman"/>
                <a:cs typeface="Times New Roman"/>
              </a:rPr>
              <a:t>represented </a:t>
            </a:r>
            <a:r>
              <a:rPr sz="1800" spc="-5" dirty="0">
                <a:latin typeface="Times New Roman"/>
                <a:cs typeface="Times New Roman"/>
              </a:rPr>
              <a:t> </a:t>
            </a:r>
            <a:r>
              <a:rPr sz="1800" dirty="0">
                <a:latin typeface="Times New Roman"/>
                <a:cs typeface="Times New Roman"/>
              </a:rPr>
              <a:t>graphically </a:t>
            </a:r>
            <a:r>
              <a:rPr sz="1800" spc="5" dirty="0">
                <a:latin typeface="Times New Roman"/>
                <a:cs typeface="Times New Roman"/>
              </a:rPr>
              <a:t>by </a:t>
            </a:r>
            <a:r>
              <a:rPr sz="1800" dirty="0">
                <a:latin typeface="Times New Roman"/>
                <a:cs typeface="Times New Roman"/>
              </a:rPr>
              <a:t>a </a:t>
            </a:r>
            <a:r>
              <a:rPr sz="1800" spc="-5" dirty="0">
                <a:latin typeface="Times New Roman"/>
                <a:cs typeface="Times New Roman"/>
              </a:rPr>
              <a:t>state </a:t>
            </a:r>
            <a:r>
              <a:rPr sz="1800" spc="-10" dirty="0">
                <a:latin typeface="Times New Roman"/>
                <a:cs typeface="Times New Roman"/>
              </a:rPr>
              <a:t>diagram. </a:t>
            </a:r>
            <a:r>
              <a:rPr sz="1800" dirty="0">
                <a:latin typeface="Times New Roman"/>
                <a:cs typeface="Times New Roman"/>
              </a:rPr>
              <a:t>In </a:t>
            </a:r>
            <a:r>
              <a:rPr sz="1800" spc="-5" dirty="0">
                <a:latin typeface="Times New Roman"/>
                <a:cs typeface="Times New Roman"/>
              </a:rPr>
              <a:t>this </a:t>
            </a:r>
            <a:r>
              <a:rPr sz="1800" spc="-10" dirty="0">
                <a:latin typeface="Times New Roman"/>
                <a:cs typeface="Times New Roman"/>
              </a:rPr>
              <a:t>diagram, </a:t>
            </a:r>
            <a:r>
              <a:rPr sz="1800" dirty="0">
                <a:latin typeface="Times New Roman"/>
                <a:cs typeface="Times New Roman"/>
              </a:rPr>
              <a:t>a </a:t>
            </a:r>
            <a:r>
              <a:rPr sz="1800" spc="-5" dirty="0">
                <a:latin typeface="Times New Roman"/>
                <a:cs typeface="Times New Roman"/>
              </a:rPr>
              <a:t>state is represented </a:t>
            </a:r>
            <a:r>
              <a:rPr sz="1800" spc="5" dirty="0">
                <a:latin typeface="Times New Roman"/>
                <a:cs typeface="Times New Roman"/>
              </a:rPr>
              <a:t>by </a:t>
            </a:r>
            <a:r>
              <a:rPr sz="1800" dirty="0">
                <a:latin typeface="Times New Roman"/>
                <a:cs typeface="Times New Roman"/>
              </a:rPr>
              <a:t>a </a:t>
            </a:r>
            <a:r>
              <a:rPr sz="1800" spc="-5" dirty="0">
                <a:latin typeface="Times New Roman"/>
                <a:cs typeface="Times New Roman"/>
              </a:rPr>
              <a:t>circle, </a:t>
            </a:r>
            <a:r>
              <a:rPr sz="1800" dirty="0">
                <a:latin typeface="Times New Roman"/>
                <a:cs typeface="Times New Roman"/>
              </a:rPr>
              <a:t>and </a:t>
            </a:r>
            <a:r>
              <a:rPr sz="1800" spc="-5" dirty="0">
                <a:latin typeface="Times New Roman"/>
                <a:cs typeface="Times New Roman"/>
              </a:rPr>
              <a:t>the </a:t>
            </a:r>
            <a:r>
              <a:rPr sz="1800" dirty="0">
                <a:latin typeface="Times New Roman"/>
                <a:cs typeface="Times New Roman"/>
              </a:rPr>
              <a:t> transition</a:t>
            </a:r>
            <a:r>
              <a:rPr sz="1800" spc="-50" dirty="0">
                <a:latin typeface="Times New Roman"/>
                <a:cs typeface="Times New Roman"/>
              </a:rPr>
              <a:t> </a:t>
            </a:r>
            <a:r>
              <a:rPr sz="1800" spc="-10" dirty="0">
                <a:latin typeface="Times New Roman"/>
                <a:cs typeface="Times New Roman"/>
              </a:rPr>
              <a:t>between</a:t>
            </a:r>
            <a:r>
              <a:rPr sz="1800" spc="-20" dirty="0">
                <a:latin typeface="Times New Roman"/>
                <a:cs typeface="Times New Roman"/>
              </a:rPr>
              <a:t> </a:t>
            </a:r>
            <a:r>
              <a:rPr sz="1800" spc="-5" dirty="0">
                <a:latin typeface="Times New Roman"/>
                <a:cs typeface="Times New Roman"/>
              </a:rPr>
              <a:t>states</a:t>
            </a:r>
            <a:r>
              <a:rPr sz="1800" spc="-55" dirty="0">
                <a:latin typeface="Times New Roman"/>
                <a:cs typeface="Times New Roman"/>
              </a:rPr>
              <a:t> </a:t>
            </a:r>
            <a:r>
              <a:rPr sz="1800" dirty="0">
                <a:latin typeface="Times New Roman"/>
                <a:cs typeface="Times New Roman"/>
              </a:rPr>
              <a:t>is</a:t>
            </a:r>
            <a:r>
              <a:rPr sz="1800" spc="5" dirty="0">
                <a:latin typeface="Times New Roman"/>
                <a:cs typeface="Times New Roman"/>
              </a:rPr>
              <a:t> </a:t>
            </a:r>
            <a:r>
              <a:rPr sz="1800" dirty="0">
                <a:latin typeface="Times New Roman"/>
                <a:cs typeface="Times New Roman"/>
              </a:rPr>
              <a:t>indicated</a:t>
            </a:r>
            <a:r>
              <a:rPr sz="1800" spc="-10" dirty="0">
                <a:latin typeface="Times New Roman"/>
                <a:cs typeface="Times New Roman"/>
              </a:rPr>
              <a:t> </a:t>
            </a:r>
            <a:r>
              <a:rPr sz="1800" spc="5" dirty="0">
                <a:latin typeface="Times New Roman"/>
                <a:cs typeface="Times New Roman"/>
              </a:rPr>
              <a:t>by</a:t>
            </a:r>
            <a:r>
              <a:rPr sz="1800" spc="-5" dirty="0">
                <a:latin typeface="Times New Roman"/>
                <a:cs typeface="Times New Roman"/>
              </a:rPr>
              <a:t> directed</a:t>
            </a:r>
            <a:r>
              <a:rPr sz="1800" spc="15" dirty="0">
                <a:latin typeface="Times New Roman"/>
                <a:cs typeface="Times New Roman"/>
              </a:rPr>
              <a:t> </a:t>
            </a:r>
            <a:r>
              <a:rPr sz="1800" spc="-5" dirty="0">
                <a:latin typeface="Times New Roman"/>
                <a:cs typeface="Times New Roman"/>
              </a:rPr>
              <a:t>lines</a:t>
            </a:r>
            <a:r>
              <a:rPr sz="1800" spc="-15" dirty="0">
                <a:latin typeface="Times New Roman"/>
                <a:cs typeface="Times New Roman"/>
              </a:rPr>
              <a:t> </a:t>
            </a:r>
            <a:r>
              <a:rPr sz="1800" dirty="0">
                <a:latin typeface="Times New Roman"/>
                <a:cs typeface="Times New Roman"/>
              </a:rPr>
              <a:t>(or</a:t>
            </a:r>
            <a:r>
              <a:rPr sz="1800" spc="-15" dirty="0">
                <a:latin typeface="Times New Roman"/>
                <a:cs typeface="Times New Roman"/>
              </a:rPr>
              <a:t> </a:t>
            </a:r>
            <a:r>
              <a:rPr sz="1800" spc="-5" dirty="0">
                <a:latin typeface="Times New Roman"/>
                <a:cs typeface="Times New Roman"/>
              </a:rPr>
              <a:t>arcs)</a:t>
            </a:r>
            <a:r>
              <a:rPr sz="1800" spc="5" dirty="0">
                <a:latin typeface="Times New Roman"/>
                <a:cs typeface="Times New Roman"/>
              </a:rPr>
              <a:t> </a:t>
            </a:r>
            <a:r>
              <a:rPr sz="1800" dirty="0">
                <a:latin typeface="Times New Roman"/>
                <a:cs typeface="Times New Roman"/>
              </a:rPr>
              <a:t>connecting</a:t>
            </a:r>
            <a:r>
              <a:rPr sz="1800" spc="-20" dirty="0">
                <a:latin typeface="Times New Roman"/>
                <a:cs typeface="Times New Roman"/>
              </a:rPr>
              <a:t> </a:t>
            </a:r>
            <a:r>
              <a:rPr sz="1800" dirty="0">
                <a:latin typeface="Times New Roman"/>
                <a:cs typeface="Times New Roman"/>
              </a:rPr>
              <a:t>the</a:t>
            </a:r>
            <a:r>
              <a:rPr sz="1800" spc="-65" dirty="0">
                <a:latin typeface="Times New Roman"/>
                <a:cs typeface="Times New Roman"/>
              </a:rPr>
              <a:t> </a:t>
            </a:r>
            <a:r>
              <a:rPr sz="1800" spc="-5" dirty="0">
                <a:latin typeface="Times New Roman"/>
                <a:cs typeface="Times New Roman"/>
              </a:rPr>
              <a:t>circles.</a:t>
            </a:r>
            <a:endParaRPr sz="1800">
              <a:latin typeface="Times New Roman"/>
              <a:cs typeface="Times New Roman"/>
            </a:endParaRPr>
          </a:p>
          <a:p>
            <a:pPr marL="12700" marR="2742565" algn="just">
              <a:lnSpc>
                <a:spcPct val="100000"/>
              </a:lnSpc>
              <a:spcBef>
                <a:spcPts val="100"/>
              </a:spcBef>
            </a:pPr>
            <a:r>
              <a:rPr sz="1800" spc="-5" dirty="0">
                <a:latin typeface="Times New Roman"/>
                <a:cs typeface="Times New Roman"/>
              </a:rPr>
              <a:t>The</a:t>
            </a:r>
            <a:r>
              <a:rPr sz="1800" dirty="0">
                <a:latin typeface="Times New Roman"/>
                <a:cs typeface="Times New Roman"/>
              </a:rPr>
              <a:t> binary </a:t>
            </a:r>
            <a:r>
              <a:rPr sz="1800" spc="-5" dirty="0">
                <a:latin typeface="Times New Roman"/>
                <a:cs typeface="Times New Roman"/>
              </a:rPr>
              <a:t>number</a:t>
            </a:r>
            <a:r>
              <a:rPr sz="1800" dirty="0">
                <a:latin typeface="Times New Roman"/>
                <a:cs typeface="Times New Roman"/>
              </a:rPr>
              <a:t> </a:t>
            </a:r>
            <a:r>
              <a:rPr sz="1800" spc="-5" dirty="0">
                <a:latin typeface="Times New Roman"/>
                <a:cs typeface="Times New Roman"/>
              </a:rPr>
              <a:t>inside</a:t>
            </a:r>
            <a:r>
              <a:rPr sz="1800" dirty="0">
                <a:latin typeface="Times New Roman"/>
                <a:cs typeface="Times New Roman"/>
              </a:rPr>
              <a:t> </a:t>
            </a:r>
            <a:r>
              <a:rPr sz="1800" spc="-15" dirty="0">
                <a:latin typeface="Times New Roman"/>
                <a:cs typeface="Times New Roman"/>
              </a:rPr>
              <a:t>each</a:t>
            </a:r>
            <a:r>
              <a:rPr sz="1800" spc="-10" dirty="0">
                <a:latin typeface="Times New Roman"/>
                <a:cs typeface="Times New Roman"/>
              </a:rPr>
              <a:t> circle</a:t>
            </a:r>
            <a:r>
              <a:rPr sz="1800" spc="-5" dirty="0">
                <a:latin typeface="Times New Roman"/>
                <a:cs typeface="Times New Roman"/>
              </a:rPr>
              <a:t> </a:t>
            </a:r>
            <a:r>
              <a:rPr sz="1800" spc="-10" dirty="0">
                <a:latin typeface="Times New Roman"/>
                <a:cs typeface="Times New Roman"/>
              </a:rPr>
              <a:t>identifies</a:t>
            </a:r>
            <a:r>
              <a:rPr sz="1800" spc="-5"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spc="-10" dirty="0">
                <a:latin typeface="Times New Roman"/>
                <a:cs typeface="Times New Roman"/>
              </a:rPr>
              <a:t>state</a:t>
            </a:r>
            <a:r>
              <a:rPr sz="1800" spc="430" dirty="0">
                <a:latin typeface="Times New Roman"/>
                <a:cs typeface="Times New Roman"/>
              </a:rPr>
              <a:t> </a:t>
            </a:r>
            <a:r>
              <a:rPr sz="1800" spc="-5" dirty="0">
                <a:latin typeface="Times New Roman"/>
                <a:cs typeface="Times New Roman"/>
              </a:rPr>
              <a:t>the </a:t>
            </a:r>
            <a:r>
              <a:rPr sz="1800" dirty="0">
                <a:latin typeface="Times New Roman"/>
                <a:cs typeface="Times New Roman"/>
              </a:rPr>
              <a:t> </a:t>
            </a:r>
            <a:r>
              <a:rPr sz="1800" spc="-5" dirty="0">
                <a:latin typeface="Times New Roman"/>
                <a:cs typeface="Times New Roman"/>
              </a:rPr>
              <a:t>circle </a:t>
            </a:r>
            <a:r>
              <a:rPr sz="1800" spc="-10" dirty="0">
                <a:latin typeface="Times New Roman"/>
                <a:cs typeface="Times New Roman"/>
              </a:rPr>
              <a:t>represents. </a:t>
            </a:r>
            <a:r>
              <a:rPr sz="1800" spc="-15" dirty="0">
                <a:latin typeface="Times New Roman"/>
                <a:cs typeface="Times New Roman"/>
              </a:rPr>
              <a:t>The </a:t>
            </a:r>
            <a:r>
              <a:rPr sz="1800" spc="-10" dirty="0">
                <a:latin typeface="Times New Roman"/>
                <a:cs typeface="Times New Roman"/>
              </a:rPr>
              <a:t>directed lines </a:t>
            </a:r>
            <a:r>
              <a:rPr sz="1800" spc="-5" dirty="0">
                <a:latin typeface="Times New Roman"/>
                <a:cs typeface="Times New Roman"/>
              </a:rPr>
              <a:t>are labelled </a:t>
            </a:r>
            <a:r>
              <a:rPr sz="1800" spc="-20" dirty="0">
                <a:latin typeface="Times New Roman"/>
                <a:cs typeface="Times New Roman"/>
              </a:rPr>
              <a:t>with </a:t>
            </a:r>
            <a:r>
              <a:rPr sz="1800" spc="-10" dirty="0">
                <a:latin typeface="Times New Roman"/>
                <a:cs typeface="Times New Roman"/>
              </a:rPr>
              <a:t>two </a:t>
            </a:r>
            <a:r>
              <a:rPr sz="1800" spc="-5" dirty="0">
                <a:latin typeface="Times New Roman"/>
                <a:cs typeface="Times New Roman"/>
              </a:rPr>
              <a:t>binary </a:t>
            </a:r>
            <a:r>
              <a:rPr sz="1800" dirty="0">
                <a:latin typeface="Times New Roman"/>
                <a:cs typeface="Times New Roman"/>
              </a:rPr>
              <a:t> </a:t>
            </a:r>
            <a:r>
              <a:rPr sz="1800" spc="-5" dirty="0">
                <a:latin typeface="Times New Roman"/>
                <a:cs typeface="Times New Roman"/>
              </a:rPr>
              <a:t>numbers </a:t>
            </a:r>
            <a:r>
              <a:rPr sz="1800" spc="-10" dirty="0">
                <a:latin typeface="Times New Roman"/>
                <a:cs typeface="Times New Roman"/>
              </a:rPr>
              <a:t>separated </a:t>
            </a:r>
            <a:r>
              <a:rPr sz="1800" spc="5" dirty="0">
                <a:latin typeface="Times New Roman"/>
                <a:cs typeface="Times New Roman"/>
              </a:rPr>
              <a:t>by </a:t>
            </a:r>
            <a:r>
              <a:rPr sz="1800" dirty="0">
                <a:latin typeface="Times New Roman"/>
                <a:cs typeface="Times New Roman"/>
              </a:rPr>
              <a:t>a </a:t>
            </a:r>
            <a:r>
              <a:rPr sz="1800" spc="-5" dirty="0">
                <a:latin typeface="Times New Roman"/>
                <a:cs typeface="Times New Roman"/>
              </a:rPr>
              <a:t>slash </a:t>
            </a:r>
            <a:r>
              <a:rPr sz="1800" dirty="0">
                <a:latin typeface="Times New Roman"/>
                <a:cs typeface="Times New Roman"/>
              </a:rPr>
              <a:t>(/). </a:t>
            </a:r>
            <a:r>
              <a:rPr sz="1800" spc="-5" dirty="0">
                <a:latin typeface="Times New Roman"/>
                <a:cs typeface="Times New Roman"/>
              </a:rPr>
              <a:t>The </a:t>
            </a:r>
            <a:r>
              <a:rPr sz="1800" spc="5" dirty="0">
                <a:latin typeface="Times New Roman"/>
                <a:cs typeface="Times New Roman"/>
              </a:rPr>
              <a:t>input </a:t>
            </a:r>
            <a:r>
              <a:rPr sz="1800" spc="-10" dirty="0">
                <a:latin typeface="Times New Roman"/>
                <a:cs typeface="Times New Roman"/>
              </a:rPr>
              <a:t>value </a:t>
            </a:r>
            <a:r>
              <a:rPr sz="1800" spc="-5" dirty="0">
                <a:latin typeface="Times New Roman"/>
                <a:cs typeface="Times New Roman"/>
              </a:rPr>
              <a:t>that </a:t>
            </a:r>
            <a:r>
              <a:rPr sz="1800" spc="-10" dirty="0">
                <a:latin typeface="Times New Roman"/>
                <a:cs typeface="Times New Roman"/>
              </a:rPr>
              <a:t>causes </a:t>
            </a:r>
            <a:r>
              <a:rPr sz="1800" dirty="0">
                <a:latin typeface="Times New Roman"/>
                <a:cs typeface="Times New Roman"/>
              </a:rPr>
              <a:t>the </a:t>
            </a:r>
            <a:r>
              <a:rPr sz="1800" spc="5" dirty="0">
                <a:latin typeface="Times New Roman"/>
                <a:cs typeface="Times New Roman"/>
              </a:rPr>
              <a:t> </a:t>
            </a:r>
            <a:r>
              <a:rPr sz="1800" spc="-5" dirty="0">
                <a:latin typeface="Times New Roman"/>
                <a:cs typeface="Times New Roman"/>
              </a:rPr>
              <a:t>state</a:t>
            </a:r>
            <a:r>
              <a:rPr sz="1800" dirty="0">
                <a:latin typeface="Times New Roman"/>
                <a:cs typeface="Times New Roman"/>
              </a:rPr>
              <a:t> </a:t>
            </a:r>
            <a:r>
              <a:rPr sz="1800" spc="-5" dirty="0">
                <a:latin typeface="Times New Roman"/>
                <a:cs typeface="Times New Roman"/>
              </a:rPr>
              <a:t>transition</a:t>
            </a:r>
            <a:r>
              <a:rPr sz="1800" dirty="0">
                <a:latin typeface="Times New Roman"/>
                <a:cs typeface="Times New Roman"/>
              </a:rPr>
              <a:t> </a:t>
            </a:r>
            <a:r>
              <a:rPr sz="1800" spc="-5" dirty="0">
                <a:latin typeface="Times New Roman"/>
                <a:cs typeface="Times New Roman"/>
              </a:rPr>
              <a:t>is</a:t>
            </a:r>
            <a:r>
              <a:rPr sz="1800" dirty="0">
                <a:latin typeface="Times New Roman"/>
                <a:cs typeface="Times New Roman"/>
              </a:rPr>
              <a:t> </a:t>
            </a:r>
            <a:r>
              <a:rPr sz="1800" spc="-10" dirty="0">
                <a:latin typeface="Times New Roman"/>
                <a:cs typeface="Times New Roman"/>
              </a:rPr>
              <a:t>labelled</a:t>
            </a:r>
            <a:r>
              <a:rPr sz="1800" spc="-5" dirty="0">
                <a:latin typeface="Times New Roman"/>
                <a:cs typeface="Times New Roman"/>
              </a:rPr>
              <a:t> </a:t>
            </a:r>
            <a:r>
              <a:rPr sz="1800" spc="-10" dirty="0">
                <a:latin typeface="Times New Roman"/>
                <a:cs typeface="Times New Roman"/>
              </a:rPr>
              <a:t>first.</a:t>
            </a:r>
            <a:r>
              <a:rPr sz="1800" spc="-5" dirty="0">
                <a:latin typeface="Times New Roman"/>
                <a:cs typeface="Times New Roman"/>
              </a:rPr>
              <a:t> The</a:t>
            </a:r>
            <a:r>
              <a:rPr sz="1800" dirty="0">
                <a:latin typeface="Times New Roman"/>
                <a:cs typeface="Times New Roman"/>
              </a:rPr>
              <a:t> </a:t>
            </a:r>
            <a:r>
              <a:rPr sz="1800" spc="-10" dirty="0">
                <a:latin typeface="Times New Roman"/>
                <a:cs typeface="Times New Roman"/>
              </a:rPr>
              <a:t>number</a:t>
            </a:r>
            <a:r>
              <a:rPr sz="1800" spc="-5" dirty="0">
                <a:latin typeface="Times New Roman"/>
                <a:cs typeface="Times New Roman"/>
              </a:rPr>
              <a:t> </a:t>
            </a:r>
            <a:r>
              <a:rPr sz="1800" spc="-10" dirty="0">
                <a:latin typeface="Times New Roman"/>
                <a:cs typeface="Times New Roman"/>
              </a:rPr>
              <a:t>after</a:t>
            </a:r>
            <a:r>
              <a:rPr sz="1800" spc="-5" dirty="0">
                <a:latin typeface="Times New Roman"/>
                <a:cs typeface="Times New Roman"/>
              </a:rPr>
              <a:t> </a:t>
            </a:r>
            <a:r>
              <a:rPr sz="1800" dirty="0">
                <a:latin typeface="Times New Roman"/>
                <a:cs typeface="Times New Roman"/>
              </a:rPr>
              <a:t>the</a:t>
            </a:r>
            <a:r>
              <a:rPr sz="1800" spc="450" dirty="0">
                <a:latin typeface="Times New Roman"/>
                <a:cs typeface="Times New Roman"/>
              </a:rPr>
              <a:t> </a:t>
            </a:r>
            <a:r>
              <a:rPr sz="1800" spc="-10" dirty="0">
                <a:latin typeface="Times New Roman"/>
                <a:cs typeface="Times New Roman"/>
              </a:rPr>
              <a:t>slash </a:t>
            </a:r>
            <a:r>
              <a:rPr sz="1800" spc="-5" dirty="0">
                <a:latin typeface="Times New Roman"/>
                <a:cs typeface="Times New Roman"/>
              </a:rPr>
              <a:t> </a:t>
            </a:r>
            <a:r>
              <a:rPr sz="1800" spc="-10" dirty="0">
                <a:latin typeface="Times New Roman"/>
                <a:cs typeface="Times New Roman"/>
              </a:rPr>
              <a:t>symbol </a:t>
            </a:r>
            <a:r>
              <a:rPr sz="1800" dirty="0">
                <a:latin typeface="Times New Roman"/>
                <a:cs typeface="Times New Roman"/>
              </a:rPr>
              <a:t>/ </a:t>
            </a:r>
            <a:r>
              <a:rPr sz="1800" spc="-15" dirty="0">
                <a:latin typeface="Times New Roman"/>
                <a:cs typeface="Times New Roman"/>
              </a:rPr>
              <a:t>gives </a:t>
            </a:r>
            <a:r>
              <a:rPr sz="1800" spc="-10" dirty="0">
                <a:latin typeface="Times New Roman"/>
                <a:cs typeface="Times New Roman"/>
              </a:rPr>
              <a:t>the value </a:t>
            </a:r>
            <a:r>
              <a:rPr sz="1800" spc="5" dirty="0">
                <a:latin typeface="Times New Roman"/>
                <a:cs typeface="Times New Roman"/>
              </a:rPr>
              <a:t>of </a:t>
            </a:r>
            <a:r>
              <a:rPr sz="1800" dirty="0">
                <a:latin typeface="Times New Roman"/>
                <a:cs typeface="Times New Roman"/>
              </a:rPr>
              <a:t>the </a:t>
            </a:r>
            <a:r>
              <a:rPr sz="1800" spc="-5" dirty="0">
                <a:latin typeface="Times New Roman"/>
                <a:cs typeface="Times New Roman"/>
              </a:rPr>
              <a:t>output. </a:t>
            </a:r>
            <a:r>
              <a:rPr sz="1800" dirty="0">
                <a:latin typeface="Times New Roman"/>
                <a:cs typeface="Times New Roman"/>
              </a:rPr>
              <a:t>For </a:t>
            </a:r>
            <a:r>
              <a:rPr sz="1800" spc="-15" dirty="0">
                <a:latin typeface="Times New Roman"/>
                <a:cs typeface="Times New Roman"/>
              </a:rPr>
              <a:t>example, </a:t>
            </a:r>
            <a:r>
              <a:rPr sz="1800" dirty="0">
                <a:latin typeface="Times New Roman"/>
                <a:cs typeface="Times New Roman"/>
              </a:rPr>
              <a:t>the </a:t>
            </a:r>
            <a:r>
              <a:rPr sz="1800" spc="-10" dirty="0">
                <a:latin typeface="Times New Roman"/>
                <a:cs typeface="Times New Roman"/>
              </a:rPr>
              <a:t>directed </a:t>
            </a:r>
            <a:r>
              <a:rPr sz="1800" spc="-5" dirty="0">
                <a:latin typeface="Times New Roman"/>
                <a:cs typeface="Times New Roman"/>
              </a:rPr>
              <a:t> </a:t>
            </a:r>
            <a:r>
              <a:rPr sz="1800" dirty="0">
                <a:latin typeface="Times New Roman"/>
                <a:cs typeface="Times New Roman"/>
              </a:rPr>
              <a:t>line </a:t>
            </a:r>
            <a:r>
              <a:rPr sz="1800" spc="-5" dirty="0">
                <a:latin typeface="Times New Roman"/>
                <a:cs typeface="Times New Roman"/>
              </a:rPr>
              <a:t>from state </a:t>
            </a:r>
            <a:r>
              <a:rPr sz="1800" spc="5" dirty="0">
                <a:latin typeface="Times New Roman"/>
                <a:cs typeface="Times New Roman"/>
              </a:rPr>
              <a:t>00 </a:t>
            </a:r>
            <a:r>
              <a:rPr sz="1800" spc="-15" dirty="0">
                <a:latin typeface="Times New Roman"/>
                <a:cs typeface="Times New Roman"/>
              </a:rPr>
              <a:t>to </a:t>
            </a:r>
            <a:r>
              <a:rPr sz="1800" spc="-10" dirty="0">
                <a:latin typeface="Times New Roman"/>
                <a:cs typeface="Times New Roman"/>
              </a:rPr>
              <a:t>01</a:t>
            </a:r>
            <a:r>
              <a:rPr sz="1800" spc="-5" dirty="0">
                <a:latin typeface="Times New Roman"/>
                <a:cs typeface="Times New Roman"/>
              </a:rPr>
              <a:t> is </a:t>
            </a:r>
            <a:r>
              <a:rPr sz="1800" spc="-10" dirty="0">
                <a:latin typeface="Times New Roman"/>
                <a:cs typeface="Times New Roman"/>
              </a:rPr>
              <a:t>labelled </a:t>
            </a:r>
            <a:r>
              <a:rPr sz="1800" spc="-5" dirty="0">
                <a:latin typeface="Times New Roman"/>
                <a:cs typeface="Times New Roman"/>
              </a:rPr>
              <a:t>1/0, </a:t>
            </a:r>
            <a:r>
              <a:rPr sz="1800" spc="-10" dirty="0">
                <a:latin typeface="Times New Roman"/>
                <a:cs typeface="Times New Roman"/>
              </a:rPr>
              <a:t>meaning </a:t>
            </a:r>
            <a:r>
              <a:rPr sz="1800" spc="-5" dirty="0">
                <a:latin typeface="Times New Roman"/>
                <a:cs typeface="Times New Roman"/>
              </a:rPr>
              <a:t>that, </a:t>
            </a:r>
            <a:r>
              <a:rPr sz="1800" dirty="0">
                <a:latin typeface="Times New Roman"/>
                <a:cs typeface="Times New Roman"/>
              </a:rPr>
              <a:t>if the </a:t>
            </a:r>
            <a:r>
              <a:rPr sz="1800" spc="5" dirty="0">
                <a:latin typeface="Times New Roman"/>
                <a:cs typeface="Times New Roman"/>
              </a:rPr>
              <a:t> </a:t>
            </a:r>
            <a:r>
              <a:rPr sz="1800" spc="-10" dirty="0">
                <a:latin typeface="Times New Roman"/>
                <a:cs typeface="Times New Roman"/>
              </a:rPr>
              <a:t>sequential circuit </a:t>
            </a:r>
            <a:r>
              <a:rPr sz="1800" dirty="0">
                <a:latin typeface="Times New Roman"/>
                <a:cs typeface="Times New Roman"/>
              </a:rPr>
              <a:t>is </a:t>
            </a:r>
            <a:r>
              <a:rPr sz="1800" spc="-15" dirty="0">
                <a:latin typeface="Times New Roman"/>
                <a:cs typeface="Times New Roman"/>
              </a:rPr>
              <a:t>in </a:t>
            </a:r>
            <a:r>
              <a:rPr sz="1800" dirty="0">
                <a:latin typeface="Times New Roman"/>
                <a:cs typeface="Times New Roman"/>
              </a:rPr>
              <a:t>a </a:t>
            </a:r>
            <a:r>
              <a:rPr sz="1800" spc="-10" dirty="0">
                <a:latin typeface="Times New Roman"/>
                <a:cs typeface="Times New Roman"/>
              </a:rPr>
              <a:t>present state </a:t>
            </a:r>
            <a:r>
              <a:rPr sz="1800" spc="-20" dirty="0">
                <a:latin typeface="Times New Roman"/>
                <a:cs typeface="Times New Roman"/>
              </a:rPr>
              <a:t>and </a:t>
            </a:r>
            <a:r>
              <a:rPr sz="1800" spc="-10" dirty="0">
                <a:latin typeface="Times New Roman"/>
                <a:cs typeface="Times New Roman"/>
              </a:rPr>
              <a:t>the input </a:t>
            </a:r>
            <a:r>
              <a:rPr sz="1800" dirty="0">
                <a:latin typeface="Times New Roman"/>
                <a:cs typeface="Times New Roman"/>
              </a:rPr>
              <a:t>is </a:t>
            </a:r>
            <a:r>
              <a:rPr sz="1800" spc="5" dirty="0">
                <a:latin typeface="Times New Roman"/>
                <a:cs typeface="Times New Roman"/>
              </a:rPr>
              <a:t>1, </a:t>
            </a:r>
            <a:r>
              <a:rPr sz="1800" spc="-15" dirty="0">
                <a:latin typeface="Times New Roman"/>
                <a:cs typeface="Times New Roman"/>
              </a:rPr>
              <a:t>then </a:t>
            </a:r>
            <a:r>
              <a:rPr sz="1800" spc="-10" dirty="0">
                <a:latin typeface="Times New Roman"/>
                <a:cs typeface="Times New Roman"/>
              </a:rPr>
              <a:t>the </a:t>
            </a:r>
            <a:r>
              <a:rPr sz="1800" spc="-5" dirty="0">
                <a:latin typeface="Times New Roman"/>
                <a:cs typeface="Times New Roman"/>
              </a:rPr>
              <a:t> next </a:t>
            </a:r>
            <a:r>
              <a:rPr sz="1800" spc="-10" dirty="0">
                <a:latin typeface="Times New Roman"/>
                <a:cs typeface="Times New Roman"/>
              </a:rPr>
              <a:t>state </a:t>
            </a:r>
            <a:r>
              <a:rPr sz="1800" spc="-5" dirty="0">
                <a:latin typeface="Times New Roman"/>
                <a:cs typeface="Times New Roman"/>
              </a:rPr>
              <a:t>is </a:t>
            </a:r>
            <a:r>
              <a:rPr sz="1800" spc="5" dirty="0">
                <a:latin typeface="Times New Roman"/>
                <a:cs typeface="Times New Roman"/>
              </a:rPr>
              <a:t>01 </a:t>
            </a:r>
            <a:r>
              <a:rPr sz="1800" spc="-10" dirty="0">
                <a:latin typeface="Times New Roman"/>
                <a:cs typeface="Times New Roman"/>
              </a:rPr>
              <a:t>and </a:t>
            </a:r>
            <a:r>
              <a:rPr sz="1800" dirty="0">
                <a:latin typeface="Times New Roman"/>
                <a:cs typeface="Times New Roman"/>
              </a:rPr>
              <a:t>the output </a:t>
            </a:r>
            <a:r>
              <a:rPr sz="1800" spc="-5" dirty="0">
                <a:latin typeface="Times New Roman"/>
                <a:cs typeface="Times New Roman"/>
              </a:rPr>
              <a:t>is </a:t>
            </a:r>
            <a:r>
              <a:rPr sz="1800" spc="5" dirty="0">
                <a:latin typeface="Times New Roman"/>
                <a:cs typeface="Times New Roman"/>
              </a:rPr>
              <a:t>0. </a:t>
            </a:r>
            <a:r>
              <a:rPr sz="1800" dirty="0">
                <a:latin typeface="Times New Roman"/>
                <a:cs typeface="Times New Roman"/>
              </a:rPr>
              <a:t>If it </a:t>
            </a:r>
            <a:r>
              <a:rPr sz="1800" spc="-5" dirty="0">
                <a:latin typeface="Times New Roman"/>
                <a:cs typeface="Times New Roman"/>
              </a:rPr>
              <a:t>is </a:t>
            </a:r>
            <a:r>
              <a:rPr sz="1800" dirty="0">
                <a:latin typeface="Times New Roman"/>
                <a:cs typeface="Times New Roman"/>
              </a:rPr>
              <a:t>in a </a:t>
            </a:r>
            <a:r>
              <a:rPr sz="1800" spc="-5" dirty="0">
                <a:latin typeface="Times New Roman"/>
                <a:cs typeface="Times New Roman"/>
              </a:rPr>
              <a:t>present </a:t>
            </a:r>
            <a:r>
              <a:rPr sz="1800" spc="-10" dirty="0">
                <a:latin typeface="Times New Roman"/>
                <a:cs typeface="Times New Roman"/>
              </a:rPr>
              <a:t>state </a:t>
            </a:r>
            <a:r>
              <a:rPr sz="1800" spc="10" dirty="0">
                <a:latin typeface="Times New Roman"/>
                <a:cs typeface="Times New Roman"/>
              </a:rPr>
              <a:t>00 </a:t>
            </a:r>
            <a:r>
              <a:rPr sz="1800" spc="15" dirty="0">
                <a:latin typeface="Times New Roman"/>
                <a:cs typeface="Times New Roman"/>
              </a:rPr>
              <a:t> </a:t>
            </a:r>
            <a:r>
              <a:rPr sz="1800" dirty="0">
                <a:latin typeface="Times New Roman"/>
                <a:cs typeface="Times New Roman"/>
              </a:rPr>
              <a:t>and </a:t>
            </a:r>
            <a:r>
              <a:rPr sz="1800" spc="-5" dirty="0">
                <a:latin typeface="Times New Roman"/>
                <a:cs typeface="Times New Roman"/>
              </a:rPr>
              <a:t>the input is </a:t>
            </a:r>
            <a:r>
              <a:rPr sz="1800" spc="5" dirty="0">
                <a:latin typeface="Times New Roman"/>
                <a:cs typeface="Times New Roman"/>
              </a:rPr>
              <a:t>0, </a:t>
            </a:r>
            <a:r>
              <a:rPr sz="1800" dirty="0">
                <a:latin typeface="Times New Roman"/>
                <a:cs typeface="Times New Roman"/>
              </a:rPr>
              <a:t>it </a:t>
            </a:r>
            <a:r>
              <a:rPr sz="1800" spc="-15" dirty="0">
                <a:latin typeface="Times New Roman"/>
                <a:cs typeface="Times New Roman"/>
              </a:rPr>
              <a:t>will </a:t>
            </a:r>
            <a:r>
              <a:rPr sz="1800" spc="-10" dirty="0">
                <a:latin typeface="Times New Roman"/>
                <a:cs typeface="Times New Roman"/>
              </a:rPr>
              <a:t>remain </a:t>
            </a:r>
            <a:r>
              <a:rPr sz="1800" spc="-15" dirty="0">
                <a:latin typeface="Times New Roman"/>
                <a:cs typeface="Times New Roman"/>
              </a:rPr>
              <a:t>in </a:t>
            </a:r>
            <a:r>
              <a:rPr sz="1800" spc="-5" dirty="0">
                <a:latin typeface="Times New Roman"/>
                <a:cs typeface="Times New Roman"/>
              </a:rPr>
              <a:t>that </a:t>
            </a:r>
            <a:r>
              <a:rPr sz="1800" spc="-10" dirty="0">
                <a:latin typeface="Times New Roman"/>
                <a:cs typeface="Times New Roman"/>
              </a:rPr>
              <a:t>state. </a:t>
            </a:r>
            <a:r>
              <a:rPr sz="1800" spc="-5" dirty="0">
                <a:latin typeface="Times New Roman"/>
                <a:cs typeface="Times New Roman"/>
              </a:rPr>
              <a:t>A </a:t>
            </a:r>
            <a:r>
              <a:rPr sz="1800" spc="-10" dirty="0">
                <a:latin typeface="Times New Roman"/>
                <a:cs typeface="Times New Roman"/>
              </a:rPr>
              <a:t>directed </a:t>
            </a:r>
            <a:r>
              <a:rPr sz="1800" spc="-5" dirty="0">
                <a:latin typeface="Times New Roman"/>
                <a:cs typeface="Times New Roman"/>
              </a:rPr>
              <a:t>line </a:t>
            </a:r>
            <a:r>
              <a:rPr sz="1800" dirty="0">
                <a:latin typeface="Times New Roman"/>
                <a:cs typeface="Times New Roman"/>
              </a:rPr>
              <a:t> connecting a </a:t>
            </a:r>
            <a:r>
              <a:rPr sz="1800" spc="-5" dirty="0">
                <a:latin typeface="Times New Roman"/>
                <a:cs typeface="Times New Roman"/>
              </a:rPr>
              <a:t>circle </a:t>
            </a:r>
            <a:r>
              <a:rPr sz="1800" spc="-15" dirty="0">
                <a:latin typeface="Times New Roman"/>
                <a:cs typeface="Times New Roman"/>
              </a:rPr>
              <a:t>with </a:t>
            </a:r>
            <a:r>
              <a:rPr sz="1800" spc="-5" dirty="0">
                <a:latin typeface="Times New Roman"/>
                <a:cs typeface="Times New Roman"/>
              </a:rPr>
              <a:t>itself </a:t>
            </a:r>
            <a:r>
              <a:rPr sz="1800" dirty="0">
                <a:latin typeface="Times New Roman"/>
                <a:cs typeface="Times New Roman"/>
              </a:rPr>
              <a:t>indicates that </a:t>
            </a:r>
            <a:r>
              <a:rPr sz="1800" spc="5" dirty="0">
                <a:latin typeface="Times New Roman"/>
                <a:cs typeface="Times New Roman"/>
              </a:rPr>
              <a:t>no </a:t>
            </a:r>
            <a:r>
              <a:rPr sz="1800" spc="-10" dirty="0">
                <a:latin typeface="Times New Roman"/>
                <a:cs typeface="Times New Roman"/>
              </a:rPr>
              <a:t>change </a:t>
            </a:r>
            <a:r>
              <a:rPr sz="1800" spc="5" dirty="0">
                <a:latin typeface="Times New Roman"/>
                <a:cs typeface="Times New Roman"/>
              </a:rPr>
              <a:t>of </a:t>
            </a:r>
            <a:r>
              <a:rPr sz="1800" spc="-5" dirty="0">
                <a:latin typeface="Times New Roman"/>
                <a:cs typeface="Times New Roman"/>
              </a:rPr>
              <a:t>state </a:t>
            </a:r>
            <a:r>
              <a:rPr sz="1800" dirty="0">
                <a:latin typeface="Times New Roman"/>
                <a:cs typeface="Times New Roman"/>
              </a:rPr>
              <a:t> </a:t>
            </a:r>
            <a:r>
              <a:rPr sz="1800" spc="-5" dirty="0">
                <a:latin typeface="Times New Roman"/>
                <a:cs typeface="Times New Roman"/>
              </a:rPr>
              <a:t>occurs. The </a:t>
            </a:r>
            <a:r>
              <a:rPr sz="1800" spc="-10" dirty="0">
                <a:latin typeface="Times New Roman"/>
                <a:cs typeface="Times New Roman"/>
              </a:rPr>
              <a:t>state </a:t>
            </a:r>
            <a:r>
              <a:rPr sz="1800" spc="-5" dirty="0">
                <a:latin typeface="Times New Roman"/>
                <a:cs typeface="Times New Roman"/>
              </a:rPr>
              <a:t>diagram </a:t>
            </a:r>
            <a:r>
              <a:rPr sz="1800" dirty="0">
                <a:latin typeface="Times New Roman"/>
                <a:cs typeface="Times New Roman"/>
              </a:rPr>
              <a:t>provides </a:t>
            </a:r>
            <a:r>
              <a:rPr sz="1800" spc="-5" dirty="0">
                <a:latin typeface="Times New Roman"/>
                <a:cs typeface="Times New Roman"/>
              </a:rPr>
              <a:t>exactly </a:t>
            </a:r>
            <a:r>
              <a:rPr sz="1800" dirty="0">
                <a:latin typeface="Times New Roman"/>
                <a:cs typeface="Times New Roman"/>
              </a:rPr>
              <a:t>the </a:t>
            </a:r>
            <a:r>
              <a:rPr sz="1800" spc="-15" dirty="0">
                <a:latin typeface="Times New Roman"/>
                <a:cs typeface="Times New Roman"/>
              </a:rPr>
              <a:t>same </a:t>
            </a:r>
            <a:r>
              <a:rPr sz="1800" spc="-10" dirty="0">
                <a:latin typeface="Times New Roman"/>
                <a:cs typeface="Times New Roman"/>
              </a:rPr>
              <a:t>information </a:t>
            </a:r>
            <a:r>
              <a:rPr sz="1800" spc="-5" dirty="0">
                <a:latin typeface="Times New Roman"/>
                <a:cs typeface="Times New Roman"/>
              </a:rPr>
              <a:t> as</a:t>
            </a:r>
            <a:r>
              <a:rPr sz="1800" spc="-25"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spc="-5" dirty="0">
                <a:latin typeface="Times New Roman"/>
                <a:cs typeface="Times New Roman"/>
              </a:rPr>
              <a:t>state</a:t>
            </a:r>
            <a:r>
              <a:rPr sz="1800" spc="-20" dirty="0">
                <a:latin typeface="Times New Roman"/>
                <a:cs typeface="Times New Roman"/>
              </a:rPr>
              <a:t> </a:t>
            </a:r>
            <a:r>
              <a:rPr sz="1800" dirty="0">
                <a:latin typeface="Times New Roman"/>
                <a:cs typeface="Times New Roman"/>
              </a:rPr>
              <a:t>table</a:t>
            </a:r>
            <a:r>
              <a:rPr sz="1800" spc="5" dirty="0">
                <a:latin typeface="Times New Roman"/>
                <a:cs typeface="Times New Roman"/>
              </a:rPr>
              <a:t> </a:t>
            </a:r>
            <a:r>
              <a:rPr sz="1800" spc="-5" dirty="0">
                <a:latin typeface="Times New Roman"/>
                <a:cs typeface="Times New Roman"/>
              </a:rPr>
              <a:t>and</a:t>
            </a:r>
            <a:r>
              <a:rPr sz="1800" spc="-30" dirty="0">
                <a:latin typeface="Times New Roman"/>
                <a:cs typeface="Times New Roman"/>
              </a:rPr>
              <a:t> </a:t>
            </a:r>
            <a:r>
              <a:rPr sz="1800" dirty="0">
                <a:latin typeface="Times New Roman"/>
                <a:cs typeface="Times New Roman"/>
              </a:rPr>
              <a:t>is obtained</a:t>
            </a:r>
            <a:r>
              <a:rPr sz="1800" spc="-25" dirty="0">
                <a:latin typeface="Times New Roman"/>
                <a:cs typeface="Times New Roman"/>
              </a:rPr>
              <a:t> </a:t>
            </a:r>
            <a:r>
              <a:rPr sz="1800" spc="-5" dirty="0">
                <a:latin typeface="Times New Roman"/>
                <a:cs typeface="Times New Roman"/>
              </a:rPr>
              <a:t>directly</a:t>
            </a:r>
            <a:r>
              <a:rPr sz="1800" spc="-45" dirty="0">
                <a:latin typeface="Times New Roman"/>
                <a:cs typeface="Times New Roman"/>
              </a:rPr>
              <a:t> </a:t>
            </a:r>
            <a:r>
              <a:rPr sz="1800" spc="-5" dirty="0">
                <a:latin typeface="Times New Roman"/>
                <a:cs typeface="Times New Roman"/>
              </a:rPr>
              <a:t>from</a:t>
            </a:r>
            <a:r>
              <a:rPr sz="1800" spc="-30" dirty="0">
                <a:latin typeface="Times New Roman"/>
                <a:cs typeface="Times New Roman"/>
              </a:rPr>
              <a:t> </a:t>
            </a:r>
            <a:r>
              <a:rPr sz="1800" dirty="0">
                <a:latin typeface="Times New Roman"/>
                <a:cs typeface="Times New Roman"/>
              </a:rPr>
              <a:t>the </a:t>
            </a:r>
            <a:r>
              <a:rPr sz="1800" spc="-5" dirty="0">
                <a:latin typeface="Times New Roman"/>
                <a:cs typeface="Times New Roman"/>
              </a:rPr>
              <a:t>state</a:t>
            </a:r>
            <a:r>
              <a:rPr sz="1800" spc="-20" dirty="0">
                <a:latin typeface="Times New Roman"/>
                <a:cs typeface="Times New Roman"/>
              </a:rPr>
              <a:t> </a:t>
            </a:r>
            <a:r>
              <a:rPr sz="1800" dirty="0">
                <a:latin typeface="Times New Roman"/>
                <a:cs typeface="Times New Roman"/>
              </a:rPr>
              <a:t>table.</a:t>
            </a:r>
            <a:endParaRPr sz="1800">
              <a:latin typeface="Times New Roman"/>
              <a:cs typeface="Times New Roman"/>
            </a:endParaRPr>
          </a:p>
          <a:p>
            <a:pPr marL="6817359" algn="just">
              <a:lnSpc>
                <a:spcPct val="100000"/>
              </a:lnSpc>
              <a:spcBef>
                <a:spcPts val="520"/>
              </a:spcBef>
            </a:pPr>
            <a:r>
              <a:rPr sz="1600" spc="-10" dirty="0">
                <a:latin typeface="Times New Roman"/>
                <a:cs typeface="Times New Roman"/>
              </a:rPr>
              <a:t>S</a:t>
            </a:r>
            <a:r>
              <a:rPr sz="1600" spc="5" dirty="0">
                <a:latin typeface="Times New Roman"/>
                <a:cs typeface="Times New Roman"/>
              </a:rPr>
              <a:t>t</a:t>
            </a:r>
            <a:r>
              <a:rPr sz="1600" dirty="0">
                <a:latin typeface="Times New Roman"/>
                <a:cs typeface="Times New Roman"/>
              </a:rPr>
              <a:t>a</a:t>
            </a:r>
            <a:r>
              <a:rPr sz="1600" spc="5" dirty="0">
                <a:latin typeface="Times New Roman"/>
                <a:cs typeface="Times New Roman"/>
              </a:rPr>
              <a:t>t</a:t>
            </a:r>
            <a:r>
              <a:rPr sz="1600" dirty="0">
                <a:latin typeface="Times New Roman"/>
                <a:cs typeface="Times New Roman"/>
              </a:rPr>
              <a:t>e</a:t>
            </a:r>
            <a:r>
              <a:rPr sz="1600" spc="-100" dirty="0">
                <a:latin typeface="Times New Roman"/>
                <a:cs typeface="Times New Roman"/>
              </a:rPr>
              <a:t> </a:t>
            </a:r>
            <a:r>
              <a:rPr sz="1600" spc="-5" dirty="0">
                <a:latin typeface="Times New Roman"/>
                <a:cs typeface="Times New Roman"/>
              </a:rPr>
              <a:t>D</a:t>
            </a:r>
            <a:r>
              <a:rPr sz="1600" spc="5" dirty="0">
                <a:latin typeface="Times New Roman"/>
                <a:cs typeface="Times New Roman"/>
              </a:rPr>
              <a:t>i</a:t>
            </a:r>
            <a:r>
              <a:rPr sz="1600" dirty="0">
                <a:latin typeface="Times New Roman"/>
                <a:cs typeface="Times New Roman"/>
              </a:rPr>
              <a:t>a</a:t>
            </a:r>
            <a:r>
              <a:rPr sz="1600" spc="-15" dirty="0">
                <a:latin typeface="Times New Roman"/>
                <a:cs typeface="Times New Roman"/>
              </a:rPr>
              <a:t>g</a:t>
            </a:r>
            <a:r>
              <a:rPr sz="1600" spc="-10" dirty="0">
                <a:latin typeface="Times New Roman"/>
                <a:cs typeface="Times New Roman"/>
              </a:rPr>
              <a:t>r</a:t>
            </a:r>
            <a:r>
              <a:rPr sz="1600" dirty="0">
                <a:latin typeface="Times New Roman"/>
                <a:cs typeface="Times New Roman"/>
              </a:rPr>
              <a:t>am</a:t>
            </a:r>
            <a:endParaRPr sz="1600">
              <a:latin typeface="Times New Roman"/>
              <a:cs typeface="Times New Roman"/>
            </a:endParaRPr>
          </a:p>
        </p:txBody>
      </p:sp>
      <p:sp>
        <p:nvSpPr>
          <p:cNvPr id="6" name="object 6"/>
          <p:cNvSpPr txBox="1">
            <a:spLocks noGrp="1"/>
          </p:cNvSpPr>
          <p:nvPr>
            <p:ph type="sldNum" sz="quarter" idx="4294967295"/>
          </p:nvPr>
        </p:nvSpPr>
        <p:spPr>
          <a:xfrm>
            <a:off x="8304021" y="6410197"/>
            <a:ext cx="424815" cy="254000"/>
          </a:xfrm>
          <a:prstGeom prst="rect">
            <a:avLst/>
          </a:prstGeom>
        </p:spPr>
        <p:txBody>
          <a:bodyPr vert="horz" wrap="square" lIns="0" tIns="0" rIns="0" bIns="0" rtlCol="0">
            <a:spAutoFit/>
          </a:bodyPr>
          <a:lstStyle/>
          <a:p>
            <a:pPr marL="38100">
              <a:lnSpc>
                <a:spcPts val="1810"/>
              </a:lnSpc>
            </a:pPr>
            <a:fld id="{81D60167-4931-47E6-BA6A-407CBD079E47}" type="slidenum">
              <a:rPr dirty="0"/>
              <a:t>3</a:t>
            </a:fld>
            <a:endParaRPr dirty="0"/>
          </a:p>
        </p:txBody>
      </p:sp>
    </p:spTree>
    <p:extLst>
      <p:ext uri="{BB962C8B-B14F-4D97-AF65-F5344CB8AC3E}">
        <p14:creationId xmlns:p14="http://schemas.microsoft.com/office/powerpoint/2010/main" val="461771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3235" y="1006602"/>
            <a:ext cx="2621915" cy="57404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0000"/>
                </a:solidFill>
                <a:latin typeface="Times New Roman"/>
                <a:cs typeface="Times New Roman"/>
              </a:rPr>
              <a:t>Example:</a:t>
            </a:r>
            <a:endParaRPr sz="1800">
              <a:latin typeface="Times New Roman"/>
              <a:cs typeface="Times New Roman"/>
            </a:endParaRPr>
          </a:p>
          <a:p>
            <a:pPr marL="12700">
              <a:lnSpc>
                <a:spcPct val="100000"/>
              </a:lnSpc>
            </a:pPr>
            <a:r>
              <a:rPr sz="1800" dirty="0">
                <a:latin typeface="Times New Roman"/>
                <a:cs typeface="Times New Roman"/>
              </a:rPr>
              <a:t>Consider</a:t>
            </a:r>
            <a:r>
              <a:rPr sz="1800" spc="-65" dirty="0">
                <a:latin typeface="Times New Roman"/>
                <a:cs typeface="Times New Roman"/>
              </a:rPr>
              <a:t> </a:t>
            </a:r>
            <a:r>
              <a:rPr sz="1800" dirty="0">
                <a:latin typeface="Times New Roman"/>
                <a:cs typeface="Times New Roman"/>
              </a:rPr>
              <a:t>a</a:t>
            </a:r>
            <a:r>
              <a:rPr sz="1800" spc="-25" dirty="0">
                <a:latin typeface="Times New Roman"/>
                <a:cs typeface="Times New Roman"/>
              </a:rPr>
              <a:t> </a:t>
            </a:r>
            <a:r>
              <a:rPr sz="1800" dirty="0">
                <a:latin typeface="Times New Roman"/>
                <a:cs typeface="Times New Roman"/>
              </a:rPr>
              <a:t>sequential</a:t>
            </a:r>
            <a:r>
              <a:rPr sz="1800" spc="-110" dirty="0">
                <a:latin typeface="Times New Roman"/>
                <a:cs typeface="Times New Roman"/>
              </a:rPr>
              <a:t> </a:t>
            </a:r>
            <a:r>
              <a:rPr sz="1800" spc="-5" dirty="0">
                <a:latin typeface="Times New Roman"/>
                <a:cs typeface="Times New Roman"/>
              </a:rPr>
              <a:t>circuit</a:t>
            </a:r>
            <a:endParaRPr sz="1800">
              <a:latin typeface="Times New Roman"/>
              <a:cs typeface="Times New Roman"/>
            </a:endParaRPr>
          </a:p>
        </p:txBody>
      </p:sp>
      <p:sp>
        <p:nvSpPr>
          <p:cNvPr id="4" name="object 4"/>
          <p:cNvSpPr txBox="1">
            <a:spLocks noGrp="1"/>
          </p:cNvSpPr>
          <p:nvPr>
            <p:ph type="title"/>
          </p:nvPr>
        </p:nvSpPr>
        <p:spPr>
          <a:xfrm>
            <a:off x="2643885" y="154889"/>
            <a:ext cx="3850640" cy="574675"/>
          </a:xfrm>
          <a:prstGeom prst="rect">
            <a:avLst/>
          </a:prstGeom>
        </p:spPr>
        <p:txBody>
          <a:bodyPr vert="horz" wrap="square" lIns="0" tIns="12700" rIns="0" bIns="0" rtlCol="0">
            <a:spAutoFit/>
          </a:bodyPr>
          <a:lstStyle/>
          <a:p>
            <a:pPr marL="12700">
              <a:lnSpc>
                <a:spcPct val="100000"/>
              </a:lnSpc>
              <a:spcBef>
                <a:spcPts val="100"/>
              </a:spcBef>
            </a:pPr>
            <a:r>
              <a:rPr sz="3600" spc="-155" dirty="0"/>
              <a:t>S</a:t>
            </a:r>
            <a:r>
              <a:rPr sz="3600" spc="-135" dirty="0"/>
              <a:t>T</a:t>
            </a:r>
            <a:r>
              <a:rPr sz="3600" spc="-155" dirty="0"/>
              <a:t>A</a:t>
            </a:r>
            <a:r>
              <a:rPr sz="3600" spc="-135" dirty="0"/>
              <a:t>T</a:t>
            </a:r>
            <a:r>
              <a:rPr sz="3600" dirty="0"/>
              <a:t>E</a:t>
            </a:r>
            <a:r>
              <a:rPr sz="3600" spc="-204" dirty="0"/>
              <a:t> </a:t>
            </a:r>
            <a:r>
              <a:rPr sz="3600" dirty="0"/>
              <a:t>M</a:t>
            </a:r>
            <a:r>
              <a:rPr sz="3600" spc="-15" dirty="0"/>
              <a:t>A</a:t>
            </a:r>
            <a:r>
              <a:rPr sz="3600" dirty="0"/>
              <a:t>CHI</a:t>
            </a:r>
            <a:r>
              <a:rPr sz="3600" spc="-15" dirty="0"/>
              <a:t>N</a:t>
            </a:r>
            <a:r>
              <a:rPr sz="3600" dirty="0"/>
              <a:t>ES</a:t>
            </a:r>
            <a:endParaRPr sz="3600"/>
          </a:p>
        </p:txBody>
      </p:sp>
      <p:pic>
        <p:nvPicPr>
          <p:cNvPr id="5" name="object 5"/>
          <p:cNvPicPr/>
          <p:nvPr/>
        </p:nvPicPr>
        <p:blipFill>
          <a:blip r:embed="rId2" cstate="print"/>
          <a:stretch>
            <a:fillRect/>
          </a:stretch>
        </p:blipFill>
        <p:spPr>
          <a:xfrm>
            <a:off x="457200" y="1600200"/>
            <a:ext cx="3657600" cy="2718816"/>
          </a:xfrm>
          <a:prstGeom prst="rect">
            <a:avLst/>
          </a:prstGeom>
        </p:spPr>
      </p:pic>
      <p:sp>
        <p:nvSpPr>
          <p:cNvPr id="6" name="object 6"/>
          <p:cNvSpPr txBox="1"/>
          <p:nvPr/>
        </p:nvSpPr>
        <p:spPr>
          <a:xfrm>
            <a:off x="4119753" y="1158621"/>
            <a:ext cx="4359275" cy="574675"/>
          </a:xfrm>
          <a:prstGeom prst="rect">
            <a:avLst/>
          </a:prstGeom>
        </p:spPr>
        <p:txBody>
          <a:bodyPr vert="horz" wrap="square" lIns="0" tIns="12700" rIns="0" bIns="0" rtlCol="0">
            <a:spAutoFit/>
          </a:bodyPr>
          <a:lstStyle/>
          <a:p>
            <a:pPr marL="12700">
              <a:lnSpc>
                <a:spcPct val="100000"/>
              </a:lnSpc>
              <a:spcBef>
                <a:spcPts val="100"/>
              </a:spcBef>
            </a:pPr>
            <a:r>
              <a:rPr sz="1800" spc="-5" dirty="0">
                <a:latin typeface="Times New Roman"/>
                <a:cs typeface="Times New Roman"/>
              </a:rPr>
              <a:t>The</a:t>
            </a:r>
            <a:r>
              <a:rPr sz="1800" spc="-50" dirty="0">
                <a:latin typeface="Times New Roman"/>
                <a:cs typeface="Times New Roman"/>
              </a:rPr>
              <a:t> </a:t>
            </a:r>
            <a:r>
              <a:rPr sz="1800" spc="-5" dirty="0">
                <a:latin typeface="Times New Roman"/>
                <a:cs typeface="Times New Roman"/>
              </a:rPr>
              <a:t>behavior</a:t>
            </a:r>
            <a:r>
              <a:rPr sz="1800" spc="-60" dirty="0">
                <a:latin typeface="Times New Roman"/>
                <a:cs typeface="Times New Roman"/>
              </a:rPr>
              <a:t> </a:t>
            </a:r>
            <a:r>
              <a:rPr sz="1800" spc="5" dirty="0">
                <a:latin typeface="Times New Roman"/>
                <a:cs typeface="Times New Roman"/>
              </a:rPr>
              <a:t>of </a:t>
            </a:r>
            <a:r>
              <a:rPr sz="1800" dirty="0">
                <a:latin typeface="Times New Roman"/>
                <a:cs typeface="Times New Roman"/>
              </a:rPr>
              <a:t>the</a:t>
            </a:r>
            <a:r>
              <a:rPr sz="1800" spc="-25" dirty="0">
                <a:latin typeface="Times New Roman"/>
                <a:cs typeface="Times New Roman"/>
              </a:rPr>
              <a:t> </a:t>
            </a:r>
            <a:r>
              <a:rPr sz="1800" spc="-5" dirty="0">
                <a:latin typeface="Times New Roman"/>
                <a:cs typeface="Times New Roman"/>
              </a:rPr>
              <a:t>circuit</a:t>
            </a:r>
            <a:r>
              <a:rPr sz="1800" spc="-30" dirty="0">
                <a:latin typeface="Times New Roman"/>
                <a:cs typeface="Times New Roman"/>
              </a:rPr>
              <a:t> </a:t>
            </a:r>
            <a:r>
              <a:rPr sz="1800" spc="-5" dirty="0">
                <a:latin typeface="Times New Roman"/>
                <a:cs typeface="Times New Roman"/>
              </a:rPr>
              <a:t>is</a:t>
            </a:r>
            <a:r>
              <a:rPr sz="1800" spc="5" dirty="0">
                <a:latin typeface="Times New Roman"/>
                <a:cs typeface="Times New Roman"/>
              </a:rPr>
              <a:t> </a:t>
            </a:r>
            <a:r>
              <a:rPr sz="1800" spc="-5" dirty="0">
                <a:latin typeface="Times New Roman"/>
                <a:cs typeface="Times New Roman"/>
              </a:rPr>
              <a:t>determined</a:t>
            </a:r>
            <a:r>
              <a:rPr sz="1800" spc="-25" dirty="0">
                <a:latin typeface="Times New Roman"/>
                <a:cs typeface="Times New Roman"/>
              </a:rPr>
              <a:t> </a:t>
            </a:r>
            <a:r>
              <a:rPr sz="1800" spc="5" dirty="0">
                <a:latin typeface="Times New Roman"/>
                <a:cs typeface="Times New Roman"/>
              </a:rPr>
              <a:t>by</a:t>
            </a:r>
            <a:r>
              <a:rPr sz="1800" spc="-30" dirty="0">
                <a:latin typeface="Times New Roman"/>
                <a:cs typeface="Times New Roman"/>
              </a:rPr>
              <a:t> </a:t>
            </a:r>
            <a:r>
              <a:rPr sz="1800" dirty="0">
                <a:latin typeface="Times New Roman"/>
                <a:cs typeface="Times New Roman"/>
              </a:rPr>
              <a:t>the</a:t>
            </a:r>
            <a:endParaRPr sz="1800">
              <a:latin typeface="Times New Roman"/>
              <a:cs typeface="Times New Roman"/>
            </a:endParaRPr>
          </a:p>
          <a:p>
            <a:pPr marL="12700">
              <a:lnSpc>
                <a:spcPct val="100000"/>
              </a:lnSpc>
            </a:pPr>
            <a:r>
              <a:rPr sz="1800" spc="-5" dirty="0">
                <a:latin typeface="Times New Roman"/>
                <a:cs typeface="Times New Roman"/>
              </a:rPr>
              <a:t>following</a:t>
            </a:r>
            <a:r>
              <a:rPr sz="1800" spc="-85" dirty="0">
                <a:latin typeface="Times New Roman"/>
                <a:cs typeface="Times New Roman"/>
              </a:rPr>
              <a:t> </a:t>
            </a:r>
            <a:r>
              <a:rPr sz="1800" dirty="0">
                <a:latin typeface="Times New Roman"/>
                <a:cs typeface="Times New Roman"/>
              </a:rPr>
              <a:t>Boolean</a:t>
            </a:r>
            <a:r>
              <a:rPr sz="1800" spc="-40" dirty="0">
                <a:latin typeface="Times New Roman"/>
                <a:cs typeface="Times New Roman"/>
              </a:rPr>
              <a:t> </a:t>
            </a:r>
            <a:r>
              <a:rPr sz="1800" spc="-5" dirty="0">
                <a:latin typeface="Times New Roman"/>
                <a:cs typeface="Times New Roman"/>
              </a:rPr>
              <a:t>expressions:</a:t>
            </a:r>
            <a:endParaRPr sz="1800">
              <a:latin typeface="Times New Roman"/>
              <a:cs typeface="Times New Roman"/>
            </a:endParaRPr>
          </a:p>
        </p:txBody>
      </p:sp>
      <p:sp>
        <p:nvSpPr>
          <p:cNvPr id="9" name="object 9"/>
          <p:cNvSpPr txBox="1">
            <a:spLocks noGrp="1"/>
          </p:cNvSpPr>
          <p:nvPr>
            <p:ph type="sldNum" sz="quarter" idx="4294967295"/>
          </p:nvPr>
        </p:nvSpPr>
        <p:spPr>
          <a:xfrm>
            <a:off x="8304021" y="6410197"/>
            <a:ext cx="424815" cy="254000"/>
          </a:xfrm>
          <a:prstGeom prst="rect">
            <a:avLst/>
          </a:prstGeom>
        </p:spPr>
        <p:txBody>
          <a:bodyPr vert="horz" wrap="square" lIns="0" tIns="0" rIns="0" bIns="0" rtlCol="0">
            <a:spAutoFit/>
          </a:bodyPr>
          <a:lstStyle/>
          <a:p>
            <a:pPr marL="38100">
              <a:lnSpc>
                <a:spcPts val="1810"/>
              </a:lnSpc>
            </a:pPr>
            <a:fld id="{81D60167-4931-47E6-BA6A-407CBD079E47}" type="slidenum">
              <a:rPr dirty="0"/>
              <a:t>4</a:t>
            </a:fld>
            <a:endParaRPr dirty="0"/>
          </a:p>
        </p:txBody>
      </p:sp>
      <p:sp>
        <p:nvSpPr>
          <p:cNvPr id="7" name="object 7"/>
          <p:cNvSpPr txBox="1"/>
          <p:nvPr/>
        </p:nvSpPr>
        <p:spPr>
          <a:xfrm>
            <a:off x="5263388" y="1982088"/>
            <a:ext cx="2247265" cy="1120775"/>
          </a:xfrm>
          <a:prstGeom prst="rect">
            <a:avLst/>
          </a:prstGeom>
        </p:spPr>
        <p:txBody>
          <a:bodyPr vert="horz" wrap="square" lIns="0" tIns="104139" rIns="0" bIns="0" rtlCol="0">
            <a:spAutoFit/>
          </a:bodyPr>
          <a:lstStyle/>
          <a:p>
            <a:pPr marL="12700">
              <a:lnSpc>
                <a:spcPct val="100000"/>
              </a:lnSpc>
              <a:spcBef>
                <a:spcPts val="819"/>
              </a:spcBef>
            </a:pPr>
            <a:r>
              <a:rPr sz="1800" b="1" dirty="0">
                <a:latin typeface="Times New Roman"/>
                <a:cs typeface="Times New Roman"/>
              </a:rPr>
              <a:t>Z</a:t>
            </a:r>
            <a:r>
              <a:rPr sz="1800" b="1" spc="-55" dirty="0">
                <a:latin typeface="Times New Roman"/>
                <a:cs typeface="Times New Roman"/>
              </a:rPr>
              <a:t> </a:t>
            </a:r>
            <a:r>
              <a:rPr sz="1800" b="1" dirty="0">
                <a:latin typeface="Times New Roman"/>
                <a:cs typeface="Times New Roman"/>
              </a:rPr>
              <a:t>=</a:t>
            </a:r>
            <a:r>
              <a:rPr sz="1800" b="1" spc="-60" dirty="0">
                <a:latin typeface="Times New Roman"/>
                <a:cs typeface="Times New Roman"/>
              </a:rPr>
              <a:t> </a:t>
            </a:r>
            <a:r>
              <a:rPr sz="1800" b="1" spc="10" dirty="0">
                <a:latin typeface="Times New Roman"/>
                <a:cs typeface="Times New Roman"/>
              </a:rPr>
              <a:t>x*Q1</a:t>
            </a:r>
            <a:endParaRPr sz="1800">
              <a:latin typeface="Times New Roman"/>
              <a:cs typeface="Times New Roman"/>
            </a:endParaRPr>
          </a:p>
          <a:p>
            <a:pPr marL="241300">
              <a:lnSpc>
                <a:spcPct val="100000"/>
              </a:lnSpc>
              <a:spcBef>
                <a:spcPts val="725"/>
              </a:spcBef>
            </a:pPr>
            <a:r>
              <a:rPr sz="1800" b="1" spc="-5" dirty="0">
                <a:latin typeface="Times New Roman"/>
                <a:cs typeface="Times New Roman"/>
              </a:rPr>
              <a:t>D1</a:t>
            </a:r>
            <a:r>
              <a:rPr sz="1800" b="1" spc="-55" dirty="0">
                <a:latin typeface="Times New Roman"/>
                <a:cs typeface="Times New Roman"/>
              </a:rPr>
              <a:t> </a:t>
            </a:r>
            <a:r>
              <a:rPr sz="1800" b="1" dirty="0">
                <a:latin typeface="Times New Roman"/>
                <a:cs typeface="Times New Roman"/>
              </a:rPr>
              <a:t>=</a:t>
            </a:r>
            <a:r>
              <a:rPr sz="1800" b="1" spc="-30" dirty="0">
                <a:latin typeface="Times New Roman"/>
                <a:cs typeface="Times New Roman"/>
              </a:rPr>
              <a:t> </a:t>
            </a:r>
            <a:r>
              <a:rPr sz="1800" b="1" spc="25" dirty="0">
                <a:latin typeface="Times New Roman"/>
                <a:cs typeface="Times New Roman"/>
              </a:rPr>
              <a:t>x'</a:t>
            </a:r>
            <a:r>
              <a:rPr sz="1800" b="1" spc="-30" dirty="0">
                <a:latin typeface="Times New Roman"/>
                <a:cs typeface="Times New Roman"/>
              </a:rPr>
              <a:t> </a:t>
            </a:r>
            <a:r>
              <a:rPr sz="1800" b="1" dirty="0">
                <a:latin typeface="Times New Roman"/>
                <a:cs typeface="Times New Roman"/>
              </a:rPr>
              <a:t>+</a:t>
            </a:r>
            <a:r>
              <a:rPr sz="1800" b="1" spc="-100" dirty="0">
                <a:latin typeface="Times New Roman"/>
                <a:cs typeface="Times New Roman"/>
              </a:rPr>
              <a:t> </a:t>
            </a:r>
            <a:r>
              <a:rPr sz="1800" b="1" spc="15" dirty="0">
                <a:latin typeface="Times New Roman"/>
                <a:cs typeface="Times New Roman"/>
              </a:rPr>
              <a:t>Q1</a:t>
            </a:r>
            <a:endParaRPr sz="1800">
              <a:latin typeface="Times New Roman"/>
              <a:cs typeface="Times New Roman"/>
            </a:endParaRPr>
          </a:p>
          <a:p>
            <a:pPr marL="241300">
              <a:lnSpc>
                <a:spcPct val="100000"/>
              </a:lnSpc>
              <a:spcBef>
                <a:spcPts val="695"/>
              </a:spcBef>
            </a:pPr>
            <a:r>
              <a:rPr sz="1800" b="1" spc="-5" dirty="0">
                <a:latin typeface="Times New Roman"/>
                <a:cs typeface="Times New Roman"/>
              </a:rPr>
              <a:t>D2</a:t>
            </a:r>
            <a:r>
              <a:rPr sz="1800" b="1" spc="-35" dirty="0">
                <a:latin typeface="Times New Roman"/>
                <a:cs typeface="Times New Roman"/>
              </a:rPr>
              <a:t> </a:t>
            </a:r>
            <a:r>
              <a:rPr sz="1800" b="1" dirty="0">
                <a:latin typeface="Times New Roman"/>
                <a:cs typeface="Times New Roman"/>
              </a:rPr>
              <a:t>=</a:t>
            </a:r>
            <a:r>
              <a:rPr sz="1800" b="1" spc="10" dirty="0">
                <a:latin typeface="Times New Roman"/>
                <a:cs typeface="Times New Roman"/>
              </a:rPr>
              <a:t> </a:t>
            </a:r>
            <a:r>
              <a:rPr sz="1800" b="1" spc="30" dirty="0">
                <a:latin typeface="Times New Roman"/>
                <a:cs typeface="Times New Roman"/>
              </a:rPr>
              <a:t>x</a:t>
            </a:r>
            <a:r>
              <a:rPr sz="1800" b="1" spc="10" dirty="0">
                <a:latin typeface="Times New Roman"/>
                <a:cs typeface="Times New Roman"/>
              </a:rPr>
              <a:t>*Q2</a:t>
            </a:r>
            <a:r>
              <a:rPr sz="1800" b="1" dirty="0">
                <a:latin typeface="Times New Roman"/>
                <a:cs typeface="Times New Roman"/>
              </a:rPr>
              <a:t>'</a:t>
            </a:r>
            <a:r>
              <a:rPr sz="1800" b="1" spc="-10" dirty="0">
                <a:latin typeface="Times New Roman"/>
                <a:cs typeface="Times New Roman"/>
              </a:rPr>
              <a:t> </a:t>
            </a:r>
            <a:r>
              <a:rPr sz="1800" b="1" dirty="0">
                <a:latin typeface="Times New Roman"/>
                <a:cs typeface="Times New Roman"/>
              </a:rPr>
              <a:t>+</a:t>
            </a:r>
            <a:r>
              <a:rPr sz="1800" b="1" spc="-180" dirty="0">
                <a:latin typeface="Times New Roman"/>
                <a:cs typeface="Times New Roman"/>
              </a:rPr>
              <a:t> </a:t>
            </a:r>
            <a:r>
              <a:rPr sz="1800" b="1" spc="30" dirty="0">
                <a:latin typeface="Times New Roman"/>
                <a:cs typeface="Times New Roman"/>
              </a:rPr>
              <a:t>x</a:t>
            </a:r>
            <a:r>
              <a:rPr sz="1800" b="1" dirty="0">
                <a:latin typeface="Times New Roman"/>
                <a:cs typeface="Times New Roman"/>
              </a:rPr>
              <a:t>'</a:t>
            </a:r>
            <a:r>
              <a:rPr sz="1800" b="1" spc="10" dirty="0">
                <a:latin typeface="Times New Roman"/>
                <a:cs typeface="Times New Roman"/>
              </a:rPr>
              <a:t>*Q1</a:t>
            </a:r>
            <a:r>
              <a:rPr sz="1800" b="1" dirty="0">
                <a:latin typeface="Times New Roman"/>
                <a:cs typeface="Times New Roman"/>
              </a:rPr>
              <a:t>'</a:t>
            </a:r>
            <a:endParaRPr sz="1800">
              <a:latin typeface="Times New Roman"/>
              <a:cs typeface="Times New Roman"/>
            </a:endParaRPr>
          </a:p>
        </p:txBody>
      </p:sp>
      <p:sp>
        <p:nvSpPr>
          <p:cNvPr id="8" name="object 8"/>
          <p:cNvSpPr txBox="1"/>
          <p:nvPr/>
        </p:nvSpPr>
        <p:spPr>
          <a:xfrm>
            <a:off x="230835" y="4438650"/>
            <a:ext cx="8712835" cy="1397635"/>
          </a:xfrm>
          <a:prstGeom prst="rect">
            <a:avLst/>
          </a:prstGeom>
        </p:spPr>
        <p:txBody>
          <a:bodyPr vert="horz" wrap="square" lIns="0" tIns="12700" rIns="0" bIns="0" rtlCol="0">
            <a:spAutoFit/>
          </a:bodyPr>
          <a:lstStyle/>
          <a:p>
            <a:pPr marL="12700" marR="5080">
              <a:lnSpc>
                <a:spcPct val="100000"/>
              </a:lnSpc>
              <a:spcBef>
                <a:spcPts val="100"/>
              </a:spcBef>
            </a:pPr>
            <a:r>
              <a:rPr sz="1800" spc="-5" dirty="0">
                <a:latin typeface="Times New Roman"/>
                <a:cs typeface="Times New Roman"/>
              </a:rPr>
              <a:t>These </a:t>
            </a:r>
            <a:r>
              <a:rPr sz="1800" dirty="0">
                <a:latin typeface="Times New Roman"/>
                <a:cs typeface="Times New Roman"/>
              </a:rPr>
              <a:t>equations </a:t>
            </a:r>
            <a:r>
              <a:rPr sz="1800" spc="-10" dirty="0">
                <a:latin typeface="Times New Roman"/>
                <a:cs typeface="Times New Roman"/>
              </a:rPr>
              <a:t>can </a:t>
            </a:r>
            <a:r>
              <a:rPr sz="1800" spc="5" dirty="0">
                <a:latin typeface="Times New Roman"/>
                <a:cs typeface="Times New Roman"/>
              </a:rPr>
              <a:t>be </a:t>
            </a:r>
            <a:r>
              <a:rPr sz="1800" spc="-5" dirty="0">
                <a:latin typeface="Times New Roman"/>
                <a:cs typeface="Times New Roman"/>
              </a:rPr>
              <a:t>used </a:t>
            </a:r>
            <a:r>
              <a:rPr sz="1800" dirty="0">
                <a:latin typeface="Times New Roman"/>
                <a:cs typeface="Times New Roman"/>
              </a:rPr>
              <a:t>to </a:t>
            </a:r>
            <a:r>
              <a:rPr sz="1800" spc="-5" dirty="0">
                <a:latin typeface="Times New Roman"/>
                <a:cs typeface="Times New Roman"/>
              </a:rPr>
              <a:t>form </a:t>
            </a:r>
            <a:r>
              <a:rPr sz="1800" dirty="0">
                <a:latin typeface="Times New Roman"/>
                <a:cs typeface="Times New Roman"/>
              </a:rPr>
              <a:t>the </a:t>
            </a:r>
            <a:r>
              <a:rPr sz="1800" spc="-5" dirty="0">
                <a:latin typeface="Times New Roman"/>
                <a:cs typeface="Times New Roman"/>
              </a:rPr>
              <a:t>state </a:t>
            </a:r>
            <a:r>
              <a:rPr sz="1800" dirty="0">
                <a:latin typeface="Times New Roman"/>
                <a:cs typeface="Times New Roman"/>
              </a:rPr>
              <a:t>table. </a:t>
            </a:r>
            <a:r>
              <a:rPr sz="1800" spc="5" dirty="0">
                <a:latin typeface="Times New Roman"/>
                <a:cs typeface="Times New Roman"/>
              </a:rPr>
              <a:t>Suppose </a:t>
            </a:r>
            <a:r>
              <a:rPr sz="1800" dirty="0">
                <a:latin typeface="Times New Roman"/>
                <a:cs typeface="Times New Roman"/>
              </a:rPr>
              <a:t>the </a:t>
            </a:r>
            <a:r>
              <a:rPr sz="1800" spc="-5" dirty="0">
                <a:latin typeface="Times New Roman"/>
                <a:cs typeface="Times New Roman"/>
              </a:rPr>
              <a:t>present state (i.e. </a:t>
            </a:r>
            <a:r>
              <a:rPr sz="1800" dirty="0">
                <a:latin typeface="Times New Roman"/>
                <a:cs typeface="Times New Roman"/>
              </a:rPr>
              <a:t>Q1Q2) = </a:t>
            </a:r>
            <a:r>
              <a:rPr sz="1800" spc="5" dirty="0">
                <a:latin typeface="Times New Roman"/>
                <a:cs typeface="Times New Roman"/>
              </a:rPr>
              <a:t>00 </a:t>
            </a:r>
            <a:r>
              <a:rPr sz="1800" spc="-434" dirty="0">
                <a:latin typeface="Times New Roman"/>
                <a:cs typeface="Times New Roman"/>
              </a:rPr>
              <a:t> </a:t>
            </a:r>
            <a:r>
              <a:rPr sz="1800" spc="-5" dirty="0">
                <a:latin typeface="Times New Roman"/>
                <a:cs typeface="Times New Roman"/>
              </a:rPr>
              <a:t>and </a:t>
            </a:r>
            <a:r>
              <a:rPr sz="1800" spc="5" dirty="0">
                <a:latin typeface="Times New Roman"/>
                <a:cs typeface="Times New Roman"/>
              </a:rPr>
              <a:t>input </a:t>
            </a:r>
            <a:r>
              <a:rPr sz="1800" dirty="0">
                <a:latin typeface="Times New Roman"/>
                <a:cs typeface="Times New Roman"/>
              </a:rPr>
              <a:t>x = 0. Under these conditions, </a:t>
            </a:r>
            <a:r>
              <a:rPr sz="1800" spc="-30" dirty="0">
                <a:latin typeface="Times New Roman"/>
                <a:cs typeface="Times New Roman"/>
              </a:rPr>
              <a:t>we </a:t>
            </a:r>
            <a:r>
              <a:rPr sz="1800" spc="-10" dirty="0">
                <a:latin typeface="Times New Roman"/>
                <a:cs typeface="Times New Roman"/>
              </a:rPr>
              <a:t>get </a:t>
            </a:r>
            <a:r>
              <a:rPr sz="1800" dirty="0">
                <a:latin typeface="Times New Roman"/>
                <a:cs typeface="Times New Roman"/>
              </a:rPr>
              <a:t>Z = 0, D1 = 1, </a:t>
            </a:r>
            <a:r>
              <a:rPr sz="1800" spc="-5" dirty="0">
                <a:latin typeface="Times New Roman"/>
                <a:cs typeface="Times New Roman"/>
              </a:rPr>
              <a:t>and </a:t>
            </a:r>
            <a:r>
              <a:rPr sz="1800" dirty="0">
                <a:latin typeface="Times New Roman"/>
                <a:cs typeface="Times New Roman"/>
              </a:rPr>
              <a:t>D2 = 1. </a:t>
            </a:r>
            <a:r>
              <a:rPr sz="1800" spc="-5" dirty="0">
                <a:latin typeface="Times New Roman"/>
                <a:cs typeface="Times New Roman"/>
              </a:rPr>
              <a:t>Thus </a:t>
            </a:r>
            <a:r>
              <a:rPr sz="1800" dirty="0">
                <a:latin typeface="Times New Roman"/>
                <a:cs typeface="Times New Roman"/>
              </a:rPr>
              <a:t>the </a:t>
            </a:r>
            <a:r>
              <a:rPr sz="1800" spc="-5" dirty="0">
                <a:latin typeface="Times New Roman"/>
                <a:cs typeface="Times New Roman"/>
              </a:rPr>
              <a:t>next state </a:t>
            </a:r>
            <a:r>
              <a:rPr sz="1800" dirty="0">
                <a:latin typeface="Times New Roman"/>
                <a:cs typeface="Times New Roman"/>
              </a:rPr>
              <a:t> </a:t>
            </a:r>
            <a:r>
              <a:rPr sz="1800" spc="5" dirty="0">
                <a:latin typeface="Times New Roman"/>
                <a:cs typeface="Times New Roman"/>
              </a:rPr>
              <a:t>of </a:t>
            </a:r>
            <a:r>
              <a:rPr sz="1800" dirty="0">
                <a:latin typeface="Times New Roman"/>
                <a:cs typeface="Times New Roman"/>
              </a:rPr>
              <a:t>the </a:t>
            </a:r>
            <a:r>
              <a:rPr sz="1800" spc="-5" dirty="0">
                <a:latin typeface="Times New Roman"/>
                <a:cs typeface="Times New Roman"/>
              </a:rPr>
              <a:t>circuit </a:t>
            </a:r>
            <a:r>
              <a:rPr sz="1800" dirty="0">
                <a:latin typeface="Times New Roman"/>
                <a:cs typeface="Times New Roman"/>
              </a:rPr>
              <a:t>D1D2 = </a:t>
            </a:r>
            <a:r>
              <a:rPr sz="1800" spc="-35" dirty="0">
                <a:latin typeface="Times New Roman"/>
                <a:cs typeface="Times New Roman"/>
              </a:rPr>
              <a:t>11, </a:t>
            </a:r>
            <a:r>
              <a:rPr sz="1800" dirty="0">
                <a:latin typeface="Times New Roman"/>
                <a:cs typeface="Times New Roman"/>
              </a:rPr>
              <a:t>and this </a:t>
            </a:r>
            <a:r>
              <a:rPr sz="1800" spc="-10" dirty="0">
                <a:latin typeface="Times New Roman"/>
                <a:cs typeface="Times New Roman"/>
              </a:rPr>
              <a:t>will </a:t>
            </a:r>
            <a:r>
              <a:rPr sz="1800" spc="5" dirty="0">
                <a:latin typeface="Times New Roman"/>
                <a:cs typeface="Times New Roman"/>
              </a:rPr>
              <a:t>be </a:t>
            </a:r>
            <a:r>
              <a:rPr sz="1800" dirty="0">
                <a:latin typeface="Times New Roman"/>
                <a:cs typeface="Times New Roman"/>
              </a:rPr>
              <a:t>the </a:t>
            </a:r>
            <a:r>
              <a:rPr sz="1800" spc="-5" dirty="0">
                <a:latin typeface="Times New Roman"/>
                <a:cs typeface="Times New Roman"/>
              </a:rPr>
              <a:t>present state </a:t>
            </a:r>
            <a:r>
              <a:rPr sz="1800" spc="-10" dirty="0">
                <a:latin typeface="Times New Roman"/>
                <a:cs typeface="Times New Roman"/>
              </a:rPr>
              <a:t>after </a:t>
            </a:r>
            <a:r>
              <a:rPr sz="1800" dirty="0">
                <a:latin typeface="Times New Roman"/>
                <a:cs typeface="Times New Roman"/>
              </a:rPr>
              <a:t>the </a:t>
            </a:r>
            <a:r>
              <a:rPr sz="1800" spc="-5" dirty="0">
                <a:latin typeface="Times New Roman"/>
                <a:cs typeface="Times New Roman"/>
              </a:rPr>
              <a:t>clock </a:t>
            </a:r>
            <a:r>
              <a:rPr sz="1800" dirty="0">
                <a:latin typeface="Times New Roman"/>
                <a:cs typeface="Times New Roman"/>
              </a:rPr>
              <a:t>pulse </a:t>
            </a:r>
            <a:r>
              <a:rPr sz="1800" spc="-5" dirty="0">
                <a:latin typeface="Times New Roman"/>
                <a:cs typeface="Times New Roman"/>
              </a:rPr>
              <a:t>has been </a:t>
            </a:r>
            <a:r>
              <a:rPr sz="1800" dirty="0">
                <a:latin typeface="Times New Roman"/>
                <a:cs typeface="Times New Roman"/>
              </a:rPr>
              <a:t> applied.</a:t>
            </a:r>
            <a:r>
              <a:rPr sz="1800" spc="-80" dirty="0">
                <a:latin typeface="Times New Roman"/>
                <a:cs typeface="Times New Roman"/>
              </a:rPr>
              <a:t> </a:t>
            </a:r>
            <a:r>
              <a:rPr sz="1800" spc="-5" dirty="0">
                <a:latin typeface="Times New Roman"/>
                <a:cs typeface="Times New Roman"/>
              </a:rPr>
              <a:t>The</a:t>
            </a:r>
            <a:r>
              <a:rPr sz="1800" spc="-20" dirty="0">
                <a:latin typeface="Times New Roman"/>
                <a:cs typeface="Times New Roman"/>
              </a:rPr>
              <a:t> </a:t>
            </a:r>
            <a:r>
              <a:rPr sz="1800" spc="5" dirty="0">
                <a:latin typeface="Times New Roman"/>
                <a:cs typeface="Times New Roman"/>
              </a:rPr>
              <a:t>output</a:t>
            </a:r>
            <a:r>
              <a:rPr sz="1800" spc="-5" dirty="0">
                <a:latin typeface="Times New Roman"/>
                <a:cs typeface="Times New Roman"/>
              </a:rPr>
              <a:t> </a:t>
            </a:r>
            <a:r>
              <a:rPr sz="1800" spc="5" dirty="0">
                <a:latin typeface="Times New Roman"/>
                <a:cs typeface="Times New Roman"/>
              </a:rPr>
              <a:t>of</a:t>
            </a:r>
            <a:r>
              <a:rPr sz="1800" spc="-20" dirty="0">
                <a:latin typeface="Times New Roman"/>
                <a:cs typeface="Times New Roman"/>
              </a:rPr>
              <a:t> </a:t>
            </a:r>
            <a:r>
              <a:rPr sz="1800" dirty="0">
                <a:latin typeface="Times New Roman"/>
                <a:cs typeface="Times New Roman"/>
              </a:rPr>
              <a:t>the</a:t>
            </a:r>
            <a:r>
              <a:rPr sz="1800" spc="-20" dirty="0">
                <a:latin typeface="Times New Roman"/>
                <a:cs typeface="Times New Roman"/>
              </a:rPr>
              <a:t> </a:t>
            </a:r>
            <a:r>
              <a:rPr sz="1800" spc="-5" dirty="0">
                <a:latin typeface="Times New Roman"/>
                <a:cs typeface="Times New Roman"/>
              </a:rPr>
              <a:t>circuit</a:t>
            </a:r>
            <a:r>
              <a:rPr sz="1800" spc="-25" dirty="0">
                <a:latin typeface="Times New Roman"/>
                <a:cs typeface="Times New Roman"/>
              </a:rPr>
              <a:t> </a:t>
            </a:r>
            <a:r>
              <a:rPr sz="1800" dirty="0">
                <a:latin typeface="Times New Roman"/>
                <a:cs typeface="Times New Roman"/>
              </a:rPr>
              <a:t>corresponding</a:t>
            </a:r>
            <a:r>
              <a:rPr sz="1800" spc="-55" dirty="0">
                <a:latin typeface="Times New Roman"/>
                <a:cs typeface="Times New Roman"/>
              </a:rPr>
              <a:t> </a:t>
            </a:r>
            <a:r>
              <a:rPr sz="1800" dirty="0">
                <a:latin typeface="Times New Roman"/>
                <a:cs typeface="Times New Roman"/>
              </a:rPr>
              <a:t>to the</a:t>
            </a:r>
            <a:r>
              <a:rPr sz="1800" spc="-5" dirty="0">
                <a:latin typeface="Times New Roman"/>
                <a:cs typeface="Times New Roman"/>
              </a:rPr>
              <a:t> present</a:t>
            </a:r>
            <a:r>
              <a:rPr sz="1800" spc="-35" dirty="0">
                <a:latin typeface="Times New Roman"/>
                <a:cs typeface="Times New Roman"/>
              </a:rPr>
              <a:t> </a:t>
            </a:r>
            <a:r>
              <a:rPr sz="1800" spc="-5" dirty="0">
                <a:latin typeface="Times New Roman"/>
                <a:cs typeface="Times New Roman"/>
              </a:rPr>
              <a:t>state</a:t>
            </a:r>
            <a:r>
              <a:rPr sz="1800" spc="-15" dirty="0">
                <a:latin typeface="Times New Roman"/>
                <a:cs typeface="Times New Roman"/>
              </a:rPr>
              <a:t> </a:t>
            </a:r>
            <a:r>
              <a:rPr sz="1800" dirty="0">
                <a:latin typeface="Times New Roman"/>
                <a:cs typeface="Times New Roman"/>
              </a:rPr>
              <a:t>Q1Q2</a:t>
            </a:r>
            <a:r>
              <a:rPr sz="1800" spc="-10" dirty="0">
                <a:latin typeface="Times New Roman"/>
                <a:cs typeface="Times New Roman"/>
              </a:rPr>
              <a:t> </a:t>
            </a:r>
            <a:r>
              <a:rPr sz="1800" dirty="0">
                <a:latin typeface="Times New Roman"/>
                <a:cs typeface="Times New Roman"/>
              </a:rPr>
              <a:t>=</a:t>
            </a:r>
            <a:r>
              <a:rPr sz="1800" spc="5" dirty="0">
                <a:latin typeface="Times New Roman"/>
                <a:cs typeface="Times New Roman"/>
              </a:rPr>
              <a:t> 00</a:t>
            </a:r>
            <a:r>
              <a:rPr sz="1800" spc="20"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x</a:t>
            </a:r>
            <a:r>
              <a:rPr sz="1800" spc="-10" dirty="0">
                <a:latin typeface="Times New Roman"/>
                <a:cs typeface="Times New Roman"/>
              </a:rPr>
              <a:t> </a:t>
            </a:r>
            <a:r>
              <a:rPr sz="1800" dirty="0">
                <a:latin typeface="Times New Roman"/>
                <a:cs typeface="Times New Roman"/>
              </a:rPr>
              <a:t>= 1</a:t>
            </a:r>
            <a:r>
              <a:rPr sz="1800" spc="-5" dirty="0">
                <a:latin typeface="Times New Roman"/>
                <a:cs typeface="Times New Roman"/>
              </a:rPr>
              <a:t> is</a:t>
            </a:r>
            <a:r>
              <a:rPr sz="1800" spc="5" dirty="0">
                <a:latin typeface="Times New Roman"/>
                <a:cs typeface="Times New Roman"/>
              </a:rPr>
              <a:t> </a:t>
            </a:r>
            <a:r>
              <a:rPr sz="1800" dirty="0">
                <a:latin typeface="Times New Roman"/>
                <a:cs typeface="Times New Roman"/>
              </a:rPr>
              <a:t>Z</a:t>
            </a:r>
            <a:r>
              <a:rPr sz="1800" spc="-220" dirty="0">
                <a:latin typeface="Times New Roman"/>
                <a:cs typeface="Times New Roman"/>
              </a:rPr>
              <a:t> </a:t>
            </a:r>
            <a:r>
              <a:rPr sz="1800" dirty="0">
                <a:latin typeface="Times New Roman"/>
                <a:cs typeface="Times New Roman"/>
              </a:rPr>
              <a:t>=</a:t>
            </a:r>
            <a:endParaRPr sz="1800">
              <a:latin typeface="Times New Roman"/>
              <a:cs typeface="Times New Roman"/>
            </a:endParaRPr>
          </a:p>
          <a:p>
            <a:pPr marL="12700">
              <a:lnSpc>
                <a:spcPct val="100000"/>
              </a:lnSpc>
              <a:spcBef>
                <a:spcPts val="5"/>
              </a:spcBef>
            </a:pPr>
            <a:r>
              <a:rPr sz="1800" dirty="0">
                <a:latin typeface="Times New Roman"/>
                <a:cs typeface="Times New Roman"/>
              </a:rPr>
              <a:t>0.</a:t>
            </a:r>
            <a:r>
              <a:rPr sz="1800" spc="-60" dirty="0">
                <a:latin typeface="Times New Roman"/>
                <a:cs typeface="Times New Roman"/>
              </a:rPr>
              <a:t> </a:t>
            </a:r>
            <a:r>
              <a:rPr sz="1800" spc="-5" dirty="0">
                <a:latin typeface="Times New Roman"/>
                <a:cs typeface="Times New Roman"/>
              </a:rPr>
              <a:t>This</a:t>
            </a:r>
            <a:r>
              <a:rPr sz="1800" spc="-20" dirty="0">
                <a:latin typeface="Times New Roman"/>
                <a:cs typeface="Times New Roman"/>
              </a:rPr>
              <a:t> </a:t>
            </a:r>
            <a:r>
              <a:rPr sz="1800" spc="-5" dirty="0">
                <a:latin typeface="Times New Roman"/>
                <a:cs typeface="Times New Roman"/>
              </a:rPr>
              <a:t>data</a:t>
            </a:r>
            <a:r>
              <a:rPr sz="1800" spc="5" dirty="0">
                <a:latin typeface="Times New Roman"/>
                <a:cs typeface="Times New Roman"/>
              </a:rPr>
              <a:t> </a:t>
            </a:r>
            <a:r>
              <a:rPr sz="1800" dirty="0">
                <a:latin typeface="Times New Roman"/>
                <a:cs typeface="Times New Roman"/>
              </a:rPr>
              <a:t>is</a:t>
            </a:r>
            <a:r>
              <a:rPr sz="1800" spc="-25" dirty="0">
                <a:latin typeface="Times New Roman"/>
                <a:cs typeface="Times New Roman"/>
              </a:rPr>
              <a:t> </a:t>
            </a:r>
            <a:r>
              <a:rPr sz="1800" spc="-5" dirty="0">
                <a:latin typeface="Times New Roman"/>
                <a:cs typeface="Times New Roman"/>
              </a:rPr>
              <a:t>entered</a:t>
            </a:r>
            <a:r>
              <a:rPr sz="1800" spc="-25" dirty="0">
                <a:latin typeface="Times New Roman"/>
                <a:cs typeface="Times New Roman"/>
              </a:rPr>
              <a:t> </a:t>
            </a:r>
            <a:r>
              <a:rPr sz="1800" dirty="0">
                <a:latin typeface="Times New Roman"/>
                <a:cs typeface="Times New Roman"/>
              </a:rPr>
              <a:t>into</a:t>
            </a:r>
            <a:r>
              <a:rPr sz="1800" spc="-5"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spc="-5" dirty="0">
                <a:latin typeface="Times New Roman"/>
                <a:cs typeface="Times New Roman"/>
              </a:rPr>
              <a:t>state</a:t>
            </a:r>
            <a:r>
              <a:rPr sz="1800" spc="-25" dirty="0">
                <a:latin typeface="Times New Roman"/>
                <a:cs typeface="Times New Roman"/>
              </a:rPr>
              <a:t> </a:t>
            </a:r>
            <a:r>
              <a:rPr sz="1800" dirty="0">
                <a:latin typeface="Times New Roman"/>
                <a:cs typeface="Times New Roman"/>
              </a:rPr>
              <a:t>table </a:t>
            </a:r>
            <a:r>
              <a:rPr sz="1800" spc="-5" dirty="0">
                <a:latin typeface="Times New Roman"/>
                <a:cs typeface="Times New Roman"/>
              </a:rPr>
              <a:t>as</a:t>
            </a:r>
            <a:r>
              <a:rPr sz="1800" spc="-20" dirty="0">
                <a:latin typeface="Times New Roman"/>
                <a:cs typeface="Times New Roman"/>
              </a:rPr>
              <a:t> </a:t>
            </a:r>
            <a:r>
              <a:rPr sz="1800" spc="-5" dirty="0">
                <a:latin typeface="Times New Roman"/>
                <a:cs typeface="Times New Roman"/>
              </a:rPr>
              <a:t>shown</a:t>
            </a:r>
            <a:r>
              <a:rPr sz="1800" spc="-25" dirty="0">
                <a:latin typeface="Times New Roman"/>
                <a:cs typeface="Times New Roman"/>
              </a:rPr>
              <a:t> </a:t>
            </a:r>
            <a:r>
              <a:rPr sz="1800" dirty="0">
                <a:latin typeface="Times New Roman"/>
                <a:cs typeface="Times New Roman"/>
              </a:rPr>
              <a:t>in</a:t>
            </a:r>
            <a:r>
              <a:rPr sz="1800" spc="-30" dirty="0">
                <a:latin typeface="Times New Roman"/>
                <a:cs typeface="Times New Roman"/>
              </a:rPr>
              <a:t> </a:t>
            </a:r>
            <a:r>
              <a:rPr sz="1800" spc="-50" dirty="0">
                <a:latin typeface="Times New Roman"/>
                <a:cs typeface="Times New Roman"/>
              </a:rPr>
              <a:t>Table</a:t>
            </a:r>
            <a:r>
              <a:rPr sz="1800" spc="-170" dirty="0">
                <a:latin typeface="Times New Roman"/>
                <a:cs typeface="Times New Roman"/>
              </a:rPr>
              <a:t> </a:t>
            </a:r>
            <a:r>
              <a:rPr sz="1800" spc="10" dirty="0">
                <a:latin typeface="Times New Roman"/>
                <a:cs typeface="Times New Roman"/>
              </a:rPr>
              <a:t>2.</a:t>
            </a:r>
            <a:endParaRPr sz="1800">
              <a:latin typeface="Times New Roman"/>
              <a:cs typeface="Times New Roman"/>
            </a:endParaRPr>
          </a:p>
        </p:txBody>
      </p:sp>
    </p:spTree>
    <p:extLst>
      <p:ext uri="{BB962C8B-B14F-4D97-AF65-F5344CB8AC3E}">
        <p14:creationId xmlns:p14="http://schemas.microsoft.com/office/powerpoint/2010/main" val="1861471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3235" y="997458"/>
            <a:ext cx="3321685" cy="299720"/>
          </a:xfrm>
          <a:prstGeom prst="rect">
            <a:avLst/>
          </a:prstGeom>
        </p:spPr>
        <p:txBody>
          <a:bodyPr vert="horz" wrap="square" lIns="0" tIns="12700" rIns="0" bIns="0" rtlCol="0">
            <a:spAutoFit/>
          </a:bodyPr>
          <a:lstStyle/>
          <a:p>
            <a:pPr marL="12700">
              <a:lnSpc>
                <a:spcPct val="100000"/>
              </a:lnSpc>
              <a:spcBef>
                <a:spcPts val="100"/>
              </a:spcBef>
            </a:pPr>
            <a:r>
              <a:rPr sz="1800" spc="-40" dirty="0">
                <a:latin typeface="Calibri"/>
                <a:cs typeface="Calibri"/>
              </a:rPr>
              <a:t>State</a:t>
            </a:r>
            <a:r>
              <a:rPr sz="1800" spc="-20" dirty="0">
                <a:latin typeface="Calibri"/>
                <a:cs typeface="Calibri"/>
              </a:rPr>
              <a:t> </a:t>
            </a:r>
            <a:r>
              <a:rPr sz="1800" spc="-10" dirty="0">
                <a:latin typeface="Calibri"/>
                <a:cs typeface="Calibri"/>
              </a:rPr>
              <a:t>table</a:t>
            </a:r>
            <a:r>
              <a:rPr sz="1800" spc="-40" dirty="0">
                <a:latin typeface="Calibri"/>
                <a:cs typeface="Calibri"/>
              </a:rPr>
              <a:t> </a:t>
            </a:r>
            <a:r>
              <a:rPr sz="1800" spc="-30" dirty="0">
                <a:latin typeface="Calibri"/>
                <a:cs typeface="Calibri"/>
              </a:rPr>
              <a:t>for</a:t>
            </a:r>
            <a:r>
              <a:rPr sz="1800" spc="-40" dirty="0">
                <a:latin typeface="Calibri"/>
                <a:cs typeface="Calibri"/>
              </a:rPr>
              <a:t> </a:t>
            </a:r>
            <a:r>
              <a:rPr sz="1800" spc="-5" dirty="0">
                <a:latin typeface="Calibri"/>
                <a:cs typeface="Calibri"/>
              </a:rPr>
              <a:t>the</a:t>
            </a:r>
            <a:r>
              <a:rPr sz="1800" spc="5" dirty="0">
                <a:latin typeface="Calibri"/>
                <a:cs typeface="Calibri"/>
              </a:rPr>
              <a:t> </a:t>
            </a:r>
            <a:r>
              <a:rPr sz="1800" spc="-10" dirty="0">
                <a:latin typeface="Calibri"/>
                <a:cs typeface="Calibri"/>
              </a:rPr>
              <a:t>sequential</a:t>
            </a:r>
            <a:r>
              <a:rPr sz="1800" spc="150" dirty="0">
                <a:latin typeface="Calibri"/>
                <a:cs typeface="Calibri"/>
              </a:rPr>
              <a:t> </a:t>
            </a:r>
            <a:r>
              <a:rPr sz="1800" spc="-10" dirty="0">
                <a:latin typeface="Calibri"/>
                <a:cs typeface="Calibri"/>
              </a:rPr>
              <a:t>circuit</a:t>
            </a:r>
            <a:endParaRPr sz="1800">
              <a:latin typeface="Calibri"/>
              <a:cs typeface="Calibri"/>
            </a:endParaRPr>
          </a:p>
        </p:txBody>
      </p:sp>
      <p:sp>
        <p:nvSpPr>
          <p:cNvPr id="4" name="object 4"/>
          <p:cNvSpPr txBox="1">
            <a:spLocks noGrp="1"/>
          </p:cNvSpPr>
          <p:nvPr>
            <p:ph type="title"/>
          </p:nvPr>
        </p:nvSpPr>
        <p:spPr>
          <a:xfrm>
            <a:off x="2643885" y="154889"/>
            <a:ext cx="3850640" cy="574675"/>
          </a:xfrm>
          <a:prstGeom prst="rect">
            <a:avLst/>
          </a:prstGeom>
        </p:spPr>
        <p:txBody>
          <a:bodyPr vert="horz" wrap="square" lIns="0" tIns="12700" rIns="0" bIns="0" rtlCol="0">
            <a:spAutoFit/>
          </a:bodyPr>
          <a:lstStyle/>
          <a:p>
            <a:pPr marL="12700">
              <a:lnSpc>
                <a:spcPct val="100000"/>
              </a:lnSpc>
              <a:spcBef>
                <a:spcPts val="100"/>
              </a:spcBef>
            </a:pPr>
            <a:r>
              <a:rPr sz="3600" spc="-155" dirty="0"/>
              <a:t>S</a:t>
            </a:r>
            <a:r>
              <a:rPr sz="3600" spc="-135" dirty="0"/>
              <a:t>T</a:t>
            </a:r>
            <a:r>
              <a:rPr sz="3600" spc="-155" dirty="0"/>
              <a:t>A</a:t>
            </a:r>
            <a:r>
              <a:rPr sz="3600" spc="-135" dirty="0"/>
              <a:t>T</a:t>
            </a:r>
            <a:r>
              <a:rPr sz="3600" dirty="0"/>
              <a:t>E</a:t>
            </a:r>
            <a:r>
              <a:rPr sz="3600" spc="-204" dirty="0"/>
              <a:t> </a:t>
            </a:r>
            <a:r>
              <a:rPr sz="3600" dirty="0"/>
              <a:t>M</a:t>
            </a:r>
            <a:r>
              <a:rPr sz="3600" spc="-15" dirty="0"/>
              <a:t>A</a:t>
            </a:r>
            <a:r>
              <a:rPr sz="3600" dirty="0"/>
              <a:t>CHI</a:t>
            </a:r>
            <a:r>
              <a:rPr sz="3600" spc="-15" dirty="0"/>
              <a:t>N</a:t>
            </a:r>
            <a:r>
              <a:rPr sz="3600" dirty="0"/>
              <a:t>ES</a:t>
            </a:r>
            <a:endParaRPr sz="3600"/>
          </a:p>
        </p:txBody>
      </p:sp>
      <p:pic>
        <p:nvPicPr>
          <p:cNvPr id="5" name="object 5"/>
          <p:cNvPicPr/>
          <p:nvPr/>
        </p:nvPicPr>
        <p:blipFill>
          <a:blip r:embed="rId2" cstate="print"/>
          <a:stretch>
            <a:fillRect/>
          </a:stretch>
        </p:blipFill>
        <p:spPr>
          <a:xfrm>
            <a:off x="381000" y="1371600"/>
            <a:ext cx="6495288" cy="1505712"/>
          </a:xfrm>
          <a:prstGeom prst="rect">
            <a:avLst/>
          </a:prstGeom>
        </p:spPr>
      </p:pic>
      <p:sp>
        <p:nvSpPr>
          <p:cNvPr id="6" name="object 6"/>
          <p:cNvSpPr txBox="1"/>
          <p:nvPr/>
        </p:nvSpPr>
        <p:spPr>
          <a:xfrm>
            <a:off x="459740" y="2919171"/>
            <a:ext cx="4326255" cy="300355"/>
          </a:xfrm>
          <a:prstGeom prst="rect">
            <a:avLst/>
          </a:prstGeom>
        </p:spPr>
        <p:txBody>
          <a:bodyPr vert="horz" wrap="square" lIns="0" tIns="12700" rIns="0" bIns="0" rtlCol="0">
            <a:spAutoFit/>
          </a:bodyPr>
          <a:lstStyle/>
          <a:p>
            <a:pPr marL="12700">
              <a:lnSpc>
                <a:spcPct val="100000"/>
              </a:lnSpc>
              <a:spcBef>
                <a:spcPts val="100"/>
              </a:spcBef>
            </a:pPr>
            <a:r>
              <a:rPr sz="1800" spc="-25" dirty="0">
                <a:latin typeface="Microsoft Sans Serif"/>
                <a:cs typeface="Microsoft Sans Serif"/>
              </a:rPr>
              <a:t>T</a:t>
            </a:r>
            <a:r>
              <a:rPr sz="1800" dirty="0">
                <a:latin typeface="Microsoft Sans Serif"/>
                <a:cs typeface="Microsoft Sans Serif"/>
              </a:rPr>
              <a:t>he</a:t>
            </a:r>
            <a:r>
              <a:rPr sz="1800" spc="-40" dirty="0">
                <a:latin typeface="Microsoft Sans Serif"/>
                <a:cs typeface="Microsoft Sans Serif"/>
              </a:rPr>
              <a:t> </a:t>
            </a:r>
            <a:r>
              <a:rPr sz="1800" spc="5" dirty="0">
                <a:latin typeface="Microsoft Sans Serif"/>
                <a:cs typeface="Microsoft Sans Serif"/>
              </a:rPr>
              <a:t>s</a:t>
            </a:r>
            <a:r>
              <a:rPr sz="1800" dirty="0">
                <a:latin typeface="Microsoft Sans Serif"/>
                <a:cs typeface="Microsoft Sans Serif"/>
              </a:rPr>
              <a:t>t</a:t>
            </a:r>
            <a:r>
              <a:rPr sz="1800" spc="5" dirty="0">
                <a:latin typeface="Microsoft Sans Serif"/>
                <a:cs typeface="Microsoft Sans Serif"/>
              </a:rPr>
              <a:t>a</a:t>
            </a:r>
            <a:r>
              <a:rPr sz="1800" dirty="0">
                <a:latin typeface="Microsoft Sans Serif"/>
                <a:cs typeface="Microsoft Sans Serif"/>
              </a:rPr>
              <a:t>te</a:t>
            </a:r>
            <a:r>
              <a:rPr sz="1800" spc="5" dirty="0">
                <a:latin typeface="Microsoft Sans Serif"/>
                <a:cs typeface="Microsoft Sans Serif"/>
              </a:rPr>
              <a:t> </a:t>
            </a:r>
            <a:r>
              <a:rPr sz="1800" dirty="0">
                <a:latin typeface="Microsoft Sans Serif"/>
                <a:cs typeface="Microsoft Sans Serif"/>
              </a:rPr>
              <a:t>d</a:t>
            </a:r>
            <a:r>
              <a:rPr sz="1800" spc="-10" dirty="0">
                <a:latin typeface="Microsoft Sans Serif"/>
                <a:cs typeface="Microsoft Sans Serif"/>
              </a:rPr>
              <a:t>i</a:t>
            </a:r>
            <a:r>
              <a:rPr sz="1800" dirty="0">
                <a:latin typeface="Microsoft Sans Serif"/>
                <a:cs typeface="Microsoft Sans Serif"/>
              </a:rPr>
              <a:t>agram</a:t>
            </a:r>
            <a:r>
              <a:rPr sz="1800" spc="-40" dirty="0">
                <a:latin typeface="Microsoft Sans Serif"/>
                <a:cs typeface="Microsoft Sans Serif"/>
              </a:rPr>
              <a:t> </a:t>
            </a:r>
            <a:r>
              <a:rPr sz="1800" dirty="0">
                <a:latin typeface="Microsoft Sans Serif"/>
                <a:cs typeface="Microsoft Sans Serif"/>
              </a:rPr>
              <a:t>f</a:t>
            </a:r>
            <a:r>
              <a:rPr sz="1800" spc="5" dirty="0">
                <a:latin typeface="Microsoft Sans Serif"/>
                <a:cs typeface="Microsoft Sans Serif"/>
              </a:rPr>
              <a:t>o</a:t>
            </a:r>
            <a:r>
              <a:rPr sz="1800" dirty="0">
                <a:latin typeface="Microsoft Sans Serif"/>
                <a:cs typeface="Microsoft Sans Serif"/>
              </a:rPr>
              <a:t>r</a:t>
            </a:r>
            <a:r>
              <a:rPr sz="1800" spc="20" dirty="0">
                <a:latin typeface="Microsoft Sans Serif"/>
                <a:cs typeface="Microsoft Sans Serif"/>
              </a:rPr>
              <a:t> </a:t>
            </a:r>
            <a:r>
              <a:rPr sz="1800" dirty="0">
                <a:latin typeface="Microsoft Sans Serif"/>
                <a:cs typeface="Microsoft Sans Serif"/>
              </a:rPr>
              <a:t>the </a:t>
            </a:r>
            <a:r>
              <a:rPr sz="1800" spc="5" dirty="0">
                <a:latin typeface="Microsoft Sans Serif"/>
                <a:cs typeface="Microsoft Sans Serif"/>
              </a:rPr>
              <a:t>s</a:t>
            </a:r>
            <a:r>
              <a:rPr sz="1800" dirty="0">
                <a:latin typeface="Microsoft Sans Serif"/>
                <a:cs typeface="Microsoft Sans Serif"/>
              </a:rPr>
              <a:t>equen</a:t>
            </a:r>
            <a:r>
              <a:rPr sz="1800" spc="-10" dirty="0">
                <a:latin typeface="Microsoft Sans Serif"/>
                <a:cs typeface="Microsoft Sans Serif"/>
              </a:rPr>
              <a:t>t</a:t>
            </a:r>
            <a:r>
              <a:rPr sz="1800" dirty="0">
                <a:latin typeface="Microsoft Sans Serif"/>
                <a:cs typeface="Microsoft Sans Serif"/>
              </a:rPr>
              <a:t>ia</a:t>
            </a:r>
            <a:r>
              <a:rPr sz="1800" spc="-15" dirty="0">
                <a:latin typeface="Microsoft Sans Serif"/>
                <a:cs typeface="Microsoft Sans Serif"/>
              </a:rPr>
              <a:t>l</a:t>
            </a:r>
            <a:r>
              <a:rPr sz="1800" spc="-130" dirty="0">
                <a:latin typeface="Microsoft Sans Serif"/>
                <a:cs typeface="Microsoft Sans Serif"/>
              </a:rPr>
              <a:t> </a:t>
            </a:r>
            <a:r>
              <a:rPr sz="1800" spc="5" dirty="0">
                <a:latin typeface="Microsoft Sans Serif"/>
                <a:cs typeface="Microsoft Sans Serif"/>
              </a:rPr>
              <a:t>c</a:t>
            </a:r>
            <a:r>
              <a:rPr sz="1800" spc="-10" dirty="0">
                <a:latin typeface="Microsoft Sans Serif"/>
                <a:cs typeface="Microsoft Sans Serif"/>
              </a:rPr>
              <a:t>i</a:t>
            </a:r>
            <a:r>
              <a:rPr sz="1800" dirty="0">
                <a:latin typeface="Microsoft Sans Serif"/>
                <a:cs typeface="Microsoft Sans Serif"/>
              </a:rPr>
              <a:t>r</a:t>
            </a:r>
            <a:r>
              <a:rPr sz="1800" spc="5" dirty="0">
                <a:latin typeface="Microsoft Sans Serif"/>
                <a:cs typeface="Microsoft Sans Serif"/>
              </a:rPr>
              <a:t>c</a:t>
            </a:r>
            <a:r>
              <a:rPr sz="1800" dirty="0">
                <a:latin typeface="Microsoft Sans Serif"/>
                <a:cs typeface="Microsoft Sans Serif"/>
              </a:rPr>
              <a:t>u</a:t>
            </a:r>
            <a:r>
              <a:rPr sz="1800" spc="-10" dirty="0">
                <a:latin typeface="Microsoft Sans Serif"/>
                <a:cs typeface="Microsoft Sans Serif"/>
              </a:rPr>
              <a:t>i</a:t>
            </a:r>
            <a:r>
              <a:rPr sz="1800" dirty="0">
                <a:latin typeface="Microsoft Sans Serif"/>
                <a:cs typeface="Microsoft Sans Serif"/>
              </a:rPr>
              <a:t>t</a:t>
            </a:r>
            <a:endParaRPr sz="1800">
              <a:latin typeface="Microsoft Sans Serif"/>
              <a:cs typeface="Microsoft Sans Serif"/>
            </a:endParaRPr>
          </a:p>
        </p:txBody>
      </p:sp>
      <p:pic>
        <p:nvPicPr>
          <p:cNvPr id="7" name="object 7"/>
          <p:cNvPicPr/>
          <p:nvPr/>
        </p:nvPicPr>
        <p:blipFill>
          <a:blip r:embed="rId3" cstate="print"/>
          <a:stretch>
            <a:fillRect/>
          </a:stretch>
        </p:blipFill>
        <p:spPr>
          <a:xfrm>
            <a:off x="762000" y="3352800"/>
            <a:ext cx="3124200" cy="2706624"/>
          </a:xfrm>
          <a:prstGeom prst="rect">
            <a:avLst/>
          </a:prstGeom>
        </p:spPr>
      </p:pic>
      <p:sp>
        <p:nvSpPr>
          <p:cNvPr id="8" name="object 8"/>
          <p:cNvSpPr txBox="1">
            <a:spLocks noGrp="1"/>
          </p:cNvSpPr>
          <p:nvPr>
            <p:ph type="sldNum" sz="quarter" idx="4294967295"/>
          </p:nvPr>
        </p:nvSpPr>
        <p:spPr>
          <a:xfrm>
            <a:off x="8304021" y="6410197"/>
            <a:ext cx="424815" cy="254000"/>
          </a:xfrm>
          <a:prstGeom prst="rect">
            <a:avLst/>
          </a:prstGeom>
        </p:spPr>
        <p:txBody>
          <a:bodyPr vert="horz" wrap="square" lIns="0" tIns="0" rIns="0" bIns="0" rtlCol="0">
            <a:spAutoFit/>
          </a:bodyPr>
          <a:lstStyle/>
          <a:p>
            <a:pPr marL="38100">
              <a:lnSpc>
                <a:spcPts val="1810"/>
              </a:lnSpc>
            </a:pPr>
            <a:fld id="{81D60167-4931-47E6-BA6A-407CBD079E47}" type="slidenum">
              <a:rPr dirty="0"/>
              <a:t>5</a:t>
            </a:fld>
            <a:endParaRPr dirty="0"/>
          </a:p>
        </p:txBody>
      </p:sp>
    </p:spTree>
    <p:extLst>
      <p:ext uri="{BB962C8B-B14F-4D97-AF65-F5344CB8AC3E}">
        <p14:creationId xmlns:p14="http://schemas.microsoft.com/office/powerpoint/2010/main" val="1573163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229600" cy="4525963"/>
          </a:xfrm>
        </p:spPr>
        <p:txBody>
          <a:bodyPr/>
          <a:lstStyle/>
          <a:p>
            <a:r>
              <a:rPr lang="en-US" dirty="0"/>
              <a:t>State Reduction and Assignments</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609600"/>
            <a:ext cx="8924132"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0069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1800" dirty="0">
                <a:latin typeface="+mn-lt"/>
              </a:rPr>
              <a:t>The procedure for designing synchronous sequential circuits can be summarized by</a:t>
            </a:r>
            <a:br>
              <a:rPr lang="en-IN" sz="1800" dirty="0">
                <a:latin typeface="+mn-lt"/>
              </a:rPr>
            </a:br>
            <a:r>
              <a:rPr lang="en-IN" sz="1800" dirty="0">
                <a:latin typeface="+mn-lt"/>
              </a:rPr>
              <a:t>a list of recommended steps:</a:t>
            </a:r>
          </a:p>
        </p:txBody>
      </p:sp>
      <p:sp>
        <p:nvSpPr>
          <p:cNvPr id="3" name="Content Placeholder 2"/>
          <p:cNvSpPr>
            <a:spLocks noGrp="1"/>
          </p:cNvSpPr>
          <p:nvPr>
            <p:ph idx="1"/>
          </p:nvPr>
        </p:nvSpPr>
        <p:spPr/>
        <p:txBody>
          <a:bodyPr>
            <a:normAutofit fontScale="85000" lnSpcReduction="20000"/>
          </a:bodyPr>
          <a:lstStyle/>
          <a:p>
            <a:pPr marL="514350" indent="-514350">
              <a:buAutoNum type="arabicPeriod"/>
            </a:pPr>
            <a:r>
              <a:rPr lang="en-IN" dirty="0"/>
              <a:t>From the word description and specifications of  </a:t>
            </a:r>
          </a:p>
          <a:p>
            <a:pPr marL="0" indent="0">
              <a:buNone/>
            </a:pPr>
            <a:r>
              <a:rPr lang="en-IN" dirty="0"/>
              <a:t>      the desired operation, derive a state diagram for  </a:t>
            </a:r>
          </a:p>
          <a:p>
            <a:pPr marL="0" indent="0">
              <a:buNone/>
            </a:pPr>
            <a:r>
              <a:rPr lang="en-IN" dirty="0"/>
              <a:t>      the circuit.</a:t>
            </a:r>
          </a:p>
          <a:p>
            <a:pPr marL="0" indent="0">
              <a:buNone/>
            </a:pPr>
            <a:r>
              <a:rPr lang="en-IN" b="1" dirty="0"/>
              <a:t>2. </a:t>
            </a:r>
            <a:r>
              <a:rPr lang="en-IN" dirty="0"/>
              <a:t>Reduce the number of states if necessary.</a:t>
            </a:r>
          </a:p>
          <a:p>
            <a:pPr marL="0" indent="0">
              <a:buNone/>
            </a:pPr>
            <a:r>
              <a:rPr lang="en-IN" b="1" dirty="0"/>
              <a:t>3. </a:t>
            </a:r>
            <a:r>
              <a:rPr lang="en-IN" dirty="0"/>
              <a:t>Assign binary values to the states.</a:t>
            </a:r>
          </a:p>
          <a:p>
            <a:pPr marL="0" indent="0">
              <a:buNone/>
            </a:pPr>
            <a:r>
              <a:rPr lang="en-IN" b="1" dirty="0"/>
              <a:t>4. </a:t>
            </a:r>
            <a:r>
              <a:rPr lang="en-IN" dirty="0"/>
              <a:t>Obtain the binary-coded state table.</a:t>
            </a:r>
          </a:p>
          <a:p>
            <a:pPr marL="0" indent="0">
              <a:buNone/>
            </a:pPr>
            <a:r>
              <a:rPr lang="en-IN" b="1" dirty="0"/>
              <a:t>5. </a:t>
            </a:r>
            <a:r>
              <a:rPr lang="en-IN" dirty="0"/>
              <a:t>Choose the type of flip-flops to be used.</a:t>
            </a:r>
          </a:p>
          <a:p>
            <a:pPr marL="0" indent="0">
              <a:buNone/>
            </a:pPr>
            <a:r>
              <a:rPr lang="en-IN" b="1" dirty="0"/>
              <a:t>6. </a:t>
            </a:r>
            <a:r>
              <a:rPr lang="en-IN" dirty="0"/>
              <a:t>Derive the simplified flip-flop input equations   </a:t>
            </a:r>
          </a:p>
          <a:p>
            <a:pPr marL="0" indent="0">
              <a:buNone/>
            </a:pPr>
            <a:r>
              <a:rPr lang="en-IN" dirty="0"/>
              <a:t>    and output equations.</a:t>
            </a:r>
          </a:p>
          <a:p>
            <a:pPr marL="0" indent="0">
              <a:buNone/>
            </a:pPr>
            <a:r>
              <a:rPr lang="en-IN" b="1" dirty="0"/>
              <a:t>7. </a:t>
            </a:r>
            <a:r>
              <a:rPr lang="en-IN" dirty="0"/>
              <a:t>Draw the logic diagram.</a:t>
            </a:r>
          </a:p>
        </p:txBody>
      </p:sp>
    </p:spTree>
    <p:extLst>
      <p:ext uri="{BB962C8B-B14F-4D97-AF65-F5344CB8AC3E}">
        <p14:creationId xmlns:p14="http://schemas.microsoft.com/office/powerpoint/2010/main" val="1061217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1800" dirty="0">
                <a:latin typeface="+mn-lt"/>
              </a:rPr>
              <a:t>Suppose we wish to design a circuit that detects a sequence of three or more consecutive 1’s in a string of bits coming through an input line</a:t>
            </a:r>
          </a:p>
        </p:txBody>
      </p:sp>
      <p:sp>
        <p:nvSpPr>
          <p:cNvPr id="3" name="Content Placeholder 2"/>
          <p:cNvSpPr>
            <a:spLocks noGrp="1"/>
          </p:cNvSpPr>
          <p:nvPr>
            <p:ph idx="1"/>
          </p:nvPr>
        </p:nvSpPr>
        <p:spPr>
          <a:xfrm>
            <a:off x="457200" y="1219200"/>
            <a:ext cx="8229600" cy="4906963"/>
          </a:xfrm>
        </p:spPr>
        <p:txBody>
          <a:bodyPr>
            <a:normAutofit/>
          </a:bodyPr>
          <a:lstStyle/>
          <a:p>
            <a:pPr>
              <a:buFont typeface="Wingdings" pitchFamily="2" charset="2"/>
              <a:buChar char="§"/>
            </a:pPr>
            <a:r>
              <a:rPr lang="en-IN" sz="2400" dirty="0"/>
              <a:t>It is derived by starting with state S0, the reset state.</a:t>
            </a:r>
          </a:p>
          <a:p>
            <a:pPr>
              <a:buFont typeface="Wingdings" pitchFamily="2" charset="2"/>
              <a:buChar char="§"/>
            </a:pPr>
            <a:r>
              <a:rPr lang="en-IN" sz="2400" dirty="0"/>
              <a:t>If the input is 0, the circuit stays in S0, but if the input is 1, it goes to state S1 to indicate that a 1 was detected. </a:t>
            </a:r>
          </a:p>
          <a:p>
            <a:pPr>
              <a:buFont typeface="Wingdings" pitchFamily="2" charset="2"/>
              <a:buChar char="§"/>
            </a:pPr>
            <a:r>
              <a:rPr lang="en-IN" sz="2400" dirty="0"/>
              <a:t>If the next input is 1, the change is to state S2 to indicate the arrival of two consecutive 1’s, but if the input is 0, the state goes back to S0. </a:t>
            </a:r>
          </a:p>
          <a:p>
            <a:pPr>
              <a:buFont typeface="Wingdings" pitchFamily="2" charset="2"/>
              <a:buChar char="§"/>
            </a:pPr>
            <a:r>
              <a:rPr lang="en-IN" sz="2400" dirty="0"/>
              <a:t>The third consecutive 1 sends the circuit to state S3. If more 1’s are detected, the circuit stays in S3. Any 0 input sends the circuit back to S0. </a:t>
            </a:r>
          </a:p>
          <a:p>
            <a:pPr>
              <a:buFont typeface="Wingdings" pitchFamily="2" charset="2"/>
              <a:buChar char="§"/>
            </a:pPr>
            <a:r>
              <a:rPr lang="en-IN" sz="2400" dirty="0"/>
              <a:t>In this way, the circuit stays in S3 as long as there are three or more consecutive 1’s received</a:t>
            </a:r>
          </a:p>
        </p:txBody>
      </p:sp>
    </p:spTree>
    <p:extLst>
      <p:ext uri="{BB962C8B-B14F-4D97-AF65-F5344CB8AC3E}">
        <p14:creationId xmlns:p14="http://schemas.microsoft.com/office/powerpoint/2010/main" val="2571730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1026" name="Picture 2" descr="C:\Users\ADMIN\Desktop\sequence detector.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1950804"/>
            <a:ext cx="2819400" cy="3583221"/>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DMIN\Desktop\sequence detector tabl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8164" y="1600200"/>
            <a:ext cx="5391150" cy="3933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198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2050" name="Picture 2" descr="C:\Users\ADMIN\Desktop\sequence detctor K- ma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47762"/>
            <a:ext cx="7239000" cy="6044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6970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3074" name="Picture 2" descr="C:\Users\ADMIN\Desktop\sequence detctor circui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91931"/>
            <a:ext cx="7467600" cy="5952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4137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482"/>
            <a:ext cx="9144000" cy="4525963"/>
          </a:xfrm>
        </p:spPr>
        <p:txBody>
          <a:bodyPr>
            <a:normAutofit/>
          </a:bodyPr>
          <a:lstStyle/>
          <a:p>
            <a:r>
              <a:rPr lang="en-US" sz="2400" dirty="0">
                <a:latin typeface="Times New Roman" pitchFamily="18" charset="0"/>
                <a:cs typeface="Times New Roman" pitchFamily="18" charset="0"/>
              </a:rPr>
              <a:t>Using a T FF, design a circuit that counts from 0 to 7 compare to D  and JK </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994304"/>
            <a:ext cx="8915400" cy="5863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229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709" y="0"/>
            <a:ext cx="8229600" cy="6049963"/>
          </a:xfrm>
        </p:spPr>
        <p:txBody>
          <a:bodyPr>
            <a:normAutofit/>
          </a:bodyPr>
          <a:lstStyle/>
          <a:p>
            <a:r>
              <a:rPr lang="en-US" sz="2400" dirty="0">
                <a:latin typeface="Times New Roman" pitchFamily="18" charset="0"/>
                <a:cs typeface="Times New Roman" pitchFamily="18" charset="0"/>
              </a:rPr>
              <a:t>Using a T FF, design a circuit that counts from 4 to 4 and check for unused states</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68" y="1295400"/>
            <a:ext cx="9096375" cy="512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096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15870" y="154889"/>
            <a:ext cx="4107815" cy="574675"/>
          </a:xfrm>
          <a:prstGeom prst="rect">
            <a:avLst/>
          </a:prstGeom>
        </p:spPr>
        <p:txBody>
          <a:bodyPr vert="horz" wrap="square" lIns="0" tIns="12700" rIns="0" bIns="0" rtlCol="0">
            <a:spAutoFit/>
          </a:bodyPr>
          <a:lstStyle/>
          <a:p>
            <a:pPr marL="12700">
              <a:lnSpc>
                <a:spcPct val="100000"/>
              </a:lnSpc>
              <a:spcBef>
                <a:spcPts val="100"/>
              </a:spcBef>
            </a:pPr>
            <a:r>
              <a:rPr sz="3600" spc="-155" dirty="0"/>
              <a:t>S</a:t>
            </a:r>
            <a:r>
              <a:rPr sz="3600" spc="-140" dirty="0"/>
              <a:t>T</a:t>
            </a:r>
            <a:r>
              <a:rPr sz="3600" spc="-155" dirty="0"/>
              <a:t>A</a:t>
            </a:r>
            <a:r>
              <a:rPr sz="3600" spc="-140" dirty="0"/>
              <a:t>T</a:t>
            </a:r>
            <a:r>
              <a:rPr sz="3600" dirty="0"/>
              <a:t>E</a:t>
            </a:r>
            <a:r>
              <a:rPr sz="3600" spc="-195" dirty="0"/>
              <a:t> </a:t>
            </a:r>
            <a:r>
              <a:rPr sz="3600" dirty="0"/>
              <a:t>REDUCTION</a:t>
            </a:r>
            <a:endParaRPr sz="3600"/>
          </a:p>
        </p:txBody>
      </p:sp>
      <p:sp>
        <p:nvSpPr>
          <p:cNvPr id="4" name="object 4"/>
          <p:cNvSpPr txBox="1"/>
          <p:nvPr/>
        </p:nvSpPr>
        <p:spPr>
          <a:xfrm>
            <a:off x="78130" y="970026"/>
            <a:ext cx="8853170" cy="2620645"/>
          </a:xfrm>
          <a:prstGeom prst="rect">
            <a:avLst/>
          </a:prstGeom>
        </p:spPr>
        <p:txBody>
          <a:bodyPr vert="horz" wrap="square" lIns="0" tIns="12700" rIns="0" bIns="0" rtlCol="0">
            <a:spAutoFit/>
          </a:bodyPr>
          <a:lstStyle/>
          <a:p>
            <a:pPr marL="12700" algn="just">
              <a:lnSpc>
                <a:spcPts val="2760"/>
              </a:lnSpc>
              <a:spcBef>
                <a:spcPts val="100"/>
              </a:spcBef>
            </a:pPr>
            <a:r>
              <a:rPr sz="2400" b="1" spc="-5" dirty="0">
                <a:solidFill>
                  <a:srgbClr val="FF0000"/>
                </a:solidFill>
                <a:latin typeface="Times New Roman"/>
                <a:cs typeface="Times New Roman"/>
              </a:rPr>
              <a:t>State</a:t>
            </a:r>
            <a:r>
              <a:rPr sz="2400" b="1" spc="-60" dirty="0">
                <a:solidFill>
                  <a:srgbClr val="FF0000"/>
                </a:solidFill>
                <a:latin typeface="Times New Roman"/>
                <a:cs typeface="Times New Roman"/>
              </a:rPr>
              <a:t> </a:t>
            </a:r>
            <a:r>
              <a:rPr sz="2400" b="1" spc="-5" dirty="0">
                <a:solidFill>
                  <a:srgbClr val="FF0000"/>
                </a:solidFill>
                <a:latin typeface="Times New Roman"/>
                <a:cs typeface="Times New Roman"/>
              </a:rPr>
              <a:t>Reduction</a:t>
            </a:r>
            <a:endParaRPr sz="2400">
              <a:latin typeface="Times New Roman"/>
              <a:cs typeface="Times New Roman"/>
            </a:endParaRPr>
          </a:p>
          <a:p>
            <a:pPr marL="12700" algn="just">
              <a:lnSpc>
                <a:spcPts val="2039"/>
              </a:lnSpc>
            </a:pPr>
            <a:r>
              <a:rPr sz="1800" spc="-10" dirty="0">
                <a:latin typeface="Times New Roman"/>
                <a:cs typeface="Times New Roman"/>
              </a:rPr>
              <a:t>Any</a:t>
            </a:r>
            <a:r>
              <a:rPr sz="1800" spc="85" dirty="0">
                <a:latin typeface="Times New Roman"/>
                <a:cs typeface="Times New Roman"/>
              </a:rPr>
              <a:t> </a:t>
            </a:r>
            <a:r>
              <a:rPr sz="1800" spc="-5" dirty="0">
                <a:latin typeface="Times New Roman"/>
                <a:cs typeface="Times New Roman"/>
              </a:rPr>
              <a:t>design</a:t>
            </a:r>
            <a:r>
              <a:rPr sz="1800" spc="135" dirty="0">
                <a:latin typeface="Times New Roman"/>
                <a:cs typeface="Times New Roman"/>
              </a:rPr>
              <a:t> </a:t>
            </a:r>
            <a:r>
              <a:rPr sz="1800" dirty="0">
                <a:latin typeface="Times New Roman"/>
                <a:cs typeface="Times New Roman"/>
              </a:rPr>
              <a:t>process</a:t>
            </a:r>
            <a:r>
              <a:rPr sz="1800" spc="135" dirty="0">
                <a:latin typeface="Times New Roman"/>
                <a:cs typeface="Times New Roman"/>
              </a:rPr>
              <a:t> </a:t>
            </a:r>
            <a:r>
              <a:rPr sz="1800" spc="-10" dirty="0">
                <a:latin typeface="Times New Roman"/>
                <a:cs typeface="Times New Roman"/>
              </a:rPr>
              <a:t>must</a:t>
            </a:r>
            <a:r>
              <a:rPr sz="1800" spc="95" dirty="0">
                <a:latin typeface="Times New Roman"/>
                <a:cs typeface="Times New Roman"/>
              </a:rPr>
              <a:t> </a:t>
            </a:r>
            <a:r>
              <a:rPr sz="1800" dirty="0">
                <a:latin typeface="Times New Roman"/>
                <a:cs typeface="Times New Roman"/>
              </a:rPr>
              <a:t>consider</a:t>
            </a:r>
            <a:r>
              <a:rPr sz="1800" spc="120" dirty="0">
                <a:latin typeface="Times New Roman"/>
                <a:cs typeface="Times New Roman"/>
              </a:rPr>
              <a:t> </a:t>
            </a:r>
            <a:r>
              <a:rPr sz="1800" dirty="0">
                <a:latin typeface="Times New Roman"/>
                <a:cs typeface="Times New Roman"/>
              </a:rPr>
              <a:t>the</a:t>
            </a:r>
            <a:r>
              <a:rPr sz="1800" spc="95" dirty="0">
                <a:latin typeface="Times New Roman"/>
                <a:cs typeface="Times New Roman"/>
              </a:rPr>
              <a:t> </a:t>
            </a:r>
            <a:r>
              <a:rPr sz="1800" spc="5" dirty="0">
                <a:latin typeface="Times New Roman"/>
                <a:cs typeface="Times New Roman"/>
              </a:rPr>
              <a:t>problem</a:t>
            </a:r>
            <a:r>
              <a:rPr sz="1800" spc="60" dirty="0">
                <a:latin typeface="Times New Roman"/>
                <a:cs typeface="Times New Roman"/>
              </a:rPr>
              <a:t> </a:t>
            </a:r>
            <a:r>
              <a:rPr sz="1800" spc="15" dirty="0">
                <a:latin typeface="Times New Roman"/>
                <a:cs typeface="Times New Roman"/>
              </a:rPr>
              <a:t>of</a:t>
            </a:r>
            <a:r>
              <a:rPr sz="1800" spc="130" dirty="0">
                <a:latin typeface="Times New Roman"/>
                <a:cs typeface="Times New Roman"/>
              </a:rPr>
              <a:t> </a:t>
            </a:r>
            <a:r>
              <a:rPr sz="1800" spc="-5" dirty="0">
                <a:latin typeface="Times New Roman"/>
                <a:cs typeface="Times New Roman"/>
              </a:rPr>
              <a:t>minimising</a:t>
            </a:r>
            <a:r>
              <a:rPr sz="1800" spc="80" dirty="0">
                <a:latin typeface="Times New Roman"/>
                <a:cs typeface="Times New Roman"/>
              </a:rPr>
              <a:t> </a:t>
            </a:r>
            <a:r>
              <a:rPr sz="1800" dirty="0">
                <a:latin typeface="Times New Roman"/>
                <a:cs typeface="Times New Roman"/>
              </a:rPr>
              <a:t>the</a:t>
            </a:r>
            <a:r>
              <a:rPr sz="1800" spc="120" dirty="0">
                <a:latin typeface="Times New Roman"/>
                <a:cs typeface="Times New Roman"/>
              </a:rPr>
              <a:t> </a:t>
            </a:r>
            <a:r>
              <a:rPr sz="1800" dirty="0">
                <a:latin typeface="Times New Roman"/>
                <a:cs typeface="Times New Roman"/>
              </a:rPr>
              <a:t>cost</a:t>
            </a:r>
            <a:r>
              <a:rPr sz="1800" spc="105" dirty="0">
                <a:latin typeface="Times New Roman"/>
                <a:cs typeface="Times New Roman"/>
              </a:rPr>
              <a:t> </a:t>
            </a:r>
            <a:r>
              <a:rPr sz="1800" spc="5" dirty="0">
                <a:latin typeface="Times New Roman"/>
                <a:cs typeface="Times New Roman"/>
              </a:rPr>
              <a:t>of</a:t>
            </a:r>
            <a:r>
              <a:rPr sz="1800" spc="100" dirty="0">
                <a:latin typeface="Times New Roman"/>
                <a:cs typeface="Times New Roman"/>
              </a:rPr>
              <a:t> </a:t>
            </a:r>
            <a:r>
              <a:rPr sz="1800" dirty="0">
                <a:latin typeface="Times New Roman"/>
                <a:cs typeface="Times New Roman"/>
              </a:rPr>
              <a:t>the</a:t>
            </a:r>
            <a:r>
              <a:rPr sz="1800" spc="150" dirty="0">
                <a:latin typeface="Times New Roman"/>
                <a:cs typeface="Times New Roman"/>
              </a:rPr>
              <a:t> </a:t>
            </a:r>
            <a:r>
              <a:rPr sz="1800" spc="-5" dirty="0">
                <a:latin typeface="Times New Roman"/>
                <a:cs typeface="Times New Roman"/>
              </a:rPr>
              <a:t>final</a:t>
            </a:r>
            <a:r>
              <a:rPr sz="1800" spc="100" dirty="0">
                <a:latin typeface="Times New Roman"/>
                <a:cs typeface="Times New Roman"/>
              </a:rPr>
              <a:t> </a:t>
            </a:r>
            <a:r>
              <a:rPr sz="1800" dirty="0">
                <a:latin typeface="Times New Roman"/>
                <a:cs typeface="Times New Roman"/>
              </a:rPr>
              <a:t>circuit.</a:t>
            </a:r>
            <a:r>
              <a:rPr sz="1800" spc="105" dirty="0">
                <a:latin typeface="Times New Roman"/>
                <a:cs typeface="Times New Roman"/>
              </a:rPr>
              <a:t> </a:t>
            </a:r>
            <a:r>
              <a:rPr sz="1800" spc="-5" dirty="0">
                <a:latin typeface="Times New Roman"/>
                <a:cs typeface="Times New Roman"/>
              </a:rPr>
              <a:t>The</a:t>
            </a:r>
            <a:endParaRPr sz="1800">
              <a:latin typeface="Times New Roman"/>
              <a:cs typeface="Times New Roman"/>
            </a:endParaRPr>
          </a:p>
          <a:p>
            <a:pPr marL="12700" marR="45720" algn="just">
              <a:lnSpc>
                <a:spcPct val="100000"/>
              </a:lnSpc>
            </a:pPr>
            <a:r>
              <a:rPr sz="1800" spc="-15" dirty="0">
                <a:latin typeface="Times New Roman"/>
                <a:cs typeface="Times New Roman"/>
              </a:rPr>
              <a:t>two </a:t>
            </a:r>
            <a:r>
              <a:rPr sz="1800" spc="-10" dirty="0">
                <a:latin typeface="Times New Roman"/>
                <a:cs typeface="Times New Roman"/>
              </a:rPr>
              <a:t>most </a:t>
            </a:r>
            <a:r>
              <a:rPr sz="1800" dirty="0">
                <a:latin typeface="Times New Roman"/>
                <a:cs typeface="Times New Roman"/>
              </a:rPr>
              <a:t>obvious cost reductions are reductions </a:t>
            </a:r>
            <a:r>
              <a:rPr sz="1800" spc="-10" dirty="0">
                <a:latin typeface="Times New Roman"/>
                <a:cs typeface="Times New Roman"/>
              </a:rPr>
              <a:t>in </a:t>
            </a:r>
            <a:r>
              <a:rPr sz="1800" dirty="0">
                <a:latin typeface="Times New Roman"/>
                <a:cs typeface="Times New Roman"/>
              </a:rPr>
              <a:t>the </a:t>
            </a:r>
            <a:r>
              <a:rPr sz="1800" spc="-5" dirty="0">
                <a:latin typeface="Times New Roman"/>
                <a:cs typeface="Times New Roman"/>
              </a:rPr>
              <a:t>number </a:t>
            </a:r>
            <a:r>
              <a:rPr sz="1800" spc="5" dirty="0">
                <a:latin typeface="Times New Roman"/>
                <a:cs typeface="Times New Roman"/>
              </a:rPr>
              <a:t>of </a:t>
            </a:r>
            <a:r>
              <a:rPr sz="1800" spc="-5" dirty="0">
                <a:latin typeface="Times New Roman"/>
                <a:cs typeface="Times New Roman"/>
              </a:rPr>
              <a:t>flip-flops </a:t>
            </a:r>
            <a:r>
              <a:rPr sz="1800" dirty="0">
                <a:latin typeface="Times New Roman"/>
                <a:cs typeface="Times New Roman"/>
              </a:rPr>
              <a:t>and the </a:t>
            </a:r>
            <a:r>
              <a:rPr sz="1800" spc="-5" dirty="0">
                <a:latin typeface="Times New Roman"/>
                <a:cs typeface="Times New Roman"/>
              </a:rPr>
              <a:t>number </a:t>
            </a:r>
            <a:r>
              <a:rPr sz="1800" spc="10" dirty="0">
                <a:latin typeface="Times New Roman"/>
                <a:cs typeface="Times New Roman"/>
              </a:rPr>
              <a:t>of </a:t>
            </a:r>
            <a:r>
              <a:rPr sz="1800" spc="15" dirty="0">
                <a:latin typeface="Times New Roman"/>
                <a:cs typeface="Times New Roman"/>
              </a:rPr>
              <a:t> </a:t>
            </a:r>
            <a:r>
              <a:rPr sz="1800" spc="-5" dirty="0">
                <a:latin typeface="Times New Roman"/>
                <a:cs typeface="Times New Roman"/>
              </a:rPr>
              <a:t>gates.</a:t>
            </a:r>
            <a:endParaRPr sz="1800">
              <a:latin typeface="Times New Roman"/>
              <a:cs typeface="Times New Roman"/>
            </a:endParaRPr>
          </a:p>
          <a:p>
            <a:pPr marL="12700" marR="5080" algn="just">
              <a:lnSpc>
                <a:spcPct val="100000"/>
              </a:lnSpc>
            </a:pPr>
            <a:r>
              <a:rPr sz="1800" spc="-5" dirty="0">
                <a:latin typeface="Times New Roman"/>
                <a:cs typeface="Times New Roman"/>
              </a:rPr>
              <a:t>The </a:t>
            </a:r>
            <a:r>
              <a:rPr sz="1800" spc="-10" dirty="0">
                <a:latin typeface="Times New Roman"/>
                <a:cs typeface="Times New Roman"/>
              </a:rPr>
              <a:t>number </a:t>
            </a:r>
            <a:r>
              <a:rPr sz="1800" spc="5" dirty="0">
                <a:latin typeface="Times New Roman"/>
                <a:cs typeface="Times New Roman"/>
              </a:rPr>
              <a:t>of </a:t>
            </a:r>
            <a:r>
              <a:rPr sz="1800" dirty="0">
                <a:latin typeface="Times New Roman"/>
                <a:cs typeface="Times New Roman"/>
              </a:rPr>
              <a:t>states </a:t>
            </a:r>
            <a:r>
              <a:rPr sz="1800" spc="-10" dirty="0">
                <a:latin typeface="Times New Roman"/>
                <a:cs typeface="Times New Roman"/>
              </a:rPr>
              <a:t>in </a:t>
            </a:r>
            <a:r>
              <a:rPr sz="1800" dirty="0">
                <a:latin typeface="Times New Roman"/>
                <a:cs typeface="Times New Roman"/>
              </a:rPr>
              <a:t>a </a:t>
            </a:r>
            <a:r>
              <a:rPr sz="1800" spc="-10" dirty="0">
                <a:latin typeface="Times New Roman"/>
                <a:cs typeface="Times New Roman"/>
              </a:rPr>
              <a:t>sequential circuit </a:t>
            </a:r>
            <a:r>
              <a:rPr sz="1800" dirty="0">
                <a:latin typeface="Times New Roman"/>
                <a:cs typeface="Times New Roman"/>
              </a:rPr>
              <a:t>is </a:t>
            </a:r>
            <a:r>
              <a:rPr sz="1800" spc="-5" dirty="0">
                <a:latin typeface="Times New Roman"/>
                <a:cs typeface="Times New Roman"/>
              </a:rPr>
              <a:t>closely </a:t>
            </a:r>
            <a:r>
              <a:rPr sz="1800" dirty="0">
                <a:latin typeface="Times New Roman"/>
                <a:cs typeface="Times New Roman"/>
              </a:rPr>
              <a:t>related to </a:t>
            </a:r>
            <a:r>
              <a:rPr sz="1800" spc="-20" dirty="0">
                <a:latin typeface="Times New Roman"/>
                <a:cs typeface="Times New Roman"/>
              </a:rPr>
              <a:t>the </a:t>
            </a:r>
            <a:r>
              <a:rPr sz="1800" dirty="0">
                <a:latin typeface="Times New Roman"/>
                <a:cs typeface="Times New Roman"/>
              </a:rPr>
              <a:t>complexity </a:t>
            </a:r>
            <a:r>
              <a:rPr sz="1800" spc="5" dirty="0">
                <a:latin typeface="Times New Roman"/>
                <a:cs typeface="Times New Roman"/>
              </a:rPr>
              <a:t>of the </a:t>
            </a:r>
            <a:r>
              <a:rPr sz="1800" spc="-5" dirty="0">
                <a:latin typeface="Times New Roman"/>
                <a:cs typeface="Times New Roman"/>
              </a:rPr>
              <a:t>resulting </a:t>
            </a:r>
            <a:r>
              <a:rPr sz="1800" dirty="0">
                <a:latin typeface="Times New Roman"/>
                <a:cs typeface="Times New Roman"/>
              </a:rPr>
              <a:t> circuit. It is </a:t>
            </a:r>
            <a:r>
              <a:rPr sz="1800" spc="-5" dirty="0">
                <a:latin typeface="Times New Roman"/>
                <a:cs typeface="Times New Roman"/>
              </a:rPr>
              <a:t>therefore </a:t>
            </a:r>
            <a:r>
              <a:rPr sz="1800" dirty="0">
                <a:latin typeface="Times New Roman"/>
                <a:cs typeface="Times New Roman"/>
              </a:rPr>
              <a:t>desirable </a:t>
            </a:r>
            <a:r>
              <a:rPr sz="1800" spc="-10" dirty="0">
                <a:latin typeface="Times New Roman"/>
                <a:cs typeface="Times New Roman"/>
              </a:rPr>
              <a:t>to </a:t>
            </a:r>
            <a:r>
              <a:rPr sz="1800" dirty="0">
                <a:latin typeface="Times New Roman"/>
                <a:cs typeface="Times New Roman"/>
              </a:rPr>
              <a:t>know </a:t>
            </a:r>
            <a:r>
              <a:rPr sz="1800" spc="-10" dirty="0">
                <a:latin typeface="Times New Roman"/>
                <a:cs typeface="Times New Roman"/>
              </a:rPr>
              <a:t>when </a:t>
            </a:r>
            <a:r>
              <a:rPr sz="1800" spc="-15" dirty="0">
                <a:latin typeface="Times New Roman"/>
                <a:cs typeface="Times New Roman"/>
              </a:rPr>
              <a:t>two </a:t>
            </a:r>
            <a:r>
              <a:rPr sz="1800" spc="5" dirty="0">
                <a:latin typeface="Times New Roman"/>
                <a:cs typeface="Times New Roman"/>
              </a:rPr>
              <a:t>or </a:t>
            </a:r>
            <a:r>
              <a:rPr sz="1800" spc="-10" dirty="0">
                <a:latin typeface="Times New Roman"/>
                <a:cs typeface="Times New Roman"/>
              </a:rPr>
              <a:t>more states </a:t>
            </a:r>
            <a:r>
              <a:rPr sz="1800" dirty="0">
                <a:latin typeface="Times New Roman"/>
                <a:cs typeface="Times New Roman"/>
              </a:rPr>
              <a:t>are </a:t>
            </a:r>
            <a:r>
              <a:rPr sz="1800" spc="-5" dirty="0">
                <a:latin typeface="Times New Roman"/>
                <a:cs typeface="Times New Roman"/>
              </a:rPr>
              <a:t>equivalent </a:t>
            </a:r>
            <a:r>
              <a:rPr sz="1800" spc="-10" dirty="0">
                <a:latin typeface="Times New Roman"/>
                <a:cs typeface="Times New Roman"/>
              </a:rPr>
              <a:t>in </a:t>
            </a:r>
            <a:r>
              <a:rPr sz="1800" dirty="0">
                <a:latin typeface="Times New Roman"/>
                <a:cs typeface="Times New Roman"/>
              </a:rPr>
              <a:t>all </a:t>
            </a:r>
            <a:r>
              <a:rPr sz="1800" spc="-10" dirty="0">
                <a:latin typeface="Times New Roman"/>
                <a:cs typeface="Times New Roman"/>
              </a:rPr>
              <a:t>aspects. </a:t>
            </a:r>
            <a:r>
              <a:rPr sz="1800" spc="-5" dirty="0">
                <a:latin typeface="Times New Roman"/>
                <a:cs typeface="Times New Roman"/>
              </a:rPr>
              <a:t> The</a:t>
            </a:r>
            <a:r>
              <a:rPr sz="1800" dirty="0">
                <a:latin typeface="Times New Roman"/>
                <a:cs typeface="Times New Roman"/>
              </a:rPr>
              <a:t> </a:t>
            </a:r>
            <a:r>
              <a:rPr sz="1800" spc="-5" dirty="0">
                <a:latin typeface="Times New Roman"/>
                <a:cs typeface="Times New Roman"/>
              </a:rPr>
              <a:t>process </a:t>
            </a:r>
            <a:r>
              <a:rPr sz="1800" spc="15" dirty="0">
                <a:latin typeface="Times New Roman"/>
                <a:cs typeface="Times New Roman"/>
              </a:rPr>
              <a:t>of</a:t>
            </a:r>
            <a:r>
              <a:rPr sz="1800" spc="20" dirty="0">
                <a:latin typeface="Times New Roman"/>
                <a:cs typeface="Times New Roman"/>
              </a:rPr>
              <a:t> </a:t>
            </a:r>
            <a:r>
              <a:rPr sz="1800" spc="-10" dirty="0">
                <a:latin typeface="Times New Roman"/>
                <a:cs typeface="Times New Roman"/>
              </a:rPr>
              <a:t>eliminating</a:t>
            </a:r>
            <a:r>
              <a:rPr sz="1800" spc="-5" dirty="0">
                <a:latin typeface="Times New Roman"/>
                <a:cs typeface="Times New Roman"/>
              </a:rPr>
              <a:t> </a:t>
            </a:r>
            <a:r>
              <a:rPr sz="1800" dirty="0">
                <a:latin typeface="Times New Roman"/>
                <a:cs typeface="Times New Roman"/>
              </a:rPr>
              <a:t>the </a:t>
            </a:r>
            <a:r>
              <a:rPr sz="1800" spc="-5" dirty="0">
                <a:latin typeface="Times New Roman"/>
                <a:cs typeface="Times New Roman"/>
              </a:rPr>
              <a:t>equivalent</a:t>
            </a:r>
            <a:r>
              <a:rPr sz="1800" dirty="0">
                <a:latin typeface="Times New Roman"/>
                <a:cs typeface="Times New Roman"/>
              </a:rPr>
              <a:t> </a:t>
            </a:r>
            <a:r>
              <a:rPr sz="1800" spc="5" dirty="0">
                <a:latin typeface="Times New Roman"/>
                <a:cs typeface="Times New Roman"/>
              </a:rPr>
              <a:t>or</a:t>
            </a:r>
            <a:r>
              <a:rPr sz="1800" spc="10" dirty="0">
                <a:latin typeface="Times New Roman"/>
                <a:cs typeface="Times New Roman"/>
              </a:rPr>
              <a:t> </a:t>
            </a:r>
            <a:r>
              <a:rPr sz="1800" spc="-5" dirty="0">
                <a:latin typeface="Times New Roman"/>
                <a:cs typeface="Times New Roman"/>
              </a:rPr>
              <a:t>redundant</a:t>
            </a:r>
            <a:r>
              <a:rPr sz="1800" dirty="0">
                <a:latin typeface="Times New Roman"/>
                <a:cs typeface="Times New Roman"/>
              </a:rPr>
              <a:t> </a:t>
            </a:r>
            <a:r>
              <a:rPr sz="1800" spc="-10" dirty="0">
                <a:latin typeface="Times New Roman"/>
                <a:cs typeface="Times New Roman"/>
              </a:rPr>
              <a:t>states</a:t>
            </a:r>
            <a:r>
              <a:rPr sz="1800" spc="-5" dirty="0">
                <a:latin typeface="Times New Roman"/>
                <a:cs typeface="Times New Roman"/>
              </a:rPr>
              <a:t> from </a:t>
            </a:r>
            <a:r>
              <a:rPr sz="1800" dirty="0">
                <a:latin typeface="Times New Roman"/>
                <a:cs typeface="Times New Roman"/>
              </a:rPr>
              <a:t>a</a:t>
            </a:r>
            <a:r>
              <a:rPr sz="1800" spc="5" dirty="0">
                <a:latin typeface="Times New Roman"/>
                <a:cs typeface="Times New Roman"/>
              </a:rPr>
              <a:t> </a:t>
            </a:r>
            <a:r>
              <a:rPr sz="1800" dirty="0">
                <a:latin typeface="Times New Roman"/>
                <a:cs typeface="Times New Roman"/>
              </a:rPr>
              <a:t>state</a:t>
            </a:r>
            <a:r>
              <a:rPr sz="1800" spc="450" dirty="0">
                <a:latin typeface="Times New Roman"/>
                <a:cs typeface="Times New Roman"/>
              </a:rPr>
              <a:t> </a:t>
            </a:r>
            <a:r>
              <a:rPr sz="1800" dirty="0">
                <a:latin typeface="Times New Roman"/>
                <a:cs typeface="Times New Roman"/>
              </a:rPr>
              <a:t>table/diagram </a:t>
            </a:r>
            <a:r>
              <a:rPr sz="1800" spc="25" dirty="0">
                <a:latin typeface="Times New Roman"/>
                <a:cs typeface="Times New Roman"/>
              </a:rPr>
              <a:t>is </a:t>
            </a:r>
            <a:r>
              <a:rPr sz="1800" spc="30" dirty="0">
                <a:latin typeface="Times New Roman"/>
                <a:cs typeface="Times New Roman"/>
              </a:rPr>
              <a:t> </a:t>
            </a:r>
            <a:r>
              <a:rPr sz="1800" spc="-5" dirty="0">
                <a:latin typeface="Times New Roman"/>
                <a:cs typeface="Times New Roman"/>
              </a:rPr>
              <a:t>known</a:t>
            </a:r>
            <a:r>
              <a:rPr sz="1800" spc="-90" dirty="0">
                <a:latin typeface="Times New Roman"/>
                <a:cs typeface="Times New Roman"/>
              </a:rPr>
              <a:t> </a:t>
            </a:r>
            <a:r>
              <a:rPr sz="1800" spc="-5" dirty="0">
                <a:latin typeface="Times New Roman"/>
                <a:cs typeface="Times New Roman"/>
              </a:rPr>
              <a:t>as</a:t>
            </a:r>
            <a:r>
              <a:rPr sz="1800" spc="-25" dirty="0">
                <a:latin typeface="Times New Roman"/>
                <a:cs typeface="Times New Roman"/>
              </a:rPr>
              <a:t> </a:t>
            </a:r>
            <a:r>
              <a:rPr sz="1800" b="1" spc="-5" dirty="0">
                <a:latin typeface="Times New Roman"/>
                <a:cs typeface="Times New Roman"/>
              </a:rPr>
              <a:t>state</a:t>
            </a:r>
            <a:r>
              <a:rPr sz="1800" b="1" spc="65" dirty="0">
                <a:latin typeface="Times New Roman"/>
                <a:cs typeface="Times New Roman"/>
              </a:rPr>
              <a:t> </a:t>
            </a:r>
            <a:r>
              <a:rPr sz="1800" b="1" spc="-30" dirty="0">
                <a:latin typeface="Times New Roman"/>
                <a:cs typeface="Times New Roman"/>
              </a:rPr>
              <a:t>reduction</a:t>
            </a:r>
            <a:r>
              <a:rPr sz="1800" spc="-30" dirty="0">
                <a:latin typeface="Times New Roman"/>
                <a:cs typeface="Times New Roman"/>
              </a:rPr>
              <a:t>.</a:t>
            </a:r>
            <a:endParaRPr sz="1800">
              <a:latin typeface="Times New Roman"/>
              <a:cs typeface="Times New Roman"/>
            </a:endParaRPr>
          </a:p>
          <a:p>
            <a:pPr marL="12700" algn="just">
              <a:lnSpc>
                <a:spcPct val="100000"/>
              </a:lnSpc>
              <a:spcBef>
                <a:spcPts val="509"/>
              </a:spcBef>
            </a:pPr>
            <a:r>
              <a:rPr sz="1800" b="1" dirty="0">
                <a:solidFill>
                  <a:srgbClr val="FF0000"/>
                </a:solidFill>
                <a:latin typeface="Arial"/>
                <a:cs typeface="Arial"/>
              </a:rPr>
              <a:t>Example</a:t>
            </a:r>
            <a:r>
              <a:rPr sz="1800" dirty="0">
                <a:solidFill>
                  <a:srgbClr val="FF0000"/>
                </a:solidFill>
                <a:latin typeface="Microsoft Sans Serif"/>
                <a:cs typeface="Microsoft Sans Serif"/>
              </a:rPr>
              <a:t>:</a:t>
            </a:r>
            <a:r>
              <a:rPr sz="1800" spc="-40" dirty="0">
                <a:solidFill>
                  <a:srgbClr val="FF0000"/>
                </a:solidFill>
                <a:latin typeface="Microsoft Sans Serif"/>
                <a:cs typeface="Microsoft Sans Serif"/>
              </a:rPr>
              <a:t> </a:t>
            </a:r>
            <a:r>
              <a:rPr sz="1800" dirty="0">
                <a:latin typeface="Microsoft Sans Serif"/>
                <a:cs typeface="Microsoft Sans Serif"/>
              </a:rPr>
              <a:t>Let</a:t>
            </a:r>
            <a:r>
              <a:rPr sz="1800" spc="5" dirty="0">
                <a:latin typeface="Microsoft Sans Serif"/>
                <a:cs typeface="Microsoft Sans Serif"/>
              </a:rPr>
              <a:t> </a:t>
            </a:r>
            <a:r>
              <a:rPr sz="1800" dirty="0">
                <a:latin typeface="Microsoft Sans Serif"/>
                <a:cs typeface="Microsoft Sans Serif"/>
              </a:rPr>
              <a:t>us</a:t>
            </a:r>
            <a:r>
              <a:rPr sz="1800" spc="15" dirty="0">
                <a:latin typeface="Microsoft Sans Serif"/>
                <a:cs typeface="Microsoft Sans Serif"/>
              </a:rPr>
              <a:t> </a:t>
            </a:r>
            <a:r>
              <a:rPr sz="1800" dirty="0">
                <a:latin typeface="Microsoft Sans Serif"/>
                <a:cs typeface="Microsoft Sans Serif"/>
              </a:rPr>
              <a:t>consider</a:t>
            </a:r>
            <a:r>
              <a:rPr sz="1800" spc="-40" dirty="0">
                <a:latin typeface="Microsoft Sans Serif"/>
                <a:cs typeface="Microsoft Sans Serif"/>
              </a:rPr>
              <a:t> </a:t>
            </a:r>
            <a:r>
              <a:rPr sz="1800" dirty="0">
                <a:latin typeface="Microsoft Sans Serif"/>
                <a:cs typeface="Microsoft Sans Serif"/>
              </a:rPr>
              <a:t>the</a:t>
            </a:r>
            <a:r>
              <a:rPr sz="1800" spc="20" dirty="0">
                <a:latin typeface="Microsoft Sans Serif"/>
                <a:cs typeface="Microsoft Sans Serif"/>
              </a:rPr>
              <a:t> </a:t>
            </a:r>
            <a:r>
              <a:rPr sz="1800" dirty="0">
                <a:latin typeface="Microsoft Sans Serif"/>
                <a:cs typeface="Microsoft Sans Serif"/>
              </a:rPr>
              <a:t>state</a:t>
            </a:r>
            <a:r>
              <a:rPr sz="1800" spc="15" dirty="0">
                <a:latin typeface="Microsoft Sans Serif"/>
                <a:cs typeface="Microsoft Sans Serif"/>
              </a:rPr>
              <a:t> </a:t>
            </a:r>
            <a:r>
              <a:rPr sz="1800" dirty="0">
                <a:latin typeface="Microsoft Sans Serif"/>
                <a:cs typeface="Microsoft Sans Serif"/>
              </a:rPr>
              <a:t>table</a:t>
            </a:r>
            <a:r>
              <a:rPr sz="1800" spc="-10" dirty="0">
                <a:latin typeface="Microsoft Sans Serif"/>
                <a:cs typeface="Microsoft Sans Serif"/>
              </a:rPr>
              <a:t> </a:t>
            </a:r>
            <a:r>
              <a:rPr sz="1800" dirty="0">
                <a:latin typeface="Microsoft Sans Serif"/>
                <a:cs typeface="Microsoft Sans Serif"/>
              </a:rPr>
              <a:t>of</a:t>
            </a:r>
            <a:r>
              <a:rPr sz="1800" spc="10" dirty="0">
                <a:latin typeface="Microsoft Sans Serif"/>
                <a:cs typeface="Microsoft Sans Serif"/>
              </a:rPr>
              <a:t> </a:t>
            </a:r>
            <a:r>
              <a:rPr sz="1800" spc="-5" dirty="0">
                <a:latin typeface="Microsoft Sans Serif"/>
                <a:cs typeface="Microsoft Sans Serif"/>
              </a:rPr>
              <a:t>a</a:t>
            </a:r>
            <a:r>
              <a:rPr sz="1800" spc="40" dirty="0">
                <a:latin typeface="Microsoft Sans Serif"/>
                <a:cs typeface="Microsoft Sans Serif"/>
              </a:rPr>
              <a:t> </a:t>
            </a:r>
            <a:r>
              <a:rPr sz="1800" spc="5" dirty="0">
                <a:latin typeface="Microsoft Sans Serif"/>
                <a:cs typeface="Microsoft Sans Serif"/>
              </a:rPr>
              <a:t>sequentialcircuit</a:t>
            </a:r>
            <a:endParaRPr sz="1800">
              <a:latin typeface="Microsoft Sans Serif"/>
              <a:cs typeface="Microsoft Sans Serif"/>
            </a:endParaRPr>
          </a:p>
        </p:txBody>
      </p:sp>
      <p:pic>
        <p:nvPicPr>
          <p:cNvPr id="5" name="object 5"/>
          <p:cNvPicPr/>
          <p:nvPr/>
        </p:nvPicPr>
        <p:blipFill>
          <a:blip r:embed="rId2" cstate="print"/>
          <a:stretch>
            <a:fillRect/>
          </a:stretch>
        </p:blipFill>
        <p:spPr>
          <a:xfrm>
            <a:off x="457200" y="3657600"/>
            <a:ext cx="7915656" cy="2039112"/>
          </a:xfrm>
          <a:prstGeom prst="rect">
            <a:avLst/>
          </a:prstGeom>
        </p:spPr>
      </p:pic>
      <p:sp>
        <p:nvSpPr>
          <p:cNvPr id="6" name="object 6"/>
          <p:cNvSpPr txBox="1"/>
          <p:nvPr/>
        </p:nvSpPr>
        <p:spPr>
          <a:xfrm>
            <a:off x="4119753" y="5811113"/>
            <a:ext cx="97091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State</a:t>
            </a:r>
            <a:r>
              <a:rPr sz="1800" spc="-120" dirty="0">
                <a:latin typeface="Times New Roman"/>
                <a:cs typeface="Times New Roman"/>
              </a:rPr>
              <a:t> </a:t>
            </a:r>
            <a:r>
              <a:rPr sz="1800" dirty="0">
                <a:latin typeface="Times New Roman"/>
                <a:cs typeface="Times New Roman"/>
              </a:rPr>
              <a:t>ta</a:t>
            </a:r>
            <a:r>
              <a:rPr sz="1800" spc="5" dirty="0">
                <a:latin typeface="Times New Roman"/>
                <a:cs typeface="Times New Roman"/>
              </a:rPr>
              <a:t>b</a:t>
            </a:r>
            <a:r>
              <a:rPr sz="1800" dirty="0">
                <a:latin typeface="Times New Roman"/>
                <a:cs typeface="Times New Roman"/>
              </a:rPr>
              <a:t>le</a:t>
            </a:r>
            <a:endParaRPr sz="1800">
              <a:latin typeface="Times New Roman"/>
              <a:cs typeface="Times New Roman"/>
            </a:endParaRPr>
          </a:p>
        </p:txBody>
      </p:sp>
      <p:sp>
        <p:nvSpPr>
          <p:cNvPr id="7" name="object 7"/>
          <p:cNvSpPr txBox="1">
            <a:spLocks noGrp="1"/>
          </p:cNvSpPr>
          <p:nvPr>
            <p:ph type="sldNum" sz="quarter" idx="4294967295"/>
          </p:nvPr>
        </p:nvSpPr>
        <p:spPr>
          <a:xfrm>
            <a:off x="8304021" y="6410197"/>
            <a:ext cx="424815" cy="254000"/>
          </a:xfrm>
          <a:prstGeom prst="rect">
            <a:avLst/>
          </a:prstGeom>
        </p:spPr>
        <p:txBody>
          <a:bodyPr vert="horz" wrap="square" lIns="0" tIns="0" rIns="0" bIns="0" rtlCol="0">
            <a:spAutoFit/>
          </a:bodyPr>
          <a:lstStyle/>
          <a:p>
            <a:pPr marL="38100">
              <a:lnSpc>
                <a:spcPts val="1810"/>
              </a:lnSpc>
            </a:pPr>
            <a:fld id="{81D60167-4931-47E6-BA6A-407CBD079E47}" type="slidenum">
              <a:rPr dirty="0"/>
              <a:t>14</a:t>
            </a:fld>
            <a:endParaRPr dirty="0"/>
          </a:p>
        </p:txBody>
      </p:sp>
    </p:spTree>
    <p:extLst>
      <p:ext uri="{BB962C8B-B14F-4D97-AF65-F5344CB8AC3E}">
        <p14:creationId xmlns:p14="http://schemas.microsoft.com/office/powerpoint/2010/main" val="4164814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15870" y="154889"/>
            <a:ext cx="4107815" cy="574675"/>
          </a:xfrm>
          <a:prstGeom prst="rect">
            <a:avLst/>
          </a:prstGeom>
        </p:spPr>
        <p:txBody>
          <a:bodyPr vert="horz" wrap="square" lIns="0" tIns="12700" rIns="0" bIns="0" rtlCol="0">
            <a:spAutoFit/>
          </a:bodyPr>
          <a:lstStyle/>
          <a:p>
            <a:pPr marL="12700">
              <a:lnSpc>
                <a:spcPct val="100000"/>
              </a:lnSpc>
              <a:spcBef>
                <a:spcPts val="100"/>
              </a:spcBef>
            </a:pPr>
            <a:r>
              <a:rPr sz="3600" spc="-155" dirty="0"/>
              <a:t>S</a:t>
            </a:r>
            <a:r>
              <a:rPr sz="3600" spc="-140" dirty="0"/>
              <a:t>T</a:t>
            </a:r>
            <a:r>
              <a:rPr sz="3600" spc="-155" dirty="0"/>
              <a:t>A</a:t>
            </a:r>
            <a:r>
              <a:rPr sz="3600" spc="-140" dirty="0"/>
              <a:t>T</a:t>
            </a:r>
            <a:r>
              <a:rPr sz="3600" dirty="0"/>
              <a:t>E</a:t>
            </a:r>
            <a:r>
              <a:rPr sz="3600" spc="-195" dirty="0"/>
              <a:t> </a:t>
            </a:r>
            <a:r>
              <a:rPr sz="3600" dirty="0"/>
              <a:t>REDUCTION</a:t>
            </a:r>
            <a:endParaRPr sz="3600"/>
          </a:p>
        </p:txBody>
      </p:sp>
      <p:sp>
        <p:nvSpPr>
          <p:cNvPr id="4" name="object 4"/>
          <p:cNvSpPr txBox="1"/>
          <p:nvPr/>
        </p:nvSpPr>
        <p:spPr>
          <a:xfrm>
            <a:off x="307035" y="1158621"/>
            <a:ext cx="8627110" cy="1397635"/>
          </a:xfrm>
          <a:prstGeom prst="rect">
            <a:avLst/>
          </a:prstGeom>
        </p:spPr>
        <p:txBody>
          <a:bodyPr vert="horz" wrap="square" lIns="0" tIns="12700" rIns="0" bIns="0" rtlCol="0">
            <a:spAutoFit/>
          </a:bodyPr>
          <a:lstStyle/>
          <a:p>
            <a:pPr marL="12700" marR="5080" algn="just">
              <a:lnSpc>
                <a:spcPct val="100000"/>
              </a:lnSpc>
              <a:spcBef>
                <a:spcPts val="100"/>
              </a:spcBef>
            </a:pPr>
            <a:r>
              <a:rPr sz="1800" dirty="0">
                <a:latin typeface="Times New Roman"/>
                <a:cs typeface="Times New Roman"/>
              </a:rPr>
              <a:t>It </a:t>
            </a:r>
            <a:r>
              <a:rPr sz="1800" spc="-15" dirty="0">
                <a:latin typeface="Times New Roman"/>
                <a:cs typeface="Times New Roman"/>
              </a:rPr>
              <a:t>can </a:t>
            </a:r>
            <a:r>
              <a:rPr sz="1800" spc="5" dirty="0">
                <a:latin typeface="Times New Roman"/>
                <a:cs typeface="Times New Roman"/>
              </a:rPr>
              <a:t>be </a:t>
            </a:r>
            <a:r>
              <a:rPr sz="1800" spc="-10" dirty="0">
                <a:latin typeface="Times New Roman"/>
                <a:cs typeface="Times New Roman"/>
              </a:rPr>
              <a:t>seen </a:t>
            </a:r>
            <a:r>
              <a:rPr sz="1800" spc="-5" dirty="0">
                <a:latin typeface="Times New Roman"/>
                <a:cs typeface="Times New Roman"/>
              </a:rPr>
              <a:t>from </a:t>
            </a:r>
            <a:r>
              <a:rPr sz="1800" dirty="0">
                <a:latin typeface="Times New Roman"/>
                <a:cs typeface="Times New Roman"/>
              </a:rPr>
              <a:t>the table </a:t>
            </a:r>
            <a:r>
              <a:rPr sz="1800" spc="-5" dirty="0">
                <a:latin typeface="Times New Roman"/>
                <a:cs typeface="Times New Roman"/>
              </a:rPr>
              <a:t>that </a:t>
            </a:r>
            <a:r>
              <a:rPr sz="1800" dirty="0">
                <a:latin typeface="Times New Roman"/>
                <a:cs typeface="Times New Roman"/>
              </a:rPr>
              <a:t>the </a:t>
            </a:r>
            <a:r>
              <a:rPr sz="1800" spc="-5" dirty="0">
                <a:latin typeface="Times New Roman"/>
                <a:cs typeface="Times New Roman"/>
              </a:rPr>
              <a:t>present state A </a:t>
            </a:r>
            <a:r>
              <a:rPr sz="1800" spc="-10" dirty="0">
                <a:latin typeface="Times New Roman"/>
                <a:cs typeface="Times New Roman"/>
              </a:rPr>
              <a:t>and </a:t>
            </a:r>
            <a:r>
              <a:rPr sz="1800" spc="-5" dirty="0">
                <a:latin typeface="Times New Roman"/>
                <a:cs typeface="Times New Roman"/>
              </a:rPr>
              <a:t>F both </a:t>
            </a:r>
            <a:r>
              <a:rPr sz="1800" spc="-10" dirty="0">
                <a:latin typeface="Times New Roman"/>
                <a:cs typeface="Times New Roman"/>
              </a:rPr>
              <a:t>have </a:t>
            </a:r>
            <a:r>
              <a:rPr sz="1800" dirty="0">
                <a:latin typeface="Times New Roman"/>
                <a:cs typeface="Times New Roman"/>
              </a:rPr>
              <a:t>the </a:t>
            </a:r>
            <a:r>
              <a:rPr sz="1800" spc="-15" dirty="0">
                <a:latin typeface="Times New Roman"/>
                <a:cs typeface="Times New Roman"/>
              </a:rPr>
              <a:t>same </a:t>
            </a:r>
            <a:r>
              <a:rPr sz="1800" spc="-5" dirty="0">
                <a:latin typeface="Times New Roman"/>
                <a:cs typeface="Times New Roman"/>
              </a:rPr>
              <a:t>next </a:t>
            </a:r>
            <a:r>
              <a:rPr sz="1800" spc="-10" dirty="0">
                <a:latin typeface="Times New Roman"/>
                <a:cs typeface="Times New Roman"/>
              </a:rPr>
              <a:t>states, </a:t>
            </a:r>
            <a:r>
              <a:rPr sz="1800" dirty="0">
                <a:latin typeface="Times New Roman"/>
                <a:cs typeface="Times New Roman"/>
              </a:rPr>
              <a:t>B </a:t>
            </a:r>
            <a:r>
              <a:rPr sz="1800" spc="5" dirty="0">
                <a:latin typeface="Times New Roman"/>
                <a:cs typeface="Times New Roman"/>
              </a:rPr>
              <a:t> </a:t>
            </a:r>
            <a:r>
              <a:rPr sz="1800" spc="-10" dirty="0">
                <a:latin typeface="Times New Roman"/>
                <a:cs typeface="Times New Roman"/>
              </a:rPr>
              <a:t>(when </a:t>
            </a:r>
            <a:r>
              <a:rPr sz="1800" spc="-5" dirty="0">
                <a:latin typeface="Times New Roman"/>
                <a:cs typeface="Times New Roman"/>
              </a:rPr>
              <a:t>x=0) </a:t>
            </a:r>
            <a:r>
              <a:rPr sz="1800" spc="-10" dirty="0">
                <a:latin typeface="Times New Roman"/>
                <a:cs typeface="Times New Roman"/>
              </a:rPr>
              <a:t>and </a:t>
            </a:r>
            <a:r>
              <a:rPr sz="1800" dirty="0">
                <a:latin typeface="Times New Roman"/>
                <a:cs typeface="Times New Roman"/>
              </a:rPr>
              <a:t>C </a:t>
            </a:r>
            <a:r>
              <a:rPr sz="1800" spc="-20" dirty="0">
                <a:latin typeface="Times New Roman"/>
                <a:cs typeface="Times New Roman"/>
              </a:rPr>
              <a:t>(when </a:t>
            </a:r>
            <a:r>
              <a:rPr sz="1800" spc="-10" dirty="0">
                <a:latin typeface="Times New Roman"/>
                <a:cs typeface="Times New Roman"/>
              </a:rPr>
              <a:t>x=1). They </a:t>
            </a:r>
            <a:r>
              <a:rPr sz="1800" spc="-5" dirty="0">
                <a:latin typeface="Times New Roman"/>
                <a:cs typeface="Times New Roman"/>
              </a:rPr>
              <a:t>also produce </a:t>
            </a:r>
            <a:r>
              <a:rPr sz="1800" dirty="0">
                <a:latin typeface="Times New Roman"/>
                <a:cs typeface="Times New Roman"/>
              </a:rPr>
              <a:t>the </a:t>
            </a:r>
            <a:r>
              <a:rPr sz="1800" spc="-15" dirty="0">
                <a:latin typeface="Times New Roman"/>
                <a:cs typeface="Times New Roman"/>
              </a:rPr>
              <a:t>same </a:t>
            </a:r>
            <a:r>
              <a:rPr sz="1800" spc="-5" dirty="0">
                <a:latin typeface="Times New Roman"/>
                <a:cs typeface="Times New Roman"/>
              </a:rPr>
              <a:t>output </a:t>
            </a:r>
            <a:r>
              <a:rPr sz="1800" dirty="0">
                <a:latin typeface="Times New Roman"/>
                <a:cs typeface="Times New Roman"/>
              </a:rPr>
              <a:t>1 </a:t>
            </a:r>
            <a:r>
              <a:rPr sz="1800" spc="-15" dirty="0">
                <a:latin typeface="Times New Roman"/>
                <a:cs typeface="Times New Roman"/>
              </a:rPr>
              <a:t>(when </a:t>
            </a:r>
            <a:r>
              <a:rPr sz="1800" spc="-10" dirty="0">
                <a:latin typeface="Times New Roman"/>
                <a:cs typeface="Times New Roman"/>
              </a:rPr>
              <a:t>x=0) </a:t>
            </a:r>
            <a:r>
              <a:rPr sz="1800" spc="-5" dirty="0">
                <a:latin typeface="Times New Roman"/>
                <a:cs typeface="Times New Roman"/>
              </a:rPr>
              <a:t>and </a:t>
            </a:r>
            <a:r>
              <a:rPr sz="1800" dirty="0">
                <a:latin typeface="Times New Roman"/>
                <a:cs typeface="Times New Roman"/>
              </a:rPr>
              <a:t>0 </a:t>
            </a:r>
            <a:r>
              <a:rPr sz="1800" spc="-15" dirty="0">
                <a:latin typeface="Times New Roman"/>
                <a:cs typeface="Times New Roman"/>
              </a:rPr>
              <a:t>(when </a:t>
            </a:r>
            <a:r>
              <a:rPr sz="1800" spc="-10" dirty="0">
                <a:latin typeface="Times New Roman"/>
                <a:cs typeface="Times New Roman"/>
              </a:rPr>
              <a:t> </a:t>
            </a:r>
            <a:r>
              <a:rPr sz="1800" spc="-5" dirty="0">
                <a:latin typeface="Times New Roman"/>
                <a:cs typeface="Times New Roman"/>
              </a:rPr>
              <a:t>x=1). Therefore states A </a:t>
            </a:r>
            <a:r>
              <a:rPr sz="1800" dirty="0">
                <a:latin typeface="Times New Roman"/>
                <a:cs typeface="Times New Roman"/>
              </a:rPr>
              <a:t>and </a:t>
            </a:r>
            <a:r>
              <a:rPr sz="1800" spc="-5" dirty="0">
                <a:latin typeface="Times New Roman"/>
                <a:cs typeface="Times New Roman"/>
              </a:rPr>
              <a:t>F </a:t>
            </a:r>
            <a:r>
              <a:rPr sz="1800" spc="-15" dirty="0">
                <a:latin typeface="Times New Roman"/>
                <a:cs typeface="Times New Roman"/>
              </a:rPr>
              <a:t>are </a:t>
            </a:r>
            <a:r>
              <a:rPr sz="1800" dirty="0">
                <a:latin typeface="Times New Roman"/>
                <a:cs typeface="Times New Roman"/>
              </a:rPr>
              <a:t>equivalent. </a:t>
            </a:r>
            <a:r>
              <a:rPr sz="1800" spc="-10" dirty="0">
                <a:latin typeface="Times New Roman"/>
                <a:cs typeface="Times New Roman"/>
              </a:rPr>
              <a:t>Thus </a:t>
            </a:r>
            <a:r>
              <a:rPr sz="1800" spc="-5" dirty="0">
                <a:latin typeface="Times New Roman"/>
                <a:cs typeface="Times New Roman"/>
              </a:rPr>
              <a:t>one </a:t>
            </a:r>
            <a:r>
              <a:rPr sz="1800" spc="5" dirty="0">
                <a:latin typeface="Times New Roman"/>
                <a:cs typeface="Times New Roman"/>
              </a:rPr>
              <a:t>of </a:t>
            </a:r>
            <a:r>
              <a:rPr sz="1800" dirty="0">
                <a:latin typeface="Times New Roman"/>
                <a:cs typeface="Times New Roman"/>
              </a:rPr>
              <a:t>the </a:t>
            </a:r>
            <a:r>
              <a:rPr sz="1800" spc="-10" dirty="0">
                <a:latin typeface="Times New Roman"/>
                <a:cs typeface="Times New Roman"/>
              </a:rPr>
              <a:t>states, </a:t>
            </a:r>
            <a:r>
              <a:rPr sz="1800" spc="-5" dirty="0">
                <a:latin typeface="Times New Roman"/>
                <a:cs typeface="Times New Roman"/>
              </a:rPr>
              <a:t>A </a:t>
            </a:r>
            <a:r>
              <a:rPr sz="1800" spc="5" dirty="0">
                <a:latin typeface="Times New Roman"/>
                <a:cs typeface="Times New Roman"/>
              </a:rPr>
              <a:t>or </a:t>
            </a:r>
            <a:r>
              <a:rPr sz="1800" spc="-5" dirty="0">
                <a:latin typeface="Times New Roman"/>
                <a:cs typeface="Times New Roman"/>
              </a:rPr>
              <a:t>F </a:t>
            </a:r>
            <a:r>
              <a:rPr sz="1800" spc="-15" dirty="0">
                <a:latin typeface="Times New Roman"/>
                <a:cs typeface="Times New Roman"/>
              </a:rPr>
              <a:t>can </a:t>
            </a:r>
            <a:r>
              <a:rPr sz="1800" spc="5" dirty="0">
                <a:latin typeface="Times New Roman"/>
                <a:cs typeface="Times New Roman"/>
              </a:rPr>
              <a:t>be </a:t>
            </a:r>
            <a:r>
              <a:rPr sz="1800" spc="-10" dirty="0">
                <a:latin typeface="Times New Roman"/>
                <a:cs typeface="Times New Roman"/>
              </a:rPr>
              <a:t>removed </a:t>
            </a:r>
            <a:r>
              <a:rPr sz="1800" spc="-5" dirty="0">
                <a:latin typeface="Times New Roman"/>
                <a:cs typeface="Times New Roman"/>
              </a:rPr>
              <a:t> </a:t>
            </a:r>
            <a:r>
              <a:rPr sz="1800" dirty="0">
                <a:latin typeface="Times New Roman"/>
                <a:cs typeface="Times New Roman"/>
              </a:rPr>
              <a:t>from</a:t>
            </a:r>
            <a:r>
              <a:rPr sz="1800" spc="140" dirty="0">
                <a:latin typeface="Times New Roman"/>
                <a:cs typeface="Times New Roman"/>
              </a:rPr>
              <a:t> </a:t>
            </a:r>
            <a:r>
              <a:rPr sz="1800" dirty="0">
                <a:latin typeface="Times New Roman"/>
                <a:cs typeface="Times New Roman"/>
              </a:rPr>
              <a:t>the</a:t>
            </a:r>
            <a:r>
              <a:rPr sz="1800" spc="175" dirty="0">
                <a:latin typeface="Times New Roman"/>
                <a:cs typeface="Times New Roman"/>
              </a:rPr>
              <a:t> </a:t>
            </a:r>
            <a:r>
              <a:rPr sz="1800" spc="-10" dirty="0">
                <a:latin typeface="Times New Roman"/>
                <a:cs typeface="Times New Roman"/>
              </a:rPr>
              <a:t>state</a:t>
            </a:r>
            <a:r>
              <a:rPr sz="1800" spc="175" dirty="0">
                <a:latin typeface="Times New Roman"/>
                <a:cs typeface="Times New Roman"/>
              </a:rPr>
              <a:t> </a:t>
            </a:r>
            <a:r>
              <a:rPr sz="1800" spc="-5" dirty="0">
                <a:latin typeface="Times New Roman"/>
                <a:cs typeface="Times New Roman"/>
              </a:rPr>
              <a:t>table.</a:t>
            </a:r>
            <a:r>
              <a:rPr sz="1800" spc="155" dirty="0">
                <a:latin typeface="Times New Roman"/>
                <a:cs typeface="Times New Roman"/>
              </a:rPr>
              <a:t> </a:t>
            </a:r>
            <a:r>
              <a:rPr sz="1800" spc="-5" dirty="0">
                <a:latin typeface="Times New Roman"/>
                <a:cs typeface="Times New Roman"/>
              </a:rPr>
              <a:t>For</a:t>
            </a:r>
            <a:r>
              <a:rPr sz="1800" spc="155" dirty="0">
                <a:latin typeface="Times New Roman"/>
                <a:cs typeface="Times New Roman"/>
              </a:rPr>
              <a:t> </a:t>
            </a:r>
            <a:r>
              <a:rPr sz="1800" spc="-15" dirty="0">
                <a:latin typeface="Times New Roman"/>
                <a:cs typeface="Times New Roman"/>
              </a:rPr>
              <a:t>example,</a:t>
            </a:r>
            <a:r>
              <a:rPr sz="1800" spc="165" dirty="0">
                <a:latin typeface="Times New Roman"/>
                <a:cs typeface="Times New Roman"/>
              </a:rPr>
              <a:t> </a:t>
            </a:r>
            <a:r>
              <a:rPr sz="1800" dirty="0">
                <a:latin typeface="Times New Roman"/>
                <a:cs typeface="Times New Roman"/>
              </a:rPr>
              <a:t>if</a:t>
            </a:r>
            <a:r>
              <a:rPr sz="1800" spc="150" dirty="0">
                <a:latin typeface="Times New Roman"/>
                <a:cs typeface="Times New Roman"/>
              </a:rPr>
              <a:t> </a:t>
            </a:r>
            <a:r>
              <a:rPr sz="1800" spc="-20" dirty="0">
                <a:latin typeface="Times New Roman"/>
                <a:cs typeface="Times New Roman"/>
              </a:rPr>
              <a:t>we</a:t>
            </a:r>
            <a:r>
              <a:rPr sz="1800" spc="120" dirty="0">
                <a:latin typeface="Times New Roman"/>
                <a:cs typeface="Times New Roman"/>
              </a:rPr>
              <a:t> </a:t>
            </a:r>
            <a:r>
              <a:rPr sz="1800" spc="-5" dirty="0">
                <a:latin typeface="Times New Roman"/>
                <a:cs typeface="Times New Roman"/>
              </a:rPr>
              <a:t>remove</a:t>
            </a:r>
            <a:r>
              <a:rPr sz="1800" spc="175" dirty="0">
                <a:latin typeface="Times New Roman"/>
                <a:cs typeface="Times New Roman"/>
              </a:rPr>
              <a:t> </a:t>
            </a:r>
            <a:r>
              <a:rPr sz="1800" dirty="0">
                <a:latin typeface="Times New Roman"/>
                <a:cs typeface="Times New Roman"/>
              </a:rPr>
              <a:t>row</a:t>
            </a:r>
            <a:r>
              <a:rPr sz="1800" spc="145" dirty="0">
                <a:latin typeface="Times New Roman"/>
                <a:cs typeface="Times New Roman"/>
              </a:rPr>
              <a:t> </a:t>
            </a:r>
            <a:r>
              <a:rPr sz="1800" spc="-5" dirty="0">
                <a:latin typeface="Times New Roman"/>
                <a:cs typeface="Times New Roman"/>
              </a:rPr>
              <a:t>F</a:t>
            </a:r>
            <a:r>
              <a:rPr sz="1800" spc="185" dirty="0">
                <a:latin typeface="Times New Roman"/>
                <a:cs typeface="Times New Roman"/>
              </a:rPr>
              <a:t> </a:t>
            </a:r>
            <a:r>
              <a:rPr sz="1800" spc="-5" dirty="0">
                <a:latin typeface="Times New Roman"/>
                <a:cs typeface="Times New Roman"/>
              </a:rPr>
              <a:t>from</a:t>
            </a:r>
            <a:r>
              <a:rPr sz="1800" spc="145" dirty="0">
                <a:latin typeface="Times New Roman"/>
                <a:cs typeface="Times New Roman"/>
              </a:rPr>
              <a:t> </a:t>
            </a:r>
            <a:r>
              <a:rPr sz="1800" dirty="0">
                <a:latin typeface="Times New Roman"/>
                <a:cs typeface="Times New Roman"/>
              </a:rPr>
              <a:t>the</a:t>
            </a:r>
            <a:r>
              <a:rPr sz="1800" spc="145" dirty="0">
                <a:latin typeface="Times New Roman"/>
                <a:cs typeface="Times New Roman"/>
              </a:rPr>
              <a:t> </a:t>
            </a:r>
            <a:r>
              <a:rPr sz="1800" spc="-5" dirty="0">
                <a:latin typeface="Times New Roman"/>
                <a:cs typeface="Times New Roman"/>
              </a:rPr>
              <a:t>table</a:t>
            </a:r>
            <a:r>
              <a:rPr sz="1800" spc="175" dirty="0">
                <a:latin typeface="Times New Roman"/>
                <a:cs typeface="Times New Roman"/>
              </a:rPr>
              <a:t> </a:t>
            </a:r>
            <a:r>
              <a:rPr sz="1800" spc="-20" dirty="0">
                <a:latin typeface="Times New Roman"/>
                <a:cs typeface="Times New Roman"/>
              </a:rPr>
              <a:t>and</a:t>
            </a:r>
            <a:r>
              <a:rPr sz="1800" spc="170" dirty="0">
                <a:latin typeface="Times New Roman"/>
                <a:cs typeface="Times New Roman"/>
              </a:rPr>
              <a:t> </a:t>
            </a:r>
            <a:r>
              <a:rPr sz="1800" spc="-10" dirty="0">
                <a:latin typeface="Times New Roman"/>
                <a:cs typeface="Times New Roman"/>
              </a:rPr>
              <a:t>replace</a:t>
            </a:r>
            <a:r>
              <a:rPr sz="1800" spc="165" dirty="0">
                <a:latin typeface="Times New Roman"/>
                <a:cs typeface="Times New Roman"/>
              </a:rPr>
              <a:t> </a:t>
            </a:r>
            <a:r>
              <a:rPr sz="1800" spc="-10" dirty="0">
                <a:latin typeface="Times New Roman"/>
                <a:cs typeface="Times New Roman"/>
              </a:rPr>
              <a:t>all</a:t>
            </a:r>
            <a:r>
              <a:rPr sz="1800" spc="160" dirty="0">
                <a:latin typeface="Times New Roman"/>
                <a:cs typeface="Times New Roman"/>
              </a:rPr>
              <a:t> </a:t>
            </a:r>
            <a:r>
              <a:rPr sz="1800" spc="-5" dirty="0">
                <a:latin typeface="Times New Roman"/>
                <a:cs typeface="Times New Roman"/>
              </a:rPr>
              <a:t>F's</a:t>
            </a:r>
            <a:r>
              <a:rPr sz="1800" spc="175" dirty="0">
                <a:latin typeface="Times New Roman"/>
                <a:cs typeface="Times New Roman"/>
              </a:rPr>
              <a:t> </a:t>
            </a:r>
            <a:r>
              <a:rPr sz="1800" spc="10" dirty="0">
                <a:latin typeface="Times New Roman"/>
                <a:cs typeface="Times New Roman"/>
              </a:rPr>
              <a:t>by </a:t>
            </a:r>
            <a:r>
              <a:rPr sz="1800" spc="-440" dirty="0">
                <a:latin typeface="Times New Roman"/>
                <a:cs typeface="Times New Roman"/>
              </a:rPr>
              <a:t> </a:t>
            </a:r>
            <a:r>
              <a:rPr sz="1800" spc="-35" dirty="0">
                <a:latin typeface="Times New Roman"/>
                <a:cs typeface="Times New Roman"/>
              </a:rPr>
              <a:t>A's</a:t>
            </a:r>
            <a:r>
              <a:rPr sz="1800" spc="-30" dirty="0">
                <a:latin typeface="Times New Roman"/>
                <a:cs typeface="Times New Roman"/>
              </a:rPr>
              <a:t> </a:t>
            </a:r>
            <a:r>
              <a:rPr sz="1800" dirty="0">
                <a:latin typeface="Times New Roman"/>
                <a:cs typeface="Times New Roman"/>
              </a:rPr>
              <a:t>in</a:t>
            </a:r>
            <a:r>
              <a:rPr sz="1800" spc="-10" dirty="0">
                <a:latin typeface="Times New Roman"/>
                <a:cs typeface="Times New Roman"/>
              </a:rPr>
              <a:t> </a:t>
            </a:r>
            <a:r>
              <a:rPr sz="1800" dirty="0">
                <a:latin typeface="Times New Roman"/>
                <a:cs typeface="Times New Roman"/>
              </a:rPr>
              <a:t>the </a:t>
            </a:r>
            <a:r>
              <a:rPr sz="1800" spc="-5" dirty="0">
                <a:latin typeface="Times New Roman"/>
                <a:cs typeface="Times New Roman"/>
              </a:rPr>
              <a:t>columns,</a:t>
            </a:r>
            <a:r>
              <a:rPr sz="1800" spc="-35"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spc="-5" dirty="0">
                <a:latin typeface="Times New Roman"/>
                <a:cs typeface="Times New Roman"/>
              </a:rPr>
              <a:t>state</a:t>
            </a:r>
            <a:r>
              <a:rPr sz="1800" spc="-20" dirty="0">
                <a:latin typeface="Times New Roman"/>
                <a:cs typeface="Times New Roman"/>
              </a:rPr>
              <a:t> </a:t>
            </a:r>
            <a:r>
              <a:rPr sz="1800" dirty="0">
                <a:latin typeface="Times New Roman"/>
                <a:cs typeface="Times New Roman"/>
              </a:rPr>
              <a:t>table </a:t>
            </a:r>
            <a:r>
              <a:rPr sz="1800" spc="-5" dirty="0">
                <a:latin typeface="Times New Roman"/>
                <a:cs typeface="Times New Roman"/>
              </a:rPr>
              <a:t>is</a:t>
            </a:r>
            <a:r>
              <a:rPr sz="1800" dirty="0">
                <a:latin typeface="Times New Roman"/>
                <a:cs typeface="Times New Roman"/>
              </a:rPr>
              <a:t> </a:t>
            </a:r>
            <a:r>
              <a:rPr sz="1800" spc="-5" dirty="0">
                <a:latin typeface="Times New Roman"/>
                <a:cs typeface="Times New Roman"/>
              </a:rPr>
              <a:t>modified</a:t>
            </a:r>
            <a:endParaRPr sz="1800">
              <a:latin typeface="Times New Roman"/>
              <a:cs typeface="Times New Roman"/>
            </a:endParaRPr>
          </a:p>
        </p:txBody>
      </p:sp>
      <p:pic>
        <p:nvPicPr>
          <p:cNvPr id="5" name="object 5"/>
          <p:cNvPicPr/>
          <p:nvPr/>
        </p:nvPicPr>
        <p:blipFill>
          <a:blip r:embed="rId2" cstate="print"/>
          <a:stretch>
            <a:fillRect/>
          </a:stretch>
        </p:blipFill>
        <p:spPr>
          <a:xfrm>
            <a:off x="115822" y="2743200"/>
            <a:ext cx="9028176" cy="2057400"/>
          </a:xfrm>
          <a:prstGeom prst="rect">
            <a:avLst/>
          </a:prstGeom>
        </p:spPr>
      </p:pic>
      <p:sp>
        <p:nvSpPr>
          <p:cNvPr id="6" name="object 6"/>
          <p:cNvSpPr txBox="1"/>
          <p:nvPr/>
        </p:nvSpPr>
        <p:spPr>
          <a:xfrm>
            <a:off x="383235" y="4896053"/>
            <a:ext cx="8502015" cy="1029335"/>
          </a:xfrm>
          <a:prstGeom prst="rect">
            <a:avLst/>
          </a:prstGeom>
        </p:spPr>
        <p:txBody>
          <a:bodyPr vert="horz" wrap="square" lIns="0" tIns="12700" rIns="0" bIns="0" rtlCol="0">
            <a:spAutoFit/>
          </a:bodyPr>
          <a:lstStyle/>
          <a:p>
            <a:pPr marR="109855" algn="ctr">
              <a:lnSpc>
                <a:spcPct val="100000"/>
              </a:lnSpc>
              <a:spcBef>
                <a:spcPts val="100"/>
              </a:spcBef>
            </a:pPr>
            <a:r>
              <a:rPr sz="1800" dirty="0">
                <a:latin typeface="Times New Roman"/>
                <a:cs typeface="Times New Roman"/>
              </a:rPr>
              <a:t>State</a:t>
            </a:r>
            <a:r>
              <a:rPr sz="1800" spc="-55" dirty="0">
                <a:latin typeface="Times New Roman"/>
                <a:cs typeface="Times New Roman"/>
              </a:rPr>
              <a:t> </a:t>
            </a:r>
            <a:r>
              <a:rPr sz="1800" dirty="0">
                <a:latin typeface="Times New Roman"/>
                <a:cs typeface="Times New Roman"/>
              </a:rPr>
              <a:t>F</a:t>
            </a:r>
            <a:r>
              <a:rPr sz="1800" spc="-65" dirty="0">
                <a:latin typeface="Times New Roman"/>
                <a:cs typeface="Times New Roman"/>
              </a:rPr>
              <a:t> </a:t>
            </a:r>
            <a:r>
              <a:rPr sz="1800" spc="-10" dirty="0">
                <a:latin typeface="Times New Roman"/>
                <a:cs typeface="Times New Roman"/>
              </a:rPr>
              <a:t>removed</a:t>
            </a:r>
            <a:endParaRPr sz="1800">
              <a:latin typeface="Times New Roman"/>
              <a:cs typeface="Times New Roman"/>
            </a:endParaRPr>
          </a:p>
          <a:p>
            <a:pPr marL="12700">
              <a:lnSpc>
                <a:spcPct val="100000"/>
              </a:lnSpc>
              <a:spcBef>
                <a:spcPts val="1415"/>
              </a:spcBef>
            </a:pPr>
            <a:r>
              <a:rPr sz="1800" dirty="0">
                <a:latin typeface="Times New Roman"/>
                <a:cs typeface="Times New Roman"/>
              </a:rPr>
              <a:t>It</a:t>
            </a:r>
            <a:r>
              <a:rPr sz="1800" spc="-15" dirty="0">
                <a:latin typeface="Times New Roman"/>
                <a:cs typeface="Times New Roman"/>
              </a:rPr>
              <a:t> </a:t>
            </a:r>
            <a:r>
              <a:rPr sz="1800" spc="-5" dirty="0">
                <a:latin typeface="Times New Roman"/>
                <a:cs typeface="Times New Roman"/>
              </a:rPr>
              <a:t>is</a:t>
            </a:r>
            <a:r>
              <a:rPr sz="1800" spc="-15" dirty="0">
                <a:latin typeface="Times New Roman"/>
                <a:cs typeface="Times New Roman"/>
              </a:rPr>
              <a:t> </a:t>
            </a:r>
            <a:r>
              <a:rPr sz="1800" dirty="0">
                <a:latin typeface="Times New Roman"/>
                <a:cs typeface="Times New Roman"/>
              </a:rPr>
              <a:t>apparent</a:t>
            </a:r>
            <a:r>
              <a:rPr sz="1800" spc="-30" dirty="0">
                <a:latin typeface="Times New Roman"/>
                <a:cs typeface="Times New Roman"/>
              </a:rPr>
              <a:t> </a:t>
            </a:r>
            <a:r>
              <a:rPr sz="1800" dirty="0">
                <a:latin typeface="Times New Roman"/>
                <a:cs typeface="Times New Roman"/>
              </a:rPr>
              <a:t>that</a:t>
            </a:r>
            <a:r>
              <a:rPr sz="1800" spc="-10" dirty="0">
                <a:latin typeface="Times New Roman"/>
                <a:cs typeface="Times New Roman"/>
              </a:rPr>
              <a:t> </a:t>
            </a:r>
            <a:r>
              <a:rPr sz="1800" spc="-5" dirty="0">
                <a:latin typeface="Times New Roman"/>
                <a:cs typeface="Times New Roman"/>
              </a:rPr>
              <a:t>states</a:t>
            </a:r>
            <a:r>
              <a:rPr sz="1800" spc="-25" dirty="0">
                <a:latin typeface="Times New Roman"/>
                <a:cs typeface="Times New Roman"/>
              </a:rPr>
              <a:t> </a:t>
            </a:r>
            <a:r>
              <a:rPr sz="1800" dirty="0">
                <a:latin typeface="Times New Roman"/>
                <a:cs typeface="Times New Roman"/>
              </a:rPr>
              <a:t>B</a:t>
            </a:r>
            <a:r>
              <a:rPr sz="1800" spc="10"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dirty="0">
                <a:latin typeface="Times New Roman"/>
                <a:cs typeface="Times New Roman"/>
              </a:rPr>
              <a:t>E</a:t>
            </a:r>
            <a:r>
              <a:rPr sz="1800" spc="-10" dirty="0">
                <a:latin typeface="Times New Roman"/>
                <a:cs typeface="Times New Roman"/>
              </a:rPr>
              <a:t> </a:t>
            </a:r>
            <a:r>
              <a:rPr sz="1800" spc="-5" dirty="0">
                <a:latin typeface="Times New Roman"/>
                <a:cs typeface="Times New Roman"/>
              </a:rPr>
              <a:t>are</a:t>
            </a:r>
            <a:r>
              <a:rPr sz="1800" dirty="0">
                <a:latin typeface="Times New Roman"/>
                <a:cs typeface="Times New Roman"/>
              </a:rPr>
              <a:t> </a:t>
            </a:r>
            <a:r>
              <a:rPr sz="1800" spc="-5" dirty="0">
                <a:latin typeface="Times New Roman"/>
                <a:cs typeface="Times New Roman"/>
              </a:rPr>
              <a:t>equivalent.</a:t>
            </a:r>
            <a:r>
              <a:rPr sz="1800" spc="-80" dirty="0">
                <a:latin typeface="Times New Roman"/>
                <a:cs typeface="Times New Roman"/>
              </a:rPr>
              <a:t> </a:t>
            </a:r>
            <a:r>
              <a:rPr sz="1800" spc="-5" dirty="0">
                <a:latin typeface="Times New Roman"/>
                <a:cs typeface="Times New Roman"/>
              </a:rPr>
              <a:t>Removing</a:t>
            </a:r>
            <a:r>
              <a:rPr sz="1800" spc="15" dirty="0">
                <a:latin typeface="Times New Roman"/>
                <a:cs typeface="Times New Roman"/>
              </a:rPr>
              <a:t> </a:t>
            </a:r>
            <a:r>
              <a:rPr sz="1800" dirty="0">
                <a:latin typeface="Times New Roman"/>
                <a:cs typeface="Times New Roman"/>
              </a:rPr>
              <a:t>E</a:t>
            </a:r>
            <a:r>
              <a:rPr sz="1800" spc="-10" dirty="0">
                <a:latin typeface="Times New Roman"/>
                <a:cs typeface="Times New Roman"/>
              </a:rPr>
              <a:t> </a:t>
            </a:r>
            <a:r>
              <a:rPr sz="1800" dirty="0">
                <a:latin typeface="Times New Roman"/>
                <a:cs typeface="Times New Roman"/>
              </a:rPr>
              <a:t>and</a:t>
            </a:r>
            <a:r>
              <a:rPr sz="1800" spc="-10" dirty="0">
                <a:latin typeface="Times New Roman"/>
                <a:cs typeface="Times New Roman"/>
              </a:rPr>
              <a:t> </a:t>
            </a:r>
            <a:r>
              <a:rPr sz="1800" spc="-5" dirty="0">
                <a:latin typeface="Times New Roman"/>
                <a:cs typeface="Times New Roman"/>
              </a:rPr>
              <a:t>replacing</a:t>
            </a:r>
            <a:r>
              <a:rPr sz="1800" spc="-75" dirty="0">
                <a:latin typeface="Times New Roman"/>
                <a:cs typeface="Times New Roman"/>
              </a:rPr>
              <a:t> </a:t>
            </a:r>
            <a:r>
              <a:rPr sz="1800" spc="-5" dirty="0">
                <a:latin typeface="Times New Roman"/>
                <a:cs typeface="Times New Roman"/>
              </a:rPr>
              <a:t>E's</a:t>
            </a:r>
            <a:r>
              <a:rPr sz="1800" spc="15" dirty="0">
                <a:latin typeface="Times New Roman"/>
                <a:cs typeface="Times New Roman"/>
              </a:rPr>
              <a:t> </a:t>
            </a:r>
            <a:r>
              <a:rPr sz="1800" spc="5" dirty="0">
                <a:latin typeface="Times New Roman"/>
                <a:cs typeface="Times New Roman"/>
              </a:rPr>
              <a:t>by</a:t>
            </a:r>
            <a:r>
              <a:rPr sz="1800" dirty="0">
                <a:latin typeface="Times New Roman"/>
                <a:cs typeface="Times New Roman"/>
              </a:rPr>
              <a:t> </a:t>
            </a:r>
            <a:r>
              <a:rPr sz="1800" spc="-10" dirty="0">
                <a:latin typeface="Times New Roman"/>
                <a:cs typeface="Times New Roman"/>
              </a:rPr>
              <a:t>B's</a:t>
            </a:r>
            <a:r>
              <a:rPr sz="1800" spc="420" dirty="0">
                <a:latin typeface="Times New Roman"/>
                <a:cs typeface="Times New Roman"/>
              </a:rPr>
              <a:t> </a:t>
            </a:r>
            <a:r>
              <a:rPr sz="1800" spc="-5" dirty="0">
                <a:latin typeface="Times New Roman"/>
                <a:cs typeface="Times New Roman"/>
              </a:rPr>
              <a:t>results</a:t>
            </a:r>
            <a:endParaRPr sz="1800">
              <a:latin typeface="Times New Roman"/>
              <a:cs typeface="Times New Roman"/>
            </a:endParaRPr>
          </a:p>
          <a:p>
            <a:pPr marL="12700">
              <a:lnSpc>
                <a:spcPct val="100000"/>
              </a:lnSpc>
              <a:spcBef>
                <a:spcPts val="5"/>
              </a:spcBef>
            </a:pPr>
            <a:r>
              <a:rPr sz="1800" dirty="0">
                <a:latin typeface="Times New Roman"/>
                <a:cs typeface="Times New Roman"/>
              </a:rPr>
              <a:t>in</a:t>
            </a:r>
            <a:r>
              <a:rPr sz="1800" spc="-50"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dirty="0">
                <a:latin typeface="Times New Roman"/>
                <a:cs typeface="Times New Roman"/>
              </a:rPr>
              <a:t>reduce</a:t>
            </a:r>
            <a:r>
              <a:rPr sz="1800" spc="-60" dirty="0">
                <a:latin typeface="Times New Roman"/>
                <a:cs typeface="Times New Roman"/>
              </a:rPr>
              <a:t> </a:t>
            </a:r>
            <a:r>
              <a:rPr sz="1800" dirty="0">
                <a:latin typeface="Times New Roman"/>
                <a:cs typeface="Times New Roman"/>
              </a:rPr>
              <a:t>table</a:t>
            </a:r>
            <a:endParaRPr sz="1800">
              <a:latin typeface="Times New Roman"/>
              <a:cs typeface="Times New Roman"/>
            </a:endParaRPr>
          </a:p>
        </p:txBody>
      </p:sp>
      <p:sp>
        <p:nvSpPr>
          <p:cNvPr id="7" name="object 7"/>
          <p:cNvSpPr txBox="1">
            <a:spLocks noGrp="1"/>
          </p:cNvSpPr>
          <p:nvPr>
            <p:ph type="sldNum" sz="quarter" idx="4294967295"/>
          </p:nvPr>
        </p:nvSpPr>
        <p:spPr>
          <a:xfrm>
            <a:off x="8304021" y="6410197"/>
            <a:ext cx="424815" cy="254000"/>
          </a:xfrm>
          <a:prstGeom prst="rect">
            <a:avLst/>
          </a:prstGeom>
        </p:spPr>
        <p:txBody>
          <a:bodyPr vert="horz" wrap="square" lIns="0" tIns="0" rIns="0" bIns="0" rtlCol="0">
            <a:spAutoFit/>
          </a:bodyPr>
          <a:lstStyle/>
          <a:p>
            <a:pPr marL="38100">
              <a:lnSpc>
                <a:spcPts val="1810"/>
              </a:lnSpc>
            </a:pPr>
            <a:fld id="{81D60167-4931-47E6-BA6A-407CBD079E47}" type="slidenum">
              <a:rPr dirty="0"/>
              <a:t>15</a:t>
            </a:fld>
            <a:endParaRPr dirty="0"/>
          </a:p>
        </p:txBody>
      </p:sp>
    </p:spTree>
    <p:extLst>
      <p:ext uri="{BB962C8B-B14F-4D97-AF65-F5344CB8AC3E}">
        <p14:creationId xmlns:p14="http://schemas.microsoft.com/office/powerpoint/2010/main" val="2434471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15870" y="154889"/>
            <a:ext cx="4107815" cy="574675"/>
          </a:xfrm>
          <a:prstGeom prst="rect">
            <a:avLst/>
          </a:prstGeom>
        </p:spPr>
        <p:txBody>
          <a:bodyPr vert="horz" wrap="square" lIns="0" tIns="12700" rIns="0" bIns="0" rtlCol="0">
            <a:spAutoFit/>
          </a:bodyPr>
          <a:lstStyle/>
          <a:p>
            <a:pPr marL="12700">
              <a:lnSpc>
                <a:spcPct val="100000"/>
              </a:lnSpc>
              <a:spcBef>
                <a:spcPts val="100"/>
              </a:spcBef>
            </a:pPr>
            <a:r>
              <a:rPr sz="3600" spc="-155" dirty="0"/>
              <a:t>S</a:t>
            </a:r>
            <a:r>
              <a:rPr sz="3600" spc="-140" dirty="0"/>
              <a:t>T</a:t>
            </a:r>
            <a:r>
              <a:rPr sz="3600" spc="-155" dirty="0"/>
              <a:t>A</a:t>
            </a:r>
            <a:r>
              <a:rPr sz="3600" spc="-140" dirty="0"/>
              <a:t>T</a:t>
            </a:r>
            <a:r>
              <a:rPr sz="3600" dirty="0"/>
              <a:t>E</a:t>
            </a:r>
            <a:r>
              <a:rPr sz="3600" spc="-195" dirty="0"/>
              <a:t> </a:t>
            </a:r>
            <a:r>
              <a:rPr sz="3600" dirty="0"/>
              <a:t>REDUCTION</a:t>
            </a:r>
            <a:endParaRPr sz="3600"/>
          </a:p>
        </p:txBody>
      </p:sp>
      <p:pic>
        <p:nvPicPr>
          <p:cNvPr id="4" name="object 4"/>
          <p:cNvPicPr/>
          <p:nvPr/>
        </p:nvPicPr>
        <p:blipFill>
          <a:blip r:embed="rId2" cstate="print"/>
          <a:stretch>
            <a:fillRect/>
          </a:stretch>
        </p:blipFill>
        <p:spPr>
          <a:xfrm>
            <a:off x="533400" y="1143000"/>
            <a:ext cx="8077200" cy="1520952"/>
          </a:xfrm>
          <a:prstGeom prst="rect">
            <a:avLst/>
          </a:prstGeom>
        </p:spPr>
      </p:pic>
      <p:sp>
        <p:nvSpPr>
          <p:cNvPr id="5" name="object 5"/>
          <p:cNvSpPr txBox="1"/>
          <p:nvPr/>
        </p:nvSpPr>
        <p:spPr>
          <a:xfrm>
            <a:off x="383235" y="2733040"/>
            <a:ext cx="8551545" cy="1605280"/>
          </a:xfrm>
          <a:prstGeom prst="rect">
            <a:avLst/>
          </a:prstGeom>
        </p:spPr>
        <p:txBody>
          <a:bodyPr vert="horz" wrap="square" lIns="0" tIns="116205" rIns="0" bIns="0" rtlCol="0">
            <a:spAutoFit/>
          </a:bodyPr>
          <a:lstStyle/>
          <a:p>
            <a:pPr marL="3293110" algn="just">
              <a:lnSpc>
                <a:spcPct val="100000"/>
              </a:lnSpc>
              <a:spcBef>
                <a:spcPts val="915"/>
              </a:spcBef>
            </a:pPr>
            <a:r>
              <a:rPr sz="1800" spc="-5" dirty="0">
                <a:latin typeface="Times New Roman"/>
                <a:cs typeface="Times New Roman"/>
              </a:rPr>
              <a:t>Reduced</a:t>
            </a:r>
            <a:r>
              <a:rPr sz="1800" spc="-80" dirty="0">
                <a:latin typeface="Times New Roman"/>
                <a:cs typeface="Times New Roman"/>
              </a:rPr>
              <a:t> </a:t>
            </a:r>
            <a:r>
              <a:rPr sz="1800" spc="-5" dirty="0">
                <a:latin typeface="Times New Roman"/>
                <a:cs typeface="Times New Roman"/>
              </a:rPr>
              <a:t>state</a:t>
            </a:r>
            <a:r>
              <a:rPr sz="1800" spc="-30" dirty="0">
                <a:latin typeface="Times New Roman"/>
                <a:cs typeface="Times New Roman"/>
              </a:rPr>
              <a:t> </a:t>
            </a:r>
            <a:r>
              <a:rPr sz="1800" dirty="0">
                <a:latin typeface="Times New Roman"/>
                <a:cs typeface="Times New Roman"/>
              </a:rPr>
              <a:t>table</a:t>
            </a:r>
            <a:endParaRPr sz="1800">
              <a:latin typeface="Times New Roman"/>
              <a:cs typeface="Times New Roman"/>
            </a:endParaRPr>
          </a:p>
          <a:p>
            <a:pPr marL="12700" marR="5080" algn="just">
              <a:lnSpc>
                <a:spcPct val="100000"/>
              </a:lnSpc>
              <a:spcBef>
                <a:spcPts val="819"/>
              </a:spcBef>
            </a:pPr>
            <a:r>
              <a:rPr sz="1800" spc="-5" dirty="0">
                <a:latin typeface="Times New Roman"/>
                <a:cs typeface="Times New Roman"/>
              </a:rPr>
              <a:t>The </a:t>
            </a:r>
            <a:r>
              <a:rPr sz="1800" spc="-10" dirty="0">
                <a:latin typeface="Times New Roman"/>
                <a:cs typeface="Times New Roman"/>
              </a:rPr>
              <a:t>removal </a:t>
            </a:r>
            <a:r>
              <a:rPr sz="1800" spc="15" dirty="0">
                <a:latin typeface="Times New Roman"/>
                <a:cs typeface="Times New Roman"/>
              </a:rPr>
              <a:t>of </a:t>
            </a:r>
            <a:r>
              <a:rPr sz="1800" spc="-10" dirty="0">
                <a:latin typeface="Times New Roman"/>
                <a:cs typeface="Times New Roman"/>
              </a:rPr>
              <a:t>equivalent </a:t>
            </a:r>
            <a:r>
              <a:rPr sz="1800" spc="-5" dirty="0">
                <a:latin typeface="Times New Roman"/>
                <a:cs typeface="Times New Roman"/>
              </a:rPr>
              <a:t>states has </a:t>
            </a:r>
            <a:r>
              <a:rPr sz="1800" spc="-10" dirty="0">
                <a:latin typeface="Times New Roman"/>
                <a:cs typeface="Times New Roman"/>
              </a:rPr>
              <a:t>reduced </a:t>
            </a:r>
            <a:r>
              <a:rPr sz="1800" spc="-5" dirty="0">
                <a:latin typeface="Times New Roman"/>
                <a:cs typeface="Times New Roman"/>
              </a:rPr>
              <a:t>the </a:t>
            </a:r>
            <a:r>
              <a:rPr sz="1800" spc="-10" dirty="0">
                <a:latin typeface="Times New Roman"/>
                <a:cs typeface="Times New Roman"/>
              </a:rPr>
              <a:t>number </a:t>
            </a:r>
            <a:r>
              <a:rPr sz="1800" spc="5" dirty="0">
                <a:latin typeface="Times New Roman"/>
                <a:cs typeface="Times New Roman"/>
              </a:rPr>
              <a:t>of </a:t>
            </a:r>
            <a:r>
              <a:rPr sz="1800" spc="-5" dirty="0">
                <a:latin typeface="Times New Roman"/>
                <a:cs typeface="Times New Roman"/>
              </a:rPr>
              <a:t>states </a:t>
            </a:r>
            <a:r>
              <a:rPr sz="1800" dirty="0">
                <a:latin typeface="Times New Roman"/>
                <a:cs typeface="Times New Roman"/>
              </a:rPr>
              <a:t>in </a:t>
            </a:r>
            <a:r>
              <a:rPr sz="1800" spc="-5" dirty="0">
                <a:latin typeface="Times New Roman"/>
                <a:cs typeface="Times New Roman"/>
              </a:rPr>
              <a:t>the </a:t>
            </a:r>
            <a:r>
              <a:rPr sz="1800" spc="-10" dirty="0">
                <a:latin typeface="Times New Roman"/>
                <a:cs typeface="Times New Roman"/>
              </a:rPr>
              <a:t>circuit </a:t>
            </a:r>
            <a:r>
              <a:rPr sz="1800" spc="-5" dirty="0">
                <a:latin typeface="Times New Roman"/>
                <a:cs typeface="Times New Roman"/>
              </a:rPr>
              <a:t>from six </a:t>
            </a:r>
            <a:r>
              <a:rPr sz="1800" dirty="0">
                <a:latin typeface="Times New Roman"/>
                <a:cs typeface="Times New Roman"/>
              </a:rPr>
              <a:t>to </a:t>
            </a:r>
            <a:r>
              <a:rPr sz="1800" spc="5" dirty="0">
                <a:latin typeface="Times New Roman"/>
                <a:cs typeface="Times New Roman"/>
              </a:rPr>
              <a:t> </a:t>
            </a:r>
            <a:r>
              <a:rPr sz="1800" spc="-40" dirty="0">
                <a:latin typeface="Times New Roman"/>
                <a:cs typeface="Times New Roman"/>
              </a:rPr>
              <a:t>four. </a:t>
            </a:r>
            <a:r>
              <a:rPr sz="1800" spc="-100" dirty="0">
                <a:latin typeface="Times New Roman"/>
                <a:cs typeface="Times New Roman"/>
              </a:rPr>
              <a:t>Two </a:t>
            </a:r>
            <a:r>
              <a:rPr sz="1800" spc="-5" dirty="0">
                <a:latin typeface="Times New Roman"/>
                <a:cs typeface="Times New Roman"/>
              </a:rPr>
              <a:t>states are </a:t>
            </a:r>
            <a:r>
              <a:rPr sz="1800" spc="-10" dirty="0">
                <a:latin typeface="Times New Roman"/>
                <a:cs typeface="Times New Roman"/>
              </a:rPr>
              <a:t>considered </a:t>
            </a:r>
            <a:r>
              <a:rPr sz="1800" spc="-15" dirty="0">
                <a:latin typeface="Times New Roman"/>
                <a:cs typeface="Times New Roman"/>
              </a:rPr>
              <a:t>to </a:t>
            </a:r>
            <a:r>
              <a:rPr sz="1800" spc="5" dirty="0">
                <a:latin typeface="Times New Roman"/>
                <a:cs typeface="Times New Roman"/>
              </a:rPr>
              <a:t>be </a:t>
            </a:r>
            <a:r>
              <a:rPr sz="1800" b="1" spc="-15" dirty="0">
                <a:latin typeface="Times New Roman"/>
                <a:cs typeface="Times New Roman"/>
              </a:rPr>
              <a:t>equivalent </a:t>
            </a:r>
            <a:r>
              <a:rPr sz="1800" dirty="0">
                <a:latin typeface="Times New Roman"/>
                <a:cs typeface="Times New Roman"/>
              </a:rPr>
              <a:t>if and </a:t>
            </a:r>
            <a:r>
              <a:rPr sz="1800" spc="-5" dirty="0">
                <a:latin typeface="Times New Roman"/>
                <a:cs typeface="Times New Roman"/>
              </a:rPr>
              <a:t>only </a:t>
            </a:r>
            <a:r>
              <a:rPr sz="1800" dirty="0">
                <a:latin typeface="Times New Roman"/>
                <a:cs typeface="Times New Roman"/>
              </a:rPr>
              <a:t>if </a:t>
            </a:r>
            <a:r>
              <a:rPr sz="1800" spc="-5" dirty="0">
                <a:latin typeface="Times New Roman"/>
                <a:cs typeface="Times New Roman"/>
              </a:rPr>
              <a:t>for every </a:t>
            </a:r>
            <a:r>
              <a:rPr sz="1800" spc="5" dirty="0">
                <a:latin typeface="Times New Roman"/>
                <a:cs typeface="Times New Roman"/>
              </a:rPr>
              <a:t>input </a:t>
            </a:r>
            <a:r>
              <a:rPr sz="1800" spc="-10" dirty="0">
                <a:latin typeface="Times New Roman"/>
                <a:cs typeface="Times New Roman"/>
              </a:rPr>
              <a:t>sequence </a:t>
            </a:r>
            <a:r>
              <a:rPr sz="1800" dirty="0">
                <a:latin typeface="Times New Roman"/>
                <a:cs typeface="Times New Roman"/>
              </a:rPr>
              <a:t>the </a:t>
            </a:r>
            <a:r>
              <a:rPr sz="1800" spc="5" dirty="0">
                <a:latin typeface="Times New Roman"/>
                <a:cs typeface="Times New Roman"/>
              </a:rPr>
              <a:t> </a:t>
            </a:r>
            <a:r>
              <a:rPr sz="1800" spc="-5" dirty="0">
                <a:latin typeface="Times New Roman"/>
                <a:cs typeface="Times New Roman"/>
              </a:rPr>
              <a:t>circuit </a:t>
            </a:r>
            <a:r>
              <a:rPr sz="1800" spc="-10" dirty="0">
                <a:latin typeface="Times New Roman"/>
                <a:cs typeface="Times New Roman"/>
              </a:rPr>
              <a:t>produces </a:t>
            </a:r>
            <a:r>
              <a:rPr sz="1800" spc="-5" dirty="0">
                <a:latin typeface="Times New Roman"/>
                <a:cs typeface="Times New Roman"/>
              </a:rPr>
              <a:t>the </a:t>
            </a:r>
            <a:r>
              <a:rPr sz="1800" spc="-20" dirty="0">
                <a:latin typeface="Times New Roman"/>
                <a:cs typeface="Times New Roman"/>
              </a:rPr>
              <a:t>same </a:t>
            </a:r>
            <a:r>
              <a:rPr sz="1800" spc="5" dirty="0">
                <a:latin typeface="Times New Roman"/>
                <a:cs typeface="Times New Roman"/>
              </a:rPr>
              <a:t>output </a:t>
            </a:r>
            <a:r>
              <a:rPr sz="1800" spc="-5" dirty="0">
                <a:latin typeface="Times New Roman"/>
                <a:cs typeface="Times New Roman"/>
              </a:rPr>
              <a:t>sequence </a:t>
            </a:r>
            <a:r>
              <a:rPr sz="1800" spc="-10" dirty="0">
                <a:latin typeface="Times New Roman"/>
                <a:cs typeface="Times New Roman"/>
              </a:rPr>
              <a:t>irrespective </a:t>
            </a:r>
            <a:r>
              <a:rPr sz="1800" spc="5" dirty="0">
                <a:latin typeface="Times New Roman"/>
                <a:cs typeface="Times New Roman"/>
              </a:rPr>
              <a:t>of </a:t>
            </a:r>
            <a:r>
              <a:rPr sz="1800" spc="-5" dirty="0">
                <a:latin typeface="Times New Roman"/>
                <a:cs typeface="Times New Roman"/>
              </a:rPr>
              <a:t>which one </a:t>
            </a:r>
            <a:r>
              <a:rPr sz="1800" spc="5" dirty="0">
                <a:latin typeface="Times New Roman"/>
                <a:cs typeface="Times New Roman"/>
              </a:rPr>
              <a:t>of </a:t>
            </a:r>
            <a:r>
              <a:rPr sz="1800" spc="-5" dirty="0">
                <a:latin typeface="Times New Roman"/>
                <a:cs typeface="Times New Roman"/>
              </a:rPr>
              <a:t>the </a:t>
            </a:r>
            <a:r>
              <a:rPr sz="1800" spc="-10" dirty="0">
                <a:latin typeface="Times New Roman"/>
                <a:cs typeface="Times New Roman"/>
              </a:rPr>
              <a:t>two states </a:t>
            </a:r>
            <a:r>
              <a:rPr sz="1800" spc="-5" dirty="0">
                <a:latin typeface="Times New Roman"/>
                <a:cs typeface="Times New Roman"/>
              </a:rPr>
              <a:t>is the </a:t>
            </a:r>
            <a:r>
              <a:rPr sz="1800" dirty="0">
                <a:latin typeface="Times New Roman"/>
                <a:cs typeface="Times New Roman"/>
              </a:rPr>
              <a:t> starting</a:t>
            </a:r>
            <a:r>
              <a:rPr sz="1800" spc="-55" dirty="0">
                <a:latin typeface="Times New Roman"/>
                <a:cs typeface="Times New Roman"/>
              </a:rPr>
              <a:t> </a:t>
            </a:r>
            <a:r>
              <a:rPr sz="1800" spc="-5" dirty="0">
                <a:latin typeface="Times New Roman"/>
                <a:cs typeface="Times New Roman"/>
              </a:rPr>
              <a:t>state.</a:t>
            </a:r>
            <a:endParaRPr sz="1800">
              <a:latin typeface="Times New Roman"/>
              <a:cs typeface="Times New Roman"/>
            </a:endParaRPr>
          </a:p>
        </p:txBody>
      </p:sp>
      <p:sp>
        <p:nvSpPr>
          <p:cNvPr id="6" name="object 6"/>
          <p:cNvSpPr txBox="1">
            <a:spLocks noGrp="1"/>
          </p:cNvSpPr>
          <p:nvPr>
            <p:ph type="sldNum" sz="quarter" idx="4294967295"/>
          </p:nvPr>
        </p:nvSpPr>
        <p:spPr>
          <a:xfrm>
            <a:off x="8304021" y="6410197"/>
            <a:ext cx="424815" cy="254000"/>
          </a:xfrm>
          <a:prstGeom prst="rect">
            <a:avLst/>
          </a:prstGeom>
        </p:spPr>
        <p:txBody>
          <a:bodyPr vert="horz" wrap="square" lIns="0" tIns="0" rIns="0" bIns="0" rtlCol="0">
            <a:spAutoFit/>
          </a:bodyPr>
          <a:lstStyle/>
          <a:p>
            <a:pPr marL="38100">
              <a:lnSpc>
                <a:spcPts val="1810"/>
              </a:lnSpc>
            </a:pPr>
            <a:fld id="{81D60167-4931-47E6-BA6A-407CBD079E47}" type="slidenum">
              <a:rPr dirty="0"/>
              <a:t>16</a:t>
            </a:fld>
            <a:endParaRPr dirty="0"/>
          </a:p>
        </p:txBody>
      </p:sp>
    </p:spTree>
    <p:extLst>
      <p:ext uri="{BB962C8B-B14F-4D97-AF65-F5344CB8AC3E}">
        <p14:creationId xmlns:p14="http://schemas.microsoft.com/office/powerpoint/2010/main" val="1228945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78710" y="154889"/>
            <a:ext cx="4377690" cy="574675"/>
          </a:xfrm>
          <a:prstGeom prst="rect">
            <a:avLst/>
          </a:prstGeom>
        </p:spPr>
        <p:txBody>
          <a:bodyPr vert="horz" wrap="square" lIns="0" tIns="12700" rIns="0" bIns="0" rtlCol="0">
            <a:spAutoFit/>
          </a:bodyPr>
          <a:lstStyle/>
          <a:p>
            <a:pPr marL="12700">
              <a:lnSpc>
                <a:spcPct val="100000"/>
              </a:lnSpc>
              <a:spcBef>
                <a:spcPts val="100"/>
              </a:spcBef>
            </a:pPr>
            <a:r>
              <a:rPr sz="3600" spc="-155" dirty="0"/>
              <a:t>S</a:t>
            </a:r>
            <a:r>
              <a:rPr sz="3600" spc="-140" dirty="0"/>
              <a:t>T</a:t>
            </a:r>
            <a:r>
              <a:rPr sz="3600" spc="-155" dirty="0"/>
              <a:t>A</a:t>
            </a:r>
            <a:r>
              <a:rPr sz="3600" spc="-140" dirty="0"/>
              <a:t>T</a:t>
            </a:r>
            <a:r>
              <a:rPr sz="3600" dirty="0"/>
              <a:t>E</a:t>
            </a:r>
            <a:r>
              <a:rPr sz="3600" spc="-409" dirty="0"/>
              <a:t> </a:t>
            </a:r>
            <a:r>
              <a:rPr sz="3600" dirty="0"/>
              <a:t>A</a:t>
            </a:r>
            <a:r>
              <a:rPr sz="3600" spc="-25" dirty="0"/>
              <a:t>S</a:t>
            </a:r>
            <a:r>
              <a:rPr sz="3600" spc="-15" dirty="0"/>
              <a:t>S</a:t>
            </a:r>
            <a:r>
              <a:rPr sz="3600" dirty="0"/>
              <a:t>IG</a:t>
            </a:r>
            <a:r>
              <a:rPr sz="3600" spc="-20" dirty="0"/>
              <a:t>N</a:t>
            </a:r>
            <a:r>
              <a:rPr sz="3600" dirty="0"/>
              <a:t>ME</a:t>
            </a:r>
            <a:r>
              <a:rPr sz="3600" spc="-15" dirty="0"/>
              <a:t>N</a:t>
            </a:r>
            <a:r>
              <a:rPr sz="3600" dirty="0"/>
              <a:t>T</a:t>
            </a:r>
            <a:endParaRPr sz="3600"/>
          </a:p>
        </p:txBody>
      </p:sp>
      <p:sp>
        <p:nvSpPr>
          <p:cNvPr id="5" name="object 5"/>
          <p:cNvSpPr txBox="1">
            <a:spLocks noGrp="1"/>
          </p:cNvSpPr>
          <p:nvPr>
            <p:ph type="sldNum" sz="quarter" idx="4294967295"/>
          </p:nvPr>
        </p:nvSpPr>
        <p:spPr>
          <a:xfrm>
            <a:off x="8304021" y="6410197"/>
            <a:ext cx="424815" cy="254000"/>
          </a:xfrm>
          <a:prstGeom prst="rect">
            <a:avLst/>
          </a:prstGeom>
        </p:spPr>
        <p:txBody>
          <a:bodyPr vert="horz" wrap="square" lIns="0" tIns="0" rIns="0" bIns="0" rtlCol="0">
            <a:spAutoFit/>
          </a:bodyPr>
          <a:lstStyle/>
          <a:p>
            <a:pPr marL="38100">
              <a:lnSpc>
                <a:spcPts val="1810"/>
              </a:lnSpc>
            </a:pPr>
            <a:fld id="{81D60167-4931-47E6-BA6A-407CBD079E47}" type="slidenum">
              <a:rPr dirty="0"/>
              <a:t>17</a:t>
            </a:fld>
            <a:endParaRPr dirty="0"/>
          </a:p>
        </p:txBody>
      </p:sp>
      <p:sp>
        <p:nvSpPr>
          <p:cNvPr id="4" name="object 4"/>
          <p:cNvSpPr txBox="1"/>
          <p:nvPr/>
        </p:nvSpPr>
        <p:spPr>
          <a:xfrm>
            <a:off x="65430" y="985393"/>
            <a:ext cx="8805545" cy="4892040"/>
          </a:xfrm>
          <a:prstGeom prst="rect">
            <a:avLst/>
          </a:prstGeom>
        </p:spPr>
        <p:txBody>
          <a:bodyPr vert="horz" wrap="square" lIns="0" tIns="33020" rIns="0" bIns="0" rtlCol="0">
            <a:spAutoFit/>
          </a:bodyPr>
          <a:lstStyle/>
          <a:p>
            <a:pPr marL="25400">
              <a:lnSpc>
                <a:spcPct val="100000"/>
              </a:lnSpc>
              <a:spcBef>
                <a:spcPts val="260"/>
              </a:spcBef>
            </a:pPr>
            <a:r>
              <a:rPr sz="2400" b="1" spc="-30" dirty="0">
                <a:solidFill>
                  <a:srgbClr val="FF0000"/>
                </a:solidFill>
                <a:latin typeface="Times New Roman"/>
                <a:cs typeface="Times New Roman"/>
              </a:rPr>
              <a:t>STATEASSIGNMENT</a:t>
            </a:r>
            <a:endParaRPr sz="2400">
              <a:latin typeface="Times New Roman"/>
              <a:cs typeface="Times New Roman"/>
            </a:endParaRPr>
          </a:p>
          <a:p>
            <a:pPr marL="25400" marR="512445">
              <a:lnSpc>
                <a:spcPct val="100000"/>
              </a:lnSpc>
              <a:spcBef>
                <a:spcPts val="125"/>
              </a:spcBef>
            </a:pPr>
            <a:r>
              <a:rPr sz="1800" spc="-5" dirty="0">
                <a:latin typeface="Times New Roman"/>
                <a:cs typeface="Times New Roman"/>
              </a:rPr>
              <a:t>Each</a:t>
            </a:r>
            <a:r>
              <a:rPr sz="1800" spc="-35" dirty="0">
                <a:latin typeface="Times New Roman"/>
                <a:cs typeface="Times New Roman"/>
              </a:rPr>
              <a:t> </a:t>
            </a:r>
            <a:r>
              <a:rPr sz="1800" dirty="0">
                <a:latin typeface="Times New Roman"/>
                <a:cs typeface="Times New Roman"/>
              </a:rPr>
              <a:t>circuit</a:t>
            </a:r>
            <a:r>
              <a:rPr sz="1800" spc="-75" dirty="0">
                <a:latin typeface="Times New Roman"/>
                <a:cs typeface="Times New Roman"/>
              </a:rPr>
              <a:t> </a:t>
            </a:r>
            <a:r>
              <a:rPr sz="1800" dirty="0">
                <a:latin typeface="Times New Roman"/>
                <a:cs typeface="Times New Roman"/>
              </a:rPr>
              <a:t>state</a:t>
            </a:r>
            <a:r>
              <a:rPr sz="1800" spc="-30" dirty="0">
                <a:latin typeface="Times New Roman"/>
                <a:cs typeface="Times New Roman"/>
              </a:rPr>
              <a:t> </a:t>
            </a:r>
            <a:r>
              <a:rPr sz="1800" spc="-5" dirty="0">
                <a:latin typeface="Times New Roman"/>
                <a:cs typeface="Times New Roman"/>
              </a:rPr>
              <a:t>given</a:t>
            </a:r>
            <a:r>
              <a:rPr sz="1800" spc="5" dirty="0">
                <a:latin typeface="Times New Roman"/>
                <a:cs typeface="Times New Roman"/>
              </a:rPr>
              <a:t> </a:t>
            </a:r>
            <a:r>
              <a:rPr sz="1800" dirty="0">
                <a:latin typeface="Times New Roman"/>
                <a:cs typeface="Times New Roman"/>
              </a:rPr>
              <a:t>in</a:t>
            </a:r>
            <a:r>
              <a:rPr sz="1800" spc="-10" dirty="0">
                <a:latin typeface="Times New Roman"/>
                <a:cs typeface="Times New Roman"/>
              </a:rPr>
              <a:t> </a:t>
            </a:r>
            <a:r>
              <a:rPr sz="1800" dirty="0">
                <a:latin typeface="Times New Roman"/>
                <a:cs typeface="Times New Roman"/>
              </a:rPr>
              <a:t>a</a:t>
            </a:r>
            <a:r>
              <a:rPr sz="1800" spc="-5" dirty="0">
                <a:latin typeface="Times New Roman"/>
                <a:cs typeface="Times New Roman"/>
              </a:rPr>
              <a:t> </a:t>
            </a:r>
            <a:r>
              <a:rPr sz="1800" dirty="0">
                <a:latin typeface="Times New Roman"/>
                <a:cs typeface="Times New Roman"/>
              </a:rPr>
              <a:t>state</a:t>
            </a:r>
            <a:r>
              <a:rPr sz="1800" spc="-30" dirty="0">
                <a:latin typeface="Times New Roman"/>
                <a:cs typeface="Times New Roman"/>
              </a:rPr>
              <a:t> </a:t>
            </a:r>
            <a:r>
              <a:rPr sz="1800" dirty="0">
                <a:latin typeface="Times New Roman"/>
                <a:cs typeface="Times New Roman"/>
              </a:rPr>
              <a:t>table</a:t>
            </a:r>
            <a:r>
              <a:rPr sz="1800" spc="-30" dirty="0">
                <a:latin typeface="Times New Roman"/>
                <a:cs typeface="Times New Roman"/>
              </a:rPr>
              <a:t> </a:t>
            </a:r>
            <a:r>
              <a:rPr sz="1800" dirty="0">
                <a:latin typeface="Times New Roman"/>
                <a:cs typeface="Times New Roman"/>
              </a:rPr>
              <a:t>has</a:t>
            </a:r>
            <a:r>
              <a:rPr sz="1800" spc="-5" dirty="0">
                <a:latin typeface="Times New Roman"/>
                <a:cs typeface="Times New Roman"/>
              </a:rPr>
              <a:t> </a:t>
            </a:r>
            <a:r>
              <a:rPr sz="1800" dirty="0">
                <a:latin typeface="Times New Roman"/>
                <a:cs typeface="Times New Roman"/>
              </a:rPr>
              <a:t>to</a:t>
            </a:r>
            <a:r>
              <a:rPr sz="1800" spc="-10" dirty="0">
                <a:latin typeface="Times New Roman"/>
                <a:cs typeface="Times New Roman"/>
              </a:rPr>
              <a:t> </a:t>
            </a:r>
            <a:r>
              <a:rPr sz="1800" spc="5" dirty="0">
                <a:latin typeface="Times New Roman"/>
                <a:cs typeface="Times New Roman"/>
              </a:rPr>
              <a:t>be</a:t>
            </a:r>
            <a:r>
              <a:rPr sz="1800" dirty="0">
                <a:latin typeface="Times New Roman"/>
                <a:cs typeface="Times New Roman"/>
              </a:rPr>
              <a:t> </a:t>
            </a:r>
            <a:r>
              <a:rPr sz="1800" spc="-5" dirty="0">
                <a:latin typeface="Times New Roman"/>
                <a:cs typeface="Times New Roman"/>
              </a:rPr>
              <a:t>assigned</a:t>
            </a:r>
            <a:r>
              <a:rPr sz="1800" spc="-25" dirty="0">
                <a:latin typeface="Times New Roman"/>
                <a:cs typeface="Times New Roman"/>
              </a:rPr>
              <a:t> </a:t>
            </a:r>
            <a:r>
              <a:rPr sz="1800" dirty="0">
                <a:latin typeface="Times New Roman"/>
                <a:cs typeface="Times New Roman"/>
              </a:rPr>
              <a:t>a </a:t>
            </a:r>
            <a:r>
              <a:rPr sz="1800" spc="5" dirty="0">
                <a:latin typeface="Times New Roman"/>
                <a:cs typeface="Times New Roman"/>
              </a:rPr>
              <a:t>unique</a:t>
            </a:r>
            <a:r>
              <a:rPr sz="1800" spc="-30" dirty="0">
                <a:latin typeface="Times New Roman"/>
                <a:cs typeface="Times New Roman"/>
              </a:rPr>
              <a:t> </a:t>
            </a:r>
            <a:r>
              <a:rPr sz="1800" dirty="0">
                <a:latin typeface="Times New Roman"/>
                <a:cs typeface="Times New Roman"/>
              </a:rPr>
              <a:t>value,</a:t>
            </a:r>
            <a:r>
              <a:rPr sz="1800" spc="-30" dirty="0">
                <a:latin typeface="Times New Roman"/>
                <a:cs typeface="Times New Roman"/>
              </a:rPr>
              <a:t> </a:t>
            </a:r>
            <a:r>
              <a:rPr sz="1800" spc="-5" dirty="0">
                <a:latin typeface="Times New Roman"/>
                <a:cs typeface="Times New Roman"/>
              </a:rPr>
              <a:t>which</a:t>
            </a:r>
            <a:r>
              <a:rPr sz="1800" spc="55" dirty="0">
                <a:latin typeface="Times New Roman"/>
                <a:cs typeface="Times New Roman"/>
              </a:rPr>
              <a:t> </a:t>
            </a:r>
            <a:r>
              <a:rPr sz="1800" dirty="0">
                <a:latin typeface="Times New Roman"/>
                <a:cs typeface="Times New Roman"/>
              </a:rPr>
              <a:t>represents </a:t>
            </a:r>
            <a:r>
              <a:rPr sz="1800" spc="-434" dirty="0">
                <a:latin typeface="Times New Roman"/>
                <a:cs typeface="Times New Roman"/>
              </a:rPr>
              <a:t> </a:t>
            </a:r>
            <a:r>
              <a:rPr sz="1800" dirty="0">
                <a:latin typeface="Times New Roman"/>
                <a:cs typeface="Times New Roman"/>
              </a:rPr>
              <a:t>combinations</a:t>
            </a:r>
            <a:r>
              <a:rPr sz="1800" spc="-60" dirty="0">
                <a:latin typeface="Times New Roman"/>
                <a:cs typeface="Times New Roman"/>
              </a:rPr>
              <a:t> </a:t>
            </a:r>
            <a:r>
              <a:rPr sz="1800" spc="5" dirty="0">
                <a:latin typeface="Times New Roman"/>
                <a:cs typeface="Times New Roman"/>
              </a:rPr>
              <a:t>of</a:t>
            </a:r>
            <a:r>
              <a:rPr sz="1800" dirty="0">
                <a:latin typeface="Times New Roman"/>
                <a:cs typeface="Times New Roman"/>
              </a:rPr>
              <a:t> </a:t>
            </a:r>
            <a:r>
              <a:rPr sz="1800" spc="-10" dirty="0">
                <a:latin typeface="Times New Roman"/>
                <a:cs typeface="Times New Roman"/>
              </a:rPr>
              <a:t>flip </a:t>
            </a:r>
            <a:r>
              <a:rPr sz="1800" dirty="0">
                <a:latin typeface="Times New Roman"/>
                <a:cs typeface="Times New Roman"/>
              </a:rPr>
              <a:t>–</a:t>
            </a:r>
            <a:r>
              <a:rPr sz="1800" spc="-10" dirty="0">
                <a:latin typeface="Times New Roman"/>
                <a:cs typeface="Times New Roman"/>
              </a:rPr>
              <a:t> </a:t>
            </a:r>
            <a:r>
              <a:rPr sz="1800" spc="-5" dirty="0">
                <a:latin typeface="Times New Roman"/>
                <a:cs typeface="Times New Roman"/>
              </a:rPr>
              <a:t>flop</a:t>
            </a:r>
            <a:r>
              <a:rPr sz="1800" spc="-35" dirty="0">
                <a:latin typeface="Times New Roman"/>
                <a:cs typeface="Times New Roman"/>
              </a:rPr>
              <a:t> </a:t>
            </a:r>
            <a:r>
              <a:rPr sz="1800" spc="5" dirty="0">
                <a:latin typeface="Times New Roman"/>
                <a:cs typeface="Times New Roman"/>
              </a:rPr>
              <a:t>output</a:t>
            </a:r>
            <a:r>
              <a:rPr sz="1800" spc="-65" dirty="0">
                <a:latin typeface="Times New Roman"/>
                <a:cs typeface="Times New Roman"/>
              </a:rPr>
              <a:t> </a:t>
            </a:r>
            <a:r>
              <a:rPr sz="1800" spc="-5" dirty="0">
                <a:latin typeface="Times New Roman"/>
                <a:cs typeface="Times New Roman"/>
              </a:rPr>
              <a:t>states.</a:t>
            </a:r>
            <a:endParaRPr sz="1800">
              <a:latin typeface="Times New Roman"/>
              <a:cs typeface="Times New Roman"/>
            </a:endParaRPr>
          </a:p>
          <a:p>
            <a:pPr marL="208279" indent="-183515">
              <a:lnSpc>
                <a:spcPct val="100000"/>
              </a:lnSpc>
              <a:spcBef>
                <a:spcPts val="1080"/>
              </a:spcBef>
              <a:buSzPct val="88888"/>
              <a:buFont typeface="Wingdings"/>
              <a:buChar char=""/>
              <a:tabLst>
                <a:tab pos="208915" algn="l"/>
              </a:tabLst>
            </a:pPr>
            <a:r>
              <a:rPr sz="1800" dirty="0">
                <a:latin typeface="Times New Roman"/>
                <a:cs typeface="Times New Roman"/>
              </a:rPr>
              <a:t>A</a:t>
            </a:r>
            <a:r>
              <a:rPr sz="1800" spc="-145" dirty="0">
                <a:latin typeface="Times New Roman"/>
                <a:cs typeface="Times New Roman"/>
              </a:rPr>
              <a:t> </a:t>
            </a:r>
            <a:r>
              <a:rPr sz="1800" dirty="0">
                <a:latin typeface="Times New Roman"/>
                <a:cs typeface="Times New Roman"/>
              </a:rPr>
              <a:t>circuit</a:t>
            </a:r>
            <a:r>
              <a:rPr sz="1800" spc="-40" dirty="0">
                <a:latin typeface="Times New Roman"/>
                <a:cs typeface="Times New Roman"/>
              </a:rPr>
              <a:t> </a:t>
            </a:r>
            <a:r>
              <a:rPr sz="1800" dirty="0">
                <a:latin typeface="Times New Roman"/>
                <a:cs typeface="Times New Roman"/>
              </a:rPr>
              <a:t>having</a:t>
            </a:r>
            <a:r>
              <a:rPr sz="1800" spc="-40" dirty="0">
                <a:latin typeface="Times New Roman"/>
                <a:cs typeface="Times New Roman"/>
              </a:rPr>
              <a:t> </a:t>
            </a:r>
            <a:r>
              <a:rPr sz="1800" dirty="0">
                <a:latin typeface="Times New Roman"/>
                <a:cs typeface="Times New Roman"/>
              </a:rPr>
              <a:t>2</a:t>
            </a:r>
            <a:r>
              <a:rPr sz="1800" spc="-5" dirty="0">
                <a:latin typeface="Times New Roman"/>
                <a:cs typeface="Times New Roman"/>
              </a:rPr>
              <a:t> </a:t>
            </a:r>
            <a:r>
              <a:rPr sz="1800" dirty="0">
                <a:latin typeface="Times New Roman"/>
                <a:cs typeface="Times New Roman"/>
              </a:rPr>
              <a:t>internal</a:t>
            </a:r>
            <a:r>
              <a:rPr sz="1800" spc="-25" dirty="0">
                <a:latin typeface="Times New Roman"/>
                <a:cs typeface="Times New Roman"/>
              </a:rPr>
              <a:t> </a:t>
            </a:r>
            <a:r>
              <a:rPr sz="1800" dirty="0">
                <a:latin typeface="Times New Roman"/>
                <a:cs typeface="Times New Roman"/>
              </a:rPr>
              <a:t>states</a:t>
            </a:r>
            <a:r>
              <a:rPr sz="1800" spc="-35" dirty="0">
                <a:latin typeface="Times New Roman"/>
                <a:cs typeface="Times New Roman"/>
              </a:rPr>
              <a:t> </a:t>
            </a:r>
            <a:r>
              <a:rPr sz="1800" dirty="0">
                <a:latin typeface="Times New Roman"/>
                <a:cs typeface="Times New Roman"/>
              </a:rPr>
              <a:t>requires</a:t>
            </a:r>
            <a:r>
              <a:rPr sz="1800" spc="-30" dirty="0">
                <a:latin typeface="Times New Roman"/>
                <a:cs typeface="Times New Roman"/>
              </a:rPr>
              <a:t> </a:t>
            </a:r>
            <a:r>
              <a:rPr sz="1800" spc="5" dirty="0">
                <a:latin typeface="Times New Roman"/>
                <a:cs typeface="Times New Roman"/>
              </a:rPr>
              <a:t>one</a:t>
            </a:r>
            <a:r>
              <a:rPr sz="1800" spc="-10" dirty="0">
                <a:latin typeface="Times New Roman"/>
                <a:cs typeface="Times New Roman"/>
              </a:rPr>
              <a:t> </a:t>
            </a:r>
            <a:r>
              <a:rPr sz="1800" spc="-5" dirty="0">
                <a:latin typeface="Times New Roman"/>
                <a:cs typeface="Times New Roman"/>
              </a:rPr>
              <a:t>flip </a:t>
            </a:r>
            <a:r>
              <a:rPr sz="1800" dirty="0">
                <a:latin typeface="Times New Roman"/>
                <a:cs typeface="Times New Roman"/>
              </a:rPr>
              <a:t>–</a:t>
            </a:r>
            <a:r>
              <a:rPr sz="1800" spc="-5" dirty="0">
                <a:latin typeface="Times New Roman"/>
                <a:cs typeface="Times New Roman"/>
              </a:rPr>
              <a:t> flop</a:t>
            </a:r>
            <a:r>
              <a:rPr sz="1800" spc="-15" dirty="0">
                <a:latin typeface="Times New Roman"/>
                <a:cs typeface="Times New Roman"/>
              </a:rPr>
              <a:t> </a:t>
            </a:r>
            <a:r>
              <a:rPr sz="1800" dirty="0">
                <a:latin typeface="Times New Roman"/>
                <a:cs typeface="Times New Roman"/>
              </a:rPr>
              <a:t>in</a:t>
            </a:r>
            <a:r>
              <a:rPr sz="1800" spc="-5" dirty="0">
                <a:latin typeface="Times New Roman"/>
                <a:cs typeface="Times New Roman"/>
              </a:rPr>
              <a:t> </a:t>
            </a:r>
            <a:r>
              <a:rPr sz="1800" dirty="0">
                <a:latin typeface="Times New Roman"/>
                <a:cs typeface="Times New Roman"/>
              </a:rPr>
              <a:t>its</a:t>
            </a:r>
            <a:r>
              <a:rPr sz="1800" spc="-120" dirty="0">
                <a:latin typeface="Times New Roman"/>
                <a:cs typeface="Times New Roman"/>
              </a:rPr>
              <a:t> </a:t>
            </a:r>
            <a:r>
              <a:rPr sz="1800" spc="-5" dirty="0">
                <a:latin typeface="Times New Roman"/>
                <a:cs typeface="Times New Roman"/>
              </a:rPr>
              <a:t>implementation</a:t>
            </a:r>
            <a:endParaRPr sz="1800">
              <a:latin typeface="Times New Roman"/>
              <a:cs typeface="Times New Roman"/>
            </a:endParaRPr>
          </a:p>
          <a:p>
            <a:pPr marL="208279" indent="-183515">
              <a:lnSpc>
                <a:spcPct val="100000"/>
              </a:lnSpc>
              <a:buSzPct val="88888"/>
              <a:buFont typeface="Wingdings"/>
              <a:buChar char=""/>
              <a:tabLst>
                <a:tab pos="208915" algn="l"/>
              </a:tabLst>
            </a:pPr>
            <a:r>
              <a:rPr sz="1800" spc="-5" dirty="0">
                <a:latin typeface="Times New Roman"/>
                <a:cs typeface="Times New Roman"/>
              </a:rPr>
              <a:t>A</a:t>
            </a:r>
            <a:r>
              <a:rPr sz="1800" spc="-145" dirty="0">
                <a:latin typeface="Times New Roman"/>
                <a:cs typeface="Times New Roman"/>
              </a:rPr>
              <a:t> </a:t>
            </a:r>
            <a:r>
              <a:rPr sz="1800" dirty="0">
                <a:latin typeface="Times New Roman"/>
                <a:cs typeface="Times New Roman"/>
              </a:rPr>
              <a:t>circuit</a:t>
            </a:r>
            <a:r>
              <a:rPr sz="1800" spc="-45" dirty="0">
                <a:latin typeface="Times New Roman"/>
                <a:cs typeface="Times New Roman"/>
              </a:rPr>
              <a:t> </a:t>
            </a:r>
            <a:r>
              <a:rPr sz="1800" dirty="0">
                <a:latin typeface="Times New Roman"/>
                <a:cs typeface="Times New Roman"/>
              </a:rPr>
              <a:t>having</a:t>
            </a:r>
            <a:r>
              <a:rPr sz="1800" spc="-35" dirty="0">
                <a:latin typeface="Times New Roman"/>
                <a:cs typeface="Times New Roman"/>
              </a:rPr>
              <a:t> </a:t>
            </a:r>
            <a:r>
              <a:rPr sz="1800" dirty="0">
                <a:latin typeface="Times New Roman"/>
                <a:cs typeface="Times New Roman"/>
              </a:rPr>
              <a:t>3 </a:t>
            </a:r>
            <a:r>
              <a:rPr sz="1800" spc="5" dirty="0">
                <a:latin typeface="Times New Roman"/>
                <a:cs typeface="Times New Roman"/>
              </a:rPr>
              <a:t>or </a:t>
            </a:r>
            <a:r>
              <a:rPr sz="1800" dirty="0">
                <a:latin typeface="Times New Roman"/>
                <a:cs typeface="Times New Roman"/>
              </a:rPr>
              <a:t>4</a:t>
            </a:r>
            <a:r>
              <a:rPr sz="1800" spc="-5" dirty="0">
                <a:latin typeface="Times New Roman"/>
                <a:cs typeface="Times New Roman"/>
              </a:rPr>
              <a:t> </a:t>
            </a:r>
            <a:r>
              <a:rPr sz="1800" dirty="0">
                <a:latin typeface="Times New Roman"/>
                <a:cs typeface="Times New Roman"/>
              </a:rPr>
              <a:t>internal</a:t>
            </a:r>
            <a:r>
              <a:rPr sz="1800" spc="-15" dirty="0">
                <a:latin typeface="Times New Roman"/>
                <a:cs typeface="Times New Roman"/>
              </a:rPr>
              <a:t> </a:t>
            </a:r>
            <a:r>
              <a:rPr sz="1800" spc="-5" dirty="0">
                <a:latin typeface="Times New Roman"/>
                <a:cs typeface="Times New Roman"/>
              </a:rPr>
              <a:t>states</a:t>
            </a:r>
            <a:r>
              <a:rPr sz="1800" spc="-30" dirty="0">
                <a:latin typeface="Times New Roman"/>
                <a:cs typeface="Times New Roman"/>
              </a:rPr>
              <a:t> </a:t>
            </a:r>
            <a:r>
              <a:rPr sz="1800" dirty="0">
                <a:latin typeface="Times New Roman"/>
                <a:cs typeface="Times New Roman"/>
              </a:rPr>
              <a:t>requires</a:t>
            </a:r>
            <a:r>
              <a:rPr sz="1800" spc="-30" dirty="0">
                <a:latin typeface="Times New Roman"/>
                <a:cs typeface="Times New Roman"/>
              </a:rPr>
              <a:t> </a:t>
            </a:r>
            <a:r>
              <a:rPr sz="1800" spc="-15" dirty="0">
                <a:latin typeface="Times New Roman"/>
                <a:cs typeface="Times New Roman"/>
              </a:rPr>
              <a:t>two</a:t>
            </a:r>
            <a:r>
              <a:rPr sz="1800" spc="-5" dirty="0">
                <a:latin typeface="Times New Roman"/>
                <a:cs typeface="Times New Roman"/>
              </a:rPr>
              <a:t> </a:t>
            </a:r>
            <a:r>
              <a:rPr sz="1800" spc="-10" dirty="0">
                <a:latin typeface="Times New Roman"/>
                <a:cs typeface="Times New Roman"/>
              </a:rPr>
              <a:t>flip</a:t>
            </a:r>
            <a:r>
              <a:rPr sz="1800" spc="-5" dirty="0">
                <a:latin typeface="Times New Roman"/>
                <a:cs typeface="Times New Roman"/>
              </a:rPr>
              <a:t> </a:t>
            </a:r>
            <a:r>
              <a:rPr sz="1800" dirty="0">
                <a:latin typeface="Times New Roman"/>
                <a:cs typeface="Times New Roman"/>
              </a:rPr>
              <a:t>–</a:t>
            </a:r>
            <a:r>
              <a:rPr sz="1800" spc="-5" dirty="0">
                <a:latin typeface="Times New Roman"/>
                <a:cs typeface="Times New Roman"/>
              </a:rPr>
              <a:t> flops</a:t>
            </a:r>
            <a:r>
              <a:rPr sz="1800" spc="-45" dirty="0">
                <a:latin typeface="Times New Roman"/>
                <a:cs typeface="Times New Roman"/>
              </a:rPr>
              <a:t> </a:t>
            </a:r>
            <a:r>
              <a:rPr sz="1800" dirty="0">
                <a:latin typeface="Times New Roman"/>
                <a:cs typeface="Times New Roman"/>
              </a:rPr>
              <a:t>in</a:t>
            </a:r>
            <a:r>
              <a:rPr sz="1800" spc="20" dirty="0">
                <a:latin typeface="Times New Roman"/>
                <a:cs typeface="Times New Roman"/>
              </a:rPr>
              <a:t> </a:t>
            </a:r>
            <a:r>
              <a:rPr sz="1800" dirty="0">
                <a:latin typeface="Times New Roman"/>
                <a:cs typeface="Times New Roman"/>
              </a:rPr>
              <a:t>its</a:t>
            </a:r>
            <a:r>
              <a:rPr sz="1800" spc="-120" dirty="0">
                <a:latin typeface="Times New Roman"/>
                <a:cs typeface="Times New Roman"/>
              </a:rPr>
              <a:t> </a:t>
            </a:r>
            <a:r>
              <a:rPr sz="1800" spc="-5" dirty="0">
                <a:latin typeface="Times New Roman"/>
                <a:cs typeface="Times New Roman"/>
              </a:rPr>
              <a:t>implementation</a:t>
            </a:r>
            <a:endParaRPr sz="1800">
              <a:latin typeface="Times New Roman"/>
              <a:cs typeface="Times New Roman"/>
            </a:endParaRPr>
          </a:p>
          <a:p>
            <a:pPr marL="208279" indent="-183515">
              <a:lnSpc>
                <a:spcPct val="100000"/>
              </a:lnSpc>
              <a:spcBef>
                <a:spcPts val="5"/>
              </a:spcBef>
              <a:buSzPct val="88888"/>
              <a:buFont typeface="Wingdings"/>
              <a:buChar char=""/>
              <a:tabLst>
                <a:tab pos="208915" algn="l"/>
              </a:tabLst>
            </a:pPr>
            <a:r>
              <a:rPr sz="1800" dirty="0">
                <a:latin typeface="Times New Roman"/>
                <a:cs typeface="Times New Roman"/>
              </a:rPr>
              <a:t>A</a:t>
            </a:r>
            <a:r>
              <a:rPr sz="1800" spc="-120" dirty="0">
                <a:latin typeface="Times New Roman"/>
                <a:cs typeface="Times New Roman"/>
              </a:rPr>
              <a:t> </a:t>
            </a:r>
            <a:r>
              <a:rPr sz="1800" dirty="0">
                <a:latin typeface="Times New Roman"/>
                <a:cs typeface="Times New Roman"/>
              </a:rPr>
              <a:t>circuit</a:t>
            </a:r>
            <a:r>
              <a:rPr sz="1800" spc="-40" dirty="0">
                <a:latin typeface="Times New Roman"/>
                <a:cs typeface="Times New Roman"/>
              </a:rPr>
              <a:t> </a:t>
            </a:r>
            <a:r>
              <a:rPr sz="1800" dirty="0">
                <a:latin typeface="Times New Roman"/>
                <a:cs typeface="Times New Roman"/>
              </a:rPr>
              <a:t>having</a:t>
            </a:r>
            <a:r>
              <a:rPr sz="1800" spc="-65" dirty="0">
                <a:latin typeface="Times New Roman"/>
                <a:cs typeface="Times New Roman"/>
              </a:rPr>
              <a:t> </a:t>
            </a:r>
            <a:r>
              <a:rPr sz="1800" spc="5" dirty="0">
                <a:latin typeface="Times New Roman"/>
                <a:cs typeface="Times New Roman"/>
              </a:rPr>
              <a:t>5→ </a:t>
            </a:r>
            <a:r>
              <a:rPr sz="1800" dirty="0">
                <a:latin typeface="Times New Roman"/>
                <a:cs typeface="Times New Roman"/>
              </a:rPr>
              <a:t>8</a:t>
            </a:r>
            <a:r>
              <a:rPr sz="1800" spc="-5" dirty="0">
                <a:latin typeface="Times New Roman"/>
                <a:cs typeface="Times New Roman"/>
              </a:rPr>
              <a:t> </a:t>
            </a:r>
            <a:r>
              <a:rPr sz="1800" dirty="0">
                <a:latin typeface="Times New Roman"/>
                <a:cs typeface="Times New Roman"/>
              </a:rPr>
              <a:t>internal</a:t>
            </a:r>
            <a:r>
              <a:rPr sz="1800" spc="-25" dirty="0">
                <a:latin typeface="Times New Roman"/>
                <a:cs typeface="Times New Roman"/>
              </a:rPr>
              <a:t> </a:t>
            </a:r>
            <a:r>
              <a:rPr sz="1800" dirty="0">
                <a:latin typeface="Times New Roman"/>
                <a:cs typeface="Times New Roman"/>
              </a:rPr>
              <a:t>states</a:t>
            </a:r>
            <a:r>
              <a:rPr sz="1800" spc="-35" dirty="0">
                <a:latin typeface="Times New Roman"/>
                <a:cs typeface="Times New Roman"/>
              </a:rPr>
              <a:t> </a:t>
            </a:r>
            <a:r>
              <a:rPr sz="1800" dirty="0">
                <a:latin typeface="Times New Roman"/>
                <a:cs typeface="Times New Roman"/>
              </a:rPr>
              <a:t>requires</a:t>
            </a:r>
            <a:r>
              <a:rPr sz="1800" spc="-60" dirty="0">
                <a:latin typeface="Times New Roman"/>
                <a:cs typeface="Times New Roman"/>
              </a:rPr>
              <a:t> </a:t>
            </a:r>
            <a:r>
              <a:rPr sz="1800" dirty="0">
                <a:latin typeface="Times New Roman"/>
                <a:cs typeface="Times New Roman"/>
              </a:rPr>
              <a:t>three</a:t>
            </a:r>
            <a:r>
              <a:rPr sz="1800" spc="-30" dirty="0">
                <a:latin typeface="Times New Roman"/>
                <a:cs typeface="Times New Roman"/>
              </a:rPr>
              <a:t> </a:t>
            </a:r>
            <a:r>
              <a:rPr sz="1800" spc="-5" dirty="0">
                <a:latin typeface="Times New Roman"/>
                <a:cs typeface="Times New Roman"/>
              </a:rPr>
              <a:t>flip</a:t>
            </a:r>
            <a:r>
              <a:rPr sz="1800" spc="-3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flops</a:t>
            </a:r>
            <a:r>
              <a:rPr sz="1800" spc="-25" dirty="0">
                <a:latin typeface="Times New Roman"/>
                <a:cs typeface="Times New Roman"/>
              </a:rPr>
              <a:t> </a:t>
            </a:r>
            <a:r>
              <a:rPr sz="1800" dirty="0">
                <a:latin typeface="Times New Roman"/>
                <a:cs typeface="Times New Roman"/>
              </a:rPr>
              <a:t>in</a:t>
            </a:r>
            <a:r>
              <a:rPr sz="1800" spc="-5" dirty="0">
                <a:latin typeface="Times New Roman"/>
                <a:cs typeface="Times New Roman"/>
              </a:rPr>
              <a:t> </a:t>
            </a:r>
            <a:r>
              <a:rPr sz="1800" dirty="0">
                <a:latin typeface="Times New Roman"/>
                <a:cs typeface="Times New Roman"/>
              </a:rPr>
              <a:t>its</a:t>
            </a:r>
            <a:r>
              <a:rPr sz="1800" spc="-5" dirty="0">
                <a:latin typeface="Times New Roman"/>
                <a:cs typeface="Times New Roman"/>
              </a:rPr>
              <a:t> implementation</a:t>
            </a:r>
            <a:r>
              <a:rPr sz="1800" spc="335" dirty="0">
                <a:latin typeface="Times New Roman"/>
                <a:cs typeface="Times New Roman"/>
              </a:rPr>
              <a:t> </a:t>
            </a:r>
            <a:r>
              <a:rPr sz="1800" spc="-5" dirty="0">
                <a:latin typeface="Times New Roman"/>
                <a:cs typeface="Times New Roman"/>
              </a:rPr>
              <a:t>etc.</a:t>
            </a:r>
            <a:endParaRPr sz="1800">
              <a:latin typeface="Times New Roman"/>
              <a:cs typeface="Times New Roman"/>
            </a:endParaRPr>
          </a:p>
          <a:p>
            <a:pPr marL="25400">
              <a:lnSpc>
                <a:spcPct val="100000"/>
              </a:lnSpc>
              <a:spcBef>
                <a:spcPts val="1320"/>
              </a:spcBef>
            </a:pPr>
            <a:r>
              <a:rPr sz="1800" dirty="0">
                <a:latin typeface="Times New Roman"/>
                <a:cs typeface="Times New Roman"/>
              </a:rPr>
              <a:t>It</a:t>
            </a:r>
            <a:r>
              <a:rPr sz="1800" spc="320" dirty="0">
                <a:latin typeface="Times New Roman"/>
                <a:cs typeface="Times New Roman"/>
              </a:rPr>
              <a:t> </a:t>
            </a:r>
            <a:r>
              <a:rPr sz="1800" spc="5" dirty="0">
                <a:latin typeface="Times New Roman"/>
                <a:cs typeface="Times New Roman"/>
              </a:rPr>
              <a:t>should</a:t>
            </a:r>
            <a:r>
              <a:rPr sz="1800" spc="280" dirty="0">
                <a:latin typeface="Times New Roman"/>
                <a:cs typeface="Times New Roman"/>
              </a:rPr>
              <a:t> </a:t>
            </a:r>
            <a:r>
              <a:rPr sz="1800" spc="5" dirty="0">
                <a:latin typeface="Times New Roman"/>
                <a:cs typeface="Times New Roman"/>
              </a:rPr>
              <a:t>be</a:t>
            </a:r>
            <a:r>
              <a:rPr sz="1800" spc="335" dirty="0">
                <a:latin typeface="Times New Roman"/>
                <a:cs typeface="Times New Roman"/>
              </a:rPr>
              <a:t> </a:t>
            </a:r>
            <a:r>
              <a:rPr sz="1800" dirty="0">
                <a:latin typeface="Times New Roman"/>
                <a:cs typeface="Times New Roman"/>
              </a:rPr>
              <a:t>noted</a:t>
            </a:r>
            <a:r>
              <a:rPr sz="1800" spc="295" dirty="0">
                <a:latin typeface="Times New Roman"/>
                <a:cs typeface="Times New Roman"/>
              </a:rPr>
              <a:t> </a:t>
            </a:r>
            <a:r>
              <a:rPr sz="1800" dirty="0">
                <a:latin typeface="Times New Roman"/>
                <a:cs typeface="Times New Roman"/>
              </a:rPr>
              <a:t>that</a:t>
            </a:r>
            <a:r>
              <a:rPr sz="1800" spc="340" dirty="0">
                <a:latin typeface="Times New Roman"/>
                <a:cs typeface="Times New Roman"/>
              </a:rPr>
              <a:t> </a:t>
            </a:r>
            <a:r>
              <a:rPr sz="1800" dirty="0">
                <a:latin typeface="Times New Roman"/>
                <a:cs typeface="Times New Roman"/>
              </a:rPr>
              <a:t>although</a:t>
            </a:r>
            <a:r>
              <a:rPr sz="1800" spc="295" dirty="0">
                <a:latin typeface="Times New Roman"/>
                <a:cs typeface="Times New Roman"/>
              </a:rPr>
              <a:t> </a:t>
            </a:r>
            <a:r>
              <a:rPr sz="1800" spc="-5" dirty="0">
                <a:latin typeface="Times New Roman"/>
                <a:cs typeface="Times New Roman"/>
              </a:rPr>
              <a:t>assignments</a:t>
            </a:r>
            <a:r>
              <a:rPr sz="1800" spc="300" dirty="0">
                <a:latin typeface="Times New Roman"/>
                <a:cs typeface="Times New Roman"/>
              </a:rPr>
              <a:t> </a:t>
            </a:r>
            <a:r>
              <a:rPr sz="1800" dirty="0">
                <a:latin typeface="Times New Roman"/>
                <a:cs typeface="Times New Roman"/>
              </a:rPr>
              <a:t>are</a:t>
            </a:r>
            <a:r>
              <a:rPr sz="1800" spc="335" dirty="0">
                <a:latin typeface="Times New Roman"/>
                <a:cs typeface="Times New Roman"/>
              </a:rPr>
              <a:t> </a:t>
            </a:r>
            <a:r>
              <a:rPr sz="1800" spc="-35" dirty="0">
                <a:latin typeface="Times New Roman"/>
                <a:cs typeface="Times New Roman"/>
              </a:rPr>
              <a:t>arbitrary,</a:t>
            </a:r>
            <a:r>
              <a:rPr sz="1800" spc="-5" dirty="0">
                <a:latin typeface="Times New Roman"/>
                <a:cs typeface="Times New Roman"/>
              </a:rPr>
              <a:t> </a:t>
            </a:r>
            <a:r>
              <a:rPr sz="1800" spc="5" dirty="0">
                <a:latin typeface="Times New Roman"/>
                <a:cs typeface="Times New Roman"/>
              </a:rPr>
              <a:t>one</a:t>
            </a:r>
            <a:r>
              <a:rPr sz="1800" spc="350" dirty="0">
                <a:latin typeface="Times New Roman"/>
                <a:cs typeface="Times New Roman"/>
              </a:rPr>
              <a:t> </a:t>
            </a:r>
            <a:r>
              <a:rPr sz="1800" spc="-5" dirty="0">
                <a:latin typeface="Times New Roman"/>
                <a:cs typeface="Times New Roman"/>
              </a:rPr>
              <a:t>assignment</a:t>
            </a:r>
            <a:r>
              <a:rPr sz="1800" spc="360" dirty="0">
                <a:latin typeface="Times New Roman"/>
                <a:cs typeface="Times New Roman"/>
              </a:rPr>
              <a:t> </a:t>
            </a:r>
            <a:r>
              <a:rPr sz="1800" spc="-10" dirty="0">
                <a:latin typeface="Times New Roman"/>
                <a:cs typeface="Times New Roman"/>
              </a:rPr>
              <a:t>might</a:t>
            </a:r>
            <a:r>
              <a:rPr sz="1800" spc="315" dirty="0">
                <a:latin typeface="Times New Roman"/>
                <a:cs typeface="Times New Roman"/>
              </a:rPr>
              <a:t> </a:t>
            </a:r>
            <a:r>
              <a:rPr sz="1800" spc="5" dirty="0">
                <a:latin typeface="Times New Roman"/>
                <a:cs typeface="Times New Roman"/>
              </a:rPr>
              <a:t>be</a:t>
            </a:r>
            <a:r>
              <a:rPr sz="1800" spc="330" dirty="0">
                <a:latin typeface="Times New Roman"/>
                <a:cs typeface="Times New Roman"/>
              </a:rPr>
              <a:t> </a:t>
            </a:r>
            <a:r>
              <a:rPr sz="1800" spc="-10" dirty="0">
                <a:latin typeface="Times New Roman"/>
                <a:cs typeface="Times New Roman"/>
              </a:rPr>
              <a:t>more</a:t>
            </a:r>
            <a:endParaRPr sz="1800">
              <a:latin typeface="Times New Roman"/>
              <a:cs typeface="Times New Roman"/>
            </a:endParaRPr>
          </a:p>
          <a:p>
            <a:pPr marL="25400">
              <a:lnSpc>
                <a:spcPct val="100000"/>
              </a:lnSpc>
            </a:pPr>
            <a:r>
              <a:rPr sz="1800" spc="-5" dirty="0">
                <a:latin typeface="Times New Roman"/>
                <a:cs typeface="Times New Roman"/>
              </a:rPr>
              <a:t>economical</a:t>
            </a:r>
            <a:r>
              <a:rPr sz="1800" spc="-90" dirty="0">
                <a:latin typeface="Times New Roman"/>
                <a:cs typeface="Times New Roman"/>
              </a:rPr>
              <a:t> </a:t>
            </a:r>
            <a:r>
              <a:rPr sz="1800" dirty="0">
                <a:latin typeface="Times New Roman"/>
                <a:cs typeface="Times New Roman"/>
              </a:rPr>
              <a:t>than</a:t>
            </a:r>
            <a:r>
              <a:rPr sz="1800" spc="-5" dirty="0">
                <a:latin typeface="Times New Roman"/>
                <a:cs typeface="Times New Roman"/>
              </a:rPr>
              <a:t> </a:t>
            </a:r>
            <a:r>
              <a:rPr sz="1800" spc="-35" dirty="0">
                <a:latin typeface="Times New Roman"/>
                <a:cs typeface="Times New Roman"/>
              </a:rPr>
              <a:t>another.</a:t>
            </a:r>
            <a:endParaRPr sz="1800">
              <a:latin typeface="Times New Roman"/>
              <a:cs typeface="Times New Roman"/>
            </a:endParaRPr>
          </a:p>
          <a:p>
            <a:pPr marL="25400" marR="99060">
              <a:lnSpc>
                <a:spcPct val="100000"/>
              </a:lnSpc>
              <a:spcBef>
                <a:spcPts val="1200"/>
              </a:spcBef>
            </a:pPr>
            <a:r>
              <a:rPr sz="1800" dirty="0">
                <a:latin typeface="Times New Roman"/>
                <a:cs typeface="Times New Roman"/>
              </a:rPr>
              <a:t>Consider</a:t>
            </a:r>
            <a:r>
              <a:rPr sz="1800" spc="85" dirty="0">
                <a:latin typeface="Times New Roman"/>
                <a:cs typeface="Times New Roman"/>
              </a:rPr>
              <a:t> </a:t>
            </a:r>
            <a:r>
              <a:rPr sz="1800" dirty="0">
                <a:latin typeface="Times New Roman"/>
                <a:cs typeface="Times New Roman"/>
              </a:rPr>
              <a:t>the</a:t>
            </a:r>
            <a:r>
              <a:rPr sz="1800" spc="170" dirty="0">
                <a:latin typeface="Times New Roman"/>
                <a:cs typeface="Times New Roman"/>
              </a:rPr>
              <a:t> </a:t>
            </a:r>
            <a:r>
              <a:rPr sz="1800" dirty="0">
                <a:latin typeface="Times New Roman"/>
                <a:cs typeface="Times New Roman"/>
              </a:rPr>
              <a:t>state</a:t>
            </a:r>
            <a:r>
              <a:rPr sz="1800" spc="135" dirty="0">
                <a:latin typeface="Times New Roman"/>
                <a:cs typeface="Times New Roman"/>
              </a:rPr>
              <a:t> </a:t>
            </a:r>
            <a:r>
              <a:rPr sz="1800" dirty="0">
                <a:latin typeface="Times New Roman"/>
                <a:cs typeface="Times New Roman"/>
              </a:rPr>
              <a:t>table</a:t>
            </a:r>
            <a:r>
              <a:rPr sz="1800" spc="170" dirty="0">
                <a:latin typeface="Times New Roman"/>
                <a:cs typeface="Times New Roman"/>
              </a:rPr>
              <a:t> </a:t>
            </a:r>
            <a:r>
              <a:rPr sz="1800" spc="-5" dirty="0">
                <a:latin typeface="Times New Roman"/>
                <a:cs typeface="Times New Roman"/>
              </a:rPr>
              <a:t>shown</a:t>
            </a:r>
            <a:r>
              <a:rPr sz="1800" spc="160" dirty="0">
                <a:latin typeface="Times New Roman"/>
                <a:cs typeface="Times New Roman"/>
              </a:rPr>
              <a:t> </a:t>
            </a:r>
            <a:r>
              <a:rPr sz="1800" dirty="0">
                <a:latin typeface="Times New Roman"/>
                <a:cs typeface="Times New Roman"/>
              </a:rPr>
              <a:t>below</a:t>
            </a:r>
            <a:r>
              <a:rPr sz="1800" spc="114" dirty="0">
                <a:latin typeface="Times New Roman"/>
                <a:cs typeface="Times New Roman"/>
              </a:rPr>
              <a:t> </a:t>
            </a:r>
            <a:r>
              <a:rPr sz="1800" spc="-5" dirty="0">
                <a:latin typeface="Times New Roman"/>
                <a:cs typeface="Times New Roman"/>
              </a:rPr>
              <a:t>for</a:t>
            </a:r>
            <a:r>
              <a:rPr sz="1800" spc="175" dirty="0">
                <a:latin typeface="Times New Roman"/>
                <a:cs typeface="Times New Roman"/>
              </a:rPr>
              <a:t> </a:t>
            </a:r>
            <a:r>
              <a:rPr sz="1800" dirty="0">
                <a:latin typeface="Times New Roman"/>
                <a:cs typeface="Times New Roman"/>
              </a:rPr>
              <a:t>a</a:t>
            </a:r>
            <a:r>
              <a:rPr sz="1800" spc="170" dirty="0">
                <a:latin typeface="Times New Roman"/>
                <a:cs typeface="Times New Roman"/>
              </a:rPr>
              <a:t> </a:t>
            </a:r>
            <a:r>
              <a:rPr sz="1800" dirty="0">
                <a:latin typeface="Times New Roman"/>
                <a:cs typeface="Times New Roman"/>
              </a:rPr>
              <a:t>circuit</a:t>
            </a:r>
            <a:r>
              <a:rPr sz="1800" spc="145" dirty="0">
                <a:latin typeface="Times New Roman"/>
                <a:cs typeface="Times New Roman"/>
              </a:rPr>
              <a:t> </a:t>
            </a:r>
            <a:r>
              <a:rPr sz="1800" dirty="0">
                <a:latin typeface="Times New Roman"/>
                <a:cs typeface="Times New Roman"/>
              </a:rPr>
              <a:t>having</a:t>
            </a:r>
            <a:r>
              <a:rPr sz="1800" spc="135" dirty="0">
                <a:latin typeface="Times New Roman"/>
                <a:cs typeface="Times New Roman"/>
              </a:rPr>
              <a:t> </a:t>
            </a:r>
            <a:r>
              <a:rPr sz="1800" spc="-15" dirty="0">
                <a:latin typeface="Times New Roman"/>
                <a:cs typeface="Times New Roman"/>
              </a:rPr>
              <a:t>two</a:t>
            </a:r>
            <a:r>
              <a:rPr sz="1800" spc="180" dirty="0">
                <a:latin typeface="Times New Roman"/>
                <a:cs typeface="Times New Roman"/>
              </a:rPr>
              <a:t> </a:t>
            </a:r>
            <a:r>
              <a:rPr sz="1800" spc="5" dirty="0">
                <a:latin typeface="Times New Roman"/>
                <a:cs typeface="Times New Roman"/>
              </a:rPr>
              <a:t>input</a:t>
            </a:r>
            <a:r>
              <a:rPr sz="1800" spc="110" dirty="0">
                <a:latin typeface="Times New Roman"/>
                <a:cs typeface="Times New Roman"/>
              </a:rPr>
              <a:t> </a:t>
            </a:r>
            <a:r>
              <a:rPr sz="1800" dirty="0">
                <a:latin typeface="Times New Roman"/>
                <a:cs typeface="Times New Roman"/>
              </a:rPr>
              <a:t>pulses</a:t>
            </a:r>
            <a:r>
              <a:rPr sz="1800" spc="95" dirty="0">
                <a:latin typeface="Times New Roman"/>
                <a:cs typeface="Times New Roman"/>
              </a:rPr>
              <a:t> </a:t>
            </a:r>
            <a:r>
              <a:rPr sz="1800" b="1" spc="10" dirty="0">
                <a:latin typeface="Times New Roman"/>
                <a:cs typeface="Times New Roman"/>
              </a:rPr>
              <a:t>x</a:t>
            </a:r>
            <a:r>
              <a:rPr sz="1800" spc="15" baseline="-16203" dirty="0">
                <a:latin typeface="Times New Roman"/>
                <a:cs typeface="Times New Roman"/>
              </a:rPr>
              <a:t>1</a:t>
            </a:r>
            <a:r>
              <a:rPr sz="1800" spc="10" dirty="0">
                <a:latin typeface="Times New Roman"/>
                <a:cs typeface="Times New Roman"/>
              </a:rPr>
              <a:t>,</a:t>
            </a:r>
            <a:r>
              <a:rPr sz="1800" spc="155" dirty="0">
                <a:latin typeface="Times New Roman"/>
                <a:cs typeface="Times New Roman"/>
              </a:rPr>
              <a:t> </a:t>
            </a:r>
            <a:r>
              <a:rPr sz="1800" b="1" spc="15" dirty="0">
                <a:latin typeface="Times New Roman"/>
                <a:cs typeface="Times New Roman"/>
              </a:rPr>
              <a:t>x</a:t>
            </a:r>
            <a:r>
              <a:rPr sz="1800" spc="22" baseline="-16203" dirty="0">
                <a:latin typeface="Times New Roman"/>
                <a:cs typeface="Times New Roman"/>
              </a:rPr>
              <a:t>2</a:t>
            </a:r>
            <a:r>
              <a:rPr sz="1800" spc="-15" baseline="-16203" dirty="0">
                <a:latin typeface="Times New Roman"/>
                <a:cs typeface="Times New Roman"/>
              </a:rPr>
              <a:t> </a:t>
            </a:r>
            <a:r>
              <a:rPr sz="1800" dirty="0">
                <a:latin typeface="Times New Roman"/>
                <a:cs typeface="Times New Roman"/>
              </a:rPr>
              <a:t>and</a:t>
            </a:r>
            <a:r>
              <a:rPr sz="1800" spc="160" dirty="0">
                <a:latin typeface="Times New Roman"/>
                <a:cs typeface="Times New Roman"/>
              </a:rPr>
              <a:t> </a:t>
            </a:r>
            <a:r>
              <a:rPr sz="1800" dirty="0">
                <a:latin typeface="Times New Roman"/>
                <a:cs typeface="Times New Roman"/>
              </a:rPr>
              <a:t>a</a:t>
            </a:r>
            <a:r>
              <a:rPr sz="1800" spc="170" dirty="0">
                <a:latin typeface="Times New Roman"/>
                <a:cs typeface="Times New Roman"/>
              </a:rPr>
              <a:t> </a:t>
            </a:r>
            <a:r>
              <a:rPr sz="1800" spc="-5" dirty="0">
                <a:latin typeface="Times New Roman"/>
                <a:cs typeface="Times New Roman"/>
              </a:rPr>
              <a:t>level </a:t>
            </a:r>
            <a:r>
              <a:rPr sz="1800" spc="-434" dirty="0">
                <a:latin typeface="Times New Roman"/>
                <a:cs typeface="Times New Roman"/>
              </a:rPr>
              <a:t> </a:t>
            </a:r>
            <a:r>
              <a:rPr sz="1800" spc="5" dirty="0">
                <a:latin typeface="Times New Roman"/>
                <a:cs typeface="Times New Roman"/>
              </a:rPr>
              <a:t>output</a:t>
            </a:r>
            <a:r>
              <a:rPr sz="1800" spc="-114" dirty="0">
                <a:latin typeface="Times New Roman"/>
                <a:cs typeface="Times New Roman"/>
              </a:rPr>
              <a:t> </a:t>
            </a:r>
            <a:r>
              <a:rPr sz="1800" b="1" spc="-25" dirty="0">
                <a:latin typeface="Times New Roman"/>
                <a:cs typeface="Times New Roman"/>
              </a:rPr>
              <a:t>Z</a:t>
            </a:r>
            <a:r>
              <a:rPr sz="1800" spc="-25" dirty="0">
                <a:latin typeface="Times New Roman"/>
                <a:cs typeface="Times New Roman"/>
              </a:rPr>
              <a:t>.</a:t>
            </a:r>
            <a:endParaRPr sz="1800">
              <a:latin typeface="Times New Roman"/>
              <a:cs typeface="Times New Roman"/>
            </a:endParaRPr>
          </a:p>
          <a:p>
            <a:pPr marL="25400" marR="17780" algn="just">
              <a:lnSpc>
                <a:spcPct val="100000"/>
              </a:lnSpc>
              <a:spcBef>
                <a:spcPts val="1305"/>
              </a:spcBef>
            </a:pPr>
            <a:r>
              <a:rPr sz="1800" dirty="0">
                <a:latin typeface="Times New Roman"/>
                <a:cs typeface="Times New Roman"/>
              </a:rPr>
              <a:t>Since the </a:t>
            </a:r>
            <a:r>
              <a:rPr sz="1800" spc="-5" dirty="0">
                <a:latin typeface="Times New Roman"/>
                <a:cs typeface="Times New Roman"/>
              </a:rPr>
              <a:t>circuit </a:t>
            </a:r>
            <a:r>
              <a:rPr sz="1800" dirty="0">
                <a:latin typeface="Times New Roman"/>
                <a:cs typeface="Times New Roman"/>
              </a:rPr>
              <a:t>has </a:t>
            </a:r>
            <a:r>
              <a:rPr sz="1800" spc="-10" dirty="0">
                <a:latin typeface="Times New Roman"/>
                <a:cs typeface="Times New Roman"/>
              </a:rPr>
              <a:t>four </a:t>
            </a:r>
            <a:r>
              <a:rPr sz="1800" spc="-5" dirty="0">
                <a:latin typeface="Times New Roman"/>
                <a:cs typeface="Times New Roman"/>
              </a:rPr>
              <a:t>internal </a:t>
            </a:r>
            <a:r>
              <a:rPr sz="1800" spc="-10" dirty="0">
                <a:latin typeface="Times New Roman"/>
                <a:cs typeface="Times New Roman"/>
              </a:rPr>
              <a:t>states </a:t>
            </a:r>
            <a:r>
              <a:rPr sz="1800" dirty="0">
                <a:latin typeface="Times New Roman"/>
                <a:cs typeface="Times New Roman"/>
              </a:rPr>
              <a:t>then </a:t>
            </a:r>
            <a:r>
              <a:rPr sz="1800" spc="-15" dirty="0">
                <a:latin typeface="Times New Roman"/>
                <a:cs typeface="Times New Roman"/>
              </a:rPr>
              <a:t>two </a:t>
            </a:r>
            <a:r>
              <a:rPr sz="1800" spc="-10" dirty="0">
                <a:latin typeface="Times New Roman"/>
                <a:cs typeface="Times New Roman"/>
              </a:rPr>
              <a:t>flip-flops </a:t>
            </a:r>
            <a:r>
              <a:rPr sz="1800" dirty="0">
                <a:latin typeface="Times New Roman"/>
                <a:cs typeface="Times New Roman"/>
              </a:rPr>
              <a:t>are </a:t>
            </a:r>
            <a:r>
              <a:rPr sz="1800" spc="-5" dirty="0">
                <a:latin typeface="Times New Roman"/>
                <a:cs typeface="Times New Roman"/>
              </a:rPr>
              <a:t>required. </a:t>
            </a:r>
            <a:r>
              <a:rPr sz="1800" spc="-20" dirty="0">
                <a:latin typeface="Times New Roman"/>
                <a:cs typeface="Times New Roman"/>
              </a:rPr>
              <a:t>Let </a:t>
            </a:r>
            <a:r>
              <a:rPr sz="1800" dirty="0">
                <a:latin typeface="Times New Roman"/>
                <a:cs typeface="Times New Roman"/>
              </a:rPr>
              <a:t>the </a:t>
            </a:r>
            <a:r>
              <a:rPr sz="1800" spc="-15" dirty="0">
                <a:latin typeface="Times New Roman"/>
                <a:cs typeface="Times New Roman"/>
              </a:rPr>
              <a:t>two </a:t>
            </a:r>
            <a:r>
              <a:rPr sz="1800" spc="-10" dirty="0">
                <a:latin typeface="Times New Roman"/>
                <a:cs typeface="Times New Roman"/>
              </a:rPr>
              <a:t>flip-flop </a:t>
            </a:r>
            <a:r>
              <a:rPr sz="1800" spc="-5" dirty="0">
                <a:latin typeface="Times New Roman"/>
                <a:cs typeface="Times New Roman"/>
              </a:rPr>
              <a:t> </a:t>
            </a:r>
            <a:r>
              <a:rPr sz="1800" dirty="0">
                <a:latin typeface="Times New Roman"/>
                <a:cs typeface="Times New Roman"/>
              </a:rPr>
              <a:t>outputs</a:t>
            </a:r>
            <a:r>
              <a:rPr sz="1800" spc="185" dirty="0">
                <a:latin typeface="Times New Roman"/>
                <a:cs typeface="Times New Roman"/>
              </a:rPr>
              <a:t> </a:t>
            </a:r>
            <a:r>
              <a:rPr sz="1800" spc="5" dirty="0">
                <a:latin typeface="Times New Roman"/>
                <a:cs typeface="Times New Roman"/>
              </a:rPr>
              <a:t>be</a:t>
            </a:r>
            <a:r>
              <a:rPr sz="1800" spc="190" dirty="0">
                <a:latin typeface="Times New Roman"/>
                <a:cs typeface="Times New Roman"/>
              </a:rPr>
              <a:t> </a:t>
            </a:r>
            <a:r>
              <a:rPr sz="1800" spc="-5" dirty="0">
                <a:latin typeface="Times New Roman"/>
                <a:cs typeface="Times New Roman"/>
              </a:rPr>
              <a:t>represented</a:t>
            </a:r>
            <a:r>
              <a:rPr sz="1800" spc="195" dirty="0">
                <a:latin typeface="Times New Roman"/>
                <a:cs typeface="Times New Roman"/>
              </a:rPr>
              <a:t> </a:t>
            </a:r>
            <a:r>
              <a:rPr sz="1800" spc="5" dirty="0">
                <a:latin typeface="Times New Roman"/>
                <a:cs typeface="Times New Roman"/>
              </a:rPr>
              <a:t>by</a:t>
            </a:r>
            <a:r>
              <a:rPr sz="1800" spc="180" dirty="0">
                <a:latin typeface="Times New Roman"/>
                <a:cs typeface="Times New Roman"/>
              </a:rPr>
              <a:t> </a:t>
            </a:r>
            <a:r>
              <a:rPr sz="1800" dirty="0">
                <a:latin typeface="Times New Roman"/>
                <a:cs typeface="Times New Roman"/>
              </a:rPr>
              <a:t>variables</a:t>
            </a:r>
            <a:r>
              <a:rPr sz="1800" spc="200" dirty="0">
                <a:latin typeface="Times New Roman"/>
                <a:cs typeface="Times New Roman"/>
              </a:rPr>
              <a:t> </a:t>
            </a:r>
            <a:r>
              <a:rPr sz="1800" b="1" spc="5" dirty="0">
                <a:latin typeface="Times New Roman"/>
                <a:cs typeface="Times New Roman"/>
              </a:rPr>
              <a:t>y</a:t>
            </a:r>
            <a:r>
              <a:rPr sz="1800" spc="7" baseline="-16203" dirty="0">
                <a:latin typeface="Times New Roman"/>
                <a:cs typeface="Times New Roman"/>
              </a:rPr>
              <a:t>1</a:t>
            </a:r>
            <a:r>
              <a:rPr sz="1800" spc="89" baseline="-16203" dirty="0">
                <a:latin typeface="Times New Roman"/>
                <a:cs typeface="Times New Roman"/>
              </a:rPr>
              <a:t> </a:t>
            </a:r>
            <a:r>
              <a:rPr sz="1800" spc="-5" dirty="0">
                <a:latin typeface="Times New Roman"/>
                <a:cs typeface="Times New Roman"/>
              </a:rPr>
              <a:t>and</a:t>
            </a:r>
            <a:r>
              <a:rPr sz="1800" spc="204" dirty="0">
                <a:latin typeface="Times New Roman"/>
                <a:cs typeface="Times New Roman"/>
              </a:rPr>
              <a:t> </a:t>
            </a:r>
            <a:r>
              <a:rPr sz="1800" b="1" spc="-5" dirty="0">
                <a:latin typeface="Times New Roman"/>
                <a:cs typeface="Times New Roman"/>
              </a:rPr>
              <a:t>y</a:t>
            </a:r>
            <a:r>
              <a:rPr sz="1800" spc="-7" baseline="-16203" dirty="0">
                <a:latin typeface="Times New Roman"/>
                <a:cs typeface="Times New Roman"/>
              </a:rPr>
              <a:t>2</a:t>
            </a:r>
            <a:r>
              <a:rPr sz="1800" spc="-5" dirty="0">
                <a:latin typeface="Times New Roman"/>
                <a:cs typeface="Times New Roman"/>
              </a:rPr>
              <a:t>,</a:t>
            </a:r>
            <a:r>
              <a:rPr sz="1800" spc="225" dirty="0">
                <a:latin typeface="Times New Roman"/>
                <a:cs typeface="Times New Roman"/>
              </a:rPr>
              <a:t> </a:t>
            </a:r>
            <a:r>
              <a:rPr sz="1800" spc="-10" dirty="0">
                <a:latin typeface="Times New Roman"/>
                <a:cs typeface="Times New Roman"/>
              </a:rPr>
              <a:t>which</a:t>
            </a:r>
            <a:r>
              <a:rPr sz="1800" spc="200" dirty="0">
                <a:latin typeface="Times New Roman"/>
                <a:cs typeface="Times New Roman"/>
              </a:rPr>
              <a:t> </a:t>
            </a:r>
            <a:r>
              <a:rPr sz="1800" spc="-15" dirty="0">
                <a:latin typeface="Times New Roman"/>
                <a:cs typeface="Times New Roman"/>
              </a:rPr>
              <a:t>can</a:t>
            </a:r>
            <a:r>
              <a:rPr sz="1800" spc="204" dirty="0">
                <a:latin typeface="Times New Roman"/>
                <a:cs typeface="Times New Roman"/>
              </a:rPr>
              <a:t> </a:t>
            </a:r>
            <a:r>
              <a:rPr sz="1800" spc="-5" dirty="0">
                <a:latin typeface="Times New Roman"/>
                <a:cs typeface="Times New Roman"/>
              </a:rPr>
              <a:t>have</a:t>
            </a:r>
            <a:r>
              <a:rPr sz="1800" spc="204" dirty="0">
                <a:latin typeface="Times New Roman"/>
                <a:cs typeface="Times New Roman"/>
              </a:rPr>
              <a:t> </a:t>
            </a:r>
            <a:r>
              <a:rPr sz="1800" spc="-5" dirty="0">
                <a:latin typeface="Times New Roman"/>
                <a:cs typeface="Times New Roman"/>
              </a:rPr>
              <a:t>combinations</a:t>
            </a:r>
            <a:r>
              <a:rPr sz="1800" spc="175" dirty="0">
                <a:latin typeface="Times New Roman"/>
                <a:cs typeface="Times New Roman"/>
              </a:rPr>
              <a:t> </a:t>
            </a:r>
            <a:r>
              <a:rPr sz="1800" spc="5" dirty="0">
                <a:latin typeface="Times New Roman"/>
                <a:cs typeface="Times New Roman"/>
              </a:rPr>
              <a:t>of</a:t>
            </a:r>
            <a:r>
              <a:rPr sz="1800" spc="170" dirty="0">
                <a:latin typeface="Times New Roman"/>
                <a:cs typeface="Times New Roman"/>
              </a:rPr>
              <a:t> </a:t>
            </a:r>
            <a:r>
              <a:rPr sz="1800" dirty="0">
                <a:latin typeface="Times New Roman"/>
                <a:cs typeface="Times New Roman"/>
              </a:rPr>
              <a:t>values</a:t>
            </a:r>
            <a:r>
              <a:rPr sz="1800" spc="200" dirty="0">
                <a:latin typeface="Times New Roman"/>
                <a:cs typeface="Times New Roman"/>
              </a:rPr>
              <a:t> </a:t>
            </a:r>
            <a:r>
              <a:rPr sz="1800" b="1" spc="5" dirty="0">
                <a:latin typeface="Times New Roman"/>
                <a:cs typeface="Times New Roman"/>
              </a:rPr>
              <a:t>y</a:t>
            </a:r>
            <a:r>
              <a:rPr sz="1800" spc="7" baseline="-16203" dirty="0">
                <a:latin typeface="Times New Roman"/>
                <a:cs typeface="Times New Roman"/>
              </a:rPr>
              <a:t>1</a:t>
            </a:r>
            <a:r>
              <a:rPr sz="1800" b="1" spc="5" dirty="0">
                <a:latin typeface="Times New Roman"/>
                <a:cs typeface="Times New Roman"/>
              </a:rPr>
              <a:t>y</a:t>
            </a:r>
            <a:r>
              <a:rPr sz="1800" spc="7" baseline="-16203" dirty="0">
                <a:latin typeface="Times New Roman"/>
                <a:cs typeface="Times New Roman"/>
              </a:rPr>
              <a:t>2</a:t>
            </a:r>
            <a:r>
              <a:rPr sz="1800" spc="89" baseline="-16203" dirty="0">
                <a:latin typeface="Times New Roman"/>
                <a:cs typeface="Times New Roman"/>
              </a:rPr>
              <a:t> </a:t>
            </a:r>
            <a:r>
              <a:rPr sz="1800" dirty="0">
                <a:latin typeface="Times New Roman"/>
                <a:cs typeface="Times New Roman"/>
              </a:rPr>
              <a:t>= </a:t>
            </a:r>
            <a:r>
              <a:rPr sz="1800" spc="-434" dirty="0">
                <a:latin typeface="Times New Roman"/>
                <a:cs typeface="Times New Roman"/>
              </a:rPr>
              <a:t> </a:t>
            </a:r>
            <a:r>
              <a:rPr sz="1800" spc="5" dirty="0">
                <a:latin typeface="Times New Roman"/>
                <a:cs typeface="Times New Roman"/>
              </a:rPr>
              <a:t>00,</a:t>
            </a:r>
            <a:r>
              <a:rPr sz="1800" spc="10" dirty="0">
                <a:latin typeface="Times New Roman"/>
                <a:cs typeface="Times New Roman"/>
              </a:rPr>
              <a:t> </a:t>
            </a:r>
            <a:r>
              <a:rPr sz="1800" spc="5" dirty="0">
                <a:latin typeface="Times New Roman"/>
                <a:cs typeface="Times New Roman"/>
              </a:rPr>
              <a:t>01,</a:t>
            </a:r>
            <a:r>
              <a:rPr sz="1800" spc="10" dirty="0">
                <a:latin typeface="Times New Roman"/>
                <a:cs typeface="Times New Roman"/>
              </a:rPr>
              <a:t> </a:t>
            </a:r>
            <a:r>
              <a:rPr sz="1800" spc="-45" dirty="0">
                <a:latin typeface="Times New Roman"/>
                <a:cs typeface="Times New Roman"/>
              </a:rPr>
              <a:t>11,</a:t>
            </a:r>
            <a:r>
              <a:rPr sz="1800" spc="-40" dirty="0">
                <a:latin typeface="Times New Roman"/>
                <a:cs typeface="Times New Roman"/>
              </a:rPr>
              <a:t> </a:t>
            </a:r>
            <a:r>
              <a:rPr sz="1800" spc="5" dirty="0">
                <a:latin typeface="Times New Roman"/>
                <a:cs typeface="Times New Roman"/>
              </a:rPr>
              <a:t>10.</a:t>
            </a:r>
            <a:r>
              <a:rPr sz="1800" spc="10" dirty="0">
                <a:latin typeface="Times New Roman"/>
                <a:cs typeface="Times New Roman"/>
              </a:rPr>
              <a:t> </a:t>
            </a:r>
            <a:r>
              <a:rPr sz="1800" spc="-15" dirty="0">
                <a:latin typeface="Times New Roman"/>
                <a:cs typeface="Times New Roman"/>
              </a:rPr>
              <a:t>The</a:t>
            </a:r>
            <a:r>
              <a:rPr sz="1800" spc="-10" dirty="0">
                <a:latin typeface="Times New Roman"/>
                <a:cs typeface="Times New Roman"/>
              </a:rPr>
              <a:t> </a:t>
            </a:r>
            <a:r>
              <a:rPr sz="1800" dirty="0">
                <a:latin typeface="Times New Roman"/>
                <a:cs typeface="Times New Roman"/>
              </a:rPr>
              <a:t>state</a:t>
            </a:r>
            <a:r>
              <a:rPr sz="1800" spc="5" dirty="0">
                <a:latin typeface="Times New Roman"/>
                <a:cs typeface="Times New Roman"/>
              </a:rPr>
              <a:t> </a:t>
            </a:r>
            <a:r>
              <a:rPr sz="1800" dirty="0">
                <a:latin typeface="Times New Roman"/>
                <a:cs typeface="Times New Roman"/>
              </a:rPr>
              <a:t>table</a:t>
            </a:r>
            <a:r>
              <a:rPr sz="1800" spc="5" dirty="0">
                <a:latin typeface="Times New Roman"/>
                <a:cs typeface="Times New Roman"/>
              </a:rPr>
              <a:t> </a:t>
            </a:r>
            <a:r>
              <a:rPr sz="1800" spc="-5" dirty="0">
                <a:latin typeface="Times New Roman"/>
                <a:cs typeface="Times New Roman"/>
              </a:rPr>
              <a:t>can</a:t>
            </a:r>
            <a:r>
              <a:rPr sz="1800" dirty="0">
                <a:latin typeface="Times New Roman"/>
                <a:cs typeface="Times New Roman"/>
              </a:rPr>
              <a:t> </a:t>
            </a:r>
            <a:r>
              <a:rPr sz="1800" spc="-5" dirty="0">
                <a:latin typeface="Times New Roman"/>
                <a:cs typeface="Times New Roman"/>
              </a:rPr>
              <a:t>then</a:t>
            </a:r>
            <a:r>
              <a:rPr sz="1800" dirty="0">
                <a:latin typeface="Times New Roman"/>
                <a:cs typeface="Times New Roman"/>
              </a:rPr>
              <a:t> </a:t>
            </a:r>
            <a:r>
              <a:rPr sz="1800" spc="5" dirty="0">
                <a:latin typeface="Times New Roman"/>
                <a:cs typeface="Times New Roman"/>
              </a:rPr>
              <a:t>be</a:t>
            </a:r>
            <a:r>
              <a:rPr sz="1800" spc="10" dirty="0">
                <a:latin typeface="Times New Roman"/>
                <a:cs typeface="Times New Roman"/>
              </a:rPr>
              <a:t> </a:t>
            </a:r>
            <a:r>
              <a:rPr sz="1800" spc="-5" dirty="0">
                <a:latin typeface="Times New Roman"/>
                <a:cs typeface="Times New Roman"/>
              </a:rPr>
              <a:t>translated</a:t>
            </a:r>
            <a:r>
              <a:rPr sz="1800" dirty="0">
                <a:latin typeface="Times New Roman"/>
                <a:cs typeface="Times New Roman"/>
              </a:rPr>
              <a:t> </a:t>
            </a:r>
            <a:r>
              <a:rPr sz="1800" spc="-5" dirty="0">
                <a:latin typeface="Times New Roman"/>
                <a:cs typeface="Times New Roman"/>
              </a:rPr>
              <a:t>into</a:t>
            </a:r>
            <a:r>
              <a:rPr sz="1800" dirty="0">
                <a:latin typeface="Times New Roman"/>
                <a:cs typeface="Times New Roman"/>
              </a:rPr>
              <a:t> a</a:t>
            </a:r>
            <a:r>
              <a:rPr sz="1800" spc="5" dirty="0">
                <a:latin typeface="Times New Roman"/>
                <a:cs typeface="Times New Roman"/>
              </a:rPr>
              <a:t> </a:t>
            </a:r>
            <a:r>
              <a:rPr sz="1800" dirty="0">
                <a:latin typeface="Times New Roman"/>
                <a:cs typeface="Times New Roman"/>
              </a:rPr>
              <a:t>state</a:t>
            </a:r>
            <a:r>
              <a:rPr sz="1800" spc="5" dirty="0">
                <a:latin typeface="Times New Roman"/>
                <a:cs typeface="Times New Roman"/>
              </a:rPr>
              <a:t> </a:t>
            </a:r>
            <a:r>
              <a:rPr sz="1800" dirty="0">
                <a:latin typeface="Times New Roman"/>
                <a:cs typeface="Times New Roman"/>
              </a:rPr>
              <a:t>table</a:t>
            </a:r>
            <a:r>
              <a:rPr sz="1800" spc="5" dirty="0">
                <a:latin typeface="Times New Roman"/>
                <a:cs typeface="Times New Roman"/>
              </a:rPr>
              <a:t> </a:t>
            </a:r>
            <a:r>
              <a:rPr sz="1800" spc="-15" dirty="0">
                <a:latin typeface="Times New Roman"/>
                <a:cs typeface="Times New Roman"/>
              </a:rPr>
              <a:t>with</a:t>
            </a:r>
            <a:r>
              <a:rPr sz="1800" spc="-10" dirty="0">
                <a:latin typeface="Times New Roman"/>
                <a:cs typeface="Times New Roman"/>
              </a:rPr>
              <a:t> </a:t>
            </a:r>
            <a:r>
              <a:rPr sz="1800" spc="-5" dirty="0">
                <a:latin typeface="Times New Roman"/>
                <a:cs typeface="Times New Roman"/>
              </a:rPr>
              <a:t>secondary </a:t>
            </a:r>
            <a:r>
              <a:rPr sz="1800" dirty="0">
                <a:latin typeface="Times New Roman"/>
                <a:cs typeface="Times New Roman"/>
              </a:rPr>
              <a:t> </a:t>
            </a:r>
            <a:r>
              <a:rPr sz="1800" spc="-5" dirty="0">
                <a:latin typeface="Times New Roman"/>
                <a:cs typeface="Times New Roman"/>
              </a:rPr>
              <a:t>assignments as </a:t>
            </a:r>
            <a:r>
              <a:rPr sz="1800" spc="-10" dirty="0">
                <a:latin typeface="Times New Roman"/>
                <a:cs typeface="Times New Roman"/>
              </a:rPr>
              <a:t>shown. </a:t>
            </a:r>
            <a:r>
              <a:rPr sz="1800" spc="-15" dirty="0">
                <a:latin typeface="Times New Roman"/>
                <a:cs typeface="Times New Roman"/>
              </a:rPr>
              <a:t>Note that </a:t>
            </a:r>
            <a:r>
              <a:rPr sz="1800" spc="-5" dirty="0">
                <a:latin typeface="Times New Roman"/>
                <a:cs typeface="Times New Roman"/>
              </a:rPr>
              <a:t>this </a:t>
            </a:r>
            <a:r>
              <a:rPr sz="1800" dirty="0">
                <a:latin typeface="Times New Roman"/>
                <a:cs typeface="Times New Roman"/>
              </a:rPr>
              <a:t>is </a:t>
            </a:r>
            <a:r>
              <a:rPr sz="1800" spc="-5" dirty="0">
                <a:latin typeface="Times New Roman"/>
                <a:cs typeface="Times New Roman"/>
              </a:rPr>
              <a:t>just </a:t>
            </a:r>
            <a:r>
              <a:rPr sz="1800" spc="5" dirty="0">
                <a:latin typeface="Times New Roman"/>
                <a:cs typeface="Times New Roman"/>
              </a:rPr>
              <a:t>one of </a:t>
            </a:r>
            <a:r>
              <a:rPr sz="1800" spc="-10" dirty="0">
                <a:latin typeface="Times New Roman"/>
                <a:cs typeface="Times New Roman"/>
              </a:rPr>
              <a:t>many </a:t>
            </a:r>
            <a:r>
              <a:rPr sz="1800" dirty="0">
                <a:latin typeface="Times New Roman"/>
                <a:cs typeface="Times New Roman"/>
              </a:rPr>
              <a:t>possible </a:t>
            </a:r>
            <a:r>
              <a:rPr sz="1800" spc="-15" dirty="0">
                <a:latin typeface="Times New Roman"/>
                <a:cs typeface="Times New Roman"/>
              </a:rPr>
              <a:t>assignments </a:t>
            </a:r>
            <a:r>
              <a:rPr sz="1800" spc="-10" dirty="0">
                <a:latin typeface="Times New Roman"/>
                <a:cs typeface="Times New Roman"/>
              </a:rPr>
              <a:t>(in </a:t>
            </a:r>
            <a:r>
              <a:rPr sz="1800" spc="-25" dirty="0">
                <a:latin typeface="Times New Roman"/>
                <a:cs typeface="Times New Roman"/>
              </a:rPr>
              <a:t>fact </a:t>
            </a:r>
            <a:r>
              <a:rPr sz="1800" dirty="0">
                <a:latin typeface="Times New Roman"/>
                <a:cs typeface="Times New Roman"/>
              </a:rPr>
              <a:t>there </a:t>
            </a:r>
            <a:r>
              <a:rPr sz="1800" spc="-5" dirty="0">
                <a:latin typeface="Times New Roman"/>
                <a:cs typeface="Times New Roman"/>
              </a:rPr>
              <a:t>are </a:t>
            </a:r>
            <a:r>
              <a:rPr sz="1800" dirty="0">
                <a:latin typeface="Times New Roman"/>
                <a:cs typeface="Times New Roman"/>
              </a:rPr>
              <a:t> </a:t>
            </a:r>
            <a:r>
              <a:rPr sz="1800" spc="5" dirty="0">
                <a:latin typeface="Times New Roman"/>
                <a:cs typeface="Times New Roman"/>
              </a:rPr>
              <a:t>24)</a:t>
            </a:r>
            <a:endParaRPr sz="1800">
              <a:latin typeface="Times New Roman"/>
              <a:cs typeface="Times New Roman"/>
            </a:endParaRPr>
          </a:p>
        </p:txBody>
      </p:sp>
    </p:spTree>
    <p:extLst>
      <p:ext uri="{BB962C8B-B14F-4D97-AF65-F5344CB8AC3E}">
        <p14:creationId xmlns:p14="http://schemas.microsoft.com/office/powerpoint/2010/main" val="1977375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78710" y="154889"/>
            <a:ext cx="4377690" cy="574675"/>
          </a:xfrm>
          <a:prstGeom prst="rect">
            <a:avLst/>
          </a:prstGeom>
        </p:spPr>
        <p:txBody>
          <a:bodyPr vert="horz" wrap="square" lIns="0" tIns="12700" rIns="0" bIns="0" rtlCol="0">
            <a:spAutoFit/>
          </a:bodyPr>
          <a:lstStyle/>
          <a:p>
            <a:pPr marL="12700">
              <a:lnSpc>
                <a:spcPct val="100000"/>
              </a:lnSpc>
              <a:spcBef>
                <a:spcPts val="100"/>
              </a:spcBef>
            </a:pPr>
            <a:r>
              <a:rPr sz="3600" spc="-155" dirty="0"/>
              <a:t>S</a:t>
            </a:r>
            <a:r>
              <a:rPr sz="3600" spc="-140" dirty="0"/>
              <a:t>T</a:t>
            </a:r>
            <a:r>
              <a:rPr sz="3600" spc="-155" dirty="0"/>
              <a:t>A</a:t>
            </a:r>
            <a:r>
              <a:rPr sz="3600" spc="-140" dirty="0"/>
              <a:t>T</a:t>
            </a:r>
            <a:r>
              <a:rPr sz="3600" dirty="0"/>
              <a:t>E</a:t>
            </a:r>
            <a:r>
              <a:rPr sz="3600" spc="-409" dirty="0"/>
              <a:t> </a:t>
            </a:r>
            <a:r>
              <a:rPr sz="3600" dirty="0"/>
              <a:t>A</a:t>
            </a:r>
            <a:r>
              <a:rPr sz="3600" spc="-25" dirty="0"/>
              <a:t>S</a:t>
            </a:r>
            <a:r>
              <a:rPr sz="3600" spc="-15" dirty="0"/>
              <a:t>S</a:t>
            </a:r>
            <a:r>
              <a:rPr sz="3600" dirty="0"/>
              <a:t>IG</a:t>
            </a:r>
            <a:r>
              <a:rPr sz="3600" spc="-20" dirty="0"/>
              <a:t>N</a:t>
            </a:r>
            <a:r>
              <a:rPr sz="3600" dirty="0"/>
              <a:t>ME</a:t>
            </a:r>
            <a:r>
              <a:rPr sz="3600" spc="-15" dirty="0"/>
              <a:t>N</a:t>
            </a:r>
            <a:r>
              <a:rPr sz="3600" dirty="0"/>
              <a:t>T</a:t>
            </a:r>
            <a:endParaRPr sz="3600"/>
          </a:p>
        </p:txBody>
      </p:sp>
      <p:pic>
        <p:nvPicPr>
          <p:cNvPr id="4" name="object 4"/>
          <p:cNvPicPr/>
          <p:nvPr/>
        </p:nvPicPr>
        <p:blipFill>
          <a:blip r:embed="rId2" cstate="print"/>
          <a:stretch>
            <a:fillRect/>
          </a:stretch>
        </p:blipFill>
        <p:spPr>
          <a:xfrm>
            <a:off x="1219200" y="990600"/>
            <a:ext cx="6105144" cy="2133600"/>
          </a:xfrm>
          <a:prstGeom prst="rect">
            <a:avLst/>
          </a:prstGeom>
        </p:spPr>
      </p:pic>
      <p:sp>
        <p:nvSpPr>
          <p:cNvPr id="5" name="object 5"/>
          <p:cNvSpPr txBox="1"/>
          <p:nvPr/>
        </p:nvSpPr>
        <p:spPr>
          <a:xfrm>
            <a:off x="205435" y="2918840"/>
            <a:ext cx="8579485" cy="1139190"/>
          </a:xfrm>
          <a:prstGeom prst="rect">
            <a:avLst/>
          </a:prstGeom>
        </p:spPr>
        <p:txBody>
          <a:bodyPr vert="horz" wrap="square" lIns="0" tIns="12700" rIns="0" bIns="0" rtlCol="0">
            <a:spAutoFit/>
          </a:bodyPr>
          <a:lstStyle/>
          <a:p>
            <a:pPr marL="38100" algn="just">
              <a:lnSpc>
                <a:spcPct val="100000"/>
              </a:lnSpc>
              <a:spcBef>
                <a:spcPts val="100"/>
              </a:spcBef>
            </a:pPr>
            <a:r>
              <a:rPr sz="1800" spc="-5" dirty="0">
                <a:solidFill>
                  <a:srgbClr val="FF0000"/>
                </a:solidFill>
                <a:latin typeface="Microsoft Sans Serif"/>
                <a:cs typeface="Microsoft Sans Serif"/>
              </a:rPr>
              <a:t>Example</a:t>
            </a:r>
            <a:r>
              <a:rPr sz="1800" spc="-45" dirty="0">
                <a:solidFill>
                  <a:srgbClr val="FF0000"/>
                </a:solidFill>
                <a:latin typeface="Microsoft Sans Serif"/>
                <a:cs typeface="Microsoft Sans Serif"/>
              </a:rPr>
              <a:t> </a:t>
            </a:r>
            <a:r>
              <a:rPr sz="1800" dirty="0">
                <a:solidFill>
                  <a:srgbClr val="FF0000"/>
                </a:solidFill>
                <a:latin typeface="Microsoft Sans Serif"/>
                <a:cs typeface="Microsoft Sans Serif"/>
              </a:rPr>
              <a:t>of state</a:t>
            </a:r>
            <a:r>
              <a:rPr sz="1800" spc="-60" dirty="0">
                <a:solidFill>
                  <a:srgbClr val="FF0000"/>
                </a:solidFill>
                <a:latin typeface="Microsoft Sans Serif"/>
                <a:cs typeface="Microsoft Sans Serif"/>
              </a:rPr>
              <a:t> </a:t>
            </a:r>
            <a:r>
              <a:rPr sz="1800" dirty="0">
                <a:solidFill>
                  <a:srgbClr val="FF0000"/>
                </a:solidFill>
                <a:latin typeface="Microsoft Sans Serif"/>
                <a:cs typeface="Microsoft Sans Serif"/>
              </a:rPr>
              <a:t>assignment</a:t>
            </a:r>
            <a:endParaRPr sz="1800">
              <a:latin typeface="Microsoft Sans Serif"/>
              <a:cs typeface="Microsoft Sans Serif"/>
            </a:endParaRPr>
          </a:p>
          <a:p>
            <a:pPr marL="38100" marR="30480" algn="just">
              <a:lnSpc>
                <a:spcPct val="100600"/>
              </a:lnSpc>
              <a:spcBef>
                <a:spcPts val="85"/>
              </a:spcBef>
            </a:pPr>
            <a:r>
              <a:rPr sz="1800" spc="-45" dirty="0">
                <a:latin typeface="Times New Roman"/>
                <a:cs typeface="Times New Roman"/>
              </a:rPr>
              <a:t>With </a:t>
            </a:r>
            <a:r>
              <a:rPr sz="1800" b="1" spc="-5" dirty="0">
                <a:latin typeface="Times New Roman"/>
                <a:cs typeface="Times New Roman"/>
              </a:rPr>
              <a:t>y</a:t>
            </a:r>
            <a:r>
              <a:rPr sz="1800" spc="-7" baseline="-16203" dirty="0">
                <a:latin typeface="Times New Roman"/>
                <a:cs typeface="Times New Roman"/>
              </a:rPr>
              <a:t>1</a:t>
            </a:r>
            <a:r>
              <a:rPr sz="1800" b="1" spc="-5" dirty="0">
                <a:latin typeface="Times New Roman"/>
                <a:cs typeface="Times New Roman"/>
              </a:rPr>
              <a:t>y</a:t>
            </a:r>
            <a:r>
              <a:rPr sz="1800" spc="-7" baseline="-16203" dirty="0">
                <a:latin typeface="Times New Roman"/>
                <a:cs typeface="Times New Roman"/>
              </a:rPr>
              <a:t>2 </a:t>
            </a:r>
            <a:r>
              <a:rPr sz="1800" spc="-20" dirty="0">
                <a:latin typeface="Times New Roman"/>
                <a:cs typeface="Times New Roman"/>
              </a:rPr>
              <a:t>=0 </a:t>
            </a:r>
            <a:r>
              <a:rPr sz="1800" spc="-10" dirty="0">
                <a:latin typeface="Times New Roman"/>
                <a:cs typeface="Times New Roman"/>
              </a:rPr>
              <a:t>(i.e</a:t>
            </a:r>
            <a:r>
              <a:rPr sz="1800" spc="-15" baseline="-16203" dirty="0">
                <a:latin typeface="Times New Roman"/>
                <a:cs typeface="Times New Roman"/>
              </a:rPr>
              <a:t>. </a:t>
            </a:r>
            <a:r>
              <a:rPr sz="1800" dirty="0">
                <a:latin typeface="Times New Roman"/>
                <a:cs typeface="Times New Roman"/>
              </a:rPr>
              <a:t>in </a:t>
            </a:r>
            <a:r>
              <a:rPr sz="1800" spc="-5" dirty="0">
                <a:latin typeface="Times New Roman"/>
                <a:cs typeface="Times New Roman"/>
              </a:rPr>
              <a:t>state </a:t>
            </a:r>
            <a:r>
              <a:rPr sz="1800" b="1" dirty="0">
                <a:latin typeface="Times New Roman"/>
                <a:cs typeface="Times New Roman"/>
              </a:rPr>
              <a:t>1</a:t>
            </a:r>
            <a:r>
              <a:rPr sz="1800" dirty="0">
                <a:latin typeface="Times New Roman"/>
                <a:cs typeface="Times New Roman"/>
              </a:rPr>
              <a:t>), if </a:t>
            </a:r>
            <a:r>
              <a:rPr sz="1800" b="1" spc="15" dirty="0">
                <a:latin typeface="Times New Roman"/>
                <a:cs typeface="Times New Roman"/>
              </a:rPr>
              <a:t>x</a:t>
            </a:r>
            <a:r>
              <a:rPr sz="1800" spc="22" baseline="-16203" dirty="0">
                <a:latin typeface="Times New Roman"/>
                <a:cs typeface="Times New Roman"/>
              </a:rPr>
              <a:t>1 </a:t>
            </a:r>
            <a:r>
              <a:rPr sz="1800" dirty="0">
                <a:latin typeface="Times New Roman"/>
                <a:cs typeface="Times New Roman"/>
              </a:rPr>
              <a:t>is </a:t>
            </a:r>
            <a:r>
              <a:rPr sz="1800" spc="-5" dirty="0">
                <a:latin typeface="Times New Roman"/>
                <a:cs typeface="Times New Roman"/>
              </a:rPr>
              <a:t>applied </a:t>
            </a:r>
            <a:r>
              <a:rPr sz="1800" spc="-10" dirty="0">
                <a:latin typeface="Times New Roman"/>
                <a:cs typeface="Times New Roman"/>
              </a:rPr>
              <a:t>then </a:t>
            </a:r>
            <a:r>
              <a:rPr sz="1800" b="1" spc="-5" dirty="0">
                <a:latin typeface="Times New Roman"/>
                <a:cs typeface="Times New Roman"/>
              </a:rPr>
              <a:t>y</a:t>
            </a:r>
            <a:r>
              <a:rPr sz="1800" spc="-7" baseline="-16203" dirty="0">
                <a:latin typeface="Times New Roman"/>
                <a:cs typeface="Times New Roman"/>
              </a:rPr>
              <a:t>1</a:t>
            </a:r>
            <a:r>
              <a:rPr sz="1800" b="1" spc="-5" dirty="0">
                <a:latin typeface="Times New Roman"/>
                <a:cs typeface="Times New Roman"/>
              </a:rPr>
              <a:t>y</a:t>
            </a:r>
            <a:r>
              <a:rPr sz="1800" spc="-7" baseline="-16203" dirty="0">
                <a:latin typeface="Times New Roman"/>
                <a:cs typeface="Times New Roman"/>
              </a:rPr>
              <a:t>2</a:t>
            </a:r>
            <a:r>
              <a:rPr sz="1800" spc="-5" dirty="0">
                <a:latin typeface="Times New Roman"/>
                <a:cs typeface="Times New Roman"/>
              </a:rPr>
              <a:t>must </a:t>
            </a:r>
            <a:r>
              <a:rPr sz="1800" spc="-10" dirty="0">
                <a:latin typeface="Times New Roman"/>
                <a:cs typeface="Times New Roman"/>
              </a:rPr>
              <a:t>change </a:t>
            </a:r>
            <a:r>
              <a:rPr sz="1800" spc="-15" dirty="0">
                <a:latin typeface="Times New Roman"/>
                <a:cs typeface="Times New Roman"/>
              </a:rPr>
              <a:t>to </a:t>
            </a:r>
            <a:r>
              <a:rPr sz="1800" spc="-10" dirty="0">
                <a:latin typeface="Times New Roman"/>
                <a:cs typeface="Times New Roman"/>
              </a:rPr>
              <a:t>01 (i.e. </a:t>
            </a:r>
            <a:r>
              <a:rPr sz="1800" spc="-15" dirty="0">
                <a:latin typeface="Times New Roman"/>
                <a:cs typeface="Times New Roman"/>
              </a:rPr>
              <a:t>state </a:t>
            </a:r>
            <a:r>
              <a:rPr sz="1800" b="1" spc="-15" dirty="0">
                <a:latin typeface="Times New Roman"/>
                <a:cs typeface="Times New Roman"/>
              </a:rPr>
              <a:t>2). </a:t>
            </a:r>
            <a:r>
              <a:rPr sz="1800" spc="-25" dirty="0">
                <a:latin typeface="Times New Roman"/>
                <a:cs typeface="Times New Roman"/>
              </a:rPr>
              <a:t>That </a:t>
            </a:r>
            <a:r>
              <a:rPr sz="1800" spc="-20" dirty="0">
                <a:latin typeface="Times New Roman"/>
                <a:cs typeface="Times New Roman"/>
              </a:rPr>
              <a:t>is, </a:t>
            </a:r>
            <a:r>
              <a:rPr sz="1800" spc="-15" dirty="0">
                <a:latin typeface="Times New Roman"/>
                <a:cs typeface="Times New Roman"/>
              </a:rPr>
              <a:t> </a:t>
            </a:r>
            <a:r>
              <a:rPr sz="1800" dirty="0">
                <a:latin typeface="Times New Roman"/>
                <a:cs typeface="Times New Roman"/>
              </a:rPr>
              <a:t>the </a:t>
            </a:r>
            <a:r>
              <a:rPr sz="1800" spc="-10" dirty="0">
                <a:latin typeface="Times New Roman"/>
                <a:cs typeface="Times New Roman"/>
              </a:rPr>
              <a:t>flip/flop generating </a:t>
            </a:r>
            <a:r>
              <a:rPr sz="1800" b="1" spc="5" dirty="0">
                <a:latin typeface="Times New Roman"/>
                <a:cs typeface="Times New Roman"/>
              </a:rPr>
              <a:t>y</a:t>
            </a:r>
            <a:r>
              <a:rPr sz="1800" spc="7" baseline="-16203" dirty="0">
                <a:latin typeface="Times New Roman"/>
                <a:cs typeface="Times New Roman"/>
              </a:rPr>
              <a:t>1 </a:t>
            </a:r>
            <a:r>
              <a:rPr sz="1800" spc="-15" dirty="0">
                <a:latin typeface="Times New Roman"/>
                <a:cs typeface="Times New Roman"/>
              </a:rPr>
              <a:t>must </a:t>
            </a:r>
            <a:r>
              <a:rPr sz="1800" spc="-5" dirty="0">
                <a:latin typeface="Times New Roman"/>
                <a:cs typeface="Times New Roman"/>
              </a:rPr>
              <a:t>not disturbed, but the </a:t>
            </a:r>
            <a:r>
              <a:rPr sz="1800" b="1" spc="-5" dirty="0">
                <a:latin typeface="Times New Roman"/>
                <a:cs typeface="Times New Roman"/>
              </a:rPr>
              <a:t>y</a:t>
            </a:r>
            <a:r>
              <a:rPr sz="1800" spc="-7" baseline="-16203" dirty="0">
                <a:latin typeface="Times New Roman"/>
                <a:cs typeface="Times New Roman"/>
              </a:rPr>
              <a:t>2</a:t>
            </a:r>
            <a:r>
              <a:rPr sz="1800" spc="-5" dirty="0">
                <a:latin typeface="Times New Roman"/>
                <a:cs typeface="Times New Roman"/>
              </a:rPr>
              <a:t>generating flip-flop </a:t>
            </a:r>
            <a:r>
              <a:rPr sz="1800" dirty="0">
                <a:latin typeface="Times New Roman"/>
                <a:cs typeface="Times New Roman"/>
              </a:rPr>
              <a:t>requires </a:t>
            </a:r>
            <a:r>
              <a:rPr sz="1800" spc="-20" dirty="0">
                <a:latin typeface="Times New Roman"/>
                <a:cs typeface="Times New Roman"/>
              </a:rPr>
              <a:t>an </a:t>
            </a:r>
            <a:r>
              <a:rPr sz="1800" spc="-15" dirty="0">
                <a:latin typeface="Times New Roman"/>
                <a:cs typeface="Times New Roman"/>
              </a:rPr>
              <a:t>input </a:t>
            </a:r>
            <a:r>
              <a:rPr sz="1800" spc="-10" dirty="0">
                <a:latin typeface="Times New Roman"/>
                <a:cs typeface="Times New Roman"/>
              </a:rPr>
              <a:t> </a:t>
            </a:r>
            <a:r>
              <a:rPr sz="1800" spc="-5" dirty="0">
                <a:latin typeface="Times New Roman"/>
                <a:cs typeface="Times New Roman"/>
              </a:rPr>
              <a:t>such</a:t>
            </a:r>
            <a:r>
              <a:rPr sz="1800" spc="-55" dirty="0">
                <a:latin typeface="Times New Roman"/>
                <a:cs typeface="Times New Roman"/>
              </a:rPr>
              <a:t> </a:t>
            </a:r>
            <a:r>
              <a:rPr sz="1800" dirty="0">
                <a:latin typeface="Times New Roman"/>
                <a:cs typeface="Times New Roman"/>
              </a:rPr>
              <a:t>that</a:t>
            </a:r>
            <a:r>
              <a:rPr sz="1800" spc="-10" dirty="0">
                <a:latin typeface="Times New Roman"/>
                <a:cs typeface="Times New Roman"/>
              </a:rPr>
              <a:t> </a:t>
            </a:r>
            <a:r>
              <a:rPr sz="1800" dirty="0">
                <a:latin typeface="Times New Roman"/>
                <a:cs typeface="Times New Roman"/>
              </a:rPr>
              <a:t>the </a:t>
            </a:r>
            <a:r>
              <a:rPr sz="1800" spc="-5" dirty="0">
                <a:latin typeface="Times New Roman"/>
                <a:cs typeface="Times New Roman"/>
              </a:rPr>
              <a:t>circuit</a:t>
            </a:r>
            <a:r>
              <a:rPr sz="1800" spc="-35" dirty="0">
                <a:latin typeface="Times New Roman"/>
                <a:cs typeface="Times New Roman"/>
              </a:rPr>
              <a:t> </a:t>
            </a:r>
            <a:r>
              <a:rPr sz="1800" spc="-5" dirty="0">
                <a:latin typeface="Times New Roman"/>
                <a:cs typeface="Times New Roman"/>
              </a:rPr>
              <a:t>settles</a:t>
            </a:r>
            <a:r>
              <a:rPr sz="1800" spc="-50" dirty="0">
                <a:latin typeface="Times New Roman"/>
                <a:cs typeface="Times New Roman"/>
              </a:rPr>
              <a:t> </a:t>
            </a:r>
            <a:r>
              <a:rPr sz="1800" dirty="0">
                <a:latin typeface="Times New Roman"/>
                <a:cs typeface="Times New Roman"/>
              </a:rPr>
              <a:t>in </a:t>
            </a:r>
            <a:r>
              <a:rPr sz="1800" spc="-5" dirty="0">
                <a:latin typeface="Times New Roman"/>
                <a:cs typeface="Times New Roman"/>
              </a:rPr>
              <a:t>state</a:t>
            </a:r>
            <a:r>
              <a:rPr sz="1800" spc="-25" dirty="0">
                <a:latin typeface="Times New Roman"/>
                <a:cs typeface="Times New Roman"/>
              </a:rPr>
              <a:t> </a:t>
            </a:r>
            <a:r>
              <a:rPr sz="1800" b="1" spc="5" dirty="0">
                <a:latin typeface="Times New Roman"/>
                <a:cs typeface="Times New Roman"/>
              </a:rPr>
              <a:t>2</a:t>
            </a:r>
            <a:r>
              <a:rPr sz="1800" spc="5" dirty="0">
                <a:latin typeface="Times New Roman"/>
                <a:cs typeface="Times New Roman"/>
              </a:rPr>
              <a:t>,</a:t>
            </a:r>
            <a:r>
              <a:rPr sz="1800" spc="15" dirty="0">
                <a:latin typeface="Times New Roman"/>
                <a:cs typeface="Times New Roman"/>
              </a:rPr>
              <a:t> </a:t>
            </a:r>
            <a:r>
              <a:rPr sz="1800" spc="-10" dirty="0">
                <a:latin typeface="Times New Roman"/>
                <a:cs typeface="Times New Roman"/>
              </a:rPr>
              <a:t>(for example</a:t>
            </a:r>
            <a:r>
              <a:rPr sz="1800" spc="-15" dirty="0">
                <a:latin typeface="Times New Roman"/>
                <a:cs typeface="Times New Roman"/>
              </a:rPr>
              <a:t> </a:t>
            </a:r>
            <a:r>
              <a:rPr sz="1800" dirty="0">
                <a:latin typeface="Times New Roman"/>
                <a:cs typeface="Times New Roman"/>
              </a:rPr>
              <a:t>a</a:t>
            </a:r>
            <a:r>
              <a:rPr sz="1800" spc="-5" dirty="0">
                <a:latin typeface="Times New Roman"/>
                <a:cs typeface="Times New Roman"/>
              </a:rPr>
              <a:t> </a:t>
            </a:r>
            <a:r>
              <a:rPr sz="1800" dirty="0">
                <a:latin typeface="Times New Roman"/>
                <a:cs typeface="Times New Roman"/>
              </a:rPr>
              <a:t>SET</a:t>
            </a:r>
            <a:r>
              <a:rPr sz="1800" spc="-30" dirty="0">
                <a:latin typeface="Times New Roman"/>
                <a:cs typeface="Times New Roman"/>
              </a:rPr>
              <a:t> </a:t>
            </a:r>
            <a:r>
              <a:rPr sz="1800" spc="5" dirty="0">
                <a:latin typeface="Times New Roman"/>
                <a:cs typeface="Times New Roman"/>
              </a:rPr>
              <a:t>input</a:t>
            </a:r>
            <a:r>
              <a:rPr sz="1800" spc="-10" dirty="0">
                <a:latin typeface="Times New Roman"/>
                <a:cs typeface="Times New Roman"/>
              </a:rPr>
              <a:t> </a:t>
            </a:r>
            <a:r>
              <a:rPr sz="1800" dirty="0">
                <a:latin typeface="Times New Roman"/>
                <a:cs typeface="Times New Roman"/>
              </a:rPr>
              <a:t>if</a:t>
            </a:r>
            <a:r>
              <a:rPr sz="1800" spc="-20" dirty="0">
                <a:latin typeface="Times New Roman"/>
                <a:cs typeface="Times New Roman"/>
              </a:rPr>
              <a:t> </a:t>
            </a:r>
            <a:r>
              <a:rPr sz="1800" dirty="0">
                <a:latin typeface="Times New Roman"/>
                <a:cs typeface="Times New Roman"/>
              </a:rPr>
              <a:t>using SR</a:t>
            </a:r>
            <a:r>
              <a:rPr sz="1800" spc="-65" dirty="0">
                <a:latin typeface="Times New Roman"/>
                <a:cs typeface="Times New Roman"/>
              </a:rPr>
              <a:t> </a:t>
            </a:r>
            <a:r>
              <a:rPr sz="1800" spc="-5" dirty="0">
                <a:latin typeface="Times New Roman"/>
                <a:cs typeface="Times New Roman"/>
              </a:rPr>
              <a:t>flip-flops).</a:t>
            </a:r>
            <a:endParaRPr sz="1800">
              <a:latin typeface="Times New Roman"/>
              <a:cs typeface="Times New Roman"/>
            </a:endParaRPr>
          </a:p>
        </p:txBody>
      </p:sp>
      <p:pic>
        <p:nvPicPr>
          <p:cNvPr id="6" name="object 6"/>
          <p:cNvPicPr/>
          <p:nvPr/>
        </p:nvPicPr>
        <p:blipFill>
          <a:blip r:embed="rId3" cstate="print"/>
          <a:stretch>
            <a:fillRect/>
          </a:stretch>
        </p:blipFill>
        <p:spPr>
          <a:xfrm>
            <a:off x="2743200" y="4114800"/>
            <a:ext cx="2752344" cy="2029968"/>
          </a:xfrm>
          <a:prstGeom prst="rect">
            <a:avLst/>
          </a:prstGeom>
        </p:spPr>
      </p:pic>
      <p:sp>
        <p:nvSpPr>
          <p:cNvPr id="7" name="object 7"/>
          <p:cNvSpPr txBox="1">
            <a:spLocks noGrp="1"/>
          </p:cNvSpPr>
          <p:nvPr>
            <p:ph type="sldNum" sz="quarter" idx="4294967295"/>
          </p:nvPr>
        </p:nvSpPr>
        <p:spPr>
          <a:xfrm>
            <a:off x="8304021" y="6410197"/>
            <a:ext cx="424815" cy="254000"/>
          </a:xfrm>
          <a:prstGeom prst="rect">
            <a:avLst/>
          </a:prstGeom>
        </p:spPr>
        <p:txBody>
          <a:bodyPr vert="horz" wrap="square" lIns="0" tIns="0" rIns="0" bIns="0" rtlCol="0">
            <a:spAutoFit/>
          </a:bodyPr>
          <a:lstStyle/>
          <a:p>
            <a:pPr marL="38100">
              <a:lnSpc>
                <a:spcPts val="1810"/>
              </a:lnSpc>
            </a:pPr>
            <a:fld id="{81D60167-4931-47E6-BA6A-407CBD079E47}" type="slidenum">
              <a:rPr dirty="0"/>
              <a:t>18</a:t>
            </a:fld>
            <a:endParaRPr dirty="0"/>
          </a:p>
        </p:txBody>
      </p:sp>
    </p:spTree>
    <p:extLst>
      <p:ext uri="{BB962C8B-B14F-4D97-AF65-F5344CB8AC3E}">
        <p14:creationId xmlns:p14="http://schemas.microsoft.com/office/powerpoint/2010/main" val="4194181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1527</Words>
  <Application>Microsoft Office PowerPoint</Application>
  <PresentationFormat>On-screen Show (4:3)</PresentationFormat>
  <Paragraphs>94</Paragraphs>
  <Slides>18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Arial</vt:lpstr>
      <vt:lpstr>Calibri</vt:lpstr>
      <vt:lpstr>Microsoft Sans Serif</vt:lpstr>
      <vt:lpstr>Times New Roman</vt:lpstr>
      <vt:lpstr>Wingdings</vt:lpstr>
      <vt:lpstr>Office Theme</vt:lpstr>
      <vt:lpstr>1_Office Theme</vt:lpstr>
      <vt:lpstr>STATE MACHINES</vt:lpstr>
      <vt:lpstr>STATE MACHINES</vt:lpstr>
      <vt:lpstr>STATE MACHINES</vt:lpstr>
      <vt:lpstr>STATE MACHINES</vt:lpstr>
      <vt:lpstr>STATE MACHINES</vt:lpstr>
      <vt:lpstr>PowerPoint Presentation</vt:lpstr>
      <vt:lpstr>The procedure for designing synchronous sequential circuits can be summarized by a list of recommended steps:</vt:lpstr>
      <vt:lpstr>Suppose we wish to design a circuit that detects a sequence of three or more consecutive 1’s in a string of bits coming through an input line</vt:lpstr>
      <vt:lpstr>PowerPoint Presentation</vt:lpstr>
      <vt:lpstr>PowerPoint Presentation</vt:lpstr>
      <vt:lpstr>PowerPoint Presentation</vt:lpstr>
      <vt:lpstr>PowerPoint Presentation</vt:lpstr>
      <vt:lpstr>PowerPoint Presentation</vt:lpstr>
      <vt:lpstr>STATE REDUCTION</vt:lpstr>
      <vt:lpstr>STATE REDUCTION</vt:lpstr>
      <vt:lpstr>STATE REDUCTION</vt:lpstr>
      <vt:lpstr>STATE ASSIGNMENT</vt:lpstr>
      <vt:lpstr>STATE 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Sivasankaran</cp:lastModifiedBy>
  <cp:revision>6</cp:revision>
  <dcterms:created xsi:type="dcterms:W3CDTF">2022-04-12T15:15:25Z</dcterms:created>
  <dcterms:modified xsi:type="dcterms:W3CDTF">2024-04-29T16:05:34Z</dcterms:modified>
</cp:coreProperties>
</file>