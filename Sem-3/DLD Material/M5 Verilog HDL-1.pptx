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4"/>
  </p:notesMasterIdLst>
  <p:sldIdLst>
    <p:sldId id="257" r:id="rId5"/>
    <p:sldId id="264" r:id="rId6"/>
    <p:sldId id="258" r:id="rId7"/>
    <p:sldId id="259" r:id="rId8"/>
    <p:sldId id="260" r:id="rId9"/>
    <p:sldId id="261" r:id="rId10"/>
    <p:sldId id="263" r:id="rId11"/>
    <p:sldId id="265" r:id="rId12"/>
    <p:sldId id="266" r:id="rId13"/>
    <p:sldId id="267" r:id="rId14"/>
    <p:sldId id="268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38" r:id="rId62"/>
    <p:sldId id="339" r:id="rId63"/>
    <p:sldId id="340" r:id="rId64"/>
    <p:sldId id="341" r:id="rId65"/>
    <p:sldId id="342" r:id="rId66"/>
    <p:sldId id="345" r:id="rId67"/>
    <p:sldId id="346" r:id="rId68"/>
    <p:sldId id="347" r:id="rId69"/>
    <p:sldId id="343" r:id="rId70"/>
    <p:sldId id="344" r:id="rId71"/>
    <p:sldId id="348" r:id="rId72"/>
    <p:sldId id="271" r:id="rId73"/>
    <p:sldId id="272" r:id="rId74"/>
    <p:sldId id="273" r:id="rId75"/>
    <p:sldId id="274" r:id="rId76"/>
    <p:sldId id="275" r:id="rId77"/>
    <p:sldId id="276" r:id="rId78"/>
    <p:sldId id="277" r:id="rId79"/>
    <p:sldId id="278" r:id="rId80"/>
    <p:sldId id="279" r:id="rId81"/>
    <p:sldId id="280" r:id="rId82"/>
    <p:sldId id="281" r:id="rId83"/>
    <p:sldId id="282" r:id="rId84"/>
    <p:sldId id="283" r:id="rId85"/>
    <p:sldId id="284" r:id="rId86"/>
    <p:sldId id="285" r:id="rId87"/>
    <p:sldId id="286" r:id="rId88"/>
    <p:sldId id="287" r:id="rId89"/>
    <p:sldId id="288" r:id="rId90"/>
    <p:sldId id="289" r:id="rId91"/>
    <p:sldId id="290" r:id="rId92"/>
    <p:sldId id="291" r:id="rId9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4660"/>
  </p:normalViewPr>
  <p:slideViewPr>
    <p:cSldViewPr>
      <p:cViewPr varScale="1">
        <p:scale>
          <a:sx n="68" d="100"/>
          <a:sy n="68" d="100"/>
        </p:scale>
        <p:origin x="157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75714-A9B8-4BE2-8BC4-40A61F293944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51722-FB38-4E83-AD3E-447054773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7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51722-FB38-4E83-AD3E-447054773E9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27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51722-FB38-4E83-AD3E-447054773E9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0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51722-FB38-4E83-AD3E-447054773E9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21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51722-FB38-4E83-AD3E-447054773E9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55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51722-FB38-4E83-AD3E-447054773E9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76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HDL is a language that describes the hardware of digital systems in a textual form.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is specifically oriented to describing hardware structures and behaviors.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This language represents extensive parallel operations.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most common use of a HDL is to provide an alternative to schematics.</a:t>
            </a:r>
          </a:p>
        </p:txBody>
      </p:sp>
    </p:spTree>
    <p:extLst>
      <p:ext uri="{BB962C8B-B14F-4D97-AF65-F5344CB8AC3E}">
        <p14:creationId xmlns:p14="http://schemas.microsoft.com/office/powerpoint/2010/main" val="224866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Describe hardware at varying levels of abstraction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Structural description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Textual replacement for schematic.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Hierarchical composition of modules from primitives.</a:t>
            </a:r>
          </a:p>
          <a:p>
            <a:pPr lvl="2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each logic gate instantiated and connected to others.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Behavioral/functional description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Describes input/output behavior of circuit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Synthesis generates circuit for module</a:t>
            </a:r>
          </a:p>
          <a:p>
            <a:pPr lvl="2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Different implementations of one Boolean function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Simulation semantics.</a:t>
            </a:r>
          </a:p>
        </p:txBody>
      </p:sp>
    </p:spTree>
    <p:extLst>
      <p:ext uri="{BB962C8B-B14F-4D97-AF65-F5344CB8AC3E}">
        <p14:creationId xmlns:p14="http://schemas.microsoft.com/office/powerpoint/2010/main" val="227005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structural description can be used as input to logic simulation just as a schematic is used.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Models for each of the primitive components are required.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HDL can be used to represent logic diagrams, Boolean expressions, and other more complex digital circuits.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two applications of HDL processing: Simulation and Synthesis.</a:t>
            </a:r>
          </a:p>
        </p:txBody>
      </p:sp>
    </p:spTree>
    <p:extLst>
      <p:ext uri="{BB962C8B-B14F-4D97-AF65-F5344CB8AC3E}">
        <p14:creationId xmlns:p14="http://schemas.microsoft.com/office/powerpoint/2010/main" val="55962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simulator interprets the HDL description and produces a readable output, such as a timing diagram.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allows the detection of functional errors in a design without having to physically create the circuit.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stimulus that tests the functionality of the design is called a test bench.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simulate a digital system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First describe the design in HDL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Verified by simulating the design with a test bench</a:t>
            </a:r>
          </a:p>
        </p:txBody>
      </p:sp>
    </p:spTree>
    <p:extLst>
      <p:ext uri="{BB962C8B-B14F-4D97-AF65-F5344CB8AC3E}">
        <p14:creationId xmlns:p14="http://schemas.microsoft.com/office/powerpoint/2010/main" val="113974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two standard HDL’s are supported by IEEE.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VHDL (Very-High-Speed Integrated Circuits Hardware Description Language).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Developed by US. Dept. of Defense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Verilog HDL 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Developed by Cadence Data Systems</a:t>
            </a:r>
          </a:p>
        </p:txBody>
      </p:sp>
    </p:spTree>
    <p:extLst>
      <p:ext uri="{BB962C8B-B14F-4D97-AF65-F5344CB8AC3E}">
        <p14:creationId xmlns:p14="http://schemas.microsoft.com/office/powerpoint/2010/main" val="260524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Verilog HDL has a syntax that describes precisely the legal constructs that can be used in the language.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used about 100 keywords pre defined, lowercase, identifiers that define the language constructs.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Keywords Ex: module,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endmodule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input, output, wire, and, or, not etc.,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Any text between two slashes(//) and the end of line is interpreted as a comment.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Blank spaces are ignored and names are case sensitive. </a:t>
            </a:r>
          </a:p>
        </p:txBody>
      </p:sp>
    </p:spTree>
    <p:extLst>
      <p:ext uri="{BB962C8B-B14F-4D97-AF65-F5344CB8AC3E}">
        <p14:creationId xmlns:p14="http://schemas.microsoft.com/office/powerpoint/2010/main" val="189475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Lexical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Keywords, e. g., module, are reserved and in all lower case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letters. Verilog is case sensitive.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Spaces are important in that they delimit tokens in the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language.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Numbers are specified in the traditional form of a series of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digits with or without a sign but also in the following form: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lvl="1" indent="0" algn="ctr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&lt;size&gt;&lt;base format&gt;&lt;number&gt;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&lt;size&gt;: number of bits (optional)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&lt;base format&gt;: is the single character ' followed by one of the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	following characters b, d, o and h, which stand for binary, 	decimal, octal and hex, respectively.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&lt;number&gt;: contains digits which are legal for the &lt;base format&gt;</a:t>
            </a:r>
          </a:p>
        </p:txBody>
      </p:sp>
    </p:spTree>
    <p:extLst>
      <p:ext uri="{BB962C8B-B14F-4D97-AF65-F5344CB8AC3E}">
        <p14:creationId xmlns:p14="http://schemas.microsoft.com/office/powerpoint/2010/main" val="228581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549 // decimal number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24'h 8FF // hex number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10'o765 // octal number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4'b11 // 4-bit binary number 0011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3'b10x // 3-bit binary number with least significant bit unknown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5'd3 // 5-bit decimal number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-4'b11 // 4-bit two's complement of 0011 or 1101 </a:t>
            </a:r>
          </a:p>
        </p:txBody>
      </p:sp>
    </p:spTree>
    <p:extLst>
      <p:ext uri="{BB962C8B-B14F-4D97-AF65-F5344CB8AC3E}">
        <p14:creationId xmlns:p14="http://schemas.microsoft.com/office/powerpoint/2010/main" val="427261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String: is a sequence of characters enclosed in double quotes. "this is a string“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Operators (some examples:)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Arithmetic: +, - ! ~ * /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Shift: &lt;&lt; &gt;&gt; Relational: &lt; &lt;= &gt; &gt;= == != === !==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Logical &amp;&amp; ||.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Identifier: Equivalent to variable names: Identifiers can be up to 1024 characters.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29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digital system as a set of modules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Each module has an interface to other module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(connectivity)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GOOD PRACTICE: place one module per file ( not a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requirement)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 may run concurrently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Usually one top level module which invokes instances of other modules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Usually called a stimulus block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34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762000"/>
          </a:xfrm>
        </p:spPr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953500" cy="607695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Represent bits of hardware ranging from simple gates to complete systems, e. g., a microprocessor.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either be specified behaviorally or structurally (or a combination of the two)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structure of a module is the following: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module &lt;module name&gt; (&lt;port list&gt;);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&lt;declares&gt;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&lt;module items&gt;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endmodule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&lt;module name&gt;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is an identifier that uniquely names the module.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&lt;port list&gt;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list of input,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output ports which are used to connect to other modules.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&lt;declares&gt;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section specifies data objects as registers, memories and wires as wells as procedural constructs such as functions and tasks.</a:t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&lt;module items&gt;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may be initial constructs, always constructs, continuous assignments or instances of modules.</a:t>
            </a:r>
          </a:p>
        </p:txBody>
      </p:sp>
    </p:spTree>
    <p:extLst>
      <p:ext uri="{BB962C8B-B14F-4D97-AF65-F5344CB8AC3E}">
        <p14:creationId xmlns:p14="http://schemas.microsoft.com/office/powerpoint/2010/main" val="3844709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HDL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3000" b="1" dirty="0" err="1">
                <a:latin typeface="Courier New" pitchFamily="49" charset="0"/>
                <a:cs typeface="Courier New" pitchFamily="49" charset="0"/>
              </a:rPr>
              <a:t>smpl_ckt</a:t>
            </a:r>
            <a:r>
              <a:rPr lang="en-US" sz="3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3000" b="1" dirty="0" err="1">
                <a:latin typeface="Courier New" pitchFamily="49" charset="0"/>
                <a:cs typeface="Courier New" pitchFamily="49" charset="0"/>
              </a:rPr>
              <a:t>A,B,C,x,y</a:t>
            </a:r>
            <a:r>
              <a:rPr lang="en-US" sz="3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	input A,B,C;</a:t>
            </a:r>
          </a:p>
          <a:p>
            <a:pPr marL="0" indent="0"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	output </a:t>
            </a:r>
            <a:r>
              <a:rPr lang="en-US" sz="30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3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	wire e;</a:t>
            </a:r>
          </a:p>
          <a:p>
            <a:pPr marL="0" indent="0"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	and g1(</a:t>
            </a:r>
            <a:r>
              <a:rPr lang="en-US" sz="3000" b="1" dirty="0" err="1">
                <a:latin typeface="Courier New" pitchFamily="49" charset="0"/>
                <a:cs typeface="Courier New" pitchFamily="49" charset="0"/>
              </a:rPr>
              <a:t>e,A,B</a:t>
            </a:r>
            <a:r>
              <a:rPr lang="en-US" sz="3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	not g2(</a:t>
            </a:r>
            <a:r>
              <a:rPr lang="en-US" sz="3000" b="1" dirty="0" err="1">
                <a:latin typeface="Courier New" pitchFamily="49" charset="0"/>
                <a:cs typeface="Courier New" pitchFamily="49" charset="0"/>
              </a:rPr>
              <a:t>y,c</a:t>
            </a:r>
            <a:r>
              <a:rPr lang="en-US" sz="3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	or g3(</a:t>
            </a:r>
            <a:r>
              <a:rPr lang="en-US" sz="3000" b="1" dirty="0" err="1">
                <a:latin typeface="Courier New" pitchFamily="49" charset="0"/>
                <a:cs typeface="Courier New" pitchFamily="49" charset="0"/>
              </a:rPr>
              <a:t>x,e,y</a:t>
            </a:r>
            <a:r>
              <a:rPr lang="en-US" sz="3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3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05568"/>
            <a:ext cx="6701955" cy="1813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0624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5029200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specify the amount of delay from the input to the output of gates.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Verilog, the delay is specified in terms of time units and the symbol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association of a time unit with physical time is made using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timescale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compiler directive.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Compiler directive starts with the “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backquote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`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)” symbol.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`timescale 1ns/100ps</a:t>
            </a:r>
          </a:p>
          <a:p>
            <a:pPr marL="457200" lvl="1" indent="0"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first number specifies the unit of measurement for time delays.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second number specifies the precision for which the delays are rounded off, in this case to 0.1ns.</a:t>
            </a:r>
          </a:p>
        </p:txBody>
      </p:sp>
    </p:spTree>
    <p:extLst>
      <p:ext uri="{BB962C8B-B14F-4D97-AF65-F5344CB8AC3E}">
        <p14:creationId xmlns:p14="http://schemas.microsoft.com/office/powerpoint/2010/main" val="3657968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58674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 Description of circuit with delay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circuit_with_delay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A,B,C,x,y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input A,B,C;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output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wire e;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and #(30) g1(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e,A,B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or    #(20) g3(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x,e,y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not  #(10) g2(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y,C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272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Simulate a HDL designed circuit with the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testbench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initial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statement specifies inputs between the keyword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begin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Initially ABC=000 (A, B and C are each set to 1’b0)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$finish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 system task.</a:t>
            </a:r>
          </a:p>
        </p:txBody>
      </p:sp>
    </p:spTree>
    <p:extLst>
      <p:ext uri="{BB962C8B-B14F-4D97-AF65-F5344CB8AC3E}">
        <p14:creationId xmlns:p14="http://schemas.microsoft.com/office/powerpoint/2010/main" val="3767992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0100" y="380999"/>
            <a:ext cx="4533900" cy="5745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//Stimulus for simple circuit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stimcrct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A,B,C;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wire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circuit_with_delay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uut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(.A(A),.B(B),.C(C),.x(x),.y());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y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initial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begin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A=1’b0; B=1’b0;C=1’b0;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#100</a:t>
            </a:r>
          </a:p>
          <a:p>
            <a:pPr marL="0" indent="0"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A=1’b1; B=1’b1;C=1’b1;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#100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$finish;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end </a:t>
            </a:r>
          </a:p>
          <a:p>
            <a:pPr marL="0" indent="0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10100" y="228598"/>
            <a:ext cx="4419600" cy="574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0" y="228599"/>
            <a:ext cx="4419600" cy="574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762000"/>
            <a:ext cx="4591050" cy="574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Description of circuit with delay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circuit_with_delay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A,B,C,x,y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input A,B,C;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output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wire e;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and #(30) g1(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e,A,B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or  #(20) g3(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x,e,y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not #(10) g2(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y,C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42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4164" y="1257300"/>
            <a:ext cx="9558164" cy="275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0692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Verilog continuous assignment statement consisting of the keyword </a:t>
            </a:r>
            <a:r>
              <a:rPr lang="en-US" i="1" dirty="0"/>
              <a:t>assign</a:t>
            </a:r>
          </a:p>
          <a:p>
            <a:r>
              <a:rPr lang="en-US" dirty="0"/>
              <a:t>The earlier circuit can be specified using the statement:</a:t>
            </a:r>
          </a:p>
          <a:p>
            <a:pPr marL="0" indent="0">
              <a:buNone/>
            </a:pPr>
            <a:r>
              <a:rPr lang="en-US" dirty="0"/>
              <a:t>	assign x = ((A&amp;B) | ~C)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E.g. x = A + BC + B’D</a:t>
            </a:r>
          </a:p>
          <a:p>
            <a:pPr marL="0" indent="0">
              <a:buNone/>
            </a:pPr>
            <a:r>
              <a:rPr lang="en-US" dirty="0"/>
              <a:t>	       y = B’C + BC’D’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29638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//circuit specified with Boolean expression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circuit_bln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x,y,A,B,C,D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input A,B,C,D;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output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assign x = A | (B &amp; C) | (~B &amp; C);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assign y = (~B &amp; C) | (B &amp; ~C &amp; ~D);</a:t>
            </a:r>
          </a:p>
          <a:p>
            <a:pPr marL="0" indent="0">
              <a:buNone/>
            </a:pP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878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Primitives (UDP)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067800" cy="4953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logic gates used in HDL with keywords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and, or,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etc., are defined by the system are referred as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system primitives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user can create additional primitives by defining them in tabular form.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type of circuits are referred to as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user-defined primitives.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 not use keyword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module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Start with the keyword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primitive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can be only one output and many inputs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truth table is enclosed within the keyword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table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endtable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Inputs listed with a colon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(:)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output at the end of the row followed by semicolon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;).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End with keyword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endprimitive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3125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4582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//user defined primitive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primitive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crctp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x,A,B,C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x;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A,B,C;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//Truth table for x(A,B,C) 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Minterms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(0,2,4,6,7) 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table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	A B C : x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0 0 0 : 1;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0 0 1 : 0;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0 1 0 : 1;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0 1 1 : 0;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1 0 0 : 1;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1 0 1 : 0;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1 1 0 : 0;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1 1 1 : 1;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endtable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endprimitive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9600" y="2571750"/>
            <a:ext cx="441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Instantiate primitive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declare_crctp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x,y,z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w;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crctp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w,x,y,z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22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9144000" cy="6096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module can be described in any one of the following modeling techniques.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Gate-level modeling: using instantiation of primitive gates and user defined modules.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Circuit describes by  the gate and  connections.</a:t>
            </a:r>
          </a:p>
          <a:p>
            <a:pPr marL="914400" lvl="2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Dataflow modeling: continuous assignment statements with the keyword assign.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Describing combinational circuits.</a:t>
            </a:r>
          </a:p>
          <a:p>
            <a:pPr lvl="2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Behavioral modeling: procedural assignment statements with keyword always.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Describes the digital systems at a higher level of abstraction.</a:t>
            </a:r>
          </a:p>
        </p:txBody>
      </p:sp>
    </p:spTree>
    <p:extLst>
      <p:ext uri="{BB962C8B-B14F-4D97-AF65-F5344CB8AC3E}">
        <p14:creationId xmlns:p14="http://schemas.microsoft.com/office/powerpoint/2010/main" val="2921833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Gate-Level Modeling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9154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Circuit is specified by its logic gates and their interconnections.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provides a textual description of a schematic diagram.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Verilog recognizes 12 basic gates as predefined primitives.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4 primitive gates of 3-state type.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Other 8 : and, or,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nor,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xnor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not,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buf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When the gates are simulated, the system assigns a four valued logic set to each gate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0,1,X (unknown) and Z (high impedance)</a:t>
            </a:r>
          </a:p>
        </p:txBody>
      </p:sp>
    </p:spTree>
    <p:extLst>
      <p:ext uri="{BB962C8B-B14F-4D97-AF65-F5344CB8AC3E}">
        <p14:creationId xmlns:p14="http://schemas.microsoft.com/office/powerpoint/2010/main" val="2073555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dirty="0"/>
              <a:t>Modeling with vector data:</a:t>
            </a:r>
          </a:p>
          <a:p>
            <a:pPr marL="457200" lvl="1" indent="0">
              <a:buNone/>
            </a:pPr>
            <a:r>
              <a:rPr lang="en-US" dirty="0"/>
              <a:t>e.g. output [0:3] D;		</a:t>
            </a:r>
          </a:p>
          <a:p>
            <a:pPr marL="457200" lvl="1" indent="0">
              <a:buNone/>
            </a:pPr>
            <a:r>
              <a:rPr lang="en-US" dirty="0"/>
              <a:t>	   wire[7:0] SUM;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There are two basic types of design methodologies:</a:t>
            </a:r>
          </a:p>
          <a:p>
            <a:pPr lvl="1"/>
            <a:r>
              <a:rPr lang="en-US" dirty="0"/>
              <a:t>Top down </a:t>
            </a:r>
          </a:p>
          <a:p>
            <a:pPr lvl="2"/>
            <a:r>
              <a:rPr lang="en-US" dirty="0"/>
              <a:t>E.g. 4-bit binary adder –&gt; 4 FAs –&gt; 2 HA (FA)</a:t>
            </a:r>
          </a:p>
          <a:p>
            <a:pPr lvl="1"/>
            <a:r>
              <a:rPr lang="en-US" dirty="0"/>
              <a:t>Bottom up.</a:t>
            </a:r>
          </a:p>
          <a:p>
            <a:pPr lvl="2"/>
            <a:r>
              <a:rPr lang="en-US" dirty="0" err="1"/>
              <a:t>E.g</a:t>
            </a:r>
            <a:r>
              <a:rPr lang="en-US" dirty="0"/>
              <a:t>: HA-&gt; FA-&gt; 4-bit binary adder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83390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291352"/>
            <a:ext cx="8533668" cy="321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" y="3743605"/>
            <a:ext cx="8924593" cy="2428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5668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092865" cy="263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3629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91600" cy="5973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//gate-level modeling of 4-bit adder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halfadder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S,C,x,y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S,C;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xor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S,x,y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 //assign S = x ^ y;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and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C,x,y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//assign C = x &amp; y;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fulladder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S,C,x,y,z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x,y,z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S,C;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S1,D1,D2;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halfadder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HA1(S1, D1,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), HA2(S,D2,S1,z);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or g1(C,D2,D1);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884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6868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4bit_adder (S,C4,A,B,C0);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[3:0] A,B;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C0;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[3:0] S;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C4;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C1,C2,C3;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fulladder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FA0(S[0],C1,A[0],B[0],C0),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   FA1(S[1],C2,A[1],B[1],C1),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   FA2(S[2],C1,A[2],B[2],C2),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   FA3(S[3],C2,A[3],B[3],C3);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674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to 4 Decoder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057400"/>
            <a:ext cx="9203889" cy="3604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760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decoder_g1 (A,B,E,D);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A,B,E;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[0:3] D;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Anot,Bnot,Enot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not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n1(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Anot,A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n1(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Bnot,B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n1(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Enot,E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nand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n4(D[0],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Anot,Bnot,Enot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n5(D[1],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Anot,B,Enot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n6(D[2],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A,Bnot,Enot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n7(D[3],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A,B,Enot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815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to 4 line Decoder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3" y="2133601"/>
            <a:ext cx="9087017" cy="3515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863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//2 to 4 line decoder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module decoder_2_to_4_line 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E_n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, A0, A1, D0_n, D1_n, D2_n, D3_n);</a:t>
            </a:r>
          </a:p>
          <a:p>
            <a:pPr marL="0" indent="0"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E_n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, A0, A1;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output D0_n,D1_n,D2_n,D3_n;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wire A0_n,A1_n,E;</a:t>
            </a:r>
          </a:p>
          <a:p>
            <a:pPr marL="0" indent="0"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not g0(A0_n,A0), g1(A1_n,A1), g2(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E,E_n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nand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g3(D0_n,A0_n,A1_n,E), 		g4(D1_n,A0,A1_n,E), g5(D2_n,A0_n,A1,E), 	g6(D3_n,A0,A1,E);</a:t>
            </a:r>
          </a:p>
          <a:p>
            <a:pPr marL="0" indent="0">
              <a:buNone/>
            </a:pP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552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Three-State Gates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64387"/>
            <a:ext cx="8545912" cy="524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1836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3230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muxtri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A,B,select,out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A,B,select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out;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tri out;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bufif1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out,A,select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bufif0 (out, B, select);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293" y="0"/>
            <a:ext cx="4604657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133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Keywords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wire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tri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are examples of net data type.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Nets represent connections between hardware elements.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word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net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is not a keyword, but represents a class of data types such as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wire,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wor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, wand, tri, supply1, supply0.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wire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declaration is used most frequently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net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wor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models the hardware implementation of the wired-OR configuration.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wand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models the wired-AND configuration.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nets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supply1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supply0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represent power supply and ground</a:t>
            </a:r>
          </a:p>
        </p:txBody>
      </p:sp>
    </p:spTree>
    <p:extLst>
      <p:ext uri="{BB962C8B-B14F-4D97-AF65-F5344CB8AC3E}">
        <p14:creationId xmlns:p14="http://schemas.microsoft.com/office/powerpoint/2010/main" val="26781824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Dataflow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9154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uses a number of operations that act on operands to produce desired results.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Verilog provides about 30 operator types.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Keyword assign is used for continuous assignments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continuous assignment is a statement that assigns a value to a net.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value assigned to the net is specified by an expression that uses operands and operators.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943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//Dataflow model of 2-to-4 line decoder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decoder_df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(A,B,E,D)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A,B,E;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[0:3] D;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D[0] = ~(~A &amp; ~B &amp; ~E),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D[1] = ~(~A &amp; B &amp; ~E),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D[2] = ~(A &amp; ~B &amp; ~E),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D[3] = ~(A &amp; B &amp; ~E),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120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8686800" cy="6705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//DF of 4-bit adder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binary_adder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(A, B,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, SUM,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input [3:0] A,B;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output [3:0] SUM;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output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assign {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Cout,SUM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} = A + B +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Courier New" pitchFamily="49" charset="0"/>
                <a:cs typeface="Courier New" pitchFamily="49" charset="0"/>
              </a:rPr>
              <a:t>//DF of 4-bit comparator.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comp_df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(A,B,ALTB, AGTB,AEQB);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input [3:0] A,B;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output ALTB, AGTB, AEQB;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assign ALTB = (A &lt; B),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AGTB = (A &gt; B),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AEQB = (A == B);</a:t>
            </a:r>
          </a:p>
          <a:p>
            <a:pPr marL="0" indent="0"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099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Conditional operator (?:)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Condition ? true-expression : false-expression;</a:t>
            </a: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//DF of 2-to-1 line Mux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mux2x1_df (A, B, select, OUT);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A, B, select;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OUT;</a:t>
            </a:r>
          </a:p>
          <a:p>
            <a:pPr marL="457200" lvl="1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OUT = select ? A : B;</a:t>
            </a:r>
          </a:p>
          <a:p>
            <a:pPr marL="457200" lvl="1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0988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represents digital circuits at a functional and algorithmic level.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is used mostly to describes sequential circuits.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Keyword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always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followed by list of procedural assignment statements.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output of procedural assignment must be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data type.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683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//BM of 2-to-1 line mux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mux2x1_bm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A,B,select,OUT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A, B, select;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OUT;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OUT;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always @(select or A or B)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if (select == 1) OUT = A;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else OUT = B;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783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4-to-1 Mux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28181"/>
            <a:ext cx="5219700" cy="5629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209800"/>
            <a:ext cx="2194111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0655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763000" cy="6096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//BM of 4-to1 line mux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module mux4x1_bm (i0,i1,i2,i3,select,y);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input i0,i1,i2,i3;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input [1:0] select;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output y;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y;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always @(i0 or i1 or i2 or i3 or select)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case (select)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	2`b00: y =i0;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	2`b01: y =i1;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	2`b10: y =i2;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	2`b11: y =i3;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endcase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6227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686800" cy="5668963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display numerical output using Verilog system tasks.</a:t>
            </a:r>
          </a:p>
          <a:p>
            <a:pPr lvl="1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$display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display one time value of variables or strings with end of line return.</a:t>
            </a:r>
          </a:p>
          <a:p>
            <a:pPr lvl="1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$write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same $display but without going to next line.</a:t>
            </a:r>
          </a:p>
          <a:p>
            <a:pPr lvl="1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$monitor-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display variables whenever a value changes during simulation run.</a:t>
            </a:r>
          </a:p>
          <a:p>
            <a:pPr lvl="1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$time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displays simulation time</a:t>
            </a:r>
          </a:p>
          <a:p>
            <a:pPr lvl="1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$finish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terminates the simulation</a:t>
            </a:r>
          </a:p>
          <a:p>
            <a:pPr marL="457200" lvl="1" indent="0"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Syntax: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Task-name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(format-specification, argument list);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e.g.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$display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(%d %b %b, C,A,B);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       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$display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(“time = %0d A=%b B=%b”,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$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,A,B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1696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2117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//stimulus for mux2x1_df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testmx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TA,TB,TS;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wire Y;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mux2x1_df mx(TA,TB,TS,Y)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initial 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begin 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$monitor(“select=%b A=%b B=%b OUT=%b”, TS, TA, TB, Y);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TS =1; TA = 0; TB = 1;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#10 TA = 1; Tb = 0;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#10 TS = 0;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	#10 TA = 0; TB = 1;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end</a:t>
            </a:r>
          </a:p>
          <a:p>
            <a:pPr marL="0" indent="0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1320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"/>
            <a:ext cx="8229600" cy="819150"/>
          </a:xfrm>
        </p:spPr>
        <p:txBody>
          <a:bodyPr/>
          <a:lstStyle/>
          <a:p>
            <a:r>
              <a:rPr lang="en-US" dirty="0"/>
              <a:t>Descriptions of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Structural Description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this is directly equivalent to the schematic of a circuit and is specifically oriented to describing hardware structures using the components of a circuit.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Dataflow Description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this describes a circuit in terms of function rather than structure and is made up of concurrent assignment statements or their equivalent.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Behavioral Description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this refers to a description of a circuit at a level higher than the logic level. This type of description is also referred to as the register transfers level.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Hierarchical Description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–it represents the circuits using hierarchy have multiple modules, one for each element of the hierarchy.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199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//2-to4 line decoder : Dataflow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dec_2_to_4_df (E_n,A0,A1,D0_n,D1_n,D2_n,D3_n);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E_n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A0,A1;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D0_n, D1_n, D2_n, D3_n;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D0_n = ~(~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E_n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&amp;~A1&amp;~A0);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D1_n = ~(~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E_n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&amp;~A1&amp;A0);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D2_n = ~(~E_n&amp;A1&amp;~A0);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D3_n = ~(~E_n&amp;A1&amp;A0);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516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4-to1 Mux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684567" cy="4270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43780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477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//4-to-1 Mux: Structural 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mux_4_to_1_st_v (S,D,Y);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[1:0]S;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[3:0]D;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Y;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[1:0]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not_s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[0:3]N;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not g0(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not_s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[0], S[0],g1(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not_S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[1],S[1]));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and g1(N[0],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not_s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[0],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not_s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[1],D[0]),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        g2(N[1], S[0],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not_s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[1],D[0]),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        g3(N[2],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not_s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[0], S[1],D[0]),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        g4(N[3], S[0], S[1],D[0]),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  or  g5(Y, N[0], N[1], N[2], N[3]),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8818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6629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//4-to-1 Mux: DF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mux_4_to_1 (S,D,Y);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[1:0] S;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[3:0] D;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Y;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assign Y = (~S[1]&amp;~S[0]&amp;D[0])|(~S[1]&amp;S[0]&amp;D[1]) 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	|(S[1]&amp;~S[0]&amp;D[2])|(S[1]&amp;~S[0]&amp;D[3]);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//4-to-1 Mux: Conditional DF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mux_4_to_1(S,D,Y);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[1:0]S;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[3:0]D;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Y;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assign Y = (S==2’b00)?D[0] : (S==2’b01)?D[1] :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(S==2’b10)?D[2] : (S==2’b11)?D[3]:1’bx;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//assign Y=S[1]?(S[0]?D[3]:D[2])</a:t>
            </a:r>
            <a:r>
              <a:rPr lang="en-US" sz="2000" b="1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S[0]?D[1]:D[0]);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5641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81000"/>
            <a:ext cx="3810000" cy="64579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//4-bit Adder: DF/structural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module HA(x, y, s, c);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input x, y;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output s, c;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assign s=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x^y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assign c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x&amp;y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module FA(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x,y,z,s,c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x,y,z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output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s,c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	wire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hs,hc,tc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HA 	HA1(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x,y,hs,hc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),       	HA2(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hs,z,s,tc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assign c=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|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81400" y="228600"/>
            <a:ext cx="5532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adder_4_bit(B,A,C0,S,C4);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[3:0] B, A;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C0;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[3:0]S;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C4;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wire [3:1] C;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FA Bit0(B[0],A[0],C0,S[0],C[1]),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Bit1(B[1],A[1],C[1],S[1],C[2]),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Bit2(B[2],A[2],C[2],S[2],C[3]),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Bit3(B[3],A[3],C[3],S[3],C4);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//4-bit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adder:DF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adder_4bit(A,B&lt;C0,S,C4);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[3:0]A,B;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C0;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[3:0]S;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C4;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assign {C4,S} = A+B+C0;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49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110" y="53876"/>
            <a:ext cx="8229600" cy="1143000"/>
          </a:xfrm>
        </p:spPr>
        <p:txBody>
          <a:bodyPr/>
          <a:lstStyle/>
          <a:p>
            <a:r>
              <a:rPr lang="en-US" dirty="0"/>
              <a:t>Sequential System Design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0" y="1196876"/>
            <a:ext cx="8862980" cy="54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92700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r>
              <a:rPr lang="en-US" dirty="0"/>
              <a:t>An example of free-running clock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initial begin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clock = 1’b0;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repeat (30);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#10 clock = ~clock;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end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initial begin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clock = 1’b0;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#300 $finish;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end 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always #10 clock = ~clock</a:t>
            </a:r>
          </a:p>
          <a:p>
            <a:pPr marL="0" indent="0">
              <a:buNone/>
            </a:pPr>
            <a:r>
              <a:rPr lang="en-US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679947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Two kind of events:</a:t>
            </a:r>
          </a:p>
          <a:p>
            <a:pPr lvl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Level sensitive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(e.g.in combinational circuits and in latches)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always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@(A or B or Reset) will cause the 	execution of the procedural statements in the 	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always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block if changes occur in A or B or Reset.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Edge-triggered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(in synchronous sequential circuits)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always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@(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posedge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clock 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negedge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reset) will cause 	the execution of the procedural statements only if the 	clock goes through a positive transition or if the reset 	goes through a negative transition.</a:t>
            </a: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256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procedural assignment is an assignment within an initial or always statement.</a:t>
            </a:r>
          </a:p>
          <a:p>
            <a:r>
              <a:rPr lang="en-US" dirty="0"/>
              <a:t>Two types of procedural assignments</a:t>
            </a:r>
          </a:p>
          <a:p>
            <a:pPr lvl="1"/>
            <a:r>
              <a:rPr lang="en-US" dirty="0"/>
              <a:t>Blocking assignment</a:t>
            </a:r>
          </a:p>
          <a:p>
            <a:pPr lvl="2"/>
            <a:r>
              <a:rPr lang="en-US" dirty="0"/>
              <a:t>E.g. B = A;</a:t>
            </a:r>
          </a:p>
          <a:p>
            <a:pPr marL="1371600" lvl="3" indent="0">
              <a:buNone/>
            </a:pPr>
            <a:r>
              <a:rPr lang="en-US" dirty="0"/>
              <a:t>     C = B + 1;</a:t>
            </a:r>
          </a:p>
          <a:p>
            <a:pPr lvl="1"/>
            <a:r>
              <a:rPr lang="en-US" dirty="0"/>
              <a:t>Non-blocking assignment</a:t>
            </a:r>
          </a:p>
          <a:p>
            <a:pPr lvl="2"/>
            <a:r>
              <a:rPr lang="en-US" dirty="0"/>
              <a:t>E.g. B &lt;= A;</a:t>
            </a:r>
          </a:p>
          <a:p>
            <a:pPr marL="1371600" lvl="3" indent="0">
              <a:buNone/>
            </a:pPr>
            <a:r>
              <a:rPr lang="en-US" dirty="0"/>
              <a:t>     C &lt;= B + 1;</a:t>
            </a:r>
          </a:p>
        </p:txBody>
      </p:sp>
    </p:spTree>
    <p:extLst>
      <p:ext uri="{BB962C8B-B14F-4D97-AF65-F5344CB8AC3E}">
        <p14:creationId xmlns:p14="http://schemas.microsoft.com/office/powerpoint/2010/main" val="4290924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/>
              <a:t>Flip-Flops and Latches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7600"/>
            <a:ext cx="8229600" cy="32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D_latch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(Q, D, control);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Q;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D, control;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Q;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always @(control or D)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if(control) Q = D;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914400"/>
            <a:ext cx="9067801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79231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9050"/>
            <a:ext cx="4191000" cy="3105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//D flip-flop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D_FF(Q,D,CLK);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Q;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D,CLK;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Q;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always@(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CLK)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Q = D;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4600" y="3505200"/>
            <a:ext cx="649408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//D flip-flop with asynchronous reset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DFF (Q,D,CLK,RST);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Q;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D,CLK,RST;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Q;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always@(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CLK or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negedge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RST)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if(~RST)Q = 1’b0;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else Q = D;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961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150" y="0"/>
            <a:ext cx="8229600" cy="868362"/>
          </a:xfrm>
        </p:spPr>
        <p:txBody>
          <a:bodyPr/>
          <a:lstStyle/>
          <a:p>
            <a:r>
              <a:rPr lang="en-US" dirty="0"/>
              <a:t>D-FF with reset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000" y="817247"/>
            <a:ext cx="5635800" cy="5964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23259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&amp; J-K FF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6006"/>
            <a:ext cx="9105900" cy="2405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42639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051"/>
            <a:ext cx="5334000" cy="386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//T FF from D FF and gates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TFF(Q,T,CLK,RST);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Q;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T,CLK,RST;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DT;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DT = Q^T;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DFF TF1(Q,DT,CLK,RST);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95800" y="3032640"/>
            <a:ext cx="433965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//JK FF from D FF and gates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JKFF(Q,J,K,CLK,RST);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Q;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J,K,CLK,RST;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wire JK;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assign JK = (J&amp;~Q)|(~K&amp;Q);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DFF JK1(Q,JK,CLK,RST);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0369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//Functional description of JK FF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module JK_FF(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J,K,CLK,Q,Qnot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output Q,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Qnot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input J,K,CLK;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Q;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assign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Qnot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= ~Q;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always @(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CLK)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case({J,K})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	2’b00: Q = Q;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	2’b01: Q = 1’b0;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	2’b10: Q = 1’b1;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	2’b11: Q = ~Q;</a:t>
            </a:r>
          </a:p>
          <a:p>
            <a:pPr marL="0" indent="0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endcase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2734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//positive edge triggered DFF with reset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DFF(CLK,RST,D,Q);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CLK,RST,D;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Q;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Q;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always @(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CLK or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RST)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if (RST) Q&lt;=0;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else Q&lt;=D;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9084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/>
              <a:t>Example Sequential Circuits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34" y="990600"/>
            <a:ext cx="7869366" cy="5678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3410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" y="19050"/>
            <a:ext cx="5486400" cy="5973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//structural description of sequential </a:t>
            </a:r>
            <a:r>
              <a:rPr lang="en-US" dirty="0" err="1"/>
              <a:t>ckt</a:t>
            </a:r>
            <a:endParaRPr lang="en-US" dirty="0"/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Tckt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x,y,A,B,CLK,RST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x,CLK,RST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y,A,B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wire TA,TB;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TB = x,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	   TA = x &amp; B;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assign y = A &amp; B;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T_FF BF (B,TB,CLK,RST);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T_FF AF(A,TA,CLK,RST);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1093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229600" cy="5745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//stimulus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test_Tckt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x,CLK,RST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wire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y,A,B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Tcircuit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TC(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x,y,A,B,CLK,RST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initial begin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RST = 0; CLK = 0;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#5 RST = 1;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repeat (16)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#5 CLK = ~CLK;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end 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initial begin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x = 0; #15 x = 1;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repeat (8)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#10 x = ~x;</a:t>
            </a: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end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19650" y="2438400"/>
            <a:ext cx="42291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//T FF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module T_FF(Q,T,CLK,RST);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output Q;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input T,CLK,RST;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Q;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always @(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CLK or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negedge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RST)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if(~RST) Q=1’b0;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	else Q=Q^T;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898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/>
              <a:t>Sequential Circuit 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2391"/>
            <a:ext cx="8997899" cy="511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337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47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//state diagram for the circuit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state_mdl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CLK, RST);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input x, CLK,RST;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output y;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y;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[1:0]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Prstate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parameter S0=2’b00, S1=2’b01, S2=2’b10, 	S3=2’b11;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always@(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posedge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CLK or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negedge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RST)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if(~RST)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Prstate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S0;</a:t>
            </a:r>
          </a:p>
          <a:p>
            <a:pPr marL="0" indent="0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else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Prstate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05824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" y="0"/>
            <a:ext cx="8229600" cy="6705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always @(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Prstate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or x)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case 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Prstate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S0: if (x)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S1;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S1: if (x)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S3;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else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S0;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s2: if (~x)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S0;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S3: if (x)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S2;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	else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Nxtstate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= S0;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endcase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always@(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Prstate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or x)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case (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Prstate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S0:y=0;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S1:if(x) y = 1’b0; else y=1’b1;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S2:if(x) y = 1’b0; else y=1’b1;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	S3:if(x) y = 1’b0; else y=1’b1;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endcase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endmodule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6387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ChangeArrowheads="1"/>
          </p:cNvSpPr>
          <p:nvPr/>
        </p:nvSpPr>
        <p:spPr bwMode="auto">
          <a:xfrm>
            <a:off x="1127342" y="1955846"/>
            <a:ext cx="7139836" cy="4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module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xor_gate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(out, a, b);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input     a, b;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output    out;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wire    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abar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bbar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, t1, t2;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inverter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invA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(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abar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, a);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inverter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invB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(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bbar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, b);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and_gate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and1 (t1, a,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bbar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and_gate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and2 (t2, b,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abar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);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or_gate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or1 (out, t1, t2);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endParaRPr lang="en-US" sz="21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Model</a:t>
            </a:r>
          </a:p>
        </p:txBody>
      </p:sp>
    </p:spTree>
    <p:extLst>
      <p:ext uri="{BB962C8B-B14F-4D97-AF65-F5344CB8AC3E}">
        <p14:creationId xmlns:p14="http://schemas.microsoft.com/office/powerpoint/2010/main" val="1839207754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751561" y="2557645"/>
            <a:ext cx="7628351" cy="294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module xor_gate (out, a, b);</a:t>
            </a: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 input         a, b;</a:t>
            </a: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 output        out;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 reg           out;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 assign </a:t>
            </a:r>
            <a:r>
              <a:rPr lang="en-US" sz="2100" b="1">
                <a:latin typeface="Courier New" pitchFamily="49" charset="0"/>
              </a:rPr>
              <a:t>#6</a:t>
            </a: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out = a ^ b;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endParaRPr lang="en-US" sz="2100" b="1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endParaRPr lang="en-US" sz="2100" b="1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5770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behavioral model</a:t>
            </a:r>
          </a:p>
        </p:txBody>
      </p:sp>
      <p:sp>
        <p:nvSpPr>
          <p:cNvPr id="15770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Continuous assignment</a:t>
            </a:r>
          </a:p>
        </p:txBody>
      </p:sp>
      <p:sp>
        <p:nvSpPr>
          <p:cNvPr id="157713" name="AutoShape 17"/>
          <p:cNvSpPr>
            <a:spLocks/>
          </p:cNvSpPr>
          <p:nvPr/>
        </p:nvSpPr>
        <p:spPr bwMode="auto">
          <a:xfrm>
            <a:off x="4584527" y="4988350"/>
            <a:ext cx="2990589" cy="586127"/>
          </a:xfrm>
          <a:prstGeom prst="borderCallout1">
            <a:avLst>
              <a:gd name="adj1" fmla="val 19250"/>
              <a:gd name="adj2" fmla="val -2514"/>
              <a:gd name="adj3" fmla="val -94116"/>
              <a:gd name="adj4" fmla="val -72463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delay from input change</a:t>
            </a:r>
            <a:br>
              <a:rPr lang="en-US" sz="16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to output change</a:t>
            </a:r>
            <a:endParaRPr lang="en-US" sz="1600">
              <a:solidFill>
                <a:srgbClr val="FF3300"/>
              </a:solidFill>
              <a:latin typeface="Comic Sans MS" pitchFamily="66" charset="0"/>
            </a:endParaRPr>
          </a:p>
        </p:txBody>
      </p:sp>
      <p:sp>
        <p:nvSpPr>
          <p:cNvPr id="157714" name="AutoShape 18"/>
          <p:cNvSpPr>
            <a:spLocks/>
          </p:cNvSpPr>
          <p:nvPr/>
        </p:nvSpPr>
        <p:spPr bwMode="auto">
          <a:xfrm>
            <a:off x="6162806" y="3234669"/>
            <a:ext cx="2404997" cy="916804"/>
          </a:xfrm>
          <a:prstGeom prst="borderCallout1">
            <a:avLst>
              <a:gd name="adj1" fmla="val 12306"/>
              <a:gd name="adj2" fmla="val -3125"/>
              <a:gd name="adj3" fmla="val 48546"/>
              <a:gd name="adj4" fmla="val -8964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simulation register - keeps track of</a:t>
            </a:r>
            <a:br>
              <a:rPr lang="en-US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value of signal</a:t>
            </a:r>
          </a:p>
        </p:txBody>
      </p:sp>
    </p:spTree>
    <p:extLst>
      <p:ext uri="{BB962C8B-B14F-4D97-AF65-F5344CB8AC3E}">
        <p14:creationId xmlns:p14="http://schemas.microsoft.com/office/powerpoint/2010/main" val="94171506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676405" y="2181521"/>
            <a:ext cx="8467595" cy="3886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module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xor_gate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(out, a, b);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input         a, b;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output        out;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reg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out;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always @(a or b) begin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#6 out = a ^ b;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end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endParaRPr lang="en-US" sz="21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endmodule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endParaRPr lang="en-US" sz="21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975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Simple Behavioral Model</a:t>
            </a:r>
          </a:p>
        </p:txBody>
      </p:sp>
      <p:sp>
        <p:nvSpPr>
          <p:cNvPr id="159754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always block</a:t>
            </a:r>
          </a:p>
        </p:txBody>
      </p:sp>
      <p:sp>
        <p:nvSpPr>
          <p:cNvPr id="159756" name="AutoShape 12"/>
          <p:cNvSpPr>
            <a:spLocks/>
          </p:cNvSpPr>
          <p:nvPr/>
        </p:nvSpPr>
        <p:spPr bwMode="auto">
          <a:xfrm>
            <a:off x="4800601" y="4588717"/>
            <a:ext cx="4049038" cy="645680"/>
          </a:xfrm>
          <a:prstGeom prst="borderCallout1">
            <a:avLst>
              <a:gd name="adj1" fmla="val 17477"/>
              <a:gd name="adj2" fmla="val -1856"/>
              <a:gd name="adj3" fmla="val -84708"/>
              <a:gd name="adj4" fmla="val -3186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specifies when block is executed </a:t>
            </a:r>
            <a:br>
              <a:rPr 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I.e., triggered by which signals</a:t>
            </a:r>
          </a:p>
        </p:txBody>
      </p:sp>
    </p:spTree>
    <p:extLst>
      <p:ext uri="{BB962C8B-B14F-4D97-AF65-F5344CB8AC3E}">
        <p14:creationId xmlns:p14="http://schemas.microsoft.com/office/powerpoint/2010/main" val="689907208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ChangeArrowheads="1"/>
          </p:cNvSpPr>
          <p:nvPr/>
        </p:nvSpPr>
        <p:spPr bwMode="auto">
          <a:xfrm>
            <a:off x="612135" y="1524000"/>
            <a:ext cx="8161751" cy="5140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module stimulus (x, y);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output        x, y;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[1:0]   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initial begin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= 0;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  repeat (4) begin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    #10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=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+ 1;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    $display ("@ time=%d, x=%b, y=%b,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=%b",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      $time, x, y,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); end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  #10 $finish;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end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assign x =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[1];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  assign y = </a:t>
            </a: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cnt</a:t>
            </a:r>
            <a: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  <a:t>[0];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 dirty="0" err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2100" b="1" dirty="0">
                <a:solidFill>
                  <a:srgbClr val="000000"/>
                </a:solidFill>
                <a:latin typeface="Courier New" pitchFamily="49" charset="0"/>
              </a:rPr>
            </a:br>
            <a:endParaRPr lang="en-US" sz="21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1799" name="Rectangle 7"/>
          <p:cNvSpPr>
            <a:spLocks noChangeArrowheads="1"/>
          </p:cNvSpPr>
          <p:nvPr/>
        </p:nvSpPr>
        <p:spPr bwMode="auto">
          <a:xfrm>
            <a:off x="5611660" y="2419733"/>
            <a:ext cx="2154477" cy="43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endParaRPr lang="en-US">
              <a:solidFill>
                <a:srgbClr val="000000"/>
              </a:solidFill>
              <a:latin typeface="Comic Sans MS" pitchFamily="66" charset="0"/>
            </a:endParaRPr>
          </a:p>
        </p:txBody>
      </p:sp>
      <p:sp>
        <p:nvSpPr>
          <p:cNvPr id="161807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Driving a Simulation</a:t>
            </a:r>
          </a:p>
        </p:txBody>
      </p:sp>
      <p:sp>
        <p:nvSpPr>
          <p:cNvPr id="161809" name="AutoShape 17"/>
          <p:cNvSpPr>
            <a:spLocks/>
          </p:cNvSpPr>
          <p:nvPr/>
        </p:nvSpPr>
        <p:spPr bwMode="auto">
          <a:xfrm>
            <a:off x="5411244" y="1756815"/>
            <a:ext cx="1523479" cy="416871"/>
          </a:xfrm>
          <a:prstGeom prst="borderCallout1">
            <a:avLst>
              <a:gd name="adj1" fmla="val 27069"/>
              <a:gd name="adj2" fmla="val -4935"/>
              <a:gd name="adj3" fmla="val 129324"/>
              <a:gd name="adj4" fmla="val -10144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pPr>
              <a:lnSpc>
                <a:spcPts val="2467"/>
              </a:lnSpc>
            </a:pP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2-bit vector</a:t>
            </a:r>
            <a:endParaRPr lang="en-US">
              <a:latin typeface="Comic Sans MS" pitchFamily="66" charset="0"/>
            </a:endParaRPr>
          </a:p>
        </p:txBody>
      </p:sp>
      <p:sp>
        <p:nvSpPr>
          <p:cNvPr id="161810" name="AutoShape 18"/>
          <p:cNvSpPr>
            <a:spLocks/>
          </p:cNvSpPr>
          <p:nvPr/>
        </p:nvSpPr>
        <p:spPr bwMode="auto">
          <a:xfrm>
            <a:off x="5411244" y="2632870"/>
            <a:ext cx="2855934" cy="916804"/>
          </a:xfrm>
          <a:prstGeom prst="borderCallout1">
            <a:avLst>
              <a:gd name="adj1" fmla="val 12306"/>
              <a:gd name="adj2" fmla="val -2630"/>
              <a:gd name="adj3" fmla="val 32819"/>
              <a:gd name="adj4" fmla="val -81361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initial block executed </a:t>
            </a:r>
            <a:br>
              <a:rPr lang="en-US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only once at start</a:t>
            </a:r>
            <a:br>
              <a:rPr lang="en-US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of simulation</a:t>
            </a:r>
          </a:p>
        </p:txBody>
      </p:sp>
      <p:sp>
        <p:nvSpPr>
          <p:cNvPr id="161811" name="AutoShape 19"/>
          <p:cNvSpPr>
            <a:spLocks/>
          </p:cNvSpPr>
          <p:nvPr/>
        </p:nvSpPr>
        <p:spPr bwMode="auto">
          <a:xfrm>
            <a:off x="5486401" y="5641865"/>
            <a:ext cx="2157608" cy="645680"/>
          </a:xfrm>
          <a:prstGeom prst="borderCallout1">
            <a:avLst>
              <a:gd name="adj1" fmla="val 17477"/>
              <a:gd name="adj2" fmla="val -3481"/>
              <a:gd name="adj3" fmla="val -128884"/>
              <a:gd name="adj4" fmla="val -10319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mic Sans MS" pitchFamily="66" charset="0"/>
              </a:rPr>
              <a:t>directive to stop simulation</a:t>
            </a:r>
          </a:p>
        </p:txBody>
      </p:sp>
      <p:sp>
        <p:nvSpPr>
          <p:cNvPr id="161815" name="AutoShape 23"/>
          <p:cNvSpPr>
            <a:spLocks/>
          </p:cNvSpPr>
          <p:nvPr/>
        </p:nvSpPr>
        <p:spPr bwMode="auto">
          <a:xfrm>
            <a:off x="6162806" y="4767376"/>
            <a:ext cx="2157608" cy="374558"/>
          </a:xfrm>
          <a:prstGeom prst="borderCallout1">
            <a:avLst>
              <a:gd name="adj1" fmla="val 30125"/>
              <a:gd name="adj2" fmla="val -3481"/>
              <a:gd name="adj3" fmla="val -29287"/>
              <a:gd name="adj4" fmla="val -7576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mic Sans MS" pitchFamily="66" charset="0"/>
              </a:rPr>
              <a:t>print to a console</a:t>
            </a:r>
          </a:p>
        </p:txBody>
      </p:sp>
    </p:spTree>
    <p:extLst>
      <p:ext uri="{BB962C8B-B14F-4D97-AF65-F5344CB8AC3E}">
        <p14:creationId xmlns:p14="http://schemas.microsoft.com/office/powerpoint/2010/main" val="3287450632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0" name="Rectangle 103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Simulation </a:t>
            </a:r>
          </a:p>
        </p:txBody>
      </p:sp>
      <p:pic>
        <p:nvPicPr>
          <p:cNvPr id="163856" name="Picture 10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904" y="2858545"/>
            <a:ext cx="5336088" cy="139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57" name="Rectangle 104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Instantiate stimulus component and device to test in a schematic</a:t>
            </a:r>
          </a:p>
        </p:txBody>
      </p:sp>
      <p:sp>
        <p:nvSpPr>
          <p:cNvPr id="163858" name="Text Box 1042"/>
          <p:cNvSpPr txBox="1">
            <a:spLocks noChangeArrowheads="1"/>
          </p:cNvSpPr>
          <p:nvPr/>
        </p:nvSpPr>
        <p:spPr bwMode="auto">
          <a:xfrm>
            <a:off x="4291731" y="3173549"/>
            <a:ext cx="296006" cy="368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>
            <a:spAutoFit/>
          </a:bodyPr>
          <a:lstStyle/>
          <a:p>
            <a:r>
              <a:rPr lang="en-US">
                <a:latin typeface="Tahoma" pitchFamily="34" charset="0"/>
              </a:rPr>
              <a:t>x</a:t>
            </a:r>
          </a:p>
        </p:txBody>
      </p:sp>
      <p:sp>
        <p:nvSpPr>
          <p:cNvPr id="163859" name="Text Box 1043"/>
          <p:cNvSpPr txBox="1">
            <a:spLocks noChangeArrowheads="1"/>
          </p:cNvSpPr>
          <p:nvPr/>
        </p:nvSpPr>
        <p:spPr bwMode="auto">
          <a:xfrm>
            <a:off x="4290164" y="3460344"/>
            <a:ext cx="297608" cy="368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>
            <a:spAutoFit/>
          </a:bodyPr>
          <a:lstStyle/>
          <a:p>
            <a:r>
              <a:rPr lang="en-US">
                <a:latin typeface="Tahoma" pitchFamily="34" charset="0"/>
              </a:rPr>
              <a:t>y</a:t>
            </a:r>
          </a:p>
        </p:txBody>
      </p:sp>
      <p:sp>
        <p:nvSpPr>
          <p:cNvPr id="163860" name="Text Box 1044"/>
          <p:cNvSpPr txBox="1">
            <a:spLocks noChangeArrowheads="1"/>
          </p:cNvSpPr>
          <p:nvPr/>
        </p:nvSpPr>
        <p:spPr bwMode="auto">
          <a:xfrm>
            <a:off x="4960307" y="3008995"/>
            <a:ext cx="304020" cy="368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>
            <a:spAutoFit/>
          </a:bodyPr>
          <a:lstStyle/>
          <a:p>
            <a:r>
              <a:rPr lang="en-US">
                <a:latin typeface="Tahoma" pitchFamily="34" charset="0"/>
              </a:rPr>
              <a:t>a</a:t>
            </a:r>
          </a:p>
        </p:txBody>
      </p:sp>
      <p:sp>
        <p:nvSpPr>
          <p:cNvPr id="163861" name="Text Box 1045"/>
          <p:cNvSpPr txBox="1">
            <a:spLocks noChangeArrowheads="1"/>
          </p:cNvSpPr>
          <p:nvPr/>
        </p:nvSpPr>
        <p:spPr bwMode="auto">
          <a:xfrm>
            <a:off x="4960307" y="3725198"/>
            <a:ext cx="306888" cy="368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>
                <a:latin typeface="Tahoma" pitchFamily="34" charset="0"/>
              </a:rPr>
              <a:t>b</a:t>
            </a:r>
          </a:p>
        </p:txBody>
      </p:sp>
      <p:sp>
        <p:nvSpPr>
          <p:cNvPr id="163862" name="Rectangle 1046"/>
          <p:cNvSpPr>
            <a:spLocks noChangeArrowheads="1"/>
          </p:cNvSpPr>
          <p:nvPr/>
        </p:nvSpPr>
        <p:spPr bwMode="auto">
          <a:xfrm>
            <a:off x="4960307" y="3441537"/>
            <a:ext cx="300625" cy="20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163863" name="Text Box 1047"/>
          <p:cNvSpPr txBox="1">
            <a:spLocks noChangeArrowheads="1"/>
          </p:cNvSpPr>
          <p:nvPr/>
        </p:nvSpPr>
        <p:spPr bwMode="auto">
          <a:xfrm>
            <a:off x="6732740" y="3085787"/>
            <a:ext cx="306888" cy="3680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215" tIns="45107" rIns="90215" bIns="45107">
            <a:spAutoFit/>
          </a:bodyPr>
          <a:lstStyle/>
          <a:p>
            <a:r>
              <a:rPr lang="en-US">
                <a:latin typeface="Tahoma" pitchFamily="34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666861015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1026"/>
          <p:cNvSpPr>
            <a:spLocks noChangeArrowheads="1"/>
          </p:cNvSpPr>
          <p:nvPr/>
        </p:nvSpPr>
        <p:spPr bwMode="auto">
          <a:xfrm>
            <a:off x="526093" y="2031071"/>
            <a:ext cx="7966553" cy="3573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module Compare1 (A, B, Equal, Alarger, Blarger);</a:t>
            </a: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 input     A, B;</a:t>
            </a: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 output    Equal, Alarger, Blarger;</a:t>
            </a: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100" b="1">
                <a:latin typeface="Courier New" pitchFamily="49" charset="0"/>
              </a:rPr>
              <a:t>assign #5 Equal = (A &amp; B) | (~A &amp; ~B);</a:t>
            </a:r>
            <a:br>
              <a:rPr lang="en-US" sz="2100" b="1">
                <a:latin typeface="Courier New" pitchFamily="49" charset="0"/>
              </a:rPr>
            </a:br>
            <a:r>
              <a:rPr lang="en-US" sz="2100" b="1">
                <a:latin typeface="Courier New" pitchFamily="49" charset="0"/>
              </a:rPr>
              <a:t>  assign #3 Alarger = (A &amp; ~B);</a:t>
            </a:r>
            <a:br>
              <a:rPr lang="en-US" sz="2100" b="1">
                <a:latin typeface="Courier New" pitchFamily="49" charset="0"/>
              </a:rPr>
            </a:br>
            <a:r>
              <a:rPr lang="en-US" sz="2100" b="1">
                <a:latin typeface="Courier New" pitchFamily="49" charset="0"/>
              </a:rPr>
              <a:t>  assign #3 Blarger</a:t>
            </a: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= (~A &amp; B);</a:t>
            </a:r>
          </a:p>
          <a:p>
            <a:pPr>
              <a:lnSpc>
                <a:spcPts val="2467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2100" b="1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2100" b="1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</p:txBody>
      </p:sp>
      <p:sp>
        <p:nvSpPr>
          <p:cNvPr id="167939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Comparator Example</a:t>
            </a:r>
          </a:p>
        </p:txBody>
      </p:sp>
    </p:spTree>
    <p:extLst>
      <p:ext uri="{BB962C8B-B14F-4D97-AF65-F5344CB8AC3E}">
        <p14:creationId xmlns:p14="http://schemas.microsoft.com/office/powerpoint/2010/main" val="1280670123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428346" y="1504950"/>
            <a:ext cx="8342334" cy="512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module life (n0, n1, n2, n3, n4, n5, n6, n7, self, out);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input     n0, n1, n2, n3, n4, n5, n6, n7, self;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output    out;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     out;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[7:0] neighbors;</a:t>
            </a:r>
          </a:p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[3:0] count;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[3:0]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assign neighbors = {n7, n6, n5, n4, n3, n2, n1, n0};</a:t>
            </a:r>
          </a:p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always @(neighbors or self) begin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  count = 0;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  for (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= 0;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&lt; 8;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= i+1) count = count + neighbors[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i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];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  out = (count == 3);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  out = out | ((self == 1) &amp; (count == 2));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end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b="1" dirty="0">
                <a:solidFill>
                  <a:srgbClr val="000000"/>
                </a:solidFill>
                <a:latin typeface="Courier New" pitchFamily="49" charset="0"/>
              </a:rPr>
            </a:b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7204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Complex Behavioral Model</a:t>
            </a:r>
          </a:p>
        </p:txBody>
      </p:sp>
    </p:spTree>
    <p:extLst>
      <p:ext uri="{BB962C8B-B14F-4D97-AF65-F5344CB8AC3E}">
        <p14:creationId xmlns:p14="http://schemas.microsoft.com/office/powerpoint/2010/main" val="3591830883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Hardware Description Languages vs. Programming Languages</a:t>
            </a:r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506065"/>
            <a:ext cx="8179496" cy="445707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5000"/>
              </a:lnSpc>
            </a:pPr>
            <a:r>
              <a:rPr lang="en-US" dirty="0"/>
              <a:t>Program Structure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Instantiation of multiple components of the same type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Specify interconnections between modules via schematic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Hierarchy of modules </a:t>
            </a:r>
          </a:p>
          <a:p>
            <a:pPr>
              <a:lnSpc>
                <a:spcPct val="85000"/>
              </a:lnSpc>
            </a:pPr>
            <a:r>
              <a:rPr lang="en-US" dirty="0"/>
              <a:t>Assignment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Continuous assignment (logic always computes)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Propagation delay (computation takes time)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Timing of signals is important (when does computation have its effect)</a:t>
            </a:r>
          </a:p>
          <a:p>
            <a:pPr>
              <a:lnSpc>
                <a:spcPct val="85000"/>
              </a:lnSpc>
            </a:pPr>
            <a:r>
              <a:rPr lang="en-US" dirty="0"/>
              <a:t>Data structures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Size explicitly spelled out - no dynamic structures 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No pointers</a:t>
            </a:r>
          </a:p>
          <a:p>
            <a:pPr>
              <a:lnSpc>
                <a:spcPct val="85000"/>
              </a:lnSpc>
            </a:pPr>
            <a:r>
              <a:rPr lang="en-US" dirty="0"/>
              <a:t>Parallelism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Hardware is naturally parallel (must support multiple threads)</a:t>
            </a:r>
          </a:p>
          <a:p>
            <a:pPr lvl="1">
              <a:lnSpc>
                <a:spcPct val="85000"/>
              </a:lnSpc>
            </a:pPr>
            <a:r>
              <a:rPr lang="en-US" dirty="0"/>
              <a:t>Assignments can occur in parallel (not just sequentially)</a:t>
            </a:r>
          </a:p>
        </p:txBody>
      </p:sp>
    </p:spTree>
    <p:extLst>
      <p:ext uri="{BB962C8B-B14F-4D97-AF65-F5344CB8AC3E}">
        <p14:creationId xmlns:p14="http://schemas.microsoft.com/office/powerpoint/2010/main" val="4177218545"/>
      </p:ext>
    </p:extLst>
  </p:cSld>
  <p:clrMapOvr>
    <a:masterClrMapping/>
  </p:clrMapOvr>
  <p:transition advTm="2000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Hardware Description Languages and Combinational Logic</a:t>
            </a:r>
          </a:p>
        </p:txBody>
      </p:sp>
      <p:sp>
        <p:nvSpPr>
          <p:cNvPr id="1229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600096"/>
            <a:ext cx="8686800" cy="4457073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Modules: specification of inputs, outputs, bidirectional, and internal signals</a:t>
            </a:r>
          </a:p>
          <a:p>
            <a:r>
              <a:rPr lang="en-US"/>
              <a:t>Continuous assignment: a gate's output is a function of its inputs at all times (doesn't need to wait to be "called")</a:t>
            </a:r>
          </a:p>
          <a:p>
            <a:r>
              <a:rPr lang="en-US"/>
              <a:t>Propagation delay: concept of time and delay in input affecting gate output</a:t>
            </a:r>
          </a:p>
          <a:p>
            <a:r>
              <a:rPr lang="en-US"/>
              <a:t>Composition: connecting modules together with wires</a:t>
            </a:r>
          </a:p>
          <a:p>
            <a:r>
              <a:rPr lang="en-US"/>
              <a:t>Hierarchy: modules encapsulate functional blocks</a:t>
            </a:r>
          </a:p>
          <a:p>
            <a:r>
              <a:rPr lang="en-US"/>
              <a:t>Specification of don't care conditions (accomplished by setting output to “x”)</a:t>
            </a:r>
          </a:p>
        </p:txBody>
      </p:sp>
    </p:spTree>
    <p:extLst>
      <p:ext uri="{BB962C8B-B14F-4D97-AF65-F5344CB8AC3E}">
        <p14:creationId xmlns:p14="http://schemas.microsoft.com/office/powerpoint/2010/main" val="628463519"/>
      </p:ext>
    </p:extLst>
  </p:cSld>
  <p:clrMapOvr>
    <a:masterClrMapping/>
  </p:clrMapOvr>
  <p:transition advTm="2000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5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Hardware Description Languages and Sequential Logic</a:t>
            </a:r>
          </a:p>
        </p:txBody>
      </p:sp>
      <p:sp>
        <p:nvSpPr>
          <p:cNvPr id="1434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Flip-Flops</a:t>
            </a:r>
          </a:p>
          <a:p>
            <a:pPr lvl="1"/>
            <a:r>
              <a:rPr lang="en-US"/>
              <a:t>Representation of clocks - timing of state changes</a:t>
            </a:r>
          </a:p>
          <a:p>
            <a:pPr lvl="1"/>
            <a:r>
              <a:rPr lang="en-US"/>
              <a:t>Asynchronous vs. synchronous</a:t>
            </a:r>
          </a:p>
          <a:p>
            <a:r>
              <a:rPr lang="en-US"/>
              <a:t>FSMs</a:t>
            </a:r>
          </a:p>
          <a:p>
            <a:pPr lvl="1"/>
            <a:r>
              <a:rPr lang="en-US"/>
              <a:t>Structural view (FFs separate from combinational logic)</a:t>
            </a:r>
          </a:p>
          <a:p>
            <a:pPr lvl="1"/>
            <a:r>
              <a:rPr lang="en-US"/>
              <a:t>Behavioral view (synthesis of sequencers)</a:t>
            </a:r>
          </a:p>
          <a:p>
            <a:r>
              <a:rPr lang="en-US"/>
              <a:t>Data-paths = ALUs + registers</a:t>
            </a:r>
          </a:p>
          <a:p>
            <a:pPr lvl="1"/>
            <a:r>
              <a:rPr lang="en-US"/>
              <a:t>Use of arithmetic/logical operators</a:t>
            </a:r>
          </a:p>
          <a:p>
            <a:pPr lvl="1"/>
            <a:r>
              <a:rPr lang="en-US"/>
              <a:t>Control of storage elements</a:t>
            </a:r>
          </a:p>
          <a:p>
            <a:r>
              <a:rPr lang="en-US"/>
              <a:t>Parallelism</a:t>
            </a:r>
          </a:p>
          <a:p>
            <a:pPr lvl="1"/>
            <a:r>
              <a:rPr lang="en-US"/>
              <a:t>Multiple state machines running in parallel</a:t>
            </a:r>
          </a:p>
          <a:p>
            <a:r>
              <a:rPr lang="en-US"/>
              <a:t>Sequential don't cares</a:t>
            </a:r>
          </a:p>
        </p:txBody>
      </p:sp>
    </p:spTree>
    <p:extLst>
      <p:ext uri="{BB962C8B-B14F-4D97-AF65-F5344CB8AC3E}">
        <p14:creationId xmlns:p14="http://schemas.microsoft.com/office/powerpoint/2010/main" val="1901916682"/>
      </p:ext>
    </p:extLst>
  </p:cSld>
  <p:clrMapOvr>
    <a:masterClrMapping/>
  </p:clrMapOvr>
  <p:transition advTm="2000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2705622" y="2632870"/>
            <a:ext cx="3832964" cy="305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171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</a:rPr>
              <a:t>module dff (clk, d, q);</a:t>
            </a:r>
          </a:p>
          <a:p>
            <a:pPr>
              <a:lnSpc>
                <a:spcPts val="2171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</a:rPr>
              <a:t>	input  clk, d;</a:t>
            </a:r>
            <a:br>
              <a:rPr lang="en-US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>
                <a:solidFill>
                  <a:srgbClr val="000000"/>
                </a:solidFill>
                <a:latin typeface="Courier New" pitchFamily="49" charset="0"/>
              </a:rPr>
              <a:t>	output q;</a:t>
            </a:r>
            <a:br>
              <a:rPr lang="en-US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>
                <a:solidFill>
                  <a:srgbClr val="000000"/>
                </a:solidFill>
                <a:latin typeface="Courier New" pitchFamily="49" charset="0"/>
              </a:rPr>
              <a:t>	reg    q;</a:t>
            </a:r>
          </a:p>
          <a:p>
            <a:pPr>
              <a:lnSpc>
                <a:spcPts val="2171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</a:rPr>
              <a:t>	always @(posedge clk)</a:t>
            </a:r>
            <a:br>
              <a:rPr lang="en-US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>
                <a:solidFill>
                  <a:srgbClr val="000000"/>
                </a:solidFill>
                <a:latin typeface="Courier New" pitchFamily="49" charset="0"/>
              </a:rPr>
              <a:t>		q = d;</a:t>
            </a:r>
          </a:p>
          <a:p>
            <a:pPr>
              <a:lnSpc>
                <a:spcPts val="2171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>
                <a:solidFill>
                  <a:srgbClr val="000000"/>
                </a:solidFill>
                <a:latin typeface="Courier New" pitchFamily="49" charset="0"/>
              </a:rPr>
              <a:t>endmodule</a:t>
            </a:r>
          </a:p>
        </p:txBody>
      </p:sp>
      <p:sp>
        <p:nvSpPr>
          <p:cNvPr id="3277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Flip-flop in Verilog</a:t>
            </a:r>
          </a:p>
        </p:txBody>
      </p:sp>
      <p:sp>
        <p:nvSpPr>
          <p:cNvPr id="32779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600096"/>
            <a:ext cx="8442542" cy="4457073"/>
          </a:xfrm>
        </p:spPr>
        <p:txBody>
          <a:bodyPr/>
          <a:lstStyle/>
          <a:p>
            <a:r>
              <a:rPr lang="en-US"/>
              <a:t>Use always block's sensitivity list to wait for clock edge</a:t>
            </a:r>
          </a:p>
        </p:txBody>
      </p:sp>
    </p:spTree>
    <p:extLst>
      <p:ext uri="{BB962C8B-B14F-4D97-AF65-F5344CB8AC3E}">
        <p14:creationId xmlns:p14="http://schemas.microsoft.com/office/powerpoint/2010/main" val="1623355202"/>
      </p:ext>
    </p:extLst>
  </p:cSld>
  <p:clrMapOvr>
    <a:masterClrMapping/>
  </p:clrMapOvr>
  <p:transition advTm="2000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676405" y="3309894"/>
            <a:ext cx="4346532" cy="2695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module dff (clk, s, r, d, q);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input  clk, s, r, d;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output q;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reg    q;</a:t>
            </a:r>
          </a:p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always @(posedge clk)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if (reset)    q = 1'b0;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else if (set) q = 1'b1;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else          q = d;</a:t>
            </a:r>
          </a:p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endmodule</a:t>
            </a: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4797468" y="3309894"/>
            <a:ext cx="4346532" cy="3121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module dff (clk, s, r, d, q);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input  clk, s, r, d;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output q;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reg    q;</a:t>
            </a:r>
          </a:p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always @(posedge reset)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q = 1'b0;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always @(posedge set)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q = 1'b1;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always @(posedge clk)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q = d;</a:t>
            </a:r>
          </a:p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endmodule</a:t>
            </a:r>
          </a:p>
        </p:txBody>
      </p:sp>
      <p:sp>
        <p:nvSpPr>
          <p:cNvPr id="34829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Flip-flops</a:t>
            </a:r>
          </a:p>
        </p:txBody>
      </p:sp>
      <p:sp>
        <p:nvSpPr>
          <p:cNvPr id="34830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Synchronous/asynchronous reset/set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Single thread that waits for the clock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Three parallel threads – only one of which waits for the clock</a:t>
            </a:r>
          </a:p>
          <a:p>
            <a:pPr lvl="1"/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908898"/>
      </p:ext>
    </p:extLst>
  </p:cSld>
  <p:clrMapOvr>
    <a:masterClrMapping/>
  </p:clrMapOvr>
  <p:transition advTm="2000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450937" y="2331971"/>
            <a:ext cx="8217074" cy="4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  <a:tab pos="1804294" algn="l"/>
                <a:tab pos="2255368" algn="l"/>
                <a:tab pos="2706441" algn="l"/>
                <a:tab pos="3157515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module FSM (HL, FL, ST, clk, C, TS, TL);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output [2:0] HL, FL;     reg    [2:0] HL, FL; 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output ST;               reg    ST;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input  clk;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input  C, TS, TL;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	reg    [1:0] present_state;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reg    [1:0] next_state;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initial begin HL = 3'b001; FL = 3'b100; present_state = 2'b00; end</a:t>
            </a:r>
          </a:p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  <a:tab pos="1804294" algn="l"/>
                <a:tab pos="2255368" algn="l"/>
                <a:tab pos="2706441" algn="l"/>
                <a:tab pos="3157515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always @(posedge clk) // registers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present_state = next_state;</a:t>
            </a:r>
          </a:p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  <a:tab pos="1804294" algn="l"/>
                <a:tab pos="2255368" algn="l"/>
                <a:tab pos="2706441" algn="l"/>
                <a:tab pos="3157515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always @(present_state or C or TS or TL)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// compute next-state and output logic whenever state or inputs change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// put equations here for next_state[1:0], HL[2:0], FL[2:0], and ST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	// as functions of C, TS, TL, and present_state[1:0]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endmodule</a:t>
            </a:r>
          </a:p>
        </p:txBody>
      </p:sp>
      <p:sp>
        <p:nvSpPr>
          <p:cNvPr id="38922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Structural View of an FSM</a:t>
            </a:r>
          </a:p>
        </p:txBody>
      </p:sp>
      <p:sp>
        <p:nvSpPr>
          <p:cNvPr id="38923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468453"/>
            <a:ext cx="8458200" cy="493234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Traffic light controller: two always blocks - flip-flops separate from logic</a:t>
            </a:r>
          </a:p>
        </p:txBody>
      </p:sp>
    </p:spTree>
    <p:extLst>
      <p:ext uri="{BB962C8B-B14F-4D97-AF65-F5344CB8AC3E}">
        <p14:creationId xmlns:p14="http://schemas.microsoft.com/office/powerpoint/2010/main" val="2018828828"/>
      </p:ext>
    </p:extLst>
  </p:cSld>
  <p:clrMapOvr>
    <a:masterClrMapping/>
  </p:clrMapOvr>
  <p:transition advTm="2000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526093" y="2181521"/>
            <a:ext cx="8217074" cy="3974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  <a:tab pos="1804294" algn="l"/>
                <a:tab pos="2255368" algn="l"/>
                <a:tab pos="2706441" algn="l"/>
                <a:tab pos="3157515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module FSM(HR, HY, HG, FR, FY, FG, ST, TS, TL, C, reset, Clk);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	HR;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	HY;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	HG;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	FR;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	FY;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	FG;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	ST;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		TS;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		TL;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		C;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		reset;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		Clk;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reg [6:1]	state;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reg		ST;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4734838" y="2921232"/>
            <a:ext cx="4033381" cy="3121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`define highwaygreen   6'b001100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`define highwayyellow  6'b010100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`define farmroadgreen  6'b100001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`define farmroadyellow 6'b100010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HR = state[6];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HY = state[5];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HG = state[4];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FR = state[3];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FY = state[2];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FG = state[1];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40972" name="Line 12"/>
          <p:cNvSpPr>
            <a:spLocks noChangeShapeType="1"/>
          </p:cNvSpPr>
          <p:nvPr/>
        </p:nvSpPr>
        <p:spPr bwMode="auto">
          <a:xfrm>
            <a:off x="2498943" y="5447534"/>
            <a:ext cx="958241" cy="48269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40973" name="Line 13"/>
          <p:cNvSpPr>
            <a:spLocks noChangeShapeType="1"/>
          </p:cNvSpPr>
          <p:nvPr/>
        </p:nvSpPr>
        <p:spPr bwMode="auto">
          <a:xfrm flipH="1">
            <a:off x="3457184" y="3372582"/>
            <a:ext cx="1427967" cy="255764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 flipH="1">
            <a:off x="3457184" y="4952304"/>
            <a:ext cx="1427967" cy="97792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40976" name="Rectangle 16"/>
          <p:cNvSpPr>
            <a:spLocks noChangeArrowheads="1"/>
          </p:cNvSpPr>
          <p:nvPr/>
        </p:nvSpPr>
        <p:spPr bwMode="auto">
          <a:xfrm>
            <a:off x="1352811" y="5930227"/>
            <a:ext cx="2605414" cy="72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specify state bits and codes </a:t>
            </a:r>
            <a:br>
              <a:rPr lang="en-US" sz="16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for each state as well as </a:t>
            </a:r>
            <a:br>
              <a:rPr lang="en-US" sz="16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connections to outputs</a:t>
            </a:r>
          </a:p>
        </p:txBody>
      </p:sp>
      <p:sp>
        <p:nvSpPr>
          <p:cNvPr id="40978" name="Rectangle 18"/>
          <p:cNvSpPr>
            <a:spLocks noGrp="1" noChangeArrowheads="1"/>
          </p:cNvSpPr>
          <p:nvPr>
            <p:ph type="title"/>
          </p:nvPr>
        </p:nvSpPr>
        <p:spPr>
          <a:xfrm>
            <a:off x="506193" y="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Behavioral View of an FSM</a:t>
            </a:r>
          </a:p>
        </p:txBody>
      </p:sp>
      <p:sp>
        <p:nvSpPr>
          <p:cNvPr id="40979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450937" y="990600"/>
            <a:ext cx="8179496" cy="5046195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Specification of inputs, outputs, and state elements</a:t>
            </a:r>
          </a:p>
        </p:txBody>
      </p:sp>
    </p:spTree>
    <p:extLst>
      <p:ext uri="{BB962C8B-B14F-4D97-AF65-F5344CB8AC3E}">
        <p14:creationId xmlns:p14="http://schemas.microsoft.com/office/powerpoint/2010/main" val="559943079"/>
      </p:ext>
    </p:extLst>
  </p:cSld>
  <p:clrMapOvr>
    <a:masterClrMapping/>
  </p:clrMapOvr>
  <p:transition advTm="200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1828800" y="1504497"/>
            <a:ext cx="7189940" cy="325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601249" y="1579722"/>
            <a:ext cx="8066762" cy="4902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initial begin state =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highwaygreen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 ST = 0;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always @(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if (reset)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begin state =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highwaygreen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 ST = 1;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else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ST = 0;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case (state)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highwaygreen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  if (TL &amp; C) begin state =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highwayyellow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 ST = 1;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highwayyellow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  if (TS) begin state =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farmroadgreen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 ST = 1;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farmroadgreen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  if (TL | !C) begin state =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farmroadyellow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 ST = 1;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farmroadyellow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: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    if (TS) begin state = `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highwaygreen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 ST = 1;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endcase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endParaRPr lang="en-US" sz="14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Behavioral View of an FSM (cont’d)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6538586" y="2054580"/>
            <a:ext cx="1650543" cy="82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>
            <a:spAutoFit/>
          </a:bodyPr>
          <a:lstStyle/>
          <a:p>
            <a:r>
              <a:rPr lang="en-US" sz="1600">
                <a:latin typeface="Comic Sans MS" pitchFamily="66" charset="0"/>
              </a:rPr>
              <a:t>case statement</a:t>
            </a:r>
            <a:br>
              <a:rPr lang="en-US" sz="1600">
                <a:latin typeface="Comic Sans MS" pitchFamily="66" charset="0"/>
              </a:rPr>
            </a:br>
            <a:r>
              <a:rPr lang="en-US" sz="1600">
                <a:latin typeface="Comic Sans MS" pitchFamily="66" charset="0"/>
              </a:rPr>
              <a:t>triggerred by</a:t>
            </a:r>
            <a:br>
              <a:rPr lang="en-US" sz="1600">
                <a:latin typeface="Comic Sans MS" pitchFamily="66" charset="0"/>
              </a:rPr>
            </a:br>
            <a:r>
              <a:rPr lang="en-US" sz="1600">
                <a:latin typeface="Comic Sans MS" pitchFamily="66" charset="0"/>
              </a:rPr>
              <a:t>clock edge</a:t>
            </a:r>
          </a:p>
        </p:txBody>
      </p:sp>
      <p:sp>
        <p:nvSpPr>
          <p:cNvPr id="43022" name="Line 14"/>
          <p:cNvSpPr>
            <a:spLocks noChangeShapeType="1"/>
          </p:cNvSpPr>
          <p:nvPr/>
        </p:nvSpPr>
        <p:spPr bwMode="auto">
          <a:xfrm flipH="1" flipV="1">
            <a:off x="3156559" y="2181521"/>
            <a:ext cx="3382027" cy="30089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43023" name="Line 15"/>
          <p:cNvSpPr>
            <a:spLocks noChangeShapeType="1"/>
          </p:cNvSpPr>
          <p:nvPr/>
        </p:nvSpPr>
        <p:spPr bwMode="auto">
          <a:xfrm flipH="1">
            <a:off x="3081403" y="2482420"/>
            <a:ext cx="3457184" cy="11283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97722"/>
      </p:ext>
    </p:extLst>
  </p:cSld>
  <p:clrMapOvr>
    <a:masterClrMapping/>
  </p:clrMapOvr>
  <p:transition advTm="200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1728592" y="2181521"/>
            <a:ext cx="5949863" cy="3761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module Timer(TS, TL, ST, Clk);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TS;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	TL;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	   ST;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	   Clk;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integer   value;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TS = (value &gt;=  4); //  5 cycles after reset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assign TL = (value &gt;= 14); // 15 cycles after reset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always @(posedge ST) value = 0; // async reset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always @(posedge Clk) value = value + 1;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4506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Timer for Traffic Light Controller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Another FSM</a:t>
            </a:r>
          </a:p>
        </p:txBody>
      </p:sp>
    </p:spTree>
    <p:extLst>
      <p:ext uri="{BB962C8B-B14F-4D97-AF65-F5344CB8AC3E}">
        <p14:creationId xmlns:p14="http://schemas.microsoft.com/office/powerpoint/2010/main" val="4005611285"/>
      </p:ext>
    </p:extLst>
  </p:cSld>
  <p:clrMapOvr>
    <a:masterClrMapping/>
  </p:clrMapOvr>
  <p:transition advTm="2000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3" name="Rectangle 9"/>
          <p:cNvSpPr>
            <a:spLocks noChangeArrowheads="1"/>
          </p:cNvSpPr>
          <p:nvPr/>
        </p:nvSpPr>
        <p:spPr bwMode="auto">
          <a:xfrm>
            <a:off x="1127342" y="2632870"/>
            <a:ext cx="6851737" cy="2056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677"/>
              </a:lnSpc>
              <a:spcAft>
                <a:spcPts val="1776"/>
              </a:spcAft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module main(HR, HY, HG, FR, FY, FG, reset, C, Clk);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output HR, HY, HG, FR, FY, FG; 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input  reset, C, Clk;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Timer part1(TS, TL, ST, Clk);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FSM   part2(HR, HY, HG, FR, FY, FG, ST, TS, TL, C, reset, Clk);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47114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Traffic Light Controller</a:t>
            </a:r>
          </a:p>
        </p:txBody>
      </p:sp>
      <p:sp>
        <p:nvSpPr>
          <p:cNvPr id="47115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Tying it all together (FSM + timer)</a:t>
            </a:r>
          </a:p>
        </p:txBody>
      </p:sp>
    </p:spTree>
    <p:extLst>
      <p:ext uri="{BB962C8B-B14F-4D97-AF65-F5344CB8AC3E}">
        <p14:creationId xmlns:p14="http://schemas.microsoft.com/office/powerpoint/2010/main" val="4056459823"/>
      </p:ext>
    </p:extLst>
  </p:cSld>
  <p:clrMapOvr>
    <a:masterClrMapping/>
  </p:clrMapOvr>
  <p:transition advTm="2000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75" name="Rectangle 31"/>
          <p:cNvSpPr>
            <a:spLocks noChangeArrowheads="1"/>
          </p:cNvSpPr>
          <p:nvPr/>
        </p:nvSpPr>
        <p:spPr bwMode="auto">
          <a:xfrm>
            <a:off x="901874" y="2106296"/>
            <a:ext cx="7290148" cy="3936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  <a:tab pos="2643792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`define zero  0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`define one1  1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`define two1s 2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module reduce (clk, reset, in, out);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input clk, reset, in;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output out;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reg out;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reg [2:1] state;	// state variables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reg [2:1] next_state;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always @(posedge clk)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if (reset) state = `zero;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else       state = next_state;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85379" name="Rectangle 35"/>
          <p:cNvSpPr>
            <a:spLocks noChangeArrowheads="1"/>
          </p:cNvSpPr>
          <p:nvPr/>
        </p:nvSpPr>
        <p:spPr bwMode="auto">
          <a:xfrm>
            <a:off x="3532340" y="2256746"/>
            <a:ext cx="2956142" cy="38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1600">
                <a:solidFill>
                  <a:srgbClr val="000000"/>
                </a:solidFill>
                <a:latin typeface="Tahoma" pitchFamily="34" charset="0"/>
              </a:rPr>
              <a:t>state assignment</a:t>
            </a:r>
          </a:p>
        </p:txBody>
      </p:sp>
      <p:sp>
        <p:nvSpPr>
          <p:cNvPr id="185380" name="Line 36"/>
          <p:cNvSpPr>
            <a:spLocks noChangeShapeType="1"/>
          </p:cNvSpPr>
          <p:nvPr/>
        </p:nvSpPr>
        <p:spPr bwMode="auto">
          <a:xfrm flipH="1">
            <a:off x="2774515" y="2419733"/>
            <a:ext cx="71398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185384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Verilog FSM - Reduce 1s example</a:t>
            </a:r>
          </a:p>
        </p:txBody>
      </p:sp>
      <p:sp>
        <p:nvSpPr>
          <p:cNvPr id="185385" name="Rectangle 4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Moore machine</a:t>
            </a:r>
          </a:p>
        </p:txBody>
      </p:sp>
      <p:grpSp>
        <p:nvGrpSpPr>
          <p:cNvPr id="185400" name="Group 56"/>
          <p:cNvGrpSpPr>
            <a:grpSpLocks/>
          </p:cNvGrpSpPr>
          <p:nvPr/>
        </p:nvGrpSpPr>
        <p:grpSpPr bwMode="auto">
          <a:xfrm>
            <a:off x="6463431" y="3234669"/>
            <a:ext cx="2146648" cy="2708095"/>
            <a:chOff x="4080" y="1776"/>
            <a:chExt cx="1371" cy="1728"/>
          </a:xfrm>
        </p:grpSpPr>
        <p:sp>
          <p:nvSpPr>
            <p:cNvPr id="185360" name="Rectangle 16"/>
            <p:cNvSpPr>
              <a:spLocks noChangeArrowheads="1"/>
            </p:cNvSpPr>
            <p:nvPr/>
          </p:nvSpPr>
          <p:spPr bwMode="auto">
            <a:xfrm>
              <a:off x="4711" y="2190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600">
                  <a:solidFill>
                    <a:srgbClr val="000000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185362" name="Rectangle 18"/>
            <p:cNvSpPr>
              <a:spLocks noChangeArrowheads="1"/>
            </p:cNvSpPr>
            <p:nvPr/>
          </p:nvSpPr>
          <p:spPr bwMode="auto">
            <a:xfrm>
              <a:off x="4080" y="2826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600">
                  <a:solidFill>
                    <a:srgbClr val="000000"/>
                  </a:solidFill>
                  <a:latin typeface="Tahoma" pitchFamily="34" charset="0"/>
                </a:rPr>
                <a:t>0</a:t>
              </a:r>
            </a:p>
          </p:txBody>
        </p:sp>
        <p:sp>
          <p:nvSpPr>
            <p:cNvPr id="185363" name="Rectangle 19"/>
            <p:cNvSpPr>
              <a:spLocks noChangeArrowheads="1"/>
            </p:cNvSpPr>
            <p:nvPr/>
          </p:nvSpPr>
          <p:spPr bwMode="auto">
            <a:xfrm>
              <a:off x="4245" y="2415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600">
                  <a:solidFill>
                    <a:srgbClr val="000000"/>
                  </a:solidFill>
                  <a:latin typeface="Tahoma" pitchFamily="34" charset="0"/>
                </a:rPr>
                <a:t>0</a:t>
              </a:r>
            </a:p>
          </p:txBody>
        </p:sp>
        <p:sp>
          <p:nvSpPr>
            <p:cNvPr id="185368" name="Rectangle 24"/>
            <p:cNvSpPr>
              <a:spLocks noChangeArrowheads="1"/>
            </p:cNvSpPr>
            <p:nvPr/>
          </p:nvSpPr>
          <p:spPr bwMode="auto">
            <a:xfrm>
              <a:off x="5058" y="2179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600">
                  <a:solidFill>
                    <a:srgbClr val="000000"/>
                  </a:solidFill>
                  <a:latin typeface="Tahoma" pitchFamily="34" charset="0"/>
                </a:rPr>
                <a:t>0</a:t>
              </a:r>
            </a:p>
          </p:txBody>
        </p:sp>
        <p:sp>
          <p:nvSpPr>
            <p:cNvPr id="185374" name="Rectangle 30"/>
            <p:cNvSpPr>
              <a:spLocks noChangeArrowheads="1"/>
            </p:cNvSpPr>
            <p:nvPr/>
          </p:nvSpPr>
          <p:spPr bwMode="auto">
            <a:xfrm>
              <a:off x="5067" y="2971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600">
                  <a:solidFill>
                    <a:srgbClr val="000000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185383" name="Rectangle 39"/>
            <p:cNvSpPr>
              <a:spLocks noChangeArrowheads="1"/>
            </p:cNvSpPr>
            <p:nvPr/>
          </p:nvSpPr>
          <p:spPr bwMode="auto">
            <a:xfrm>
              <a:off x="4711" y="2851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600">
                  <a:solidFill>
                    <a:srgbClr val="000000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185386" name="Oval 42"/>
            <p:cNvSpPr>
              <a:spLocks noChangeArrowheads="1"/>
            </p:cNvSpPr>
            <p:nvPr/>
          </p:nvSpPr>
          <p:spPr bwMode="auto">
            <a:xfrm>
              <a:off x="4480" y="1776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>
                  <a:latin typeface="Tahoma" pitchFamily="34" charset="0"/>
                </a:rPr>
                <a:t>zero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[0]</a:t>
              </a:r>
            </a:p>
          </p:txBody>
        </p:sp>
        <p:sp>
          <p:nvSpPr>
            <p:cNvPr id="185387" name="Oval 43"/>
            <p:cNvSpPr>
              <a:spLocks noChangeArrowheads="1"/>
            </p:cNvSpPr>
            <p:nvPr/>
          </p:nvSpPr>
          <p:spPr bwMode="auto">
            <a:xfrm>
              <a:off x="4480" y="244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>
                  <a:latin typeface="Tahoma" pitchFamily="34" charset="0"/>
                </a:rPr>
                <a:t>one1</a:t>
              </a:r>
              <a:br>
                <a:rPr lang="en-US" sz="1600">
                  <a:latin typeface="Tahoma" pitchFamily="34" charset="0"/>
                </a:rPr>
              </a:br>
              <a:r>
                <a:rPr lang="en-US" sz="1600">
                  <a:latin typeface="Tahoma" pitchFamily="34" charset="0"/>
                </a:rPr>
                <a:t>[0]</a:t>
              </a:r>
            </a:p>
          </p:txBody>
        </p:sp>
        <p:sp>
          <p:nvSpPr>
            <p:cNvPr id="185388" name="Oval 44"/>
            <p:cNvSpPr>
              <a:spLocks noChangeArrowheads="1"/>
            </p:cNvSpPr>
            <p:nvPr/>
          </p:nvSpPr>
          <p:spPr bwMode="auto">
            <a:xfrm>
              <a:off x="4480" y="312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600">
                  <a:latin typeface="Tahoma" pitchFamily="34" charset="0"/>
                </a:rPr>
                <a:t>two1s</a:t>
              </a:r>
            </a:p>
            <a:p>
              <a:pPr algn="ctr"/>
              <a:r>
                <a:rPr lang="en-US" sz="1600">
                  <a:latin typeface="Tahoma" pitchFamily="34" charset="0"/>
                </a:rPr>
                <a:t>[1]</a:t>
              </a:r>
            </a:p>
          </p:txBody>
        </p:sp>
        <p:cxnSp>
          <p:nvCxnSpPr>
            <p:cNvPr id="185392" name="AutoShape 48"/>
            <p:cNvCxnSpPr>
              <a:cxnSpLocks noChangeShapeType="1"/>
              <a:stCxn id="185386" idx="4"/>
              <a:endCxn id="185387" idx="0"/>
            </p:cNvCxnSpPr>
            <p:nvPr/>
          </p:nvCxnSpPr>
          <p:spPr bwMode="auto">
            <a:xfrm>
              <a:off x="4672" y="2160"/>
              <a:ext cx="0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393" name="AutoShape 49"/>
            <p:cNvCxnSpPr>
              <a:cxnSpLocks noChangeShapeType="1"/>
              <a:stCxn id="185387" idx="4"/>
              <a:endCxn id="185388" idx="0"/>
            </p:cNvCxnSpPr>
            <p:nvPr/>
          </p:nvCxnSpPr>
          <p:spPr bwMode="auto">
            <a:xfrm>
              <a:off x="4672" y="2832"/>
              <a:ext cx="0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394" name="AutoShape 50"/>
            <p:cNvCxnSpPr>
              <a:cxnSpLocks noChangeShapeType="1"/>
              <a:stCxn id="185387" idx="2"/>
              <a:endCxn id="185386" idx="2"/>
            </p:cNvCxnSpPr>
            <p:nvPr/>
          </p:nvCxnSpPr>
          <p:spPr bwMode="auto">
            <a:xfrm rot="10800000" flipH="1">
              <a:off x="4480" y="1968"/>
              <a:ext cx="1" cy="672"/>
            </a:xfrm>
            <a:prstGeom prst="curvedConnector3">
              <a:avLst>
                <a:gd name="adj1" fmla="val -1440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395" name="AutoShape 51"/>
            <p:cNvCxnSpPr>
              <a:cxnSpLocks noChangeShapeType="1"/>
              <a:stCxn id="185388" idx="2"/>
              <a:endCxn id="185386" idx="2"/>
            </p:cNvCxnSpPr>
            <p:nvPr/>
          </p:nvCxnSpPr>
          <p:spPr bwMode="auto">
            <a:xfrm rot="10800000" flipH="1">
              <a:off x="4480" y="1968"/>
              <a:ext cx="1" cy="1344"/>
            </a:xfrm>
            <a:prstGeom prst="curvedConnector3">
              <a:avLst>
                <a:gd name="adj1" fmla="val -3170000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396" name="AutoShape 52"/>
            <p:cNvCxnSpPr>
              <a:cxnSpLocks noChangeShapeType="1"/>
              <a:stCxn id="185386" idx="5"/>
              <a:endCxn id="185386" idx="7"/>
            </p:cNvCxnSpPr>
            <p:nvPr/>
          </p:nvCxnSpPr>
          <p:spPr bwMode="auto">
            <a:xfrm rot="5400000" flipH="1" flipV="1">
              <a:off x="4673" y="1967"/>
              <a:ext cx="272" cy="1"/>
            </a:xfrm>
            <a:prstGeom prst="curvedConnector5">
              <a:avLst>
                <a:gd name="adj1" fmla="val -73528"/>
                <a:gd name="adj2" fmla="val 29199995"/>
                <a:gd name="adj3" fmla="val 173528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5399" name="AutoShape 55"/>
            <p:cNvCxnSpPr>
              <a:cxnSpLocks noChangeShapeType="1"/>
              <a:stCxn id="185388" idx="5"/>
              <a:endCxn id="185388" idx="7"/>
            </p:cNvCxnSpPr>
            <p:nvPr/>
          </p:nvCxnSpPr>
          <p:spPr bwMode="auto">
            <a:xfrm rot="5400000" flipH="1" flipV="1">
              <a:off x="4673" y="3311"/>
              <a:ext cx="272" cy="1"/>
            </a:xfrm>
            <a:prstGeom prst="curvedConnector5">
              <a:avLst>
                <a:gd name="adj1" fmla="val -73528"/>
                <a:gd name="adj2" fmla="val 28199995"/>
                <a:gd name="adj3" fmla="val 173528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015496826"/>
      </p:ext>
    </p:extLst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4"/>
          <p:cNvSpPr>
            <a:spLocks noChangeArrowheads="1"/>
          </p:cNvSpPr>
          <p:nvPr/>
        </p:nvSpPr>
        <p:spPr bwMode="auto">
          <a:xfrm>
            <a:off x="400833" y="1441810"/>
            <a:ext cx="8354860" cy="5340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always @(in or state)</a:t>
            </a:r>
          </a:p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</a:tabLst>
            </a:pP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case (state)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`zero:	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// last input was a zero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begin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  if (in) next_state = `one1;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  else    next_state = `zero;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end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`one1:	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// we've seen one 1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begin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  if (in) next_state = `two1s;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  else    next_state = `zero;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end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`two1s:	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// we've seen at least 2 ones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begin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  if (in) next_state = `two1s;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  else    next_state = `zero;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end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endcase</a:t>
            </a:r>
          </a:p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</a:tabLst>
            </a:pP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</a:tabLst>
            </a:pP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87397" name="Line 5"/>
          <p:cNvSpPr>
            <a:spLocks noChangeShapeType="1"/>
          </p:cNvSpPr>
          <p:nvPr/>
        </p:nvSpPr>
        <p:spPr bwMode="auto">
          <a:xfrm flipH="1" flipV="1">
            <a:off x="2855934" y="1579722"/>
            <a:ext cx="2373682" cy="25701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187398" name="Rectangle 6"/>
          <p:cNvSpPr>
            <a:spLocks noChangeArrowheads="1"/>
          </p:cNvSpPr>
          <p:nvPr/>
        </p:nvSpPr>
        <p:spPr bwMode="auto">
          <a:xfrm>
            <a:off x="5411244" y="1579722"/>
            <a:ext cx="2730674" cy="117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crucial to include </a:t>
            </a:r>
            <a:br>
              <a:rPr lang="en-US" sz="16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all signals that are </a:t>
            </a:r>
            <a:br>
              <a:rPr lang="en-US" sz="16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input to state and </a:t>
            </a:r>
            <a:br>
              <a:rPr lang="en-US" sz="16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output equations</a:t>
            </a:r>
          </a:p>
        </p:txBody>
      </p:sp>
      <p:sp>
        <p:nvSpPr>
          <p:cNvPr id="1873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Moore Verilog FSM (cont’d)</a:t>
            </a:r>
          </a:p>
        </p:txBody>
      </p:sp>
      <p:sp>
        <p:nvSpPr>
          <p:cNvPr id="187402" name="Rectangle 10"/>
          <p:cNvSpPr>
            <a:spLocks noChangeArrowheads="1"/>
          </p:cNvSpPr>
          <p:nvPr/>
        </p:nvSpPr>
        <p:spPr bwMode="auto">
          <a:xfrm>
            <a:off x="6162805" y="3159444"/>
            <a:ext cx="2730674" cy="117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2072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note that output only</a:t>
            </a:r>
            <a:br>
              <a:rPr lang="en-US" sz="16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1600">
                <a:solidFill>
                  <a:srgbClr val="000000"/>
                </a:solidFill>
                <a:latin typeface="Comic Sans MS" pitchFamily="66" charset="0"/>
              </a:rPr>
              <a:t>depends on state</a:t>
            </a:r>
          </a:p>
        </p:txBody>
      </p:sp>
      <p:sp>
        <p:nvSpPr>
          <p:cNvPr id="187403" name="Rectangle 11"/>
          <p:cNvSpPr>
            <a:spLocks noChangeArrowheads="1"/>
          </p:cNvSpPr>
          <p:nvPr/>
        </p:nvSpPr>
        <p:spPr bwMode="auto">
          <a:xfrm>
            <a:off x="4885150" y="4513492"/>
            <a:ext cx="3908121" cy="180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always @(state)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case (state)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`zero: out = 0;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 `one1: out = 0;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	 `two1s: out = 1;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endcase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</a:tabLst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1400">
                <a:solidFill>
                  <a:srgbClr val="000000"/>
                </a:solidFill>
                <a:latin typeface="Courier New" pitchFamily="49" charset="0"/>
              </a:rPr>
            </a:br>
            <a:endParaRPr lang="en-US" sz="14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87404" name="Line 12"/>
          <p:cNvSpPr>
            <a:spLocks noChangeShapeType="1"/>
          </p:cNvSpPr>
          <p:nvPr/>
        </p:nvSpPr>
        <p:spPr bwMode="auto">
          <a:xfrm flipH="1">
            <a:off x="6237962" y="3761243"/>
            <a:ext cx="75156" cy="67702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51853"/>
      </p:ext>
    </p:extLst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63" name="Rectangle 23"/>
          <p:cNvSpPr>
            <a:spLocks noChangeArrowheads="1"/>
          </p:cNvSpPr>
          <p:nvPr/>
        </p:nvSpPr>
        <p:spPr bwMode="auto">
          <a:xfrm>
            <a:off x="486179" y="1426138"/>
            <a:ext cx="8342334" cy="5391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480"/>
              </a:lnSpc>
              <a:tabLst>
                <a:tab pos="451074" algn="l"/>
                <a:tab pos="902147" algn="l"/>
                <a:tab pos="1353221" algn="l"/>
                <a:tab pos="2531024" algn="l"/>
              </a:tabLst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module reduce (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, reset, in, out);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input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, reset, in;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output out;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out;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`register state;	// state variables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next_state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always @(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if (reset) state = `zero;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else       state =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next_state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always @(in or state)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case (state)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`zero:		// last input was a zero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  out = 0;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  if (in)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next_state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= `one;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  else  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next_state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= `zero;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`one:		// we've seen one 1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if (in)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next_state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= `one; out = 1;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end else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	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next_state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= `zero; out = 0;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endcase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endParaRPr lang="en-US" sz="14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89466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Mealy Verilog FSM</a:t>
            </a:r>
          </a:p>
        </p:txBody>
      </p:sp>
      <p:grpSp>
        <p:nvGrpSpPr>
          <p:cNvPr id="189486" name="Group 46"/>
          <p:cNvGrpSpPr>
            <a:grpSpLocks/>
          </p:cNvGrpSpPr>
          <p:nvPr/>
        </p:nvGrpSpPr>
        <p:grpSpPr bwMode="auto">
          <a:xfrm>
            <a:off x="6237961" y="2933770"/>
            <a:ext cx="2104373" cy="1968384"/>
            <a:chOff x="5952" y="1440"/>
            <a:chExt cx="1344" cy="1256"/>
          </a:xfrm>
        </p:grpSpPr>
        <p:sp>
          <p:nvSpPr>
            <p:cNvPr id="189469" name="Rectangle 29"/>
            <p:cNvSpPr>
              <a:spLocks noChangeArrowheads="1"/>
            </p:cNvSpPr>
            <p:nvPr/>
          </p:nvSpPr>
          <p:spPr bwMode="auto">
            <a:xfrm>
              <a:off x="6583" y="1950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400" b="1">
                  <a:solidFill>
                    <a:srgbClr val="000000"/>
                  </a:solidFill>
                  <a:latin typeface="Tahoma" pitchFamily="34" charset="0"/>
                </a:rPr>
                <a:t>1/0</a:t>
              </a:r>
            </a:p>
          </p:txBody>
        </p:sp>
        <p:sp>
          <p:nvSpPr>
            <p:cNvPr id="189471" name="Rectangle 31"/>
            <p:cNvSpPr>
              <a:spLocks noChangeArrowheads="1"/>
            </p:cNvSpPr>
            <p:nvPr/>
          </p:nvSpPr>
          <p:spPr bwMode="auto">
            <a:xfrm>
              <a:off x="5952" y="1968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400" b="1">
                  <a:solidFill>
                    <a:srgbClr val="000000"/>
                  </a:solidFill>
                  <a:latin typeface="Tahoma" pitchFamily="34" charset="0"/>
                </a:rPr>
                <a:t>0/0</a:t>
              </a:r>
            </a:p>
          </p:txBody>
        </p:sp>
        <p:sp>
          <p:nvSpPr>
            <p:cNvPr id="189472" name="Rectangle 32"/>
            <p:cNvSpPr>
              <a:spLocks noChangeArrowheads="1"/>
            </p:cNvSpPr>
            <p:nvPr/>
          </p:nvSpPr>
          <p:spPr bwMode="auto">
            <a:xfrm>
              <a:off x="6912" y="1440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400" b="1">
                  <a:solidFill>
                    <a:srgbClr val="000000"/>
                  </a:solidFill>
                  <a:latin typeface="Tahoma" pitchFamily="34" charset="0"/>
                </a:rPr>
                <a:t>0/0</a:t>
              </a:r>
            </a:p>
          </p:txBody>
        </p:sp>
        <p:sp>
          <p:nvSpPr>
            <p:cNvPr id="189473" name="Rectangle 33"/>
            <p:cNvSpPr>
              <a:spLocks noChangeArrowheads="1"/>
            </p:cNvSpPr>
            <p:nvPr/>
          </p:nvSpPr>
          <p:spPr bwMode="auto">
            <a:xfrm>
              <a:off x="6912" y="2448"/>
              <a:ext cx="384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9050" tIns="26988" rIns="19050" bIns="26988"/>
            <a:lstStyle/>
            <a:p>
              <a:pPr>
                <a:lnSpc>
                  <a:spcPts val="2072"/>
                </a:lnSpc>
                <a:tabLst>
                  <a:tab pos="451074" algn="l"/>
                  <a:tab pos="902147" algn="l"/>
                  <a:tab pos="1353221" algn="l"/>
                </a:tabLst>
              </a:pPr>
              <a:r>
                <a:rPr lang="en-US" sz="1400" b="1">
                  <a:solidFill>
                    <a:srgbClr val="000000"/>
                  </a:solidFill>
                  <a:latin typeface="Tahoma" pitchFamily="34" charset="0"/>
                </a:rPr>
                <a:t>1/1</a:t>
              </a:r>
            </a:p>
          </p:txBody>
        </p:sp>
        <p:sp>
          <p:nvSpPr>
            <p:cNvPr id="189475" name="Oval 35"/>
            <p:cNvSpPr>
              <a:spLocks noChangeArrowheads="1"/>
            </p:cNvSpPr>
            <p:nvPr/>
          </p:nvSpPr>
          <p:spPr bwMode="auto">
            <a:xfrm>
              <a:off x="6352" y="1536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Tahoma" pitchFamily="34" charset="0"/>
                </a:rPr>
                <a:t>zero</a:t>
              </a:r>
              <a:br>
                <a:rPr lang="en-US" sz="1400" b="1">
                  <a:latin typeface="Tahoma" pitchFamily="34" charset="0"/>
                </a:rPr>
              </a:br>
              <a:r>
                <a:rPr lang="en-US" sz="1400" b="1">
                  <a:latin typeface="Tahoma" pitchFamily="34" charset="0"/>
                </a:rPr>
                <a:t>[0]</a:t>
              </a:r>
            </a:p>
          </p:txBody>
        </p:sp>
        <p:sp>
          <p:nvSpPr>
            <p:cNvPr id="189476" name="Oval 36"/>
            <p:cNvSpPr>
              <a:spLocks noChangeArrowheads="1"/>
            </p:cNvSpPr>
            <p:nvPr/>
          </p:nvSpPr>
          <p:spPr bwMode="auto">
            <a:xfrm>
              <a:off x="6352" y="220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 b="1">
                  <a:latin typeface="Tahoma" pitchFamily="34" charset="0"/>
                </a:rPr>
                <a:t>one1</a:t>
              </a:r>
              <a:br>
                <a:rPr lang="en-US" sz="1400" b="1">
                  <a:latin typeface="Tahoma" pitchFamily="34" charset="0"/>
                </a:rPr>
              </a:br>
              <a:r>
                <a:rPr lang="en-US" sz="1400" b="1">
                  <a:latin typeface="Tahoma" pitchFamily="34" charset="0"/>
                </a:rPr>
                <a:t>[0]</a:t>
              </a:r>
            </a:p>
          </p:txBody>
        </p:sp>
        <p:cxnSp>
          <p:nvCxnSpPr>
            <p:cNvPr id="189478" name="AutoShape 38"/>
            <p:cNvCxnSpPr>
              <a:cxnSpLocks noChangeShapeType="1"/>
              <a:stCxn id="189475" idx="4"/>
              <a:endCxn id="189476" idx="0"/>
            </p:cNvCxnSpPr>
            <p:nvPr/>
          </p:nvCxnSpPr>
          <p:spPr bwMode="auto">
            <a:xfrm>
              <a:off x="6544" y="1920"/>
              <a:ext cx="0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480" name="AutoShape 40"/>
            <p:cNvCxnSpPr>
              <a:cxnSpLocks noChangeShapeType="1"/>
              <a:stCxn id="189476" idx="2"/>
              <a:endCxn id="189475" idx="2"/>
            </p:cNvCxnSpPr>
            <p:nvPr/>
          </p:nvCxnSpPr>
          <p:spPr bwMode="auto">
            <a:xfrm rot="10800000" flipH="1">
              <a:off x="6352" y="1728"/>
              <a:ext cx="1" cy="672"/>
            </a:xfrm>
            <a:prstGeom prst="curvedConnector3">
              <a:avLst>
                <a:gd name="adj1" fmla="val -1440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484" name="AutoShape 44"/>
            <p:cNvCxnSpPr>
              <a:cxnSpLocks noChangeShapeType="1"/>
              <a:stCxn id="189476" idx="4"/>
              <a:endCxn id="189476" idx="6"/>
            </p:cNvCxnSpPr>
            <p:nvPr/>
          </p:nvCxnSpPr>
          <p:spPr bwMode="auto">
            <a:xfrm rot="5400000" flipH="1" flipV="1">
              <a:off x="6544" y="2400"/>
              <a:ext cx="192" cy="192"/>
            </a:xfrm>
            <a:prstGeom prst="curvedConnector4">
              <a:avLst>
                <a:gd name="adj1" fmla="val -75000"/>
                <a:gd name="adj2" fmla="val 175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9485" name="AutoShape 45"/>
            <p:cNvCxnSpPr>
              <a:cxnSpLocks noChangeShapeType="1"/>
              <a:stCxn id="189475" idx="6"/>
              <a:endCxn id="189475" idx="0"/>
            </p:cNvCxnSpPr>
            <p:nvPr/>
          </p:nvCxnSpPr>
          <p:spPr bwMode="auto">
            <a:xfrm flipH="1" flipV="1">
              <a:off x="6544" y="1536"/>
              <a:ext cx="192" cy="192"/>
            </a:xfrm>
            <a:prstGeom prst="curvedConnector4">
              <a:avLst>
                <a:gd name="adj1" fmla="val -75000"/>
                <a:gd name="adj2" fmla="val 175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95240120"/>
      </p:ext>
    </p:extLst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1828800" y="1504497"/>
            <a:ext cx="7189940" cy="325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215" tIns="45107" rIns="90215" bIns="45107" anchor="ctr"/>
          <a:lstStyle/>
          <a:p>
            <a:endParaRPr lang="en-US"/>
          </a:p>
        </p:txBody>
      </p:sp>
      <p:sp>
        <p:nvSpPr>
          <p:cNvPr id="197637" name="Rectangle 5"/>
          <p:cNvSpPr>
            <a:spLocks noChangeArrowheads="1"/>
          </p:cNvSpPr>
          <p:nvPr/>
        </p:nvSpPr>
        <p:spPr bwMode="auto">
          <a:xfrm>
            <a:off x="526093" y="1579722"/>
            <a:ext cx="8066762" cy="488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795" tIns="26626" rIns="18795" bIns="26626"/>
          <a:lstStyle/>
          <a:p>
            <a:pPr>
              <a:lnSpc>
                <a:spcPts val="1579"/>
              </a:lnSpc>
              <a:tabLst>
                <a:tab pos="451074" algn="l"/>
                <a:tab pos="902147" algn="l"/>
                <a:tab pos="1353221" algn="l"/>
                <a:tab pos="1804294" algn="l"/>
                <a:tab pos="2255368" algn="l"/>
                <a:tab pos="2706441" algn="l"/>
                <a:tab pos="3157515" algn="l"/>
                <a:tab pos="3608588" algn="l"/>
              </a:tabLst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module reduce (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, reset, in, out);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input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, reset, in;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output out;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out;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reg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state;	// state variables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always @(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clk</a:t>
            </a: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if (reset) state = `zero;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else 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case (state)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`zero:		// last input was a zero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  out = 0;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  if (in) state = `one;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  else    state = `zero;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`one:		// we've seen one 1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if (in)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	state = `one; out = 1;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end else begin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	state = `zero; out = 0;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	 end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endcase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r>
              <a:rPr lang="en-US" sz="1400" dirty="0" err="1">
                <a:solidFill>
                  <a:srgbClr val="000000"/>
                </a:solidFill>
                <a:latin typeface="Courier New" pitchFamily="49" charset="0"/>
              </a:rPr>
              <a:t>endmodule</a:t>
            </a:r>
            <a:br>
              <a:rPr lang="en-US" sz="1400" dirty="0">
                <a:solidFill>
                  <a:srgbClr val="000000"/>
                </a:solidFill>
                <a:latin typeface="Courier New" pitchFamily="49" charset="0"/>
              </a:rPr>
            </a:br>
            <a:endParaRPr lang="en-US" sz="14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9764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Synchronous Mealy Machine</a:t>
            </a:r>
          </a:p>
        </p:txBody>
      </p:sp>
    </p:spTree>
    <p:extLst>
      <p:ext uri="{BB962C8B-B14F-4D97-AF65-F5344CB8AC3E}">
        <p14:creationId xmlns:p14="http://schemas.microsoft.com/office/powerpoint/2010/main" val="312593323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1CE2337B975E408DA6B832AEDE73D6" ma:contentTypeVersion="2" ma:contentTypeDescription="Create a new document." ma:contentTypeScope="" ma:versionID="39418729339e15cb49566a66fad1e64a">
  <xsd:schema xmlns:xsd="http://www.w3.org/2001/XMLSchema" xmlns:xs="http://www.w3.org/2001/XMLSchema" xmlns:p="http://schemas.microsoft.com/office/2006/metadata/properties" xmlns:ns2="7fb689ba-f627-4224-ac00-8714095bdf68" targetNamespace="http://schemas.microsoft.com/office/2006/metadata/properties" ma:root="true" ma:fieldsID="9838b32448ac8d296677d6d7ecfa6659" ns2:_="">
    <xsd:import namespace="7fb689ba-f627-4224-ac00-8714095bdf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689ba-f627-4224-ac00-8714095bd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3CAB16-9BD1-47ED-B176-0488A9FACC5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A064C35-955D-430A-99BA-DCEFC2566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b689ba-f627-4224-ac00-8714095bd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229043-0BD3-4A88-B4D3-BFDE273893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8174</Words>
  <Application>Microsoft Office PowerPoint</Application>
  <PresentationFormat>On-screen Show (4:3)</PresentationFormat>
  <Paragraphs>788</Paragraphs>
  <Slides>89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Arial</vt:lpstr>
      <vt:lpstr>Calibri</vt:lpstr>
      <vt:lpstr>Comic Sans MS</vt:lpstr>
      <vt:lpstr>Courier New</vt:lpstr>
      <vt:lpstr>Tahoma</vt:lpstr>
      <vt:lpstr>Times New Roman</vt:lpstr>
      <vt:lpstr>Office Theme</vt:lpstr>
      <vt:lpstr>Introduction</vt:lpstr>
      <vt:lpstr>PowerPoint Presentation</vt:lpstr>
      <vt:lpstr>PowerPoint Presentation</vt:lpstr>
      <vt:lpstr>Simulator</vt:lpstr>
      <vt:lpstr>Types of HDL</vt:lpstr>
      <vt:lpstr>Verilog</vt:lpstr>
      <vt:lpstr>Lexical Conventions</vt:lpstr>
      <vt:lpstr>PowerPoint Presentation</vt:lpstr>
      <vt:lpstr>PowerPoint Presentation</vt:lpstr>
      <vt:lpstr>Program Structure</vt:lpstr>
      <vt:lpstr>MODULES</vt:lpstr>
      <vt:lpstr>HDL example</vt:lpstr>
      <vt:lpstr>Gate Delays</vt:lpstr>
      <vt:lpstr>PowerPoint Presentation</vt:lpstr>
      <vt:lpstr>PowerPoint Presentation</vt:lpstr>
      <vt:lpstr>PowerPoint Presentation</vt:lpstr>
      <vt:lpstr>PowerPoint Presentation</vt:lpstr>
      <vt:lpstr>Boolean Expression </vt:lpstr>
      <vt:lpstr>PowerPoint Presentation</vt:lpstr>
      <vt:lpstr>User defined Primitives (UDP)</vt:lpstr>
      <vt:lpstr>PowerPoint Presentation</vt:lpstr>
      <vt:lpstr>PowerPoint Presentation</vt:lpstr>
      <vt:lpstr>Gate-Level Modeling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 to 4 Decoder</vt:lpstr>
      <vt:lpstr>PowerPoint Presentation</vt:lpstr>
      <vt:lpstr>2 to 4 line Decoder</vt:lpstr>
      <vt:lpstr>PowerPoint Presentation</vt:lpstr>
      <vt:lpstr>Three-State Gates</vt:lpstr>
      <vt:lpstr>PowerPoint Presentation</vt:lpstr>
      <vt:lpstr>PowerPoint Presentation</vt:lpstr>
      <vt:lpstr>Dataflow Modeling</vt:lpstr>
      <vt:lpstr>PowerPoint Presentation</vt:lpstr>
      <vt:lpstr>PowerPoint Presentation</vt:lpstr>
      <vt:lpstr>PowerPoint Presentation</vt:lpstr>
      <vt:lpstr>Behavioral Modeling</vt:lpstr>
      <vt:lpstr>PowerPoint Presentation</vt:lpstr>
      <vt:lpstr>4-to-1 Mux</vt:lpstr>
      <vt:lpstr>PowerPoint Presentation</vt:lpstr>
      <vt:lpstr>PowerPoint Presentation</vt:lpstr>
      <vt:lpstr>PowerPoint Presentation</vt:lpstr>
      <vt:lpstr>Descriptions of Circuits</vt:lpstr>
      <vt:lpstr>PowerPoint Presentation</vt:lpstr>
      <vt:lpstr>4-to1 Mux</vt:lpstr>
      <vt:lpstr>PowerPoint Presentation</vt:lpstr>
      <vt:lpstr>PowerPoint Presentation</vt:lpstr>
      <vt:lpstr>PowerPoint Presentation</vt:lpstr>
      <vt:lpstr>Sequential System Design</vt:lpstr>
      <vt:lpstr>PowerPoint Presentation</vt:lpstr>
      <vt:lpstr>PowerPoint Presentation</vt:lpstr>
      <vt:lpstr>PowerPoint Presentation</vt:lpstr>
      <vt:lpstr>Flip-Flops and Latches</vt:lpstr>
      <vt:lpstr>PowerPoint Presentation</vt:lpstr>
      <vt:lpstr>D-FF with reset</vt:lpstr>
      <vt:lpstr>T &amp; J-K FF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Structural Model</vt:lpstr>
      <vt:lpstr>Simple behavioral model</vt:lpstr>
      <vt:lpstr>Simple Behavioral Model</vt:lpstr>
      <vt:lpstr>Driving a Simulation</vt:lpstr>
      <vt:lpstr>Complete Simulation </vt:lpstr>
      <vt:lpstr>Comparator Example</vt:lpstr>
      <vt:lpstr>More Complex Behavioral Model</vt:lpstr>
      <vt:lpstr>Hardware Description Languages vs. Programming Languages</vt:lpstr>
      <vt:lpstr>Hardware Description Languages and Combinational Logic</vt:lpstr>
      <vt:lpstr>Hardware Description Languages and Sequential Logic</vt:lpstr>
      <vt:lpstr>Flip-flop in Verilog</vt:lpstr>
      <vt:lpstr>More Flip-flops</vt:lpstr>
      <vt:lpstr>Structural View of an FSM</vt:lpstr>
      <vt:lpstr>Behavioral View of an FSM</vt:lpstr>
      <vt:lpstr>Behavioral View of an FSM (cont’d)</vt:lpstr>
      <vt:lpstr>Timer for Traffic Light Controller</vt:lpstr>
      <vt:lpstr>Complete Traffic Light Controller</vt:lpstr>
      <vt:lpstr>Verilog FSM - Reduce 1s example</vt:lpstr>
      <vt:lpstr>Moore Verilog FSM (cont’d)</vt:lpstr>
      <vt:lpstr>Mealy Verilog FSM</vt:lpstr>
      <vt:lpstr>Synchronous Mealy Machine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</dc:title>
  <dc:creator>baldev</dc:creator>
  <cp:lastModifiedBy>Sivasankaran</cp:lastModifiedBy>
  <cp:revision>171</cp:revision>
  <dcterms:created xsi:type="dcterms:W3CDTF">2006-08-16T00:00:00Z</dcterms:created>
  <dcterms:modified xsi:type="dcterms:W3CDTF">2024-05-03T09:18:35Z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0x010100BA1CE2337B975E408DA6B832AEDE73D6</vt:lpwstr>
  </property>
</Properties>
</file>