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6" r:id="rId3"/>
    <p:sldId id="267" r:id="rId4"/>
    <p:sldId id="268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8D90-7229-45E6-BA4A-8B52D0D4F0F5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AB533-FEE1-435C-A5F0-6DBF99FD1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87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8D90-7229-45E6-BA4A-8B52D0D4F0F5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AB533-FEE1-435C-A5F0-6DBF99FD1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28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8D90-7229-45E6-BA4A-8B52D0D4F0F5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AB533-FEE1-435C-A5F0-6DBF99FD1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255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8D90-7229-45E6-BA4A-8B52D0D4F0F5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AB533-FEE1-435C-A5F0-6DBF99FD1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831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8D90-7229-45E6-BA4A-8B52D0D4F0F5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AB533-FEE1-435C-A5F0-6DBF99FD1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67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8D90-7229-45E6-BA4A-8B52D0D4F0F5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AB533-FEE1-435C-A5F0-6DBF99FD1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50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8D90-7229-45E6-BA4A-8B52D0D4F0F5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AB533-FEE1-435C-A5F0-6DBF99FD1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9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8D90-7229-45E6-BA4A-8B52D0D4F0F5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AB533-FEE1-435C-A5F0-6DBF99FD1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48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8D90-7229-45E6-BA4A-8B52D0D4F0F5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AB533-FEE1-435C-A5F0-6DBF99FD1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354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8D90-7229-45E6-BA4A-8B52D0D4F0F5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AB533-FEE1-435C-A5F0-6DBF99FD1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48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8D90-7229-45E6-BA4A-8B52D0D4F0F5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AB533-FEE1-435C-A5F0-6DBF99FD1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041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26286" y="-27609"/>
            <a:ext cx="609142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3/7/2024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pPr marL="153670">
                <a:lnSpc>
                  <a:spcPts val="1810"/>
                </a:lnSpc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84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3/7/2024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pPr marL="153670">
                <a:lnSpc>
                  <a:spcPts val="1810"/>
                </a:lnSpc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8519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3/7/2024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pPr marL="153670">
                <a:lnSpc>
                  <a:spcPts val="1810"/>
                </a:lnSpc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6433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3/7/2024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pPr marL="153670">
                <a:lnSpc>
                  <a:spcPts val="1810"/>
                </a:lnSpc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20131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3/7/2024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pPr marL="153670">
                <a:lnSpc>
                  <a:spcPts val="1810"/>
                </a:lnSpc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075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88D90-7229-45E6-BA4A-8B52D0D4F0F5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AB533-FEE1-435C-A5F0-6DBF99FD1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4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1014" y="166243"/>
            <a:ext cx="7541971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6811" y="2247900"/>
            <a:ext cx="8289290" cy="3738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3/7/2024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04021" y="6410197"/>
            <a:ext cx="42481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pPr marL="153670">
                <a:lnSpc>
                  <a:spcPts val="1810"/>
                </a:lnSpc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485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FB77D-F359-1E09-3B27-D59EB74C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66" y="-228600"/>
            <a:ext cx="8229600" cy="1143000"/>
          </a:xfrm>
        </p:spPr>
        <p:txBody>
          <a:bodyPr/>
          <a:lstStyle/>
          <a:p>
            <a:r>
              <a:rPr lang="en-IN" dirty="0"/>
              <a:t>Binary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2AA61-D94B-7062-EED8-8C8C500D9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Binary codes are codes which are represented in binary system with modification from the original ones. </a:t>
            </a: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Weighted Binary codes </a:t>
            </a: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Non Weighted Codes </a:t>
            </a: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Weighted binary codes are those which obey the positional weighting principles, each position of the number represents a specific weight. 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AFBDB8-B143-B1E0-9311-E38C1D88B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08" y="2743200"/>
            <a:ext cx="8256758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90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905B4-96D0-5A9F-237B-DA1AEFA58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E199B-2B77-08AA-1EA3-D12FC04AB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13006"/>
            <a:ext cx="8229600" cy="585152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Reflective Code </a:t>
            </a: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 code is said to be reflective when code for 9 is complement for the code for 0, and </a:t>
            </a:r>
            <a:endParaRPr lang="en-IN" sz="1800" b="0" i="0" u="none" strike="noStrike" baseline="0" dirty="0"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so is for 8 and 1 codes, 7 and 2, 6 and 3, 5 and 4. Codes 2421, 5211, and excess-3 are reflective, whereas the 8421 code is not. </a:t>
            </a:r>
          </a:p>
          <a:p>
            <a:pPr marL="0" indent="0" algn="just">
              <a:buNone/>
            </a:pPr>
            <a:r>
              <a:rPr lang="en-IN" sz="1800" b="1" i="0" u="none" strike="noStrike" baseline="0" dirty="0">
                <a:latin typeface="Times New Roman" panose="02020603050405020304" pitchFamily="18" charset="0"/>
              </a:rPr>
              <a:t>Sequential Codes </a:t>
            </a:r>
            <a:endParaRPr lang="en-IN" sz="1800" b="0" i="0" u="none" strike="noStrike" baseline="0" dirty="0"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A code is said to be sequential when two subsequent codes, seen as numbers in binary representation, differ by one. This greatly aids mathematical manipulation of data. The 8421 and Excess-3 codes are sequential, whereas the 2421 and 5211 codes are not. </a:t>
            </a:r>
          </a:p>
          <a:p>
            <a:pPr marL="0" indent="0" algn="just">
              <a:buNone/>
            </a:pPr>
            <a:r>
              <a:rPr lang="en-IN" sz="1800" b="1" i="0" u="none" strike="noStrike" baseline="0" dirty="0">
                <a:latin typeface="Times New Roman" panose="02020603050405020304" pitchFamily="18" charset="0"/>
              </a:rPr>
              <a:t>Non weighted codes </a:t>
            </a:r>
            <a:endParaRPr lang="en-IN" sz="1800" b="0" i="0" u="none" strike="noStrike" baseline="0" dirty="0"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Non weighted codes are codes that are not positionally weighted. That is, each position within the binary number is not assigned a fixed value. Ex: Excess-3 code </a:t>
            </a:r>
          </a:p>
          <a:p>
            <a:pPr marL="0" indent="0" algn="just">
              <a:buNone/>
            </a:pPr>
            <a:r>
              <a:rPr lang="en-IN" sz="1800" b="1" i="0" u="none" strike="noStrike" baseline="0" dirty="0">
                <a:latin typeface="Times New Roman" panose="02020603050405020304" pitchFamily="18" charset="0"/>
              </a:rPr>
              <a:t>Excess-3 Code </a:t>
            </a:r>
            <a:endParaRPr lang="en-IN" sz="1800" b="0" i="0" u="none" strike="noStrike" baseline="0" dirty="0"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Excess-3 is a non weighted code used to express decimal numbers. The code derives its name from the fact that each binary code is the corresponding 8421 code plus 0011(3).</a:t>
            </a:r>
          </a:p>
          <a:p>
            <a:pPr marL="0" indent="0" algn="just">
              <a:buNone/>
            </a:pPr>
            <a:r>
              <a:rPr lang="en-IN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Gray Code </a:t>
            </a: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gray code belongs to a class of codes called minimum change codes, in which only one bit in the code changes when moving from one code to the next. The Gray code is non-weighted code, as the position of bit does not contain any weight. The gray code is a reflective digital code which has the special property that any two subsequent numbers codes differ by only one bit. This is also called a unit- distance code. In digital Gray code has got a special place 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0060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A2974-7AC0-91AA-6A31-0C1D8C010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582ABB-8B23-DCDA-670A-C85D62FED2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74638"/>
            <a:ext cx="8839200" cy="5562600"/>
          </a:xfrm>
        </p:spPr>
      </p:pic>
    </p:spTree>
    <p:extLst>
      <p:ext uri="{BB962C8B-B14F-4D97-AF65-F5344CB8AC3E}">
        <p14:creationId xmlns:p14="http://schemas.microsoft.com/office/powerpoint/2010/main" val="1358796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BCD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BCD is binary coded decimal number, where each digit of a decimal number is respected by its equivalent binary number.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i.e., LSB of a decimal number is represented by its equivalent binary number and similarly other higher significant bits of decimal number are also represented by their equivalent binary numbers.</a:t>
            </a:r>
          </a:p>
          <a:p>
            <a:pPr lvl="1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Ex: BCD Code of 14 is-</a:t>
            </a:r>
          </a:p>
        </p:txBody>
      </p:sp>
      <p:pic>
        <p:nvPicPr>
          <p:cNvPr id="1026" name="Picture 2" descr="https://www.electrical4u.com/images/february16/1456901588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4953000"/>
            <a:ext cx="1676400" cy="167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263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BCD to Gray code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8-Bit Gray Code Converter - ppt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8600"/>
            <a:ext cx="9144000" cy="708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5146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Gray to Binary Code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MSB does not change as a result of conversion.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with MSB of binary number and add it to the second MSB of the Gray code to get the next binary bit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Repeat  for subsequent binary coded bits.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82" y="1523999"/>
            <a:ext cx="7352518" cy="214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3583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BCD to Binary Code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BCD to binary of 42</a:t>
            </a:r>
          </a:p>
          <a:p>
            <a:pPr lvl="1"/>
            <a:r>
              <a:rPr lang="en-US" dirty="0"/>
              <a:t>4 -&gt; 0100</a:t>
            </a:r>
          </a:p>
          <a:p>
            <a:pPr lvl="1"/>
            <a:r>
              <a:rPr lang="en-US" dirty="0"/>
              <a:t>2 -&gt; 0010</a:t>
            </a:r>
          </a:p>
          <a:p>
            <a:pPr lvl="1"/>
            <a:r>
              <a:rPr lang="en-US" dirty="0"/>
              <a:t>4x10 + 2 = binary</a:t>
            </a:r>
          </a:p>
          <a:p>
            <a:pPr lvl="1"/>
            <a:r>
              <a:rPr lang="en-US" dirty="0"/>
              <a:t>0100x1010 + 0010 = 0101010</a:t>
            </a:r>
          </a:p>
        </p:txBody>
      </p:sp>
    </p:spTree>
    <p:extLst>
      <p:ext uri="{BB962C8B-B14F-4D97-AF65-F5344CB8AC3E}">
        <p14:creationId xmlns:p14="http://schemas.microsoft.com/office/powerpoint/2010/main" val="2015286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Building Code Convertors Using SN-7400 Series ICs - DE Part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8" y="1066800"/>
            <a:ext cx="9090497" cy="420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3400" y="5638800"/>
            <a:ext cx="362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For Excess-3 add 3 to BCD number</a:t>
            </a:r>
          </a:p>
        </p:txBody>
      </p:sp>
    </p:spTree>
    <p:extLst>
      <p:ext uri="{BB962C8B-B14F-4D97-AF65-F5344CB8AC3E}">
        <p14:creationId xmlns:p14="http://schemas.microsoft.com/office/powerpoint/2010/main" val="394431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46933" y="47955"/>
            <a:ext cx="36715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0" dirty="0">
                <a:latin typeface="Calibri"/>
                <a:cs typeface="Calibri"/>
              </a:rPr>
              <a:t>CODE</a:t>
            </a:r>
            <a:r>
              <a:rPr sz="3600" b="1" spc="-150" dirty="0">
                <a:latin typeface="Calibri"/>
                <a:cs typeface="Calibri"/>
              </a:rPr>
              <a:t> </a:t>
            </a:r>
            <a:r>
              <a:rPr sz="3600" b="1" spc="-25" dirty="0">
                <a:latin typeface="Calibri"/>
                <a:cs typeface="Calibri"/>
              </a:rPr>
              <a:t>CONVERTERS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162557"/>
            <a:ext cx="8090534" cy="122872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56870" marR="5080" algn="just">
              <a:lnSpc>
                <a:spcPct val="80100"/>
              </a:lnSpc>
              <a:spcBef>
                <a:spcPts val="630"/>
              </a:spcBef>
            </a:pPr>
            <a:r>
              <a:rPr sz="2200" dirty="0">
                <a:solidFill>
                  <a:prstClr val="black"/>
                </a:solidFill>
                <a:cs typeface="Calibri"/>
              </a:rPr>
              <a:t>A</a:t>
            </a:r>
            <a:r>
              <a:rPr sz="2200" spc="5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5" dirty="0">
                <a:solidFill>
                  <a:prstClr val="black"/>
                </a:solidFill>
                <a:cs typeface="Calibri"/>
              </a:rPr>
              <a:t>code</a:t>
            </a:r>
            <a:r>
              <a:rPr sz="2200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35" dirty="0">
                <a:solidFill>
                  <a:prstClr val="black"/>
                </a:solidFill>
                <a:cs typeface="Calibri"/>
              </a:rPr>
              <a:t>converter</a:t>
            </a:r>
            <a:r>
              <a:rPr sz="2200" spc="-30" dirty="0">
                <a:solidFill>
                  <a:prstClr val="black"/>
                </a:solidFill>
                <a:cs typeface="Calibri"/>
              </a:rPr>
              <a:t> </a:t>
            </a:r>
            <a:r>
              <a:rPr sz="2200" dirty="0">
                <a:solidFill>
                  <a:prstClr val="black"/>
                </a:solidFill>
                <a:cs typeface="Calibri"/>
              </a:rPr>
              <a:t>is</a:t>
            </a:r>
            <a:r>
              <a:rPr sz="2200" spc="5" dirty="0">
                <a:solidFill>
                  <a:prstClr val="black"/>
                </a:solidFill>
                <a:cs typeface="Calibri"/>
              </a:rPr>
              <a:t> </a:t>
            </a:r>
            <a:r>
              <a:rPr sz="2200" dirty="0">
                <a:solidFill>
                  <a:prstClr val="black"/>
                </a:solidFill>
                <a:cs typeface="Calibri"/>
              </a:rPr>
              <a:t>a</a:t>
            </a:r>
            <a:r>
              <a:rPr sz="2200" spc="5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10" dirty="0">
                <a:solidFill>
                  <a:prstClr val="black"/>
                </a:solidFill>
                <a:cs typeface="Calibri"/>
              </a:rPr>
              <a:t>logic</a:t>
            </a:r>
            <a:r>
              <a:rPr sz="2200" spc="-5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25" dirty="0">
                <a:solidFill>
                  <a:prstClr val="black"/>
                </a:solidFill>
                <a:cs typeface="Calibri"/>
              </a:rPr>
              <a:t>circuit</a:t>
            </a:r>
            <a:r>
              <a:rPr sz="2200" spc="-20" dirty="0">
                <a:solidFill>
                  <a:prstClr val="black"/>
                </a:solidFill>
                <a:cs typeface="Calibri"/>
              </a:rPr>
              <a:t> </a:t>
            </a:r>
            <a:r>
              <a:rPr sz="2200" dirty="0">
                <a:solidFill>
                  <a:prstClr val="black"/>
                </a:solidFill>
                <a:cs typeface="Calibri"/>
              </a:rPr>
              <a:t>whose</a:t>
            </a:r>
            <a:r>
              <a:rPr sz="2200" spc="5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10" dirty="0">
                <a:solidFill>
                  <a:prstClr val="black"/>
                </a:solidFill>
                <a:cs typeface="Calibri"/>
              </a:rPr>
              <a:t>inputs</a:t>
            </a:r>
            <a:r>
              <a:rPr sz="2200" spc="-5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25" dirty="0">
                <a:solidFill>
                  <a:prstClr val="black"/>
                </a:solidFill>
                <a:cs typeface="Calibri"/>
              </a:rPr>
              <a:t>are</a:t>
            </a:r>
            <a:r>
              <a:rPr sz="2200" spc="-20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5" dirty="0">
                <a:solidFill>
                  <a:prstClr val="black"/>
                </a:solidFill>
                <a:cs typeface="Calibri"/>
              </a:rPr>
              <a:t>bit</a:t>
            </a:r>
            <a:r>
              <a:rPr sz="2200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20" dirty="0">
                <a:solidFill>
                  <a:prstClr val="black"/>
                </a:solidFill>
                <a:cs typeface="Calibri"/>
              </a:rPr>
              <a:t>patterns </a:t>
            </a:r>
            <a:r>
              <a:rPr sz="2200" spc="-484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20" dirty="0">
                <a:solidFill>
                  <a:prstClr val="black"/>
                </a:solidFill>
                <a:cs typeface="Calibri"/>
              </a:rPr>
              <a:t>representing</a:t>
            </a:r>
            <a:r>
              <a:rPr sz="2200" spc="-15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30" dirty="0">
                <a:solidFill>
                  <a:prstClr val="black"/>
                </a:solidFill>
                <a:cs typeface="Calibri"/>
              </a:rPr>
              <a:t>numbers</a:t>
            </a:r>
            <a:r>
              <a:rPr sz="2200" spc="-25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5" dirty="0">
                <a:solidFill>
                  <a:prstClr val="black"/>
                </a:solidFill>
                <a:cs typeface="Calibri"/>
              </a:rPr>
              <a:t>(or</a:t>
            </a:r>
            <a:r>
              <a:rPr sz="2200" spc="10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20" dirty="0">
                <a:solidFill>
                  <a:prstClr val="black"/>
                </a:solidFill>
                <a:cs typeface="Calibri"/>
              </a:rPr>
              <a:t>character)</a:t>
            </a:r>
            <a:r>
              <a:rPr sz="2200" spc="-15" dirty="0">
                <a:solidFill>
                  <a:prstClr val="black"/>
                </a:solidFill>
                <a:cs typeface="Calibri"/>
              </a:rPr>
              <a:t> </a:t>
            </a:r>
            <a:r>
              <a:rPr sz="2200" dirty="0">
                <a:solidFill>
                  <a:prstClr val="black"/>
                </a:solidFill>
                <a:cs typeface="Calibri"/>
              </a:rPr>
              <a:t>in</a:t>
            </a:r>
            <a:r>
              <a:rPr sz="2200" spc="5" dirty="0">
                <a:solidFill>
                  <a:prstClr val="black"/>
                </a:solidFill>
                <a:cs typeface="Calibri"/>
              </a:rPr>
              <a:t> </a:t>
            </a:r>
            <a:r>
              <a:rPr sz="2200" dirty="0">
                <a:solidFill>
                  <a:prstClr val="black"/>
                </a:solidFill>
                <a:cs typeface="Calibri"/>
              </a:rPr>
              <a:t>one</a:t>
            </a:r>
            <a:r>
              <a:rPr sz="2200" spc="5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15" dirty="0">
                <a:solidFill>
                  <a:prstClr val="black"/>
                </a:solidFill>
                <a:cs typeface="Calibri"/>
              </a:rPr>
              <a:t>code</a:t>
            </a:r>
            <a:r>
              <a:rPr sz="2200" spc="470" dirty="0">
                <a:solidFill>
                  <a:prstClr val="black"/>
                </a:solidFill>
                <a:cs typeface="Calibri"/>
              </a:rPr>
              <a:t> </a:t>
            </a:r>
            <a:r>
              <a:rPr sz="2200" dirty="0">
                <a:solidFill>
                  <a:prstClr val="black"/>
                </a:solidFill>
                <a:cs typeface="Calibri"/>
              </a:rPr>
              <a:t>and</a:t>
            </a:r>
            <a:r>
              <a:rPr sz="2200" spc="495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5" dirty="0">
                <a:solidFill>
                  <a:prstClr val="black"/>
                </a:solidFill>
                <a:cs typeface="Calibri"/>
              </a:rPr>
              <a:t>whose </a:t>
            </a:r>
            <a:r>
              <a:rPr sz="2200" dirty="0">
                <a:solidFill>
                  <a:prstClr val="black"/>
                </a:solidFill>
                <a:cs typeface="Calibri"/>
              </a:rPr>
              <a:t> outputs</a:t>
            </a:r>
            <a:r>
              <a:rPr sz="2200" spc="-60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10" dirty="0">
                <a:solidFill>
                  <a:prstClr val="black"/>
                </a:solidFill>
                <a:cs typeface="Calibri"/>
              </a:rPr>
              <a:t>are</a:t>
            </a:r>
            <a:r>
              <a:rPr sz="2200" spc="-35" dirty="0">
                <a:solidFill>
                  <a:prstClr val="black"/>
                </a:solidFill>
                <a:cs typeface="Calibri"/>
              </a:rPr>
              <a:t> </a:t>
            </a:r>
            <a:r>
              <a:rPr sz="2200" dirty="0">
                <a:solidFill>
                  <a:prstClr val="black"/>
                </a:solidFill>
                <a:cs typeface="Calibri"/>
              </a:rPr>
              <a:t>the</a:t>
            </a:r>
            <a:r>
              <a:rPr sz="2200" spc="-20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5" dirty="0">
                <a:solidFill>
                  <a:prstClr val="black"/>
                </a:solidFill>
                <a:cs typeface="Calibri"/>
              </a:rPr>
              <a:t>corresponding</a:t>
            </a:r>
            <a:r>
              <a:rPr sz="2200" spc="-125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15" dirty="0">
                <a:solidFill>
                  <a:prstClr val="black"/>
                </a:solidFill>
                <a:cs typeface="Calibri"/>
              </a:rPr>
              <a:t>representation</a:t>
            </a:r>
            <a:r>
              <a:rPr sz="2200" spc="-120" dirty="0">
                <a:solidFill>
                  <a:prstClr val="black"/>
                </a:solidFill>
                <a:cs typeface="Calibri"/>
              </a:rPr>
              <a:t> </a:t>
            </a:r>
            <a:r>
              <a:rPr sz="2200" dirty="0">
                <a:solidFill>
                  <a:prstClr val="black"/>
                </a:solidFill>
                <a:cs typeface="Calibri"/>
              </a:rPr>
              <a:t>in</a:t>
            </a:r>
            <a:r>
              <a:rPr sz="2200" spc="5" dirty="0">
                <a:solidFill>
                  <a:prstClr val="black"/>
                </a:solidFill>
                <a:cs typeface="Calibri"/>
              </a:rPr>
              <a:t> </a:t>
            </a:r>
            <a:r>
              <a:rPr sz="2200" dirty="0">
                <a:solidFill>
                  <a:prstClr val="black"/>
                </a:solidFill>
                <a:cs typeface="Calibri"/>
              </a:rPr>
              <a:t>a</a:t>
            </a:r>
            <a:r>
              <a:rPr sz="2200" spc="-20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35" dirty="0">
                <a:solidFill>
                  <a:prstClr val="black"/>
                </a:solidFill>
                <a:cs typeface="Calibri"/>
              </a:rPr>
              <a:t>different</a:t>
            </a:r>
            <a:r>
              <a:rPr sz="2200" spc="-110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5" dirty="0">
                <a:solidFill>
                  <a:prstClr val="black"/>
                </a:solidFill>
                <a:cs typeface="Calibri"/>
              </a:rPr>
              <a:t>code.</a:t>
            </a:r>
            <a:endParaRPr sz="2200">
              <a:solidFill>
                <a:prstClr val="black"/>
              </a:solidFill>
              <a:cs typeface="Calibri"/>
            </a:endParaRPr>
          </a:p>
          <a:p>
            <a:pPr marL="12700" algn="just">
              <a:lnSpc>
                <a:spcPts val="2595"/>
              </a:lnSpc>
            </a:pPr>
            <a:r>
              <a:rPr sz="2200" b="1" dirty="0">
                <a:solidFill>
                  <a:prstClr val="black"/>
                </a:solidFill>
                <a:cs typeface="Calibri"/>
              </a:rPr>
              <a:t>Design</a:t>
            </a:r>
            <a:r>
              <a:rPr sz="2200" b="1" spc="-70" dirty="0">
                <a:solidFill>
                  <a:prstClr val="black"/>
                </a:solidFill>
                <a:cs typeface="Calibri"/>
              </a:rPr>
              <a:t> </a:t>
            </a:r>
            <a:r>
              <a:rPr sz="2200" b="1" spc="-5" dirty="0">
                <a:solidFill>
                  <a:prstClr val="black"/>
                </a:solidFill>
                <a:cs typeface="Calibri"/>
              </a:rPr>
              <a:t>of</a:t>
            </a:r>
            <a:r>
              <a:rPr sz="2200" b="1" dirty="0">
                <a:solidFill>
                  <a:prstClr val="black"/>
                </a:solidFill>
                <a:cs typeface="Calibri"/>
              </a:rPr>
              <a:t> </a:t>
            </a:r>
            <a:r>
              <a:rPr sz="2200" b="1" spc="5" dirty="0">
                <a:solidFill>
                  <a:prstClr val="black"/>
                </a:solidFill>
                <a:cs typeface="Calibri"/>
              </a:rPr>
              <a:t>a</a:t>
            </a:r>
            <a:r>
              <a:rPr sz="2200" b="1" dirty="0">
                <a:solidFill>
                  <a:prstClr val="black"/>
                </a:solidFill>
                <a:cs typeface="Calibri"/>
              </a:rPr>
              <a:t> 4-bit</a:t>
            </a:r>
            <a:r>
              <a:rPr sz="2200" b="1" spc="10" dirty="0">
                <a:solidFill>
                  <a:prstClr val="black"/>
                </a:solidFill>
                <a:cs typeface="Calibri"/>
              </a:rPr>
              <a:t> </a:t>
            </a:r>
            <a:r>
              <a:rPr sz="2200" b="1" spc="-5" dirty="0">
                <a:solidFill>
                  <a:prstClr val="black"/>
                </a:solidFill>
                <a:cs typeface="Calibri"/>
              </a:rPr>
              <a:t>binary </a:t>
            </a:r>
            <a:r>
              <a:rPr sz="2200" b="1" spc="-10" dirty="0">
                <a:solidFill>
                  <a:prstClr val="black"/>
                </a:solidFill>
                <a:cs typeface="Calibri"/>
              </a:rPr>
              <a:t>to</a:t>
            </a:r>
            <a:r>
              <a:rPr sz="2200" b="1" spc="-30" dirty="0">
                <a:solidFill>
                  <a:prstClr val="black"/>
                </a:solidFill>
                <a:cs typeface="Calibri"/>
              </a:rPr>
              <a:t> </a:t>
            </a:r>
            <a:r>
              <a:rPr sz="2200" b="1" spc="-40" dirty="0">
                <a:solidFill>
                  <a:prstClr val="black"/>
                </a:solidFill>
                <a:cs typeface="Calibri"/>
              </a:rPr>
              <a:t>gray</a:t>
            </a:r>
            <a:r>
              <a:rPr sz="2200" b="1" spc="-55" dirty="0">
                <a:solidFill>
                  <a:prstClr val="black"/>
                </a:solidFill>
                <a:cs typeface="Calibri"/>
              </a:rPr>
              <a:t> </a:t>
            </a:r>
            <a:r>
              <a:rPr sz="2200" b="1" spc="-5" dirty="0">
                <a:solidFill>
                  <a:prstClr val="black"/>
                </a:solidFill>
                <a:cs typeface="Calibri"/>
              </a:rPr>
              <a:t>code</a:t>
            </a:r>
            <a:r>
              <a:rPr sz="2200" b="1" spc="-95" dirty="0">
                <a:solidFill>
                  <a:prstClr val="black"/>
                </a:solidFill>
                <a:cs typeface="Calibri"/>
              </a:rPr>
              <a:t> </a:t>
            </a:r>
            <a:r>
              <a:rPr sz="2200" b="1" spc="-10" dirty="0">
                <a:solidFill>
                  <a:prstClr val="black"/>
                </a:solidFill>
                <a:cs typeface="Calibri"/>
              </a:rPr>
              <a:t>converter</a:t>
            </a:r>
            <a:endParaRPr sz="2200">
              <a:solidFill>
                <a:prstClr val="black"/>
              </a:solidFill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0917" y="5110734"/>
            <a:ext cx="1898014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200" spc="-5" dirty="0">
                <a:solidFill>
                  <a:prstClr val="black"/>
                </a:solidFill>
                <a:cs typeface="Calibri"/>
              </a:rPr>
              <a:t>F</a:t>
            </a:r>
            <a:r>
              <a:rPr sz="2200" spc="-10" dirty="0">
                <a:solidFill>
                  <a:prstClr val="black"/>
                </a:solidFill>
                <a:cs typeface="Calibri"/>
              </a:rPr>
              <a:t>i</a:t>
            </a:r>
            <a:r>
              <a:rPr sz="2200" dirty="0">
                <a:solidFill>
                  <a:prstClr val="black"/>
                </a:solidFill>
                <a:cs typeface="Calibri"/>
              </a:rPr>
              <a:t>g</a:t>
            </a:r>
            <a:r>
              <a:rPr sz="2200" spc="-45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10" dirty="0">
                <a:solidFill>
                  <a:prstClr val="black"/>
                </a:solidFill>
                <a:cs typeface="Calibri"/>
              </a:rPr>
              <a:t>:</a:t>
            </a:r>
            <a:r>
              <a:rPr sz="2200" dirty="0">
                <a:solidFill>
                  <a:prstClr val="black"/>
                </a:solidFill>
                <a:cs typeface="Calibri"/>
              </a:rPr>
              <a:t>1</a:t>
            </a:r>
            <a:r>
              <a:rPr sz="2200" spc="10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165" dirty="0">
                <a:solidFill>
                  <a:prstClr val="black"/>
                </a:solidFill>
                <a:cs typeface="Calibri"/>
              </a:rPr>
              <a:t>T</a:t>
            </a:r>
            <a:r>
              <a:rPr sz="2200" spc="-30" dirty="0">
                <a:solidFill>
                  <a:prstClr val="black"/>
                </a:solidFill>
                <a:cs typeface="Calibri"/>
              </a:rPr>
              <a:t>r</a:t>
            </a:r>
            <a:r>
              <a:rPr sz="2200" spc="-35" dirty="0">
                <a:solidFill>
                  <a:prstClr val="black"/>
                </a:solidFill>
                <a:cs typeface="Calibri"/>
              </a:rPr>
              <a:t>u</a:t>
            </a:r>
            <a:r>
              <a:rPr sz="2200" spc="-20" dirty="0">
                <a:solidFill>
                  <a:prstClr val="black"/>
                </a:solidFill>
                <a:cs typeface="Calibri"/>
              </a:rPr>
              <a:t>t</a:t>
            </a:r>
            <a:r>
              <a:rPr sz="2200" dirty="0">
                <a:solidFill>
                  <a:prstClr val="black"/>
                </a:solidFill>
                <a:cs typeface="Calibri"/>
              </a:rPr>
              <a:t>h</a:t>
            </a:r>
            <a:r>
              <a:rPr sz="2200" spc="-195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-20" dirty="0">
                <a:solidFill>
                  <a:prstClr val="black"/>
                </a:solidFill>
                <a:cs typeface="Calibri"/>
              </a:rPr>
              <a:t>t</a:t>
            </a:r>
            <a:r>
              <a:rPr sz="2200" dirty="0">
                <a:solidFill>
                  <a:prstClr val="black"/>
                </a:solidFill>
                <a:cs typeface="Calibri"/>
              </a:rPr>
              <a:t>a</a:t>
            </a:r>
            <a:r>
              <a:rPr sz="2200" spc="-10" dirty="0">
                <a:solidFill>
                  <a:prstClr val="black"/>
                </a:solidFill>
                <a:cs typeface="Calibri"/>
              </a:rPr>
              <a:t>b</a:t>
            </a:r>
            <a:r>
              <a:rPr sz="2200" dirty="0">
                <a:solidFill>
                  <a:prstClr val="black"/>
                </a:solidFill>
                <a:cs typeface="Calibri"/>
              </a:rPr>
              <a:t>le</a:t>
            </a:r>
            <a:endParaRPr sz="2200">
              <a:solidFill>
                <a:prstClr val="black"/>
              </a:solidFill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2590800"/>
            <a:ext cx="6324600" cy="38100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0168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927730" y="204292"/>
            <a:ext cx="325374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3200" b="1" spc="-35" dirty="0">
                <a:solidFill>
                  <a:srgbClr val="FF0000"/>
                </a:solidFill>
                <a:cs typeface="Calibri"/>
              </a:rPr>
              <a:t>CODE</a:t>
            </a:r>
            <a:r>
              <a:rPr sz="3200" b="1" spc="-55" dirty="0">
                <a:solidFill>
                  <a:srgbClr val="FF0000"/>
                </a:solidFill>
                <a:cs typeface="Calibri"/>
              </a:rPr>
              <a:t> </a:t>
            </a:r>
            <a:r>
              <a:rPr sz="3200" b="1" spc="-35" dirty="0">
                <a:solidFill>
                  <a:srgbClr val="FF0000"/>
                </a:solidFill>
                <a:cs typeface="Calibri"/>
              </a:rPr>
              <a:t>CONVERTERS</a:t>
            </a:r>
            <a:endParaRPr sz="3200">
              <a:solidFill>
                <a:prstClr val="black"/>
              </a:solidFill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211656"/>
            <a:ext cx="233172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200" spc="5" dirty="0">
                <a:solidFill>
                  <a:prstClr val="black"/>
                </a:solidFill>
                <a:cs typeface="Calibri"/>
              </a:rPr>
              <a:t>K</a:t>
            </a:r>
            <a:r>
              <a:rPr sz="2200" spc="-5" dirty="0">
                <a:solidFill>
                  <a:prstClr val="black"/>
                </a:solidFill>
                <a:cs typeface="Calibri"/>
              </a:rPr>
              <a:t>-</a:t>
            </a:r>
            <a:r>
              <a:rPr sz="2200" spc="10" dirty="0">
                <a:solidFill>
                  <a:prstClr val="black"/>
                </a:solidFill>
                <a:cs typeface="Calibri"/>
              </a:rPr>
              <a:t>m</a:t>
            </a:r>
            <a:r>
              <a:rPr sz="2200" spc="5" dirty="0">
                <a:solidFill>
                  <a:prstClr val="black"/>
                </a:solidFill>
                <a:cs typeface="Calibri"/>
              </a:rPr>
              <a:t>ap</a:t>
            </a:r>
            <a:r>
              <a:rPr sz="2200" spc="-145" dirty="0">
                <a:solidFill>
                  <a:prstClr val="black"/>
                </a:solidFill>
                <a:cs typeface="Calibri"/>
              </a:rPr>
              <a:t> </a:t>
            </a:r>
            <a:r>
              <a:rPr sz="2200" dirty="0">
                <a:solidFill>
                  <a:prstClr val="black"/>
                </a:solidFill>
                <a:cs typeface="Calibri"/>
              </a:rPr>
              <a:t>simp</a:t>
            </a:r>
            <a:r>
              <a:rPr sz="2200" spc="-10" dirty="0">
                <a:solidFill>
                  <a:prstClr val="black"/>
                </a:solidFill>
                <a:cs typeface="Calibri"/>
              </a:rPr>
              <a:t>l</a:t>
            </a:r>
            <a:r>
              <a:rPr sz="2200" dirty="0">
                <a:solidFill>
                  <a:prstClr val="black"/>
                </a:solidFill>
                <a:cs typeface="Calibri"/>
              </a:rPr>
              <a:t>if</a:t>
            </a:r>
            <a:r>
              <a:rPr sz="2200" spc="-10" dirty="0">
                <a:solidFill>
                  <a:prstClr val="black"/>
                </a:solidFill>
                <a:cs typeface="Calibri"/>
              </a:rPr>
              <a:t>i</a:t>
            </a:r>
            <a:r>
              <a:rPr sz="2200" spc="-25" dirty="0">
                <a:solidFill>
                  <a:prstClr val="black"/>
                </a:solidFill>
                <a:cs typeface="Calibri"/>
              </a:rPr>
              <a:t>ca</a:t>
            </a:r>
            <a:r>
              <a:rPr sz="2200" dirty="0">
                <a:solidFill>
                  <a:prstClr val="black"/>
                </a:solidFill>
                <a:cs typeface="Calibri"/>
              </a:rPr>
              <a:t>ti</a:t>
            </a:r>
            <a:r>
              <a:rPr sz="2200" spc="-10" dirty="0">
                <a:solidFill>
                  <a:prstClr val="black"/>
                </a:solidFill>
                <a:cs typeface="Calibri"/>
              </a:rPr>
              <a:t>o</a:t>
            </a:r>
            <a:r>
              <a:rPr sz="2200" spc="5" dirty="0">
                <a:solidFill>
                  <a:prstClr val="black"/>
                </a:solidFill>
                <a:cs typeface="Calibri"/>
              </a:rPr>
              <a:t>n</a:t>
            </a:r>
            <a:endParaRPr sz="2200">
              <a:solidFill>
                <a:prstClr val="black"/>
              </a:solidFill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752600"/>
            <a:ext cx="7010400" cy="2743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2200" y="4495800"/>
            <a:ext cx="4105655" cy="17526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4189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8917" y="88849"/>
            <a:ext cx="4084954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b="1" dirty="0">
                <a:latin typeface="Calibri"/>
                <a:cs typeface="Calibri"/>
              </a:rPr>
              <a:t>COD</a:t>
            </a:r>
            <a:r>
              <a:rPr sz="4000" b="1" spc="5" dirty="0">
                <a:latin typeface="Calibri"/>
                <a:cs typeface="Calibri"/>
              </a:rPr>
              <a:t>E</a:t>
            </a:r>
            <a:r>
              <a:rPr sz="4000" b="1" spc="-185" dirty="0">
                <a:latin typeface="Calibri"/>
                <a:cs typeface="Calibri"/>
              </a:rPr>
              <a:t> </a:t>
            </a:r>
            <a:r>
              <a:rPr sz="4000" b="1" spc="-30" dirty="0">
                <a:latin typeface="Calibri"/>
                <a:cs typeface="Calibri"/>
              </a:rPr>
              <a:t>C</a:t>
            </a:r>
            <a:r>
              <a:rPr sz="4000" b="1" spc="-20" dirty="0">
                <a:latin typeface="Calibri"/>
                <a:cs typeface="Calibri"/>
              </a:rPr>
              <a:t>ON</a:t>
            </a:r>
            <a:r>
              <a:rPr sz="4000" b="1" spc="-15" dirty="0">
                <a:latin typeface="Calibri"/>
                <a:cs typeface="Calibri"/>
              </a:rPr>
              <a:t>V</a:t>
            </a:r>
            <a:r>
              <a:rPr sz="4000" b="1" spc="-35" dirty="0">
                <a:latin typeface="Calibri"/>
                <a:cs typeface="Calibri"/>
              </a:rPr>
              <a:t>E</a:t>
            </a:r>
            <a:r>
              <a:rPr sz="4000" b="1" spc="-20" dirty="0">
                <a:latin typeface="Calibri"/>
                <a:cs typeface="Calibri"/>
              </a:rPr>
              <a:t>R</a:t>
            </a:r>
            <a:r>
              <a:rPr sz="4000" b="1" spc="-15" dirty="0">
                <a:latin typeface="Calibri"/>
                <a:cs typeface="Calibri"/>
              </a:rPr>
              <a:t>T</a:t>
            </a:r>
            <a:r>
              <a:rPr sz="4000" b="1" spc="-35" dirty="0">
                <a:latin typeface="Calibri"/>
                <a:cs typeface="Calibri"/>
              </a:rPr>
              <a:t>E</a:t>
            </a:r>
            <a:r>
              <a:rPr sz="4000" b="1" spc="-20" dirty="0">
                <a:latin typeface="Calibri"/>
                <a:cs typeface="Calibri"/>
              </a:rPr>
              <a:t>R</a:t>
            </a:r>
            <a:r>
              <a:rPr sz="4000" b="1" dirty="0">
                <a:latin typeface="Calibri"/>
                <a:cs typeface="Calibri"/>
              </a:rPr>
              <a:t>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2461" y="3557473"/>
            <a:ext cx="224218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200" spc="-5" dirty="0">
                <a:solidFill>
                  <a:prstClr val="black"/>
                </a:solidFill>
                <a:cs typeface="Calibri"/>
              </a:rPr>
              <a:t>F</a:t>
            </a:r>
            <a:r>
              <a:rPr sz="2200" spc="-10" dirty="0">
                <a:solidFill>
                  <a:prstClr val="black"/>
                </a:solidFill>
                <a:cs typeface="Calibri"/>
              </a:rPr>
              <a:t>ig</a:t>
            </a:r>
            <a:r>
              <a:rPr sz="2200" dirty="0">
                <a:solidFill>
                  <a:prstClr val="black"/>
                </a:solidFill>
                <a:cs typeface="Calibri"/>
              </a:rPr>
              <a:t>:</a:t>
            </a:r>
            <a:r>
              <a:rPr sz="2200" spc="-35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5" dirty="0">
                <a:solidFill>
                  <a:prstClr val="black"/>
                </a:solidFill>
                <a:cs typeface="Calibri"/>
              </a:rPr>
              <a:t>2</a:t>
            </a:r>
            <a:r>
              <a:rPr sz="2200" spc="-15" dirty="0">
                <a:solidFill>
                  <a:prstClr val="black"/>
                </a:solidFill>
                <a:cs typeface="Calibri"/>
              </a:rPr>
              <a:t> </a:t>
            </a:r>
            <a:r>
              <a:rPr sz="2200" spc="5" dirty="0">
                <a:solidFill>
                  <a:prstClr val="black"/>
                </a:solidFill>
                <a:cs typeface="Calibri"/>
              </a:rPr>
              <a:t>L</a:t>
            </a:r>
            <a:r>
              <a:rPr sz="2200" spc="15" dirty="0">
                <a:solidFill>
                  <a:prstClr val="black"/>
                </a:solidFill>
                <a:cs typeface="Calibri"/>
              </a:rPr>
              <a:t>o</a:t>
            </a:r>
            <a:r>
              <a:rPr sz="2200" spc="-10" dirty="0">
                <a:solidFill>
                  <a:prstClr val="black"/>
                </a:solidFill>
                <a:cs typeface="Calibri"/>
              </a:rPr>
              <a:t>g</a:t>
            </a:r>
            <a:r>
              <a:rPr sz="2200" dirty="0">
                <a:solidFill>
                  <a:prstClr val="black"/>
                </a:solidFill>
                <a:cs typeface="Calibri"/>
              </a:rPr>
              <a:t>ic</a:t>
            </a:r>
            <a:r>
              <a:rPr sz="2200" spc="-145" dirty="0">
                <a:solidFill>
                  <a:prstClr val="black"/>
                </a:solidFill>
                <a:cs typeface="Calibri"/>
              </a:rPr>
              <a:t> </a:t>
            </a:r>
            <a:r>
              <a:rPr sz="2200" dirty="0">
                <a:solidFill>
                  <a:prstClr val="black"/>
                </a:solidFill>
                <a:cs typeface="Calibri"/>
              </a:rPr>
              <a:t>d</a:t>
            </a:r>
            <a:r>
              <a:rPr sz="2200" spc="-15" dirty="0">
                <a:solidFill>
                  <a:prstClr val="black"/>
                </a:solidFill>
                <a:cs typeface="Calibri"/>
              </a:rPr>
              <a:t>i</a:t>
            </a:r>
            <a:r>
              <a:rPr sz="2200" spc="5" dirty="0">
                <a:solidFill>
                  <a:prstClr val="black"/>
                </a:solidFill>
                <a:cs typeface="Calibri"/>
              </a:rPr>
              <a:t>a</a:t>
            </a:r>
            <a:r>
              <a:rPr sz="2200" spc="-10" dirty="0">
                <a:solidFill>
                  <a:prstClr val="black"/>
                </a:solidFill>
                <a:cs typeface="Calibri"/>
              </a:rPr>
              <a:t>g</a:t>
            </a:r>
            <a:r>
              <a:rPr sz="2200" spc="-50" dirty="0">
                <a:solidFill>
                  <a:prstClr val="black"/>
                </a:solidFill>
                <a:cs typeface="Calibri"/>
              </a:rPr>
              <a:t>r</a:t>
            </a:r>
            <a:r>
              <a:rPr sz="2200" spc="5" dirty="0">
                <a:solidFill>
                  <a:prstClr val="black"/>
                </a:solidFill>
                <a:cs typeface="Calibri"/>
              </a:rPr>
              <a:t>am</a:t>
            </a:r>
            <a:endParaRPr sz="2200">
              <a:solidFill>
                <a:prstClr val="black"/>
              </a:solidFill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0" y="1676400"/>
            <a:ext cx="1905000" cy="18135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9878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B7519-1575-5716-F1EB-E43B86C6B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014" y="166243"/>
            <a:ext cx="7541971" cy="307777"/>
          </a:xfrm>
        </p:spPr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EAFFA-6784-AF4F-93F6-0C6285988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762000"/>
            <a:ext cx="8583701" cy="276999"/>
          </a:xfrm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DC363-2D2C-6F12-CF9A-2B837B5D4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99" y="246564"/>
            <a:ext cx="7935086" cy="15848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ED4E18-990B-2E17-DAA1-A251928F1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031203"/>
            <a:ext cx="8446083" cy="449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5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A9FF7-8EA9-6AFB-F3A8-E78E9431C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6C6B4-03CC-7F68-E504-504AE0412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D2068-FED8-D3FB-026B-91F345C33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47523"/>
            <a:ext cx="7162800" cy="373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821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538</Words>
  <Application>Microsoft Office PowerPoint</Application>
  <PresentationFormat>On-screen Show (4:3)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1_Office Theme</vt:lpstr>
      <vt:lpstr>Binary codes</vt:lpstr>
      <vt:lpstr>  </vt:lpstr>
      <vt:lpstr>   </vt:lpstr>
      <vt:lpstr>Binary to BCD Conversion</vt:lpstr>
      <vt:lpstr>BCD to Gray code Conversion</vt:lpstr>
      <vt:lpstr>Gray to Binary Code Conversion</vt:lpstr>
      <vt:lpstr>BCD to Binary Code Conversion</vt:lpstr>
      <vt:lpstr>PowerPoint Presentation</vt:lpstr>
      <vt:lpstr>CODE CONVERTERS</vt:lpstr>
      <vt:lpstr>PowerPoint Presentation</vt:lpstr>
      <vt:lpstr>CODE CONVERTERS</vt:lpstr>
      <vt:lpstr>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to BCD Conversion</dc:title>
  <dc:creator>ADMIN</dc:creator>
  <cp:lastModifiedBy>Sivasankaran</cp:lastModifiedBy>
  <cp:revision>4</cp:revision>
  <dcterms:created xsi:type="dcterms:W3CDTF">2022-03-30T16:17:35Z</dcterms:created>
  <dcterms:modified xsi:type="dcterms:W3CDTF">2024-03-07T03:08:32Z</dcterms:modified>
</cp:coreProperties>
</file>