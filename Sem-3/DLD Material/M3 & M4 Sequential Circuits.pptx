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8" r:id="rId5"/>
    <p:sldId id="257" r:id="rId6"/>
    <p:sldId id="286" r:id="rId7"/>
    <p:sldId id="260" r:id="rId8"/>
    <p:sldId id="281" r:id="rId9"/>
    <p:sldId id="282" r:id="rId10"/>
    <p:sldId id="283" r:id="rId11"/>
    <p:sldId id="262" r:id="rId12"/>
    <p:sldId id="261" r:id="rId13"/>
    <p:sldId id="263" r:id="rId14"/>
    <p:sldId id="264" r:id="rId15"/>
    <p:sldId id="265" r:id="rId16"/>
    <p:sldId id="266" r:id="rId17"/>
    <p:sldId id="267" r:id="rId18"/>
    <p:sldId id="284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A2D55-012B-4200-8251-77C4BD0318ED}" type="datetimeFigureOut">
              <a:rPr lang="en-US" smtClean="0"/>
              <a:t>4/19/2022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D6DC4-20EA-41E8-9CE4-37A0B8B37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6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D6DC4-20EA-41E8-9CE4-37A0B8B377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4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Drawbacks of Combinational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you need to design a system that stores and uses previous input and output, then we can not use a combinational circuit because it doesn’t have capability to store any state or depend clock or and time.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these properties you can use Sequential circuits.</a:t>
            </a:r>
          </a:p>
        </p:txBody>
      </p:sp>
    </p:spTree>
    <p:extLst>
      <p:ext uri="{BB962C8B-B14F-4D97-AF65-F5344CB8AC3E}">
        <p14:creationId xmlns:p14="http://schemas.microsoft.com/office/powerpoint/2010/main" val="192019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Sequential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logic is a type of logic circuit whose output depends not only on the present value of its input signals but on the sequence of past inputs, the input history as well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/>
              <a:t>Types of Sequential Circuits</a:t>
            </a:r>
          </a:p>
          <a:p>
            <a:pPr lvl="1"/>
            <a:r>
              <a:rPr lang="en-US" sz="2400" dirty="0"/>
              <a:t>Asynchronous sequential </a:t>
            </a:r>
            <a:r>
              <a:rPr lang="en-US" sz="2400" dirty="0" smtClean="0"/>
              <a:t>circuits</a:t>
            </a:r>
          </a:p>
          <a:p>
            <a:pPr lvl="2"/>
            <a:r>
              <a:rPr lang="en-US" sz="2000" dirty="0"/>
              <a:t>some or all the outputs of a sequential circuit do not change </a:t>
            </a:r>
            <a:r>
              <a:rPr lang="en-US" sz="2000" dirty="0" smtClean="0"/>
              <a:t>affect</a:t>
            </a:r>
            <a:r>
              <a:rPr lang="en-US" sz="2000" dirty="0"/>
              <a:t> with respect to active transition of clock </a:t>
            </a:r>
            <a:r>
              <a:rPr lang="en-US" sz="2000" dirty="0" smtClean="0"/>
              <a:t>signal</a:t>
            </a:r>
          </a:p>
          <a:p>
            <a:pPr lvl="1"/>
            <a:r>
              <a:rPr lang="en-US" sz="2400" dirty="0" smtClean="0"/>
              <a:t>Synchronous </a:t>
            </a:r>
            <a:r>
              <a:rPr lang="en-US" sz="2400" dirty="0"/>
              <a:t>sequential </a:t>
            </a:r>
            <a:r>
              <a:rPr lang="en-US" sz="2400" dirty="0" smtClean="0"/>
              <a:t>circuits</a:t>
            </a:r>
          </a:p>
          <a:p>
            <a:pPr lvl="2"/>
            <a:r>
              <a:rPr lang="en-US" sz="2000" dirty="0"/>
              <a:t>all the outputs of a sequential circuit change </a:t>
            </a:r>
            <a:r>
              <a:rPr lang="en-US" sz="2000" dirty="0" smtClean="0"/>
              <a:t>affect</a:t>
            </a:r>
            <a:r>
              <a:rPr lang="en-US" sz="2000" dirty="0"/>
              <a:t> with respect to active transition of clock </a:t>
            </a:r>
            <a:r>
              <a:rPr lang="en-US" sz="2000" dirty="0" smtClean="0"/>
              <a:t>signal.</a:t>
            </a:r>
          </a:p>
          <a:p>
            <a:pPr lvl="3"/>
            <a:endParaRPr lang="en-US" sz="1600" dirty="0"/>
          </a:p>
          <a:p>
            <a:pPr lvl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06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memory stores data – usually one bit per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element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snapshot of the memory is called the state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one bit memory is often called 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bistable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i.e., it has 2 stable internal states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Flip-flops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latches are particular implementations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bistables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60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0076"/>
            <a:ext cx="3962400" cy="58213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Asynchronous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Element delay determines speed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Basic elements are Latches.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Synchronous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Clock frequency (1GHz, 2GHz,etc.) -&gt; speed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Basic elements are Flip Flops</a:t>
            </a:r>
          </a:p>
          <a:p>
            <a:pPr lvl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73182"/>
            <a:ext cx="5638800" cy="1515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363" y="2971800"/>
            <a:ext cx="4984474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5505168"/>
            <a:ext cx="40767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23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Clock Signal and Triggering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Clock signal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Clock signal is a periodic signal and its ON time and OFF time need not be the same. We can represent the clock signal as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square wave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when both its ON time and OFF time are same.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period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will be equal to sum of ON time and OFF 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The reciprocal of the time period of clock signal is known as the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frequency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of the clock signal. </a:t>
            </a:r>
          </a:p>
        </p:txBody>
      </p:sp>
      <p:pic>
        <p:nvPicPr>
          <p:cNvPr id="20482" name="Picture 2" descr="Train of Puls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800600"/>
            <a:ext cx="5715000" cy="153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35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229600" cy="68580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Triggering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Level triggering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Positive level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triggering</a:t>
            </a: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Negative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 triggering</a:t>
            </a: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Edge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triggering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/>
              <a:t>Positive edge </a:t>
            </a:r>
            <a:r>
              <a:rPr lang="en-US" sz="2000" dirty="0" smtClean="0"/>
              <a:t>triggering</a:t>
            </a:r>
          </a:p>
          <a:p>
            <a:pPr lvl="2"/>
            <a:endParaRPr lang="en-US" sz="2000" dirty="0"/>
          </a:p>
          <a:p>
            <a:pPr lvl="2"/>
            <a:endParaRPr lang="en-US" sz="2000" dirty="0" smtClean="0"/>
          </a:p>
          <a:p>
            <a:pPr lvl="2"/>
            <a:endParaRPr lang="en-US" sz="2000" dirty="0"/>
          </a:p>
          <a:p>
            <a:pPr lvl="2"/>
            <a:r>
              <a:rPr lang="en-US" sz="2000" dirty="0" smtClean="0"/>
              <a:t>Negative </a:t>
            </a:r>
            <a:r>
              <a:rPr lang="en-US" sz="2000" dirty="0"/>
              <a:t>edge triggering</a:t>
            </a: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level trigg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990600"/>
            <a:ext cx="5257800" cy="118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Negative Level Trigge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495244"/>
            <a:ext cx="5105400" cy="114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Positive Edge Trigger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886200"/>
            <a:ext cx="5105400" cy="114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 descr="Negative Edge Trigger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410200"/>
            <a:ext cx="5334000" cy="120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11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Latches operate with enable signal, which is </a:t>
            </a:r>
            <a:r>
              <a:rPr lang="en-US" b="1" dirty="0"/>
              <a:t>level sensitive</a:t>
            </a:r>
            <a:r>
              <a:rPr lang="en-US" dirty="0"/>
              <a:t>. Whereas, flip-flops are edge sensitive. </a:t>
            </a:r>
          </a:p>
        </p:txBody>
      </p:sp>
    </p:spTree>
    <p:extLst>
      <p:ext uri="{BB962C8B-B14F-4D97-AF65-F5344CB8AC3E}">
        <p14:creationId xmlns:p14="http://schemas.microsoft.com/office/powerpoint/2010/main" val="112111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2667000" cy="6477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SR latch</a:t>
            </a:r>
          </a:p>
          <a:p>
            <a:pPr marL="457200" lvl="1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Q(t+1)(Q(t), S, R)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SR Latch with NAND implementation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103" y="457200"/>
            <a:ext cx="6358697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829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5897563"/>
          </a:xfrm>
        </p:spPr>
        <p:txBody>
          <a:bodyPr/>
          <a:lstStyle/>
          <a:p>
            <a:r>
              <a:rPr lang="en-US" dirty="0" smtClean="0"/>
              <a:t>D Latch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443163"/>
            <a:ext cx="66484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4800600"/>
            <a:ext cx="522922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172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Flip Flops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2081213"/>
            <a:ext cx="440055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587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3962400" cy="58213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Edge-Triggered D Flip-Flop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Latches: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Master-Slave Flip-Flop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edge triggered.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 = 1/T</a:t>
            </a:r>
            <a:endParaRPr 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143000"/>
            <a:ext cx="4655349" cy="5392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99" y="3640719"/>
            <a:ext cx="4138899" cy="3064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98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5821363"/>
          </a:xfrm>
        </p:spPr>
        <p:txBody>
          <a:bodyPr/>
          <a:lstStyle/>
          <a:p>
            <a:r>
              <a:rPr lang="en-US" dirty="0" smtClean="0"/>
              <a:t>JK Flip-Flops (from D FF)</a:t>
            </a:r>
          </a:p>
          <a:p>
            <a:pPr lvl="1"/>
            <a:r>
              <a:rPr lang="en-US" dirty="0" smtClean="0"/>
              <a:t>Input </a:t>
            </a:r>
            <a:r>
              <a:rPr lang="en-US" dirty="0" err="1" smtClean="0"/>
              <a:t>Eq</a:t>
            </a:r>
            <a:r>
              <a:rPr lang="en-US" dirty="0" smtClean="0"/>
              <a:t>: D = JQ’ + K’Q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Characteristic Equation</a:t>
            </a:r>
          </a:p>
          <a:p>
            <a:pPr lvl="2"/>
            <a:r>
              <a:rPr lang="en-US" dirty="0" smtClean="0"/>
              <a:t>Q(t+1) = D</a:t>
            </a:r>
          </a:p>
          <a:p>
            <a:pPr marL="1371600" lvl="3" indent="0">
              <a:buNone/>
            </a:pPr>
            <a:r>
              <a:rPr lang="en-US" dirty="0" smtClean="0"/>
              <a:t>= JQ’+K’Q(t)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Characteristic Table</a:t>
            </a:r>
            <a:endParaRPr lang="en-US" dirty="0"/>
          </a:p>
          <a:p>
            <a:pPr lvl="1"/>
            <a:endParaRPr lang="en-US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17" y="2442882"/>
            <a:ext cx="6039283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3" y="5186082"/>
            <a:ext cx="3862707" cy="1671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590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 Flip-Flop (from D or JK FFs)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Input Equation :  D = T </a:t>
            </a:r>
            <a:r>
              <a:rPr lang="en-US" dirty="0" smtClean="0">
                <a:latin typeface="Times New Roman" pitchFamily="18" charset="0"/>
                <a:ea typeface="SimHei"/>
                <a:cs typeface="Times New Roman" pitchFamily="18" charset="0"/>
              </a:rPr>
              <a:t>⊕ Q</a:t>
            </a:r>
          </a:p>
          <a:p>
            <a:pPr lvl="1"/>
            <a:r>
              <a:rPr lang="en-US" dirty="0" smtClean="0">
                <a:latin typeface="Times New Roman" pitchFamily="18" charset="0"/>
                <a:ea typeface="SimHei"/>
                <a:cs typeface="Times New Roman" pitchFamily="18" charset="0"/>
              </a:rPr>
              <a:t>Characteristic equation </a:t>
            </a:r>
          </a:p>
          <a:p>
            <a:pPr marL="914400" lvl="2" indent="0">
              <a:buNone/>
            </a:pPr>
            <a:r>
              <a:rPr lang="en-US" dirty="0" smtClean="0">
                <a:latin typeface="Times New Roman" pitchFamily="18" charset="0"/>
                <a:ea typeface="SimHei"/>
                <a:cs typeface="Times New Roman" pitchFamily="18" charset="0"/>
              </a:rPr>
              <a:t>Q(t+1) = D</a:t>
            </a:r>
          </a:p>
          <a:p>
            <a:pPr marL="914400" lvl="2" indent="0">
              <a:buNone/>
            </a:pPr>
            <a:r>
              <a:rPr lang="en-US" dirty="0">
                <a:latin typeface="Times New Roman" pitchFamily="18" charset="0"/>
                <a:ea typeface="SimHei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ea typeface="SimHei"/>
                <a:cs typeface="Times New Roman" pitchFamily="18" charset="0"/>
              </a:rPr>
              <a:t>= T ⊕ Q(t)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799"/>
            <a:ext cx="8902026" cy="238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23843"/>
            <a:ext cx="3904791" cy="1234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68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05800" cy="5897563"/>
          </a:xfrm>
        </p:spPr>
        <p:txBody>
          <a:bodyPr/>
          <a:lstStyle/>
          <a:p>
            <a:r>
              <a:rPr lang="en-US" dirty="0" smtClean="0"/>
              <a:t>D-FF with asynchronous reset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930345"/>
            <a:ext cx="6200775" cy="4479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2" y="2362200"/>
            <a:ext cx="2842178" cy="358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66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 and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2672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design of Sequential circuits, the procedure involves the following steps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state table and state equations.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state diagram using the state table.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Reduce states using state reduction technique.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Verify the number of Flip-Flops and type of Flip-Flop to be used.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excitation equations using the excitation table.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output function and the Flip-Flop input functions.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logic functions or equation for each output variable.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Draw the required logic diagram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8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1376" y="0"/>
            <a:ext cx="4831976" cy="67818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Analysis of Clocked Sequential Circuits (Synchronous Circuits)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Represents in: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Circuit drawing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Equation (algebraic expression, state equation, transition equation).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Table (state table, transition table))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same as truth table,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characteristic table,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functional table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State diagram (Finite State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Machine(FSM), transition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diagram)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Timing diagram.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730" y="1877242"/>
            <a:ext cx="4979894" cy="4931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290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534400" cy="61261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Analysis with D FF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" y="609600"/>
            <a:ext cx="3762375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612" y="228041"/>
            <a:ext cx="5299387" cy="609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436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1652028"/>
            <a:ext cx="3714750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43000"/>
            <a:ext cx="5388380" cy="460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473" y="77415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43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" y="22412"/>
            <a:ext cx="8229600" cy="4525963"/>
          </a:xfrm>
        </p:spPr>
        <p:txBody>
          <a:bodyPr/>
          <a:lstStyle/>
          <a:p>
            <a:r>
              <a:rPr lang="en-US" dirty="0" smtClean="0"/>
              <a:t>Analysis with JK FF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9" y="914400"/>
            <a:ext cx="3743325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06" y="457200"/>
            <a:ext cx="5562600" cy="528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513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3447" y="0"/>
            <a:ext cx="8229600" cy="4525963"/>
          </a:xfrm>
        </p:spPr>
        <p:txBody>
          <a:bodyPr/>
          <a:lstStyle/>
          <a:p>
            <a:r>
              <a:rPr lang="en-US" dirty="0" smtClean="0"/>
              <a:t>Analysis with T FF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0100"/>
            <a:ext cx="3781425" cy="605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6" y="818029"/>
            <a:ext cx="5362574" cy="506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01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229600" cy="4525963"/>
          </a:xfrm>
        </p:spPr>
        <p:txBody>
          <a:bodyPr/>
          <a:lstStyle/>
          <a:p>
            <a:r>
              <a:rPr lang="en-US" dirty="0" smtClean="0"/>
              <a:t>State Reduction and Assignments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76784"/>
            <a:ext cx="8924132" cy="558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46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5" y="0"/>
            <a:ext cx="8229600" cy="4525963"/>
          </a:xfrm>
        </p:spPr>
        <p:txBody>
          <a:bodyPr/>
          <a:lstStyle/>
          <a:p>
            <a:r>
              <a:rPr lang="en-US" dirty="0" smtClean="0"/>
              <a:t>Flip-Flop Excitation Tables (inverse function)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0872"/>
            <a:ext cx="9067800" cy="5527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95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76" y="17929"/>
            <a:ext cx="8229600" cy="4525963"/>
          </a:xfrm>
        </p:spPr>
        <p:txBody>
          <a:bodyPr/>
          <a:lstStyle/>
          <a:p>
            <a:r>
              <a:rPr lang="en-US" dirty="0" smtClean="0"/>
              <a:t>Ex: Detect 3 ones in row (overlap)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71600"/>
            <a:ext cx="8915400" cy="547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24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82"/>
            <a:ext cx="91440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a T FF, design a circuit that counts from 0 to 7 compare to D  and JK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94304"/>
            <a:ext cx="8915400" cy="5863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29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" y="0"/>
            <a:ext cx="8229600" cy="6049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a T FF, design a circuit that counts from 4 to 4 and check for unused states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8" y="1295400"/>
            <a:ext cx="9096375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9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CE2337B975E408DA6B832AEDE73D6" ma:contentTypeVersion="2" ma:contentTypeDescription="Create a new document." ma:contentTypeScope="" ma:versionID="39418729339e15cb49566a66fad1e64a">
  <xsd:schema xmlns:xsd="http://www.w3.org/2001/XMLSchema" xmlns:xs="http://www.w3.org/2001/XMLSchema" xmlns:p="http://schemas.microsoft.com/office/2006/metadata/properties" xmlns:ns2="7fb689ba-f627-4224-ac00-8714095bdf68" targetNamespace="http://schemas.microsoft.com/office/2006/metadata/properties" ma:root="true" ma:fieldsID="9838b32448ac8d296677d6d7ecfa6659" ns2:_="">
    <xsd:import namespace="7fb689ba-f627-4224-ac00-8714095bdf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689ba-f627-4224-ac00-8714095bd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1D69F7-BDFC-4112-A9E7-C30DDF36D0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E5157-9655-4E1D-B262-C835101CCFA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F2CF6A8-3522-49A4-BA51-A4DEB920CC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689ba-f627-4224-ac00-8714095bd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507</Words>
  <Application>Microsoft Office PowerPoint</Application>
  <PresentationFormat>On-screen Show (4:3)</PresentationFormat>
  <Paragraphs>125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Drawbacks of Combinational circuits</vt:lpstr>
      <vt:lpstr>PowerPoint Presentation</vt:lpstr>
      <vt:lpstr>Memory Element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and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Circuits</dc:title>
  <dc:creator>baldev</dc:creator>
  <cp:lastModifiedBy>ADMIN</cp:lastModifiedBy>
  <cp:revision>66</cp:revision>
  <dcterms:created xsi:type="dcterms:W3CDTF">2006-08-16T00:00:00Z</dcterms:created>
  <dcterms:modified xsi:type="dcterms:W3CDTF">2022-04-19T15:31:17Z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0x010100BA1CE2337B975E408DA6B832AEDE73D6</vt:lpwstr>
  </property>
</Properties>
</file>