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81" r:id="rId5"/>
    <p:sldId id="280" r:id="rId6"/>
    <p:sldId id="284" r:id="rId7"/>
    <p:sldId id="285" r:id="rId8"/>
    <p:sldId id="286" r:id="rId9"/>
    <p:sldId id="258" r:id="rId10"/>
    <p:sldId id="259" r:id="rId11"/>
    <p:sldId id="260" r:id="rId12"/>
    <p:sldId id="261" r:id="rId13"/>
    <p:sldId id="262" r:id="rId14"/>
    <p:sldId id="287" r:id="rId15"/>
    <p:sldId id="288" r:id="rId16"/>
    <p:sldId id="290" r:id="rId17"/>
    <p:sldId id="289" r:id="rId18"/>
    <p:sldId id="291" r:id="rId19"/>
    <p:sldId id="292" r:id="rId20"/>
    <p:sldId id="293" r:id="rId21"/>
    <p:sldId id="294" r:id="rId22"/>
    <p:sldId id="295" r:id="rId23"/>
    <p:sldId id="296" r:id="rId24"/>
    <p:sldId id="297" r:id="rId25"/>
    <p:sldId id="298" r:id="rId26"/>
    <p:sldId id="299" r:id="rId27"/>
    <p:sldId id="300" r:id="rId28"/>
    <p:sldId id="283" r:id="rId29"/>
    <p:sldId id="282" r:id="rId30"/>
    <p:sldId id="263" r:id="rId31"/>
    <p:sldId id="264" r:id="rId32"/>
    <p:sldId id="265" r:id="rId33"/>
    <p:sldId id="266" r:id="rId34"/>
    <p:sldId id="267" r:id="rId35"/>
    <p:sldId id="301" r:id="rId36"/>
    <p:sldId id="273" r:id="rId37"/>
    <p:sldId id="274" r:id="rId38"/>
    <p:sldId id="302" r:id="rId39"/>
    <p:sldId id="275" r:id="rId40"/>
    <p:sldId id="276" r:id="rId41"/>
    <p:sldId id="279" r:id="rId4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-1236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gi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jpeg"/><Relationship Id="rId4" Type="http://schemas.openxmlformats.org/officeDocument/2006/relationships/image" Target="../media/image37.jpe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62000"/>
          </a:xfrm>
        </p:spPr>
        <p:txBody>
          <a:bodyPr>
            <a:normAutofit/>
          </a:bodyPr>
          <a:lstStyle/>
          <a:p>
            <a:r>
              <a:rPr lang="en-US" sz="4000" dirty="0" smtClean="0">
                <a:latin typeface="Times New Roman" pitchFamily="18" charset="0"/>
                <a:cs typeface="Times New Roman" pitchFamily="18" charset="0"/>
              </a:rPr>
              <a:t>Counters</a:t>
            </a:r>
            <a:endParaRPr lang="en-US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838200"/>
            <a:ext cx="8991600" cy="5791200"/>
          </a:xfrm>
        </p:spPr>
        <p:txBody>
          <a:bodyPr>
            <a:normAutofit lnSpcReduction="10000"/>
          </a:bodyPr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 special type of sequential circuit used to count the pulse is known as a counter, or a collection of flip flops where the clock signal is applied is known as counters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Counters are of 3 types,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namely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: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Asynchronous/synchronous</a:t>
            </a:r>
          </a:p>
          <a:p>
            <a:pPr lvl="1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ingle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and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Multi-mode </a:t>
            </a:r>
          </a:p>
          <a:p>
            <a:pPr lvl="1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odulus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counter.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4578" name="Picture 2" descr="Counter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1843" y="1905000"/>
            <a:ext cx="5611957" cy="28629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325109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"/>
            <a:ext cx="8229600" cy="5973763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Counters</a:t>
            </a:r>
          </a:p>
          <a:p>
            <a:pPr lvl="1"/>
            <a:r>
              <a:rPr lang="en-US" dirty="0" smtClean="0"/>
              <a:t>Synchronous</a:t>
            </a:r>
          </a:p>
          <a:p>
            <a:pPr lvl="2"/>
            <a:r>
              <a:rPr lang="en-US" dirty="0" smtClean="0"/>
              <a:t>Different FF triggered with different clock.</a:t>
            </a:r>
          </a:p>
          <a:p>
            <a:pPr lvl="2"/>
            <a:r>
              <a:rPr lang="en-US" dirty="0" smtClean="0"/>
              <a:t>Faster </a:t>
            </a:r>
          </a:p>
          <a:p>
            <a:pPr lvl="2"/>
            <a:r>
              <a:rPr lang="en-US" dirty="0" smtClean="0"/>
              <a:t>Not produce decoding errors.</a:t>
            </a:r>
          </a:p>
          <a:p>
            <a:pPr lvl="2"/>
            <a:r>
              <a:rPr lang="en-US" dirty="0" smtClean="0"/>
              <a:t>Also called parallel counter</a:t>
            </a:r>
          </a:p>
          <a:p>
            <a:pPr lvl="2"/>
            <a:r>
              <a:rPr lang="en-US" dirty="0" smtClean="0"/>
              <a:t>Variable count sequence</a:t>
            </a:r>
          </a:p>
          <a:p>
            <a:pPr lvl="2"/>
            <a:r>
              <a:rPr lang="en-US" dirty="0" smtClean="0"/>
              <a:t>Ex: Ring counter, Johnson counter</a:t>
            </a:r>
          </a:p>
          <a:p>
            <a:pPr lvl="2"/>
            <a:r>
              <a:rPr lang="en-US" dirty="0" smtClean="0"/>
              <a:t>Low propagation delay</a:t>
            </a:r>
          </a:p>
          <a:p>
            <a:pPr lvl="1"/>
            <a:r>
              <a:rPr lang="en-US" dirty="0" smtClean="0"/>
              <a:t>Asynchronous</a:t>
            </a:r>
          </a:p>
          <a:p>
            <a:pPr lvl="2"/>
            <a:r>
              <a:rPr lang="en-US" dirty="0" smtClean="0"/>
              <a:t>All FF are triggered with same clock simultaneously.</a:t>
            </a:r>
          </a:p>
          <a:p>
            <a:pPr lvl="2"/>
            <a:r>
              <a:rPr lang="en-US" dirty="0" smtClean="0"/>
              <a:t>Slower</a:t>
            </a:r>
          </a:p>
          <a:p>
            <a:pPr lvl="2"/>
            <a:r>
              <a:rPr lang="en-US" dirty="0" smtClean="0"/>
              <a:t>Produce decoding errors</a:t>
            </a:r>
          </a:p>
          <a:p>
            <a:pPr lvl="2"/>
            <a:r>
              <a:rPr lang="en-US" dirty="0" smtClean="0"/>
              <a:t>Also called serial counter</a:t>
            </a:r>
          </a:p>
          <a:p>
            <a:pPr lvl="2"/>
            <a:r>
              <a:rPr lang="en-US" dirty="0" smtClean="0"/>
              <a:t>Fixed count sequence</a:t>
            </a:r>
          </a:p>
          <a:p>
            <a:pPr lvl="2"/>
            <a:r>
              <a:rPr lang="en-US" dirty="0" smtClean="0"/>
              <a:t>Ex: Ripple, Up/Down counter</a:t>
            </a:r>
          </a:p>
          <a:p>
            <a:pPr lvl="2"/>
            <a:r>
              <a:rPr lang="en-US" dirty="0" smtClean="0"/>
              <a:t>High propagation </a:t>
            </a:r>
            <a:r>
              <a:rPr lang="en-US" dirty="0"/>
              <a:t>delay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1209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"/>
            <a:ext cx="8229600" cy="5973763"/>
          </a:xfrm>
        </p:spPr>
        <p:txBody>
          <a:bodyPr>
            <a:normAutofit/>
          </a:bodyPr>
          <a:lstStyle/>
          <a:p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Asynchronous counter</a:t>
            </a:r>
          </a:p>
          <a:p>
            <a:pPr lvl="1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The 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Asynchronous counter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 is also known as the 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ripple counter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.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Ex 2-bit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Asynchronous counter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 in which we used two T flip-flops.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external clock pass to the clock input of the first flip flop, i.e., FF-A and its output, i.e., is passed to clock input of the next flip flop, i.e., FF-B.</a:t>
            </a:r>
          </a:p>
        </p:txBody>
      </p:sp>
      <p:pic>
        <p:nvPicPr>
          <p:cNvPr id="26626" name="Picture 2" descr="Counter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13" y="2971800"/>
            <a:ext cx="5059647" cy="2152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630" name="Picture 6" descr="Counter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3924300"/>
            <a:ext cx="44196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5502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"/>
            <a:ext cx="8229600" cy="5973763"/>
          </a:xfrm>
        </p:spPr>
        <p:txBody>
          <a:bodyPr>
            <a:normAutofit/>
          </a:bodyPr>
          <a:lstStyle/>
          <a:p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Synchronous Counter</a:t>
            </a:r>
          </a:p>
          <a:p>
            <a:pPr lvl="1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In the 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Asynchronous counter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, the present counter's output passes to the input of the next counter. So, the counters are connected like a chain. The drawback of this system is that it creates the counting delay, and the propagation delay also occurs during the counting stage. The 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synchronous counter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 is designed to remove this drawback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lvl="1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Ex: A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2-bit synchronous counter in which the inputs of the first flip flop, i.e., FF-A, are set to 1. So, the first flip flop will work as a toggle flip-flop. The output of the first flip flop is passed to both the inputs of the next JK flip flop.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lvl="1" indent="0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15302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Picture 2" descr="Counter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0948" y="-76200"/>
            <a:ext cx="4448175" cy="2343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652" name="Picture 4" descr="Counter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400" y="1702823"/>
            <a:ext cx="5539390" cy="2335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654" name="Picture 6" descr="Counters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49" y="4038600"/>
            <a:ext cx="4714875" cy="2714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14783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62000"/>
          </a:xfrm>
        </p:spPr>
        <p:txBody>
          <a:bodyPr>
            <a:normAutofit/>
          </a:bodyPr>
          <a:lstStyle/>
          <a:p>
            <a:r>
              <a:rPr lang="en-US" dirty="0" smtClean="0"/>
              <a:t>Synchronous Counter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211763"/>
          </a:xfrm>
        </p:spPr>
        <p:txBody>
          <a:bodyPr/>
          <a:lstStyle/>
          <a:p>
            <a:r>
              <a:rPr lang="en-US" dirty="0" smtClean="0"/>
              <a:t>Binary Counter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90" y="1421566"/>
            <a:ext cx="5234910" cy="38243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0" y="630432"/>
            <a:ext cx="3200400" cy="56179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3686" y="5423104"/>
            <a:ext cx="2361055" cy="14348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83377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200"/>
            <a:ext cx="8229600" cy="6049963"/>
          </a:xfrm>
        </p:spPr>
        <p:txBody>
          <a:bodyPr/>
          <a:lstStyle/>
          <a:p>
            <a:r>
              <a:rPr lang="en-US" dirty="0" smtClean="0"/>
              <a:t>Up-down Binary Counter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3926" y="762000"/>
            <a:ext cx="4700075" cy="60714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83687"/>
            <a:ext cx="4486275" cy="55807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4230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"/>
            <a:ext cx="8229600" cy="5973763"/>
          </a:xfrm>
        </p:spPr>
        <p:txBody>
          <a:bodyPr/>
          <a:lstStyle/>
          <a:p>
            <a:r>
              <a:rPr lang="en-US" dirty="0" smtClean="0"/>
              <a:t>BCD Counter</a:t>
            </a:r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07" y="1243013"/>
            <a:ext cx="8945365" cy="5081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08568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0"/>
            <a:ext cx="8229600" cy="6126163"/>
          </a:xfrm>
        </p:spPr>
        <p:txBody>
          <a:bodyPr/>
          <a:lstStyle/>
          <a:p>
            <a:r>
              <a:rPr lang="en-US" dirty="0" smtClean="0"/>
              <a:t>Binary Counter with parallel Load</a:t>
            </a:r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7876" y="890588"/>
            <a:ext cx="9118668" cy="5891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457479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52400"/>
            <a:ext cx="8839200" cy="5973763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ea typeface="Tahoma" pitchFamily="34" charset="0"/>
                <a:cs typeface="Times New Roman" pitchFamily="18" charset="0"/>
              </a:rPr>
              <a:t>Design a BCD Counter using the Binary Counter with parallel load</a:t>
            </a:r>
            <a:endParaRPr lang="en-US" sz="2400" dirty="0">
              <a:latin typeface="Times New Roman" pitchFamily="18" charset="0"/>
              <a:ea typeface="Tahoma" pitchFamily="34" charset="0"/>
              <a:cs typeface="Times New Roman" pitchFamily="18" charset="0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579121"/>
            <a:ext cx="8458200" cy="62026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73878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0"/>
            <a:ext cx="8915400" cy="6858000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Designing procedure of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Synchronous Mod-N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Counters</a:t>
            </a:r>
          </a:p>
          <a:p>
            <a:pPr lvl="1"/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Step-1: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Determine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 number of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flip-flops.</a:t>
            </a:r>
          </a:p>
          <a:p>
            <a:pPr lvl="2"/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number of flip-flops required to design a mod-N synchronous counter can be determined by using the equation 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1800" b="1" baseline="300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 &gt;= N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, where 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 is no. of flip-flops and 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 is Mod number.</a:t>
            </a:r>
          </a:p>
          <a:p>
            <a:pPr lvl="1"/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Step-2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Determine the type of flip-flop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required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 JK, D, or T flip-flops.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lvl="1"/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Step-3: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Draw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 state diagram which demonstrates the states which the counter undergoes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lvl="1"/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Step-4: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Using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 excitation table of the flip-flop, obtain the flip-flop inputs for each state which were obtained in the second step, and enter them in a table. The flip-flop inputs, that are capable of producing the next state of the counter from the present state, are entered in the table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lvl="1"/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Step-5: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Make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 K-Map for each input combination and simplify it to obtain the minimal Boolean expression for each flip-flop input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lvl="1"/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Step-6: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Using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 Boolean expressions obtained in step 5, draw the required counter circuit by connecting the flip-flops and other gates as per the obtained Boolean expression.</a:t>
            </a:r>
          </a:p>
        </p:txBody>
      </p:sp>
    </p:spTree>
    <p:extLst>
      <p:ext uri="{BB962C8B-B14F-4D97-AF65-F5344CB8AC3E}">
        <p14:creationId xmlns:p14="http://schemas.microsoft.com/office/powerpoint/2010/main" val="2815496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482"/>
            <a:ext cx="9144000" cy="4525963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Using a T FF, design a circuit that counts from 0 to 7 compare to D  and JK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994304"/>
            <a:ext cx="8915400" cy="58636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13746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synchronous counters (1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2133600"/>
            <a:ext cx="7620000" cy="2524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3389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ynchronous counters (3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514600"/>
            <a:ext cx="7620000" cy="3724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9662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003" y="0"/>
            <a:ext cx="8229600" cy="5973763"/>
          </a:xfrm>
        </p:spPr>
        <p:txBody>
          <a:bodyPr/>
          <a:lstStyle/>
          <a:p>
            <a:r>
              <a:rPr lang="en-US" dirty="0" smtClean="0"/>
              <a:t>Ripple Counters</a:t>
            </a:r>
          </a:p>
          <a:p>
            <a:pPr lvl="1"/>
            <a:r>
              <a:rPr lang="en-US" dirty="0" smtClean="0"/>
              <a:t>Binary Ripple Counter</a:t>
            </a:r>
            <a:endParaRPr lang="en-US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03" y="1371600"/>
            <a:ext cx="4245197" cy="487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333375"/>
            <a:ext cx="4800600" cy="5915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93746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990600"/>
            <a:ext cx="8891954" cy="33505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Rectangle 2"/>
          <p:cNvSpPr/>
          <p:nvPr/>
        </p:nvSpPr>
        <p:spPr>
          <a:xfrm>
            <a:off x="6553200" y="3886200"/>
            <a:ext cx="9144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705600" y="4038600"/>
            <a:ext cx="9144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371600" y="3124200"/>
            <a:ext cx="9906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040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7374"/>
            <a:ext cx="8229600" cy="4525963"/>
          </a:xfrm>
        </p:spPr>
        <p:txBody>
          <a:bodyPr/>
          <a:lstStyle/>
          <a:p>
            <a:r>
              <a:rPr lang="en-US" dirty="0" smtClean="0"/>
              <a:t>BCD Ripple Counter</a:t>
            </a:r>
            <a:endParaRPr lang="en-US" dirty="0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38200"/>
            <a:ext cx="9067800" cy="55809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15650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asynchronous counter timi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892234"/>
            <a:ext cx="7416246" cy="4813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12875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228600"/>
            <a:ext cx="8763000" cy="6400800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Ring counter is a typical application of Shift resister. Ring counter is almost same as the shift counter. The only change is that the output of the last flip-flop is connected to the input of the first flip-flop in case of ring counter but in case of shift resister it is taken as output. Except this all the other things are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same.</a:t>
            </a:r>
          </a:p>
          <a:p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No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. of states in Ring counter = No. of flip-flop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used</a:t>
            </a:r>
          </a:p>
          <a:p>
            <a:pPr marL="342900" lvl="1" indent="-342900">
              <a:buFont typeface="Arial" pitchFamily="34" charset="0"/>
              <a:buChar char="•"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342900" lvl="1" indent="-342900"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Two types of Ring Counter: </a:t>
            </a:r>
          </a:p>
          <a:p>
            <a:pPr marL="400050" lvl="2" indent="0">
              <a:buNone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1. Straight ring counter or One-hot counter</a:t>
            </a:r>
          </a:p>
          <a:p>
            <a:pPr marL="742950" lvl="2" indent="-342900"/>
            <a:endParaRPr lang="en-US" sz="1200" dirty="0">
              <a:latin typeface="Times New Roman" pitchFamily="18" charset="0"/>
              <a:cs typeface="Times New Roman" pitchFamily="18" charset="0"/>
            </a:endParaRPr>
          </a:p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2" descr="Lightbox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340918"/>
            <a:ext cx="8305800" cy="34408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97630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228600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2. Twisted ring or switch-tail ring or walking ring or Johnson or creeping or mobile counter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100" name="Picture 4" descr="Lightbox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852447"/>
            <a:ext cx="8610600" cy="35671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Lightbox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3900" y="4267200"/>
            <a:ext cx="4572000" cy="2790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7847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5745163"/>
          </a:xfrm>
        </p:spPr>
        <p:txBody>
          <a:bodyPr/>
          <a:lstStyle/>
          <a:p>
            <a:r>
              <a:rPr lang="en-US" dirty="0" smtClean="0"/>
              <a:t>Ring Counters</a:t>
            </a:r>
          </a:p>
          <a:p>
            <a:pPr lvl="1"/>
            <a:endParaRPr lang="en-US" dirty="0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199" y="152400"/>
            <a:ext cx="2895601" cy="66066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42999"/>
            <a:ext cx="6172199" cy="3334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09191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"/>
            <a:ext cx="8229600" cy="5973763"/>
          </a:xfrm>
        </p:spPr>
        <p:txBody>
          <a:bodyPr/>
          <a:lstStyle/>
          <a:p>
            <a:r>
              <a:rPr lang="en-US" dirty="0" smtClean="0"/>
              <a:t>Johnson Counters</a:t>
            </a:r>
            <a:endParaRPr lang="en-US" dirty="0"/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143000"/>
            <a:ext cx="8991600" cy="41386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05764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8600"/>
            <a:ext cx="8229600" cy="6324600"/>
          </a:xfrm>
        </p:spPr>
        <p:txBody>
          <a:bodyPr>
            <a:normAutofit fontScale="62500" lnSpcReduction="20000"/>
          </a:bodyPr>
          <a:lstStyle/>
          <a:p>
            <a:pPr fontAlgn="base"/>
            <a:r>
              <a:rPr lang="en-US" b="1" dirty="0">
                <a:latin typeface="Times New Roman" pitchFamily="18" charset="0"/>
                <a:cs typeface="Times New Roman" pitchFamily="18" charset="0"/>
              </a:rPr>
              <a:t>Advantages of Johnson counter: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lvl="1" fontAlgn="base"/>
            <a:r>
              <a:rPr lang="en-US" dirty="0">
                <a:latin typeface="Times New Roman" pitchFamily="18" charset="0"/>
                <a:cs typeface="Times New Roman" pitchFamily="18" charset="0"/>
              </a:rPr>
              <a:t>The Johnson counter has same number of flip flop but it can count twice the number of states the ring counter can count.</a:t>
            </a:r>
          </a:p>
          <a:p>
            <a:pPr lvl="1" fontAlgn="base"/>
            <a:r>
              <a:rPr lang="en-US" dirty="0">
                <a:latin typeface="Times New Roman" pitchFamily="18" charset="0"/>
                <a:cs typeface="Times New Roman" pitchFamily="18" charset="0"/>
              </a:rPr>
              <a:t>It can be implemented using D and JK flip flop.</a:t>
            </a:r>
          </a:p>
          <a:p>
            <a:pPr lvl="1" fontAlgn="base"/>
            <a:r>
              <a:rPr lang="en-US" dirty="0">
                <a:latin typeface="Times New Roman" pitchFamily="18" charset="0"/>
                <a:cs typeface="Times New Roman" pitchFamily="18" charset="0"/>
              </a:rPr>
              <a:t>Johnson ring counter is used to count the data in a continuous loop.</a:t>
            </a:r>
          </a:p>
          <a:p>
            <a:pPr lvl="1" fontAlgn="base"/>
            <a:r>
              <a:rPr lang="en-US" dirty="0">
                <a:latin typeface="Times New Roman" pitchFamily="18" charset="0"/>
                <a:cs typeface="Times New Roman" pitchFamily="18" charset="0"/>
              </a:rPr>
              <a:t>Johnson counter is a self-decoding circuit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457200" lvl="1" indent="0" fontAlgn="base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fontAlgn="base"/>
            <a:r>
              <a:rPr lang="en-US" b="1" dirty="0">
                <a:latin typeface="Times New Roman" pitchFamily="18" charset="0"/>
                <a:cs typeface="Times New Roman" pitchFamily="18" charset="0"/>
              </a:rPr>
              <a:t>Disadvantages of Johnson counter: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lvl="1" fontAlgn="base"/>
            <a:r>
              <a:rPr lang="en-US" dirty="0">
                <a:latin typeface="Times New Roman" pitchFamily="18" charset="0"/>
                <a:cs typeface="Times New Roman" pitchFamily="18" charset="0"/>
              </a:rPr>
              <a:t>Johnson counter doesn’t count in a binary sequence.</a:t>
            </a:r>
          </a:p>
          <a:p>
            <a:pPr lvl="1" fontAlgn="base"/>
            <a:r>
              <a:rPr lang="en-US" dirty="0">
                <a:latin typeface="Times New Roman" pitchFamily="18" charset="0"/>
                <a:cs typeface="Times New Roman" pitchFamily="18" charset="0"/>
              </a:rPr>
              <a:t>In Johnson counter more number of states remain unutilized than the number of states being utilized.</a:t>
            </a:r>
          </a:p>
          <a:p>
            <a:pPr lvl="1" fontAlgn="base"/>
            <a:r>
              <a:rPr lang="en-US" dirty="0">
                <a:latin typeface="Times New Roman" pitchFamily="18" charset="0"/>
                <a:cs typeface="Times New Roman" pitchFamily="18" charset="0"/>
              </a:rPr>
              <a:t>The number of flip flops needed is one half the number of timing signals.</a:t>
            </a:r>
          </a:p>
          <a:p>
            <a:pPr lvl="1" fontAlgn="base"/>
            <a:r>
              <a:rPr lang="en-US" dirty="0">
                <a:latin typeface="Times New Roman" pitchFamily="18" charset="0"/>
                <a:cs typeface="Times New Roman" pitchFamily="18" charset="0"/>
              </a:rPr>
              <a:t>It can be constructed for any number of timing sequence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457200" lvl="1" indent="0" fontAlgn="base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fontAlgn="base"/>
            <a:r>
              <a:rPr lang="en-US" b="1" dirty="0">
                <a:latin typeface="Times New Roman" pitchFamily="18" charset="0"/>
                <a:cs typeface="Times New Roman" pitchFamily="18" charset="0"/>
              </a:rPr>
              <a:t>Applications of Johnson counter: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lvl="1" fontAlgn="base"/>
            <a:r>
              <a:rPr lang="en-US" dirty="0">
                <a:latin typeface="Times New Roman" pitchFamily="18" charset="0"/>
                <a:cs typeface="Times New Roman" pitchFamily="18" charset="0"/>
              </a:rPr>
              <a:t>Johnson counter is used as a synchronous decade counter or divider circuit.</a:t>
            </a:r>
          </a:p>
          <a:p>
            <a:pPr lvl="1" fontAlgn="base"/>
            <a:r>
              <a:rPr lang="en-US" dirty="0">
                <a:latin typeface="Times New Roman" pitchFamily="18" charset="0"/>
                <a:cs typeface="Times New Roman" pitchFamily="18" charset="0"/>
              </a:rPr>
              <a:t>It is used in hardware logic design to create complicated Finite states machine. ex: ASIC and FPGA design.</a:t>
            </a:r>
          </a:p>
          <a:p>
            <a:pPr lvl="1" fontAlgn="base"/>
            <a:r>
              <a:rPr lang="en-US" dirty="0">
                <a:latin typeface="Times New Roman" pitchFamily="18" charset="0"/>
                <a:cs typeface="Times New Roman" pitchFamily="18" charset="0"/>
              </a:rPr>
              <a:t>The 3 stage Johnson counter is used as a 3 phase square wave generator which produces 1200 phase shift.</a:t>
            </a:r>
          </a:p>
          <a:p>
            <a:pPr lvl="1" fontAlgn="base"/>
            <a:r>
              <a:rPr lang="en-US" dirty="0">
                <a:latin typeface="Times New Roman" pitchFamily="18" charset="0"/>
                <a:cs typeface="Times New Roman" pitchFamily="18" charset="0"/>
              </a:rPr>
              <a:t>It is used to divide the frequency of the clock signal by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varying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their feedback.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41310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1524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38200"/>
          </a:xfrm>
        </p:spPr>
        <p:txBody>
          <a:bodyPr>
            <a:normAutofit/>
          </a:bodyPr>
          <a:lstStyle/>
          <a:p>
            <a:r>
              <a:rPr lang="en-US" sz="4000" dirty="0" smtClean="0">
                <a:latin typeface="Times New Roman" pitchFamily="18" charset="0"/>
                <a:cs typeface="Times New Roman" pitchFamily="18" charset="0"/>
              </a:rPr>
              <a:t>Registers</a:t>
            </a:r>
            <a:endParaRPr lang="en-US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6914" y="1219200"/>
            <a:ext cx="8991600" cy="5287963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 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Register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 is a collection of flip flops. A flip flop is used to store single bit digital data. For storing a large number of bits, the storage capacity is increased by grouping more than one flip flops. If we want to store an n-bit word, we have to use an n-bit register containing n number of flip flops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 register is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used in the CPU to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perform different types of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operations.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Fetch:</a:t>
            </a:r>
          </a:p>
          <a:p>
            <a:pPr lvl="1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To take the instructions given by the users.</a:t>
            </a:r>
          </a:p>
          <a:p>
            <a:pPr lvl="1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To fetch the instruction stored into the main memory.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Decode:</a:t>
            </a:r>
          </a:p>
          <a:p>
            <a:pPr lvl="1"/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To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interpret the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instructions.</a:t>
            </a:r>
          </a:p>
          <a:p>
            <a:pPr lvl="1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o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decode the instructions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Execute</a:t>
            </a:r>
          </a:p>
          <a:p>
            <a:pPr lvl="1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o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store the result produced by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the CPU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 into the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memory.</a:t>
            </a:r>
          </a:p>
          <a:p>
            <a:pPr lvl="1"/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Results is displayed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on the user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screen.</a:t>
            </a:r>
          </a:p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65150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Registers(n-bits, with parallel load)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3158" y="1436753"/>
            <a:ext cx="7288417" cy="51164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958715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"/>
            <a:ext cx="8229600" cy="5973763"/>
          </a:xfrm>
        </p:spPr>
        <p:txBody>
          <a:bodyPr/>
          <a:lstStyle/>
          <a:p>
            <a:r>
              <a:rPr lang="en-US" dirty="0" smtClean="0"/>
              <a:t>Shift Registers</a:t>
            </a:r>
            <a:endParaRPr 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79" y="890588"/>
            <a:ext cx="9109821" cy="5815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1"/>
          <p:cNvSpPr/>
          <p:nvPr/>
        </p:nvSpPr>
        <p:spPr>
          <a:xfrm>
            <a:off x="228600" y="5638800"/>
            <a:ext cx="8382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965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8600"/>
            <a:ext cx="8229600" cy="5897563"/>
          </a:xfrm>
        </p:spPr>
        <p:txBody>
          <a:bodyPr/>
          <a:lstStyle/>
          <a:p>
            <a:r>
              <a:rPr lang="en-US" dirty="0" smtClean="0"/>
              <a:t>Serial Transfer</a:t>
            </a:r>
            <a:endParaRPr lang="en-US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90601"/>
            <a:ext cx="9109002" cy="533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67077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0"/>
            <a:ext cx="8229600" cy="6126163"/>
          </a:xfrm>
        </p:spPr>
        <p:txBody>
          <a:bodyPr/>
          <a:lstStyle/>
          <a:p>
            <a:r>
              <a:rPr lang="en-US" dirty="0" smtClean="0"/>
              <a:t>Serial Adder</a:t>
            </a:r>
            <a:endParaRPr lang="en-US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911" y="947737"/>
            <a:ext cx="8954889" cy="56620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1"/>
          <p:cNvSpPr/>
          <p:nvPr/>
        </p:nvSpPr>
        <p:spPr>
          <a:xfrm>
            <a:off x="2362200" y="1143000"/>
            <a:ext cx="990600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187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74" y="381644"/>
            <a:ext cx="9023226" cy="56381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1"/>
          <p:cNvSpPr/>
          <p:nvPr/>
        </p:nvSpPr>
        <p:spPr>
          <a:xfrm>
            <a:off x="2514600" y="3505200"/>
            <a:ext cx="3810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228600" y="3733800"/>
            <a:ext cx="4572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2286000" y="3505200"/>
            <a:ext cx="2286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450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200"/>
            <a:ext cx="8229600" cy="6049963"/>
          </a:xfrm>
        </p:spPr>
        <p:txBody>
          <a:bodyPr/>
          <a:lstStyle/>
          <a:p>
            <a:r>
              <a:rPr lang="en-US" dirty="0" smtClean="0"/>
              <a:t>Universal Shift Register</a:t>
            </a:r>
            <a:endParaRPr lang="en-US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328738"/>
            <a:ext cx="8882170" cy="4691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453022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"/>
            <a:ext cx="8229600" cy="5973763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 synchronous sequential circuit is also called as 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Finite State Machine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FSM,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if it has finite number of states.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There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are two types of FSMs.</a:t>
            </a:r>
          </a:p>
          <a:p>
            <a:pPr lvl="1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Mealy State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Machine</a:t>
            </a:r>
          </a:p>
          <a:p>
            <a:pPr lvl="2"/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outputs depend on both present inputs &amp; present states</a:t>
            </a:r>
          </a:p>
          <a:p>
            <a:pPr lvl="1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Moore State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Machine</a:t>
            </a:r>
          </a:p>
          <a:p>
            <a:pPr lvl="2"/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outputs depend only on present states</a:t>
            </a:r>
            <a:endParaRPr lang="en-US" sz="1600" dirty="0" smtClean="0">
              <a:latin typeface="Times New Roman" pitchFamily="18" charset="0"/>
              <a:cs typeface="Times New Roman" pitchFamily="18" charset="0"/>
            </a:endParaRPr>
          </a:p>
          <a:p>
            <a:pPr lvl="2"/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 descr="Mealy State Machin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886" y="2895600"/>
            <a:ext cx="4038600" cy="2174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tate Diagram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772" y="5279417"/>
            <a:ext cx="3393884" cy="1589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Moore State Machin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5029" y="2971209"/>
            <a:ext cx="4038600" cy="2315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tate Diagram Moore State Machine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9829" y="5342631"/>
            <a:ext cx="3429000" cy="1463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7441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8600"/>
            <a:ext cx="8229600" cy="5897563"/>
          </a:xfrm>
        </p:spPr>
        <p:txBody>
          <a:bodyPr/>
          <a:lstStyle/>
          <a:p>
            <a:r>
              <a:rPr lang="en-US" dirty="0" smtClean="0"/>
              <a:t>FSM</a:t>
            </a:r>
            <a:endParaRPr lang="en-US" dirty="0"/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791" y="838200"/>
            <a:ext cx="9153792" cy="57150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1"/>
          <p:cNvSpPr/>
          <p:nvPr/>
        </p:nvSpPr>
        <p:spPr>
          <a:xfrm>
            <a:off x="914400" y="2971800"/>
            <a:ext cx="228600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273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0"/>
            <a:ext cx="8229600" cy="6126163"/>
          </a:xfrm>
        </p:spPr>
        <p:txBody>
          <a:bodyPr/>
          <a:lstStyle/>
          <a:p>
            <a:r>
              <a:rPr lang="en-US" dirty="0" smtClean="0"/>
              <a:t>FSM and Languages</a:t>
            </a:r>
            <a:endParaRPr lang="en-US" dirty="0"/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75" y="609601"/>
            <a:ext cx="8772525" cy="62289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240444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5821363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 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sequence detector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 is a sequential state machine that takes an input string of bits and generates an output 1 whenever the target sequence has been detected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Sequence detector is of two types: 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Overlapping</a:t>
            </a:r>
          </a:p>
          <a:p>
            <a:pPr lvl="2"/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the last bit of one sequence becomes the first bit of the next sequence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lvl="2"/>
            <a:endParaRPr lang="en-US" sz="1400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Non overlapping</a:t>
            </a:r>
          </a:p>
          <a:p>
            <a:pPr lvl="2"/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the last bit of one sequence does not become the first bit of the next sequence</a:t>
            </a:r>
            <a:endParaRPr lang="en-US" sz="16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9305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200"/>
            <a:ext cx="8229600" cy="6049963"/>
          </a:xfrm>
        </p:spPr>
        <p:txBody>
          <a:bodyPr/>
          <a:lstStyle/>
          <a:p>
            <a:r>
              <a:rPr lang="en-US" dirty="0" smtClean="0"/>
              <a:t>Detect 3 ones in a row (overlap)</a:t>
            </a:r>
            <a:endParaRPr lang="en-US" dirty="0"/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94" y="957263"/>
            <a:ext cx="9092906" cy="5672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090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126163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Detect 3 ones in row (with/without overlap) both Moore and Mealy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39" y="890588"/>
            <a:ext cx="8958145" cy="57388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1"/>
          <p:cNvSpPr/>
          <p:nvPr/>
        </p:nvSpPr>
        <p:spPr>
          <a:xfrm>
            <a:off x="7239000" y="890588"/>
            <a:ext cx="1771184" cy="3286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2623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0"/>
            <a:ext cx="8229600" cy="6126163"/>
          </a:xfrm>
        </p:spPr>
        <p:txBody>
          <a:bodyPr>
            <a:norm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Ex Detect 0101 with/without overlap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557" y="947738"/>
            <a:ext cx="8822417" cy="5605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1"/>
          <p:cNvSpPr/>
          <p:nvPr/>
        </p:nvSpPr>
        <p:spPr>
          <a:xfrm>
            <a:off x="457200" y="3581400"/>
            <a:ext cx="762000" cy="16906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894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A1CE2337B975E408DA6B832AEDE73D6" ma:contentTypeVersion="2" ma:contentTypeDescription="Create a new document." ma:contentTypeScope="" ma:versionID="39418729339e15cb49566a66fad1e64a">
  <xsd:schema xmlns:xsd="http://www.w3.org/2001/XMLSchema" xmlns:xs="http://www.w3.org/2001/XMLSchema" xmlns:p="http://schemas.microsoft.com/office/2006/metadata/properties" xmlns:ns2="7fb689ba-f627-4224-ac00-8714095bdf68" targetNamespace="http://schemas.microsoft.com/office/2006/metadata/properties" ma:root="true" ma:fieldsID="9838b32448ac8d296677d6d7ecfa6659" ns2:_="">
    <xsd:import namespace="7fb689ba-f627-4224-ac00-8714095bdf6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fb689ba-f627-4224-ac00-8714095bdf6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378DBB9-C5D6-4238-93F5-B7C60ED864BA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C55E6F13-71D8-43D6-A4AC-2B3A7A6258E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BF6CB30-0AAD-4EB0-8E1E-3EF8378529D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fb689ba-f627-4224-ac00-8714095bdf6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774</TotalTime>
  <Words>567</Words>
  <Application>Microsoft Office PowerPoint</Application>
  <PresentationFormat>On-screen Show (4:3)</PresentationFormat>
  <Paragraphs>129</Paragraphs>
  <Slides>38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39" baseType="lpstr">
      <vt:lpstr>Office Theme</vt:lpstr>
      <vt:lpstr>Counters</vt:lpstr>
      <vt:lpstr>PowerPoint Presentation</vt:lpstr>
      <vt:lpstr>PowerPoint Presentation</vt:lpstr>
      <vt:lpstr>PowerPoint Presentation</vt:lpstr>
      <vt:lpstr>PowerPoint Presentation</vt:lpstr>
      <vt:lpstr>Synchronous Counter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Registers</vt:lpstr>
      <vt:lpstr>Registers(n-bits, with parallel load)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baldev</dc:creator>
  <cp:lastModifiedBy>ADMIN</cp:lastModifiedBy>
  <cp:revision>114</cp:revision>
  <dcterms:created xsi:type="dcterms:W3CDTF">2006-08-16T00:00:00Z</dcterms:created>
  <dcterms:modified xsi:type="dcterms:W3CDTF">2022-04-18T03:04:46Z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0x010100BA1CE2337B975E408DA6B832AEDE73D6</vt:lpwstr>
  </property>
</Properties>
</file>