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99231" y="2485085"/>
            <a:ext cx="3145536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hlink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0400" y="152374"/>
            <a:ext cx="2894583" cy="46167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0400" y="152374"/>
            <a:ext cx="2894583" cy="46167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69770" y="189941"/>
            <a:ext cx="5201284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0989" y="1100785"/>
            <a:ext cx="8542020" cy="4105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hlink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jpg"/><Relationship Id="rId5" Type="http://schemas.openxmlformats.org/officeDocument/2006/relationships/image" Target="../media/image39.jpg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0520" y="464896"/>
            <a:ext cx="336232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000000"/>
                </a:solidFill>
              </a:rPr>
              <a:t>A</a:t>
            </a:r>
            <a:r>
              <a:rPr spc="-10" dirty="0">
                <a:solidFill>
                  <a:srgbClr val="000000"/>
                </a:solidFill>
              </a:rPr>
              <a:t> bit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of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history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484452"/>
            <a:ext cx="7954645" cy="430149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56870" marR="5080" indent="-344805">
              <a:lnSpc>
                <a:spcPct val="90000"/>
              </a:lnSpc>
              <a:spcBef>
                <a:spcPts val="4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spc="-10" dirty="0">
                <a:latin typeface="Calibri"/>
                <a:cs typeface="Calibri"/>
              </a:rPr>
              <a:t>The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first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transistors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were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fabricated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1947</a:t>
            </a:r>
            <a:r>
              <a:rPr sz="3200" spc="6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at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Bell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Laboratories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(Bell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Labs)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by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30" dirty="0">
                <a:solidFill>
                  <a:srgbClr val="FF0000"/>
                </a:solidFill>
                <a:latin typeface="Calibri"/>
                <a:cs typeface="Calibri"/>
              </a:rPr>
              <a:t>Brattain</a:t>
            </a:r>
            <a:r>
              <a:rPr sz="3200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0000"/>
                </a:solidFill>
                <a:latin typeface="Calibri"/>
                <a:cs typeface="Calibri"/>
              </a:rPr>
              <a:t>Bardeen</a:t>
            </a:r>
            <a:r>
              <a:rPr sz="3200" spc="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providing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theoretical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background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and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15" dirty="0">
                <a:solidFill>
                  <a:srgbClr val="FF0000"/>
                </a:solidFill>
                <a:latin typeface="Calibri"/>
                <a:cs typeface="Calibri"/>
              </a:rPr>
              <a:t>Shockley</a:t>
            </a:r>
            <a:r>
              <a:rPr sz="3200" spc="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managed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activity.</a:t>
            </a:r>
            <a:endParaRPr sz="3200">
              <a:latin typeface="Calibri"/>
              <a:cs typeface="Calibri"/>
            </a:endParaRPr>
          </a:p>
          <a:p>
            <a:pPr marL="756285" marR="61594" lvl="1" indent="-287020">
              <a:lnSpc>
                <a:spcPts val="3020"/>
              </a:lnSpc>
              <a:spcBef>
                <a:spcPts val="74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trio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received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5" dirty="0">
                <a:latin typeface="Calibri"/>
                <a:cs typeface="Calibri"/>
              </a:rPr>
              <a:t>a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Nobel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Prize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Physics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their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work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1956.</a:t>
            </a:r>
            <a:endParaRPr sz="28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transistor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called</a:t>
            </a:r>
            <a:r>
              <a:rPr sz="2400" dirty="0">
                <a:latin typeface="Calibri"/>
                <a:cs typeface="Calibri"/>
              </a:rPr>
              <a:t> a</a:t>
            </a:r>
            <a:endParaRPr sz="2400">
              <a:latin typeface="Calibri"/>
              <a:cs typeface="Calibri"/>
            </a:endParaRPr>
          </a:p>
          <a:p>
            <a:pPr marL="1131570">
              <a:lnSpc>
                <a:spcPct val="100000"/>
              </a:lnSpc>
              <a:spcBef>
                <a:spcPts val="290"/>
              </a:spcBef>
            </a:pPr>
            <a:r>
              <a:rPr sz="2400" spc="-5" dirty="0">
                <a:latin typeface="Calibri"/>
                <a:cs typeface="Calibri"/>
              </a:rPr>
              <a:t>point-contact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transistor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was</a:t>
            </a:r>
            <a:endParaRPr sz="2400">
              <a:latin typeface="Calibri"/>
              <a:cs typeface="Calibri"/>
            </a:endParaRPr>
          </a:p>
          <a:p>
            <a:pPr marL="1131570" marR="2450465">
              <a:lnSpc>
                <a:spcPct val="110100"/>
              </a:lnSpc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bipolar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junction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transistor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(BJT).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500" y="4057650"/>
            <a:ext cx="2857499" cy="28003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8664" y="464896"/>
            <a:ext cx="4104004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000000"/>
                </a:solidFill>
              </a:rPr>
              <a:t>A</a:t>
            </a:r>
            <a:r>
              <a:rPr spc="-10" dirty="0">
                <a:solidFill>
                  <a:srgbClr val="000000"/>
                </a:solidFill>
              </a:rPr>
              <a:t> bit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spc="-15" dirty="0">
                <a:solidFill>
                  <a:srgbClr val="000000"/>
                </a:solidFill>
              </a:rPr>
              <a:t>more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history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564004"/>
            <a:ext cx="7770495" cy="425005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6870" marR="5080" indent="-344805">
              <a:lnSpc>
                <a:spcPct val="90000"/>
              </a:lnSpc>
              <a:spcBef>
                <a:spcPts val="459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000" dirty="0">
                <a:latin typeface="Calibri"/>
                <a:cs typeface="Calibri"/>
              </a:rPr>
              <a:t>The </a:t>
            </a:r>
            <a:r>
              <a:rPr sz="3000" spc="5" dirty="0">
                <a:latin typeface="Calibri"/>
                <a:cs typeface="Calibri"/>
              </a:rPr>
              <a:t>theory </a:t>
            </a:r>
            <a:r>
              <a:rPr sz="3000" spc="-5" dirty="0">
                <a:latin typeface="Calibri"/>
                <a:cs typeface="Calibri"/>
              </a:rPr>
              <a:t>on field </a:t>
            </a:r>
            <a:r>
              <a:rPr sz="3000" spc="-25" dirty="0">
                <a:latin typeface="Calibri"/>
                <a:cs typeface="Calibri"/>
              </a:rPr>
              <a:t>effect </a:t>
            </a:r>
            <a:r>
              <a:rPr sz="3000" spc="-15" dirty="0">
                <a:latin typeface="Calibri"/>
                <a:cs typeface="Calibri"/>
              </a:rPr>
              <a:t>transistors </a:t>
            </a:r>
            <a:r>
              <a:rPr sz="3000" spc="-40" dirty="0">
                <a:latin typeface="Calibri"/>
                <a:cs typeface="Calibri"/>
              </a:rPr>
              <a:t>(FETs) </a:t>
            </a:r>
            <a:r>
              <a:rPr sz="3000" spc="-15" dirty="0">
                <a:latin typeface="Calibri"/>
                <a:cs typeface="Calibri"/>
              </a:rPr>
              <a:t>was </a:t>
            </a:r>
            <a:r>
              <a:rPr sz="3000" spc="-10" dirty="0">
                <a:latin typeface="Calibri"/>
                <a:cs typeface="Calibri"/>
              </a:rPr>
              <a:t> developed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much</a:t>
            </a:r>
            <a:r>
              <a:rPr sz="30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earlier</a:t>
            </a:r>
            <a:r>
              <a:rPr sz="30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than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our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understanding </a:t>
            </a:r>
            <a:r>
              <a:rPr sz="3000" spc="-66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of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5" dirty="0">
                <a:latin typeface="Calibri"/>
                <a:cs typeface="Calibri"/>
              </a:rPr>
              <a:t>BJTs</a:t>
            </a:r>
            <a:endParaRPr sz="3000">
              <a:latin typeface="Calibri"/>
              <a:cs typeface="Calibri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330"/>
              </a:spcBef>
              <a:buFont typeface="Arial MT"/>
              <a:buChar char="–"/>
              <a:tabLst>
                <a:tab pos="756920" algn="l"/>
              </a:tabLst>
            </a:pPr>
            <a:r>
              <a:rPr sz="2600" spc="-20" dirty="0">
                <a:latin typeface="Calibri"/>
                <a:cs typeface="Calibri"/>
              </a:rPr>
              <a:t>First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patent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on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FETs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dates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from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1925</a:t>
            </a:r>
            <a:endParaRPr sz="2600">
              <a:latin typeface="Calibri"/>
              <a:cs typeface="Calibri"/>
            </a:endParaRPr>
          </a:p>
          <a:p>
            <a:pPr marL="1155700" lvl="2" indent="-229235" algn="just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1156335" algn="l"/>
              </a:tabLst>
            </a:pPr>
            <a:r>
              <a:rPr sz="2200" spc="-5" dirty="0">
                <a:latin typeface="Calibri"/>
                <a:cs typeface="Calibri"/>
              </a:rPr>
              <a:t>Julius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Edgar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Lilienfeld,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 </a:t>
            </a:r>
            <a:r>
              <a:rPr sz="2200" spc="-10" dirty="0">
                <a:latin typeface="Calibri"/>
                <a:cs typeface="Calibri"/>
              </a:rPr>
              <a:t>Austro-Hungarian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physicist</a:t>
            </a:r>
            <a:endParaRPr sz="2200">
              <a:latin typeface="Calibri"/>
              <a:cs typeface="Calibri"/>
            </a:endParaRPr>
          </a:p>
          <a:p>
            <a:pPr marL="356870" marR="102870" indent="-344805" algn="just">
              <a:lnSpc>
                <a:spcPct val="90000"/>
              </a:lnSpc>
              <a:spcBef>
                <a:spcPts val="670"/>
              </a:spcBef>
              <a:buFont typeface="Arial MT"/>
              <a:buChar char="•"/>
              <a:tabLst>
                <a:tab pos="357505" algn="l"/>
              </a:tabLst>
            </a:pPr>
            <a:r>
              <a:rPr sz="3000" spc="-50" dirty="0">
                <a:latin typeface="Calibri"/>
                <a:cs typeface="Calibri"/>
              </a:rPr>
              <a:t>However, </a:t>
            </a:r>
            <a:r>
              <a:rPr sz="3000" dirty="0">
                <a:latin typeface="Calibri"/>
                <a:cs typeface="Calibri"/>
              </a:rPr>
              <a:t>the quality </a:t>
            </a:r>
            <a:r>
              <a:rPr sz="3000" spc="-5" dirty="0">
                <a:latin typeface="Calibri"/>
                <a:cs typeface="Calibri"/>
              </a:rPr>
              <a:t>of </a:t>
            </a:r>
            <a:r>
              <a:rPr sz="3000" dirty="0">
                <a:latin typeface="Calibri"/>
                <a:cs typeface="Calibri"/>
              </a:rPr>
              <a:t>the </a:t>
            </a:r>
            <a:r>
              <a:rPr sz="3000" spc="-5" dirty="0">
                <a:latin typeface="Calibri"/>
                <a:cs typeface="Calibri"/>
              </a:rPr>
              <a:t>semiconductor </a:t>
            </a:r>
            <a:r>
              <a:rPr sz="3000" dirty="0">
                <a:latin typeface="Calibri"/>
                <a:cs typeface="Calibri"/>
              </a:rPr>
              <a:t>and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oxide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materials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were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barriers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to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developing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good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working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devices.</a:t>
            </a:r>
            <a:endParaRPr sz="3000">
              <a:latin typeface="Calibri"/>
              <a:cs typeface="Calibri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330"/>
              </a:spcBef>
              <a:buFont typeface="Arial MT"/>
              <a:buChar char="–"/>
              <a:tabLst>
                <a:tab pos="756920" algn="l"/>
              </a:tabLst>
            </a:pPr>
            <a:r>
              <a:rPr sz="2600" spc="-5" dirty="0">
                <a:latin typeface="Calibri"/>
                <a:cs typeface="Calibri"/>
              </a:rPr>
              <a:t>The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first </a:t>
            </a:r>
            <a:r>
              <a:rPr sz="2600" spc="-5" dirty="0">
                <a:latin typeface="Calibri"/>
                <a:cs typeface="Calibri"/>
              </a:rPr>
              <a:t>FET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was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not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invented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until</a:t>
            </a:r>
            <a:r>
              <a:rPr sz="2600" spc="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1959</a:t>
            </a:r>
            <a:endParaRPr sz="2600">
              <a:latin typeface="Calibri"/>
              <a:cs typeface="Calibri"/>
            </a:endParaRPr>
          </a:p>
          <a:p>
            <a:pPr marL="1155700" lvl="2" indent="-229235" algn="just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1156335" algn="l"/>
              </a:tabLst>
            </a:pPr>
            <a:r>
              <a:rPr sz="2200" spc="-5" dirty="0">
                <a:latin typeface="Calibri"/>
                <a:cs typeface="Calibri"/>
              </a:rPr>
              <a:t>Dawon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Kahng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Martin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M.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(John) </a:t>
            </a:r>
            <a:r>
              <a:rPr sz="2200" spc="-15" dirty="0">
                <a:latin typeface="Calibri"/>
                <a:cs typeface="Calibri"/>
              </a:rPr>
              <a:t>Atalla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of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Bell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Labs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5135" y="464896"/>
            <a:ext cx="417830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>
                <a:solidFill>
                  <a:srgbClr val="000000"/>
                </a:solidFill>
              </a:rPr>
              <a:t>Integrated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spc="-15" dirty="0">
                <a:solidFill>
                  <a:srgbClr val="000000"/>
                </a:solidFill>
              </a:rPr>
              <a:t>Circuits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609725"/>
            <a:ext cx="8038465" cy="4178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spc="-20" dirty="0">
                <a:latin typeface="Calibri"/>
                <a:cs typeface="Calibri"/>
              </a:rPr>
              <a:t>Integrated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circuits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(ICs)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are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chips,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pieces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of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semiconductor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material,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that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contain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transistors,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resistors,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and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capacitors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necessary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to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create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 digital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circuit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or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system.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first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ICs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were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fabricated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using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5" dirty="0">
                <a:latin typeface="Calibri"/>
                <a:cs typeface="Calibri"/>
              </a:rPr>
              <a:t>Ge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5" dirty="0">
                <a:latin typeface="Calibri"/>
                <a:cs typeface="Calibri"/>
              </a:rPr>
              <a:t>BJTs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1958.</a:t>
            </a:r>
            <a:endParaRPr sz="28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dirty="0">
                <a:latin typeface="Calibri"/>
                <a:cs typeface="Calibri"/>
              </a:rPr>
              <a:t>Jack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Kirby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65" dirty="0">
                <a:latin typeface="Calibri"/>
                <a:cs typeface="Calibri"/>
              </a:rPr>
              <a:t>Texas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Instruments,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Nobel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Prize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2000</a:t>
            </a:r>
            <a:endParaRPr sz="24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3300">
              <a:latin typeface="Calibri"/>
              <a:cs typeface="Calibri"/>
            </a:endParaRPr>
          </a:p>
          <a:p>
            <a:pPr marL="1155700" marR="409575" lvl="2" indent="-228600">
              <a:lnSpc>
                <a:spcPct val="100000"/>
              </a:lnSpc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Robert Noyes </a:t>
            </a:r>
            <a:r>
              <a:rPr sz="2400" dirty="0">
                <a:latin typeface="Calibri"/>
                <a:cs typeface="Calibri"/>
              </a:rPr>
              <a:t>of </a:t>
            </a:r>
            <a:r>
              <a:rPr sz="2400" spc="-15" dirty="0">
                <a:latin typeface="Calibri"/>
                <a:cs typeface="Calibri"/>
              </a:rPr>
              <a:t>Fairchild </a:t>
            </a:r>
            <a:r>
              <a:rPr sz="2400" spc="-10" dirty="0">
                <a:latin typeface="Calibri"/>
                <a:cs typeface="Calibri"/>
              </a:rPr>
              <a:t>Semiconductors fabricated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first</a:t>
            </a:r>
            <a:r>
              <a:rPr sz="2400" spc="-5" dirty="0">
                <a:latin typeface="Calibri"/>
                <a:cs typeface="Calibri"/>
              </a:rPr>
              <a:t> Si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ICs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1959.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5239" y="189941"/>
            <a:ext cx="403606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Integration</a:t>
            </a:r>
            <a:r>
              <a:rPr spc="45" dirty="0"/>
              <a:t> </a:t>
            </a:r>
            <a:r>
              <a:rPr spc="-20" dirty="0"/>
              <a:t>Levels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444" y="1068268"/>
            <a:ext cx="4995545" cy="258699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770"/>
              </a:spcBef>
              <a:buChar char="–"/>
              <a:tabLst>
                <a:tab pos="299720" algn="l"/>
              </a:tabLst>
            </a:pPr>
            <a:r>
              <a:rPr sz="2800" dirty="0">
                <a:latin typeface="Calibri"/>
                <a:cs typeface="Calibri"/>
              </a:rPr>
              <a:t>SSI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Small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scale</a:t>
            </a:r>
            <a:r>
              <a:rPr sz="2800" spc="-10" dirty="0">
                <a:latin typeface="Calibri"/>
                <a:cs typeface="Calibri"/>
              </a:rPr>
              <a:t> integration</a:t>
            </a:r>
            <a:endParaRPr sz="2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670"/>
              </a:spcBef>
              <a:buChar char="–"/>
              <a:tabLst>
                <a:tab pos="299720" algn="l"/>
              </a:tabLst>
            </a:pPr>
            <a:r>
              <a:rPr sz="2800" spc="5" dirty="0">
                <a:latin typeface="Calibri"/>
                <a:cs typeface="Calibri"/>
              </a:rPr>
              <a:t>MSI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Medium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scale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integration</a:t>
            </a:r>
            <a:endParaRPr sz="2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Char char="–"/>
              <a:tabLst>
                <a:tab pos="299720" algn="l"/>
              </a:tabLst>
            </a:pPr>
            <a:r>
              <a:rPr sz="2800" dirty="0">
                <a:latin typeface="Calibri"/>
                <a:cs typeface="Calibri"/>
              </a:rPr>
              <a:t>LSI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Large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scale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integration</a:t>
            </a:r>
            <a:endParaRPr sz="2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Char char="–"/>
              <a:tabLst>
                <a:tab pos="299720" algn="l"/>
              </a:tabLst>
            </a:pPr>
            <a:r>
              <a:rPr sz="2800" spc="-5" dirty="0">
                <a:latin typeface="Calibri"/>
                <a:cs typeface="Calibri"/>
              </a:rPr>
              <a:t>VLSI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Very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large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scale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integration</a:t>
            </a:r>
            <a:endParaRPr sz="2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Char char="–"/>
              <a:tabLst>
                <a:tab pos="299720" algn="l"/>
              </a:tabLst>
            </a:pPr>
            <a:r>
              <a:rPr sz="2800" dirty="0">
                <a:latin typeface="Calibri"/>
                <a:cs typeface="Calibri"/>
              </a:rPr>
              <a:t>ULSI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Ultra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large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scale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integration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87339" y="1068268"/>
            <a:ext cx="2426335" cy="258699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spc="-5" dirty="0">
                <a:latin typeface="Calibri"/>
                <a:cs typeface="Calibri"/>
              </a:rPr>
              <a:t>12</a:t>
            </a:r>
            <a:r>
              <a:rPr sz="2800" spc="-20" dirty="0">
                <a:latin typeface="Calibri"/>
                <a:cs typeface="Calibri"/>
              </a:rPr>
              <a:t> gates/chip</a:t>
            </a:r>
            <a:endParaRPr sz="2800">
              <a:latin typeface="Calibri"/>
              <a:cs typeface="Calibri"/>
            </a:endParaRPr>
          </a:p>
          <a:p>
            <a:pPr marL="67310" marR="5080" indent="-55244">
              <a:lnSpc>
                <a:spcPct val="120000"/>
              </a:lnSpc>
            </a:pPr>
            <a:r>
              <a:rPr sz="2800" spc="-5" dirty="0">
                <a:latin typeface="Calibri"/>
                <a:cs typeface="Calibri"/>
              </a:rPr>
              <a:t>100 </a:t>
            </a:r>
            <a:r>
              <a:rPr sz="2800" spc="-20" dirty="0">
                <a:latin typeface="Calibri"/>
                <a:cs typeface="Calibri"/>
              </a:rPr>
              <a:t>gates/chip 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1K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gates/chip 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10K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gates/chip 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100K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gates/chip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400" y="4876800"/>
            <a:ext cx="2238375" cy="17716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497316" y="6416446"/>
            <a:ext cx="1143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" dirty="0">
                <a:latin typeface="Times New Roman"/>
                <a:cs typeface="Times New Roman"/>
              </a:rPr>
              <a:t>5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1189" y="189941"/>
            <a:ext cx="280479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Moore’s</a:t>
            </a:r>
            <a:r>
              <a:rPr spc="-55" dirty="0"/>
              <a:t> </a:t>
            </a:r>
            <a:r>
              <a:rPr spc="-10" dirty="0"/>
              <a:t>law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939" y="1152270"/>
            <a:ext cx="8112759" cy="13081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5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prediction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made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Moore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(a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co-founder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5" dirty="0">
                <a:latin typeface="Calibri"/>
                <a:cs typeface="Calibri"/>
              </a:rPr>
              <a:t> Intel)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1965: </a:t>
            </a:r>
            <a:r>
              <a:rPr sz="2800" dirty="0">
                <a:latin typeface="Calibri"/>
                <a:cs typeface="Calibri"/>
              </a:rPr>
              <a:t>“… </a:t>
            </a:r>
            <a:r>
              <a:rPr sz="2800" spc="5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number </a:t>
            </a:r>
            <a:r>
              <a:rPr sz="2800" dirty="0">
                <a:latin typeface="Calibri"/>
                <a:cs typeface="Calibri"/>
              </a:rPr>
              <a:t>of </a:t>
            </a:r>
            <a:r>
              <a:rPr sz="2800" spc="-15" dirty="0">
                <a:latin typeface="Calibri"/>
                <a:cs typeface="Calibri"/>
              </a:rPr>
              <a:t>transistors to </a:t>
            </a:r>
            <a:r>
              <a:rPr sz="2800" spc="-5" dirty="0">
                <a:latin typeface="Calibri"/>
                <a:cs typeface="Calibri"/>
              </a:rPr>
              <a:t>double every </a:t>
            </a:r>
            <a:r>
              <a:rPr sz="2800" spc="5" dirty="0">
                <a:latin typeface="Calibri"/>
                <a:cs typeface="Calibri"/>
              </a:rPr>
              <a:t>2 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years.”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2459101"/>
            <a:ext cx="6705600" cy="38337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97316" y="6416446"/>
            <a:ext cx="1143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" dirty="0">
                <a:latin typeface="Times New Roman"/>
                <a:cs typeface="Times New Roman"/>
              </a:rPr>
              <a:t>6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52600" y="122237"/>
            <a:ext cx="5715000" cy="563880"/>
            <a:chOff x="1752600" y="122237"/>
            <a:chExt cx="5715000" cy="5638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2600" y="122237"/>
              <a:ext cx="5715000" cy="56356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2600" y="122237"/>
              <a:ext cx="5715000" cy="56356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52600" y="122237"/>
            <a:ext cx="5715000" cy="563880"/>
          </a:xfrm>
          <a:prstGeom prst="rect">
            <a:avLst/>
          </a:prstGeom>
          <a:ln w="9525">
            <a:solidFill>
              <a:srgbClr val="F6924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290"/>
              </a:spcBef>
            </a:pPr>
            <a:r>
              <a:rPr sz="2900" dirty="0">
                <a:solidFill>
                  <a:srgbClr val="000000"/>
                </a:solidFill>
              </a:rPr>
              <a:t>Logic</a:t>
            </a:r>
            <a:r>
              <a:rPr sz="2900" spc="-70" dirty="0">
                <a:solidFill>
                  <a:srgbClr val="000000"/>
                </a:solidFill>
              </a:rPr>
              <a:t> </a:t>
            </a:r>
            <a:r>
              <a:rPr sz="2900" spc="-5" dirty="0">
                <a:solidFill>
                  <a:srgbClr val="000000"/>
                </a:solidFill>
              </a:rPr>
              <a:t>Families</a:t>
            </a:r>
            <a:endParaRPr sz="2900"/>
          </a:p>
        </p:txBody>
      </p:sp>
      <p:grpSp>
        <p:nvGrpSpPr>
          <p:cNvPr id="6" name="object 6"/>
          <p:cNvGrpSpPr/>
          <p:nvPr/>
        </p:nvGrpSpPr>
        <p:grpSpPr>
          <a:xfrm>
            <a:off x="228600" y="914400"/>
            <a:ext cx="8686800" cy="2133600"/>
            <a:chOff x="228600" y="914400"/>
            <a:chExt cx="8686800" cy="213360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8600" y="914400"/>
              <a:ext cx="8686800" cy="2133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8600" y="914400"/>
              <a:ext cx="8686800" cy="21336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28600" y="914400"/>
            <a:ext cx="8686800" cy="2133600"/>
          </a:xfrm>
          <a:prstGeom prst="rect">
            <a:avLst/>
          </a:prstGeom>
          <a:ln w="9525">
            <a:solidFill>
              <a:srgbClr val="97B853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435609" marR="142875" indent="-344805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435609" algn="l"/>
                <a:tab pos="436245" algn="l"/>
              </a:tabLst>
            </a:pPr>
            <a:r>
              <a:rPr sz="2400" dirty="0">
                <a:latin typeface="Calibri"/>
                <a:cs typeface="Calibri"/>
              </a:rPr>
              <a:t>Logic </a:t>
            </a:r>
            <a:r>
              <a:rPr sz="2400" spc="-5" dirty="0">
                <a:latin typeface="Calibri"/>
                <a:cs typeface="Calibri"/>
              </a:rPr>
              <a:t>families </a:t>
            </a:r>
            <a:r>
              <a:rPr sz="2400" spc="-10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sets </a:t>
            </a:r>
            <a:r>
              <a:rPr sz="2400" dirty="0">
                <a:latin typeface="Calibri"/>
                <a:cs typeface="Calibri"/>
              </a:rPr>
              <a:t>of chips </a:t>
            </a:r>
            <a:r>
              <a:rPr sz="2400" spc="-5" dirty="0">
                <a:latin typeface="Calibri"/>
                <a:cs typeface="Calibri"/>
              </a:rPr>
              <a:t>that </a:t>
            </a:r>
            <a:r>
              <a:rPr sz="2400" spc="-15" dirty="0">
                <a:latin typeface="Calibri"/>
                <a:cs typeface="Calibri"/>
              </a:rPr>
              <a:t>may </a:t>
            </a:r>
            <a:r>
              <a:rPr sz="2400" dirty="0">
                <a:latin typeface="Calibri"/>
                <a:cs typeface="Calibri"/>
              </a:rPr>
              <a:t>implement </a:t>
            </a:r>
            <a:r>
              <a:rPr sz="2400" spc="-10" dirty="0">
                <a:latin typeface="Calibri"/>
                <a:cs typeface="Calibri"/>
              </a:rPr>
              <a:t>different </a:t>
            </a:r>
            <a:r>
              <a:rPr sz="2400" spc="-5" dirty="0">
                <a:latin typeface="Calibri"/>
                <a:cs typeface="Calibri"/>
              </a:rPr>
              <a:t> logical </a:t>
            </a:r>
            <a:r>
              <a:rPr sz="2400" dirty="0">
                <a:latin typeface="Calibri"/>
                <a:cs typeface="Calibri"/>
              </a:rPr>
              <a:t>functions,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but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same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transistors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voltage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levels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 </a:t>
            </a:r>
            <a:r>
              <a:rPr sz="2400" spc="-5" dirty="0">
                <a:latin typeface="Calibri"/>
                <a:cs typeface="Calibri"/>
              </a:rPr>
              <a:t>logical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levels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 </a:t>
            </a:r>
            <a:r>
              <a:rPr sz="2400" spc="5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power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supplies.</a:t>
            </a:r>
            <a:endParaRPr sz="2400">
              <a:latin typeface="Calibri"/>
              <a:cs typeface="Calibri"/>
            </a:endParaRPr>
          </a:p>
          <a:p>
            <a:pPr marL="435609" indent="-345440">
              <a:lnSpc>
                <a:spcPts val="2845"/>
              </a:lnSpc>
              <a:spcBef>
                <a:spcPts val="655"/>
              </a:spcBef>
              <a:buChar char="•"/>
              <a:tabLst>
                <a:tab pos="435609" algn="l"/>
                <a:tab pos="436245" algn="l"/>
              </a:tabLst>
            </a:pPr>
            <a:r>
              <a:rPr sz="2400" spc="5" dirty="0">
                <a:latin typeface="Arial MT"/>
                <a:cs typeface="Arial MT"/>
              </a:rPr>
              <a:t>These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families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vary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speed,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power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consumption,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cost,</a:t>
            </a:r>
            <a:endParaRPr sz="2400">
              <a:latin typeface="Arial MT"/>
              <a:cs typeface="Arial MT"/>
            </a:endParaRPr>
          </a:p>
          <a:p>
            <a:pPr marL="435609">
              <a:lnSpc>
                <a:spcPts val="2845"/>
              </a:lnSpc>
            </a:pPr>
            <a:r>
              <a:rPr sz="2400" spc="-10" dirty="0">
                <a:latin typeface="Arial MT"/>
                <a:cs typeface="Arial MT"/>
              </a:rPr>
              <a:t>voltage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&amp;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current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levels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4844" y="3180079"/>
            <a:ext cx="3101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Calibri"/>
                <a:cs typeface="Calibri"/>
              </a:rPr>
              <a:t>IC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digital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logic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families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22044" y="3545813"/>
            <a:ext cx="1077595" cy="284353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390"/>
              </a:spcBef>
              <a:buFont typeface="Arial MT"/>
              <a:buChar char="–"/>
              <a:tabLst>
                <a:tab pos="299720" algn="l"/>
              </a:tabLst>
            </a:pPr>
            <a:r>
              <a:rPr sz="2400" spc="5" dirty="0">
                <a:latin typeface="Calibri"/>
                <a:cs typeface="Calibri"/>
              </a:rPr>
              <a:t>DL</a:t>
            </a:r>
            <a:endParaRPr sz="24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285"/>
              </a:spcBef>
              <a:buFont typeface="Arial MT"/>
              <a:buChar char="–"/>
              <a:tabLst>
                <a:tab pos="299720" algn="l"/>
              </a:tabLst>
            </a:pPr>
            <a:r>
              <a:rPr sz="2400" spc="-5" dirty="0">
                <a:latin typeface="Calibri"/>
                <a:cs typeface="Calibri"/>
              </a:rPr>
              <a:t>DTL</a:t>
            </a:r>
            <a:endParaRPr sz="24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295"/>
              </a:spcBef>
              <a:buFont typeface="Arial MT"/>
              <a:buChar char="–"/>
              <a:tabLst>
                <a:tab pos="299720" algn="l"/>
              </a:tabLst>
            </a:pPr>
            <a:r>
              <a:rPr sz="2400" spc="-15" dirty="0">
                <a:latin typeface="Calibri"/>
                <a:cs typeface="Calibri"/>
              </a:rPr>
              <a:t>RTL</a:t>
            </a:r>
            <a:endParaRPr sz="24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290"/>
              </a:spcBef>
              <a:buFont typeface="Arial MT"/>
              <a:buChar char="–"/>
              <a:tabLst>
                <a:tab pos="299720" algn="l"/>
              </a:tabLst>
            </a:pPr>
            <a:r>
              <a:rPr sz="2400" spc="5" dirty="0">
                <a:latin typeface="Calibri"/>
                <a:cs typeface="Calibri"/>
              </a:rPr>
              <a:t>TTL</a:t>
            </a:r>
            <a:endParaRPr sz="24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285"/>
              </a:spcBef>
              <a:buFont typeface="Arial MT"/>
              <a:buChar char="–"/>
              <a:tabLst>
                <a:tab pos="299720" algn="l"/>
              </a:tabLst>
            </a:pPr>
            <a:r>
              <a:rPr sz="2400" spc="-10" dirty="0">
                <a:latin typeface="Calibri"/>
                <a:cs typeface="Calibri"/>
              </a:rPr>
              <a:t>ECL</a:t>
            </a:r>
            <a:endParaRPr sz="24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290"/>
              </a:spcBef>
              <a:buFont typeface="Arial MT"/>
              <a:buChar char="–"/>
              <a:tabLst>
                <a:tab pos="299720" algn="l"/>
              </a:tabLst>
            </a:pPr>
            <a:r>
              <a:rPr sz="2400" spc="-5" dirty="0">
                <a:latin typeface="Calibri"/>
                <a:cs typeface="Calibri"/>
              </a:rPr>
              <a:t>MOS</a:t>
            </a:r>
            <a:endParaRPr sz="24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290"/>
              </a:spcBef>
              <a:buFont typeface="Arial MT"/>
              <a:buChar char="–"/>
              <a:tabLst>
                <a:tab pos="299720" algn="l"/>
              </a:tabLst>
            </a:pPr>
            <a:r>
              <a:rPr sz="2400" spc="-5" dirty="0">
                <a:latin typeface="Calibri"/>
                <a:cs typeface="Calibri"/>
              </a:rPr>
              <a:t>CMOS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94229" y="3545813"/>
            <a:ext cx="6029325" cy="284353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390"/>
              </a:spcBef>
            </a:pPr>
            <a:r>
              <a:rPr sz="2400" dirty="0">
                <a:latin typeface="Calibri"/>
                <a:cs typeface="Calibri"/>
              </a:rPr>
              <a:t>(Diode-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logic)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2400" spc="-5" dirty="0">
                <a:latin typeface="SimSun"/>
                <a:cs typeface="SimSun"/>
              </a:rPr>
              <a:t>（</a:t>
            </a:r>
            <a:r>
              <a:rPr sz="2400" spc="-5" dirty="0">
                <a:latin typeface="Calibri"/>
                <a:cs typeface="Calibri"/>
              </a:rPr>
              <a:t>Diode-transistor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logic</a:t>
            </a:r>
            <a:r>
              <a:rPr sz="2400" spc="-5" dirty="0">
                <a:latin typeface="SimSun"/>
                <a:cs typeface="SimSun"/>
              </a:rPr>
              <a:t>）</a:t>
            </a:r>
            <a:endParaRPr sz="24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2400" spc="-10" dirty="0">
                <a:latin typeface="SimSun"/>
                <a:cs typeface="SimSun"/>
              </a:rPr>
              <a:t>（</a:t>
            </a:r>
            <a:r>
              <a:rPr sz="2400" spc="-10" dirty="0">
                <a:latin typeface="Calibri"/>
                <a:cs typeface="Calibri"/>
              </a:rPr>
              <a:t>Resistor-transistor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logic</a:t>
            </a:r>
            <a:r>
              <a:rPr sz="2400" spc="-5" dirty="0">
                <a:latin typeface="SimSun"/>
                <a:cs typeface="SimSun"/>
              </a:rPr>
              <a:t>）</a:t>
            </a:r>
            <a:endParaRPr sz="24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400" spc="-25" dirty="0">
                <a:latin typeface="SimSun"/>
                <a:cs typeface="SimSun"/>
              </a:rPr>
              <a:t>（</a:t>
            </a:r>
            <a:r>
              <a:rPr sz="2400" spc="-25" dirty="0">
                <a:latin typeface="Calibri"/>
                <a:cs typeface="Calibri"/>
              </a:rPr>
              <a:t>Transistor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-transistor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logic</a:t>
            </a:r>
            <a:r>
              <a:rPr sz="2400" spc="-5" dirty="0">
                <a:latin typeface="SimSun"/>
                <a:cs typeface="SimSun"/>
              </a:rPr>
              <a:t>）</a:t>
            </a:r>
            <a:endParaRPr sz="24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2400" spc="-5" dirty="0">
                <a:latin typeface="SimSun"/>
                <a:cs typeface="SimSun"/>
              </a:rPr>
              <a:t>（</a:t>
            </a:r>
            <a:r>
              <a:rPr sz="2400" spc="-5" dirty="0">
                <a:latin typeface="Calibri"/>
                <a:cs typeface="Calibri"/>
              </a:rPr>
              <a:t>Emitter-coupled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logic</a:t>
            </a:r>
            <a:r>
              <a:rPr sz="2400" spc="-5" dirty="0">
                <a:latin typeface="SimSun"/>
                <a:cs typeface="SimSun"/>
              </a:rPr>
              <a:t>）</a:t>
            </a:r>
            <a:endParaRPr sz="24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400" spc="-10" dirty="0">
                <a:latin typeface="SimSun"/>
                <a:cs typeface="SimSun"/>
              </a:rPr>
              <a:t>（</a:t>
            </a:r>
            <a:r>
              <a:rPr sz="2400" spc="-10" dirty="0">
                <a:latin typeface="Calibri"/>
                <a:cs typeface="Calibri"/>
              </a:rPr>
              <a:t>Metal-oxide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semiconductor</a:t>
            </a:r>
            <a:r>
              <a:rPr sz="2400" spc="-5" dirty="0">
                <a:latin typeface="SimSun"/>
                <a:cs typeface="SimSun"/>
              </a:rPr>
              <a:t>）</a:t>
            </a:r>
            <a:endParaRPr sz="2400">
              <a:latin typeface="SimSun"/>
              <a:cs typeface="SimSun"/>
            </a:endParaRPr>
          </a:p>
          <a:p>
            <a:pPr marL="149225">
              <a:lnSpc>
                <a:spcPct val="100000"/>
              </a:lnSpc>
              <a:spcBef>
                <a:spcPts val="290"/>
              </a:spcBef>
            </a:pPr>
            <a:r>
              <a:rPr sz="2400" spc="-5" dirty="0">
                <a:latin typeface="Calibri"/>
                <a:cs typeface="Calibri"/>
              </a:rPr>
              <a:t>(Complementary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Metal-oxide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semiconductor</a:t>
            </a:r>
            <a:r>
              <a:rPr sz="2400" spc="-5" dirty="0">
                <a:latin typeface="SimSun"/>
                <a:cs typeface="SimSun"/>
              </a:rPr>
              <a:t>）</a:t>
            </a:r>
            <a:endParaRPr sz="24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1015" y="76174"/>
            <a:ext cx="2894965" cy="462280"/>
            <a:chOff x="3811015" y="76174"/>
            <a:chExt cx="2894965" cy="4622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1015" y="76174"/>
              <a:ext cx="2894584" cy="46167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1015" y="76174"/>
              <a:ext cx="2894584" cy="46167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1015" y="76174"/>
            <a:ext cx="2894965" cy="462280"/>
          </a:xfrm>
          <a:prstGeom prst="rect">
            <a:avLst/>
          </a:prstGeom>
          <a:ln w="9525">
            <a:solidFill>
              <a:srgbClr val="F6924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15"/>
              </a:spcBef>
            </a:pPr>
            <a:r>
              <a:rPr sz="2400" spc="-5" dirty="0">
                <a:solidFill>
                  <a:srgbClr val="000000"/>
                </a:solidFill>
              </a:rPr>
              <a:t>Digital</a:t>
            </a:r>
            <a:r>
              <a:rPr sz="2400" spc="-5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IC</a:t>
            </a:r>
            <a:r>
              <a:rPr sz="2400" spc="-40" dirty="0">
                <a:solidFill>
                  <a:srgbClr val="000000"/>
                </a:solidFill>
              </a:rPr>
              <a:t> </a:t>
            </a:r>
            <a:r>
              <a:rPr sz="2400" spc="-20" dirty="0">
                <a:solidFill>
                  <a:srgbClr val="000000"/>
                </a:solidFill>
              </a:rPr>
              <a:t>Terminology</a:t>
            </a:r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100990" y="160985"/>
            <a:ext cx="326834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u="heavy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Voltage</a:t>
            </a:r>
            <a:r>
              <a:rPr sz="2800" u="heavy" spc="-8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Parameters: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99487" y="4120584"/>
            <a:ext cx="5261934" cy="2661214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514600" y="5715000"/>
            <a:ext cx="868044" cy="369570"/>
            <a:chOff x="2514600" y="5715000"/>
            <a:chExt cx="868044" cy="36957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14600" y="5715000"/>
              <a:ext cx="867549" cy="36932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14600" y="5715000"/>
              <a:ext cx="867549" cy="36932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514600" y="5715000"/>
            <a:ext cx="868044" cy="369570"/>
          </a:xfrm>
          <a:prstGeom prst="rect">
            <a:avLst/>
          </a:prstGeom>
          <a:ln w="9525">
            <a:solidFill>
              <a:srgbClr val="46AAC5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TTL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76237" y="2890837"/>
            <a:ext cx="8010525" cy="1152525"/>
            <a:chOff x="376237" y="2890837"/>
            <a:chExt cx="8010525" cy="1152525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1000" y="2895600"/>
              <a:ext cx="8001000" cy="11429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81000" y="4040981"/>
              <a:ext cx="8001000" cy="0"/>
            </a:xfrm>
            <a:custGeom>
              <a:avLst/>
              <a:gdLst/>
              <a:ahLst/>
              <a:cxnLst/>
              <a:rect l="l" t="t" r="r" b="b"/>
              <a:pathLst>
                <a:path w="8001000">
                  <a:moveTo>
                    <a:pt x="0" y="0"/>
                  </a:moveTo>
                  <a:lnTo>
                    <a:pt x="8001000" y="0"/>
                  </a:lnTo>
                </a:path>
              </a:pathLst>
            </a:custGeom>
            <a:ln w="4762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1000" y="2895600"/>
              <a:ext cx="8001000" cy="1143000"/>
            </a:xfrm>
            <a:custGeom>
              <a:avLst/>
              <a:gdLst/>
              <a:ahLst/>
              <a:cxnLst/>
              <a:rect l="l" t="t" r="r" b="b"/>
              <a:pathLst>
                <a:path w="8001000" h="1143000">
                  <a:moveTo>
                    <a:pt x="8001000" y="0"/>
                  </a:moveTo>
                  <a:lnTo>
                    <a:pt x="0" y="0"/>
                  </a:lnTo>
                  <a:lnTo>
                    <a:pt x="0" y="1143000"/>
                  </a:lnTo>
                </a:path>
              </a:pathLst>
            </a:custGeom>
            <a:ln w="9525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384381" y="2895600"/>
              <a:ext cx="0" cy="1143000"/>
            </a:xfrm>
            <a:custGeom>
              <a:avLst/>
              <a:gdLst/>
              <a:ahLst/>
              <a:cxnLst/>
              <a:rect l="l" t="t" r="r" b="b"/>
              <a:pathLst>
                <a:path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ln w="4762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1000" y="2895600"/>
              <a:ext cx="8001000" cy="11430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81000" y="2895600"/>
              <a:ext cx="8001000" cy="1143000"/>
            </a:xfrm>
            <a:custGeom>
              <a:avLst/>
              <a:gdLst/>
              <a:ahLst/>
              <a:cxnLst/>
              <a:rect l="l" t="t" r="r" b="b"/>
              <a:pathLst>
                <a:path w="8001000" h="1143000">
                  <a:moveTo>
                    <a:pt x="0" y="1143000"/>
                  </a:moveTo>
                  <a:lnTo>
                    <a:pt x="8001000" y="1143000"/>
                  </a:lnTo>
                  <a:lnTo>
                    <a:pt x="80010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9525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00634" y="667258"/>
            <a:ext cx="7577455" cy="3248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7660" marR="399415" indent="-277495">
              <a:lnSpc>
                <a:spcPct val="100000"/>
              </a:lnSpc>
              <a:spcBef>
                <a:spcPts val="100"/>
              </a:spcBef>
              <a:buFont typeface="Arial MT"/>
              <a:buChar char="–"/>
              <a:tabLst>
                <a:tab pos="328295" algn="l"/>
              </a:tabLst>
            </a:pPr>
            <a:r>
              <a:rPr sz="2400" dirty="0">
                <a:latin typeface="Calibri"/>
                <a:cs typeface="Calibri"/>
              </a:rPr>
              <a:t>V</a:t>
            </a:r>
            <a:r>
              <a:rPr sz="2400" baseline="-20833" dirty="0">
                <a:latin typeface="Calibri"/>
                <a:cs typeface="Calibri"/>
              </a:rPr>
              <a:t>IH</a:t>
            </a:r>
            <a:r>
              <a:rPr sz="2400" dirty="0">
                <a:latin typeface="Calibri"/>
                <a:cs typeface="Calibri"/>
              </a:rPr>
              <a:t>(min):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high-level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voltage,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minimum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voltage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level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required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logic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15" dirty="0">
                <a:latin typeface="Calibri"/>
                <a:cs typeface="Calibri"/>
              </a:rPr>
              <a:t> at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i="1" spc="-5" dirty="0">
                <a:latin typeface="Calibri"/>
                <a:cs typeface="Calibri"/>
              </a:rPr>
              <a:t>input</a:t>
            </a:r>
            <a:r>
              <a:rPr sz="2400" spc="-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327660" indent="-277495">
              <a:lnSpc>
                <a:spcPct val="100000"/>
              </a:lnSpc>
              <a:spcBef>
                <a:spcPts val="580"/>
              </a:spcBef>
              <a:buFont typeface="Arial MT"/>
              <a:buChar char="–"/>
              <a:tabLst>
                <a:tab pos="328295" algn="l"/>
              </a:tabLst>
            </a:pPr>
            <a:r>
              <a:rPr sz="2400" spc="-10" dirty="0">
                <a:latin typeface="Calibri"/>
                <a:cs typeface="Calibri"/>
              </a:rPr>
              <a:t>V</a:t>
            </a:r>
            <a:r>
              <a:rPr sz="2400" spc="-15" baseline="-20833" dirty="0">
                <a:latin typeface="Calibri"/>
                <a:cs typeface="Calibri"/>
              </a:rPr>
              <a:t>IL</a:t>
            </a:r>
            <a:r>
              <a:rPr sz="2400" spc="-10" dirty="0">
                <a:latin typeface="Calibri"/>
                <a:cs typeface="Calibri"/>
              </a:rPr>
              <a:t>(max): </a:t>
            </a:r>
            <a:r>
              <a:rPr sz="2400" spc="-5" dirty="0">
                <a:latin typeface="Calibri"/>
                <a:cs typeface="Calibri"/>
              </a:rPr>
              <a:t>low-level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voltage</a:t>
            </a:r>
            <a:endParaRPr sz="2400">
              <a:latin typeface="Calibri"/>
              <a:cs typeface="Calibri"/>
            </a:endParaRPr>
          </a:p>
          <a:p>
            <a:pPr marL="327660" indent="-277495">
              <a:lnSpc>
                <a:spcPct val="100000"/>
              </a:lnSpc>
              <a:spcBef>
                <a:spcPts val="575"/>
              </a:spcBef>
              <a:buFont typeface="Arial MT"/>
              <a:buChar char="–"/>
              <a:tabLst>
                <a:tab pos="328295" algn="l"/>
              </a:tabLst>
            </a:pPr>
            <a:r>
              <a:rPr sz="2400" spc="-5" dirty="0">
                <a:latin typeface="Calibri"/>
                <a:cs typeface="Calibri"/>
              </a:rPr>
              <a:t>V</a:t>
            </a:r>
            <a:r>
              <a:rPr sz="2400" spc="-7" baseline="-20833" dirty="0">
                <a:latin typeface="Calibri"/>
                <a:cs typeface="Calibri"/>
              </a:rPr>
              <a:t>OH</a:t>
            </a:r>
            <a:r>
              <a:rPr sz="2400" spc="-5" dirty="0">
                <a:latin typeface="Calibri"/>
                <a:cs typeface="Calibri"/>
              </a:rPr>
              <a:t>(min):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high-level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voltage</a:t>
            </a:r>
            <a:endParaRPr sz="2400">
              <a:latin typeface="Calibri"/>
              <a:cs typeface="Calibri"/>
            </a:endParaRPr>
          </a:p>
          <a:p>
            <a:pPr marL="327660" indent="-277495">
              <a:lnSpc>
                <a:spcPct val="100000"/>
              </a:lnSpc>
              <a:spcBef>
                <a:spcPts val="580"/>
              </a:spcBef>
              <a:buFont typeface="Arial MT"/>
              <a:buChar char="–"/>
              <a:tabLst>
                <a:tab pos="328295" algn="l"/>
              </a:tabLst>
            </a:pPr>
            <a:r>
              <a:rPr sz="2400" spc="-10" dirty="0">
                <a:latin typeface="Calibri"/>
                <a:cs typeface="Calibri"/>
              </a:rPr>
              <a:t>V</a:t>
            </a:r>
            <a:r>
              <a:rPr sz="2400" spc="-15" baseline="-20833" dirty="0">
                <a:latin typeface="Calibri"/>
                <a:cs typeface="Calibri"/>
              </a:rPr>
              <a:t>OL</a:t>
            </a:r>
            <a:r>
              <a:rPr sz="2400" spc="-10" dirty="0">
                <a:latin typeface="Calibri"/>
                <a:cs typeface="Calibri"/>
              </a:rPr>
              <a:t>(max):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low-level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voltage</a:t>
            </a:r>
            <a:endParaRPr sz="2400">
              <a:latin typeface="Calibri"/>
              <a:cs typeface="Calibri"/>
            </a:endParaRPr>
          </a:p>
          <a:p>
            <a:pPr marL="516255" lvl="1" indent="-344805">
              <a:lnSpc>
                <a:spcPct val="100000"/>
              </a:lnSpc>
              <a:spcBef>
                <a:spcPts val="1555"/>
              </a:spcBef>
              <a:buFont typeface="Arial MT"/>
              <a:buChar char="•"/>
              <a:tabLst>
                <a:tab pos="516255" algn="l"/>
                <a:tab pos="516890" algn="l"/>
              </a:tabLst>
            </a:pPr>
            <a:r>
              <a:rPr sz="2000" spc="-15" dirty="0">
                <a:latin typeface="Calibri"/>
                <a:cs typeface="Calibri"/>
              </a:rPr>
              <a:t>For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proper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operation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input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voltage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levels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logic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must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kept</a:t>
            </a:r>
            <a:endParaRPr sz="2000">
              <a:latin typeface="Calibri"/>
              <a:cs typeface="Calibri"/>
            </a:endParaRPr>
          </a:p>
          <a:p>
            <a:pPr marL="516255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outside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indeterminate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range.</a:t>
            </a:r>
            <a:endParaRPr sz="2000">
              <a:latin typeface="Calibri"/>
              <a:cs typeface="Calibri"/>
            </a:endParaRPr>
          </a:p>
          <a:p>
            <a:pPr marL="516255" lvl="1" indent="-34480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516255" algn="l"/>
                <a:tab pos="516890" algn="l"/>
              </a:tabLst>
            </a:pPr>
            <a:r>
              <a:rPr sz="2000" spc="-15" dirty="0">
                <a:latin typeface="Calibri"/>
                <a:cs typeface="Calibri"/>
              </a:rPr>
              <a:t>Lower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</a:t>
            </a:r>
            <a:r>
              <a:rPr sz="2025" spc="-15" baseline="-20576" dirty="0">
                <a:latin typeface="Calibri"/>
                <a:cs typeface="Calibri"/>
              </a:rPr>
              <a:t>IL</a:t>
            </a:r>
            <a:r>
              <a:rPr sz="2000" spc="-10" dirty="0">
                <a:latin typeface="Calibri"/>
                <a:cs typeface="Calibri"/>
              </a:rPr>
              <a:t>(max)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5" dirty="0">
                <a:latin typeface="Calibri"/>
                <a:cs typeface="Calibri"/>
              </a:rPr>
              <a:t>higher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</a:t>
            </a:r>
            <a:r>
              <a:rPr sz="2025" spc="-7" baseline="-20576" dirty="0">
                <a:latin typeface="Calibri"/>
                <a:cs typeface="Calibri"/>
              </a:rPr>
              <a:t>IH</a:t>
            </a:r>
            <a:r>
              <a:rPr sz="2000" spc="-5" dirty="0">
                <a:latin typeface="Calibri"/>
                <a:cs typeface="Calibri"/>
              </a:rPr>
              <a:t>(min).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00400" y="152374"/>
            <a:ext cx="2894965" cy="462280"/>
            <a:chOff x="3200400" y="152374"/>
            <a:chExt cx="2894965" cy="4622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0400" y="152374"/>
              <a:ext cx="2894583" cy="46167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0400" y="152374"/>
              <a:ext cx="2894583" cy="46167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00400" y="152374"/>
            <a:ext cx="2894965" cy="462280"/>
          </a:xfrm>
          <a:prstGeom prst="rect">
            <a:avLst/>
          </a:prstGeom>
          <a:ln w="9525">
            <a:solidFill>
              <a:srgbClr val="F6924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15"/>
              </a:spcBef>
            </a:pPr>
            <a:r>
              <a:rPr sz="2400" spc="-5" dirty="0">
                <a:solidFill>
                  <a:srgbClr val="000000"/>
                </a:solidFill>
              </a:rPr>
              <a:t>Digital</a:t>
            </a:r>
            <a:r>
              <a:rPr sz="2400" spc="-5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IC</a:t>
            </a:r>
            <a:r>
              <a:rPr sz="2400" spc="-40" dirty="0">
                <a:solidFill>
                  <a:srgbClr val="000000"/>
                </a:solidFill>
              </a:rPr>
              <a:t> </a:t>
            </a:r>
            <a:r>
              <a:rPr sz="2400" spc="-20" dirty="0">
                <a:solidFill>
                  <a:srgbClr val="000000"/>
                </a:solidFill>
              </a:rPr>
              <a:t>Terminology</a:t>
            </a:r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501802" y="305765"/>
            <a:ext cx="222377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Noise</a:t>
            </a:r>
            <a:r>
              <a:rPr sz="32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15" dirty="0">
                <a:solidFill>
                  <a:srgbClr val="FF0000"/>
                </a:solidFill>
                <a:latin typeface="Calibri"/>
                <a:cs typeface="Calibri"/>
              </a:rPr>
              <a:t>Margin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1140" y="863651"/>
            <a:ext cx="4791710" cy="398399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93370" indent="-281305">
              <a:lnSpc>
                <a:spcPct val="100000"/>
              </a:lnSpc>
              <a:spcBef>
                <a:spcPts val="365"/>
              </a:spcBef>
              <a:buFont typeface="Arial MT"/>
              <a:buChar char="–"/>
              <a:tabLst>
                <a:tab pos="294005" algn="l"/>
              </a:tabLst>
            </a:pPr>
            <a:r>
              <a:rPr sz="2200" dirty="0">
                <a:latin typeface="Calibri"/>
                <a:cs typeface="Calibri"/>
              </a:rPr>
              <a:t>noise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present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real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systems</a:t>
            </a:r>
            <a:endParaRPr sz="2200">
              <a:latin typeface="Calibri"/>
              <a:cs typeface="Calibri"/>
            </a:endParaRPr>
          </a:p>
          <a:p>
            <a:pPr marL="293370" indent="-281305">
              <a:lnSpc>
                <a:spcPts val="2510"/>
              </a:lnSpc>
              <a:spcBef>
                <a:spcPts val="260"/>
              </a:spcBef>
              <a:buFont typeface="Arial MT"/>
              <a:buChar char="–"/>
              <a:tabLst>
                <a:tab pos="294005" algn="l"/>
              </a:tabLst>
            </a:pPr>
            <a:r>
              <a:rPr sz="2200" dirty="0">
                <a:latin typeface="Calibri"/>
                <a:cs typeface="Calibri"/>
              </a:rPr>
              <a:t>this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adds random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fluctuations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to</a:t>
            </a:r>
            <a:endParaRPr sz="2200">
              <a:latin typeface="Calibri"/>
              <a:cs typeface="Calibri"/>
            </a:endParaRPr>
          </a:p>
          <a:p>
            <a:pPr marL="293370">
              <a:lnSpc>
                <a:spcPts val="2510"/>
              </a:lnSpc>
            </a:pPr>
            <a:r>
              <a:rPr sz="2200" spc="-5" dirty="0">
                <a:latin typeface="Calibri"/>
                <a:cs typeface="Calibri"/>
              </a:rPr>
              <a:t>voltages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representing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logic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levels</a:t>
            </a:r>
            <a:endParaRPr sz="2200">
              <a:latin typeface="Calibri"/>
              <a:cs typeface="Calibri"/>
            </a:endParaRPr>
          </a:p>
          <a:p>
            <a:pPr marL="293370" marR="185420" indent="-281305">
              <a:lnSpc>
                <a:spcPct val="90100"/>
              </a:lnSpc>
              <a:spcBef>
                <a:spcPts val="525"/>
              </a:spcBef>
              <a:buFont typeface="Arial MT"/>
              <a:buChar char="–"/>
              <a:tabLst>
                <a:tab pos="294005" algn="l"/>
              </a:tabLst>
            </a:pPr>
            <a:r>
              <a:rPr sz="2200" spc="-1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cope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noise,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voltage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ranges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defining </a:t>
            </a:r>
            <a:r>
              <a:rPr sz="2200" dirty="0">
                <a:latin typeface="Calibri"/>
                <a:cs typeface="Calibri"/>
              </a:rPr>
              <a:t>the logic levels </a:t>
            </a:r>
            <a:r>
              <a:rPr sz="2200" spc="-10" dirty="0">
                <a:latin typeface="Calibri"/>
                <a:cs typeface="Calibri"/>
              </a:rPr>
              <a:t>are </a:t>
            </a:r>
            <a:r>
              <a:rPr sz="2200" dirty="0">
                <a:latin typeface="Calibri"/>
                <a:cs typeface="Calibri"/>
              </a:rPr>
              <a:t>more 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tightly </a:t>
            </a:r>
            <a:r>
              <a:rPr sz="2200" spc="-10" dirty="0">
                <a:latin typeface="Calibri"/>
                <a:cs typeface="Calibri"/>
              </a:rPr>
              <a:t>constrained </a:t>
            </a:r>
            <a:r>
              <a:rPr sz="2200" spc="-15" dirty="0">
                <a:latin typeface="Calibri"/>
                <a:cs typeface="Calibri"/>
              </a:rPr>
              <a:t>at </a:t>
            </a:r>
            <a:r>
              <a:rPr sz="2200" dirty="0">
                <a:latin typeface="Calibri"/>
                <a:cs typeface="Calibri"/>
              </a:rPr>
              <a:t>the output </a:t>
            </a:r>
            <a:r>
              <a:rPr sz="2200" spc="5" dirty="0">
                <a:latin typeface="Calibri"/>
                <a:cs typeface="Calibri"/>
              </a:rPr>
              <a:t>of </a:t>
            </a:r>
            <a:r>
              <a:rPr sz="2200" dirty="0">
                <a:latin typeface="Calibri"/>
                <a:cs typeface="Calibri"/>
              </a:rPr>
              <a:t>a 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gate</a:t>
            </a:r>
            <a:r>
              <a:rPr sz="2200" dirty="0">
                <a:latin typeface="Calibri"/>
                <a:cs typeface="Calibri"/>
              </a:rPr>
              <a:t> than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at </a:t>
            </a:r>
            <a:r>
              <a:rPr sz="2200" dirty="0">
                <a:latin typeface="Calibri"/>
                <a:cs typeface="Calibri"/>
              </a:rPr>
              <a:t>the </a:t>
            </a:r>
            <a:r>
              <a:rPr sz="2200" spc="-5" dirty="0">
                <a:latin typeface="Calibri"/>
                <a:cs typeface="Calibri"/>
              </a:rPr>
              <a:t>input</a:t>
            </a:r>
            <a:endParaRPr sz="2200">
              <a:latin typeface="Calibri"/>
              <a:cs typeface="Calibri"/>
            </a:endParaRPr>
          </a:p>
          <a:p>
            <a:pPr marL="293370" indent="-281305">
              <a:lnSpc>
                <a:spcPts val="2510"/>
              </a:lnSpc>
              <a:spcBef>
                <a:spcPts val="265"/>
              </a:spcBef>
              <a:buFont typeface="Arial MT"/>
              <a:buChar char="–"/>
              <a:tabLst>
                <a:tab pos="294005" algn="l"/>
              </a:tabLst>
            </a:pPr>
            <a:r>
              <a:rPr sz="2200" spc="-5" dirty="0">
                <a:latin typeface="Calibri"/>
                <a:cs typeface="Calibri"/>
              </a:rPr>
              <a:t>thus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small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amounts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of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noise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will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endParaRPr sz="2200">
              <a:latin typeface="Calibri"/>
              <a:cs typeface="Calibri"/>
            </a:endParaRPr>
          </a:p>
          <a:p>
            <a:pPr marL="293370">
              <a:lnSpc>
                <a:spcPts val="2510"/>
              </a:lnSpc>
            </a:pPr>
            <a:r>
              <a:rPr sz="2200" spc="-20" dirty="0">
                <a:latin typeface="Calibri"/>
                <a:cs typeface="Calibri"/>
              </a:rPr>
              <a:t>affect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circuit</a:t>
            </a:r>
            <a:endParaRPr sz="2200">
              <a:latin typeface="Calibri"/>
              <a:cs typeface="Calibri"/>
            </a:endParaRPr>
          </a:p>
          <a:p>
            <a:pPr marL="293370" marR="5080" indent="-281305" algn="just">
              <a:lnSpc>
                <a:spcPct val="90100"/>
              </a:lnSpc>
              <a:spcBef>
                <a:spcPts val="525"/>
              </a:spcBef>
              <a:buFont typeface="Arial MT"/>
              <a:buChar char="–"/>
              <a:tabLst>
                <a:tab pos="294005" algn="l"/>
              </a:tabLst>
            </a:pPr>
            <a:r>
              <a:rPr sz="2200" dirty="0">
                <a:latin typeface="Calibri"/>
                <a:cs typeface="Calibri"/>
              </a:rPr>
              <a:t>the maximum noise </a:t>
            </a:r>
            <a:r>
              <a:rPr sz="2200" spc="-10" dirty="0">
                <a:latin typeface="Calibri"/>
                <a:cs typeface="Calibri"/>
              </a:rPr>
              <a:t>voltage </a:t>
            </a:r>
            <a:r>
              <a:rPr sz="2200" spc="-5" dirty="0">
                <a:latin typeface="Calibri"/>
                <a:cs typeface="Calibri"/>
              </a:rPr>
              <a:t>that can be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tolerated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a</a:t>
            </a:r>
            <a:r>
              <a:rPr sz="2200" spc="-5" dirty="0">
                <a:latin typeface="Calibri"/>
                <a:cs typeface="Calibri"/>
              </a:rPr>
              <a:t> circuit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 termed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00FF"/>
                </a:solidFill>
                <a:latin typeface="Calibri"/>
                <a:cs typeface="Calibri"/>
              </a:rPr>
              <a:t>noise </a:t>
            </a:r>
            <a:r>
              <a:rPr sz="2200" b="1" spc="-484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00FF"/>
                </a:solidFill>
                <a:latin typeface="Calibri"/>
                <a:cs typeface="Calibri"/>
              </a:rPr>
              <a:t>immunity</a:t>
            </a:r>
            <a:r>
              <a:rPr sz="22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(noise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Margin)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000" y="720331"/>
            <a:ext cx="3095625" cy="442002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134479" y="3142614"/>
            <a:ext cx="40894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400" b="1" spc="7" baseline="13888" dirty="0">
                <a:solidFill>
                  <a:srgbClr val="0000FF"/>
                </a:solidFill>
                <a:latin typeface="Arial"/>
                <a:cs typeface="Arial"/>
              </a:rPr>
              <a:t>V</a:t>
            </a:r>
            <a:r>
              <a:rPr sz="1050" b="1" spc="5" dirty="0">
                <a:solidFill>
                  <a:srgbClr val="0000FF"/>
                </a:solidFill>
                <a:latin typeface="Arial"/>
                <a:cs typeface="Arial"/>
              </a:rPr>
              <a:t>NH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69531" y="3963670"/>
            <a:ext cx="39370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400" b="1" spc="7" baseline="13888" dirty="0">
                <a:solidFill>
                  <a:srgbClr val="0000FF"/>
                </a:solidFill>
                <a:latin typeface="Arial"/>
                <a:cs typeface="Arial"/>
              </a:rPr>
              <a:t>V</a:t>
            </a:r>
            <a:r>
              <a:rPr sz="1050" b="1" spc="5" dirty="0">
                <a:solidFill>
                  <a:srgbClr val="0000FF"/>
                </a:solidFill>
                <a:latin typeface="Arial"/>
                <a:cs typeface="Arial"/>
              </a:rPr>
              <a:t>NL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02486" y="5448706"/>
            <a:ext cx="3261995" cy="95186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25"/>
              </a:spcBef>
            </a:pPr>
            <a:r>
              <a:rPr sz="3200" i="1" spc="-10" dirty="0">
                <a:latin typeface="Calibri"/>
                <a:cs typeface="Calibri"/>
              </a:rPr>
              <a:t>V</a:t>
            </a:r>
            <a:r>
              <a:rPr sz="1800" spc="-10" dirty="0">
                <a:latin typeface="Calibri"/>
                <a:cs typeface="Calibri"/>
              </a:rPr>
              <a:t>NH</a:t>
            </a:r>
            <a:r>
              <a:rPr sz="1800" spc="3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=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V</a:t>
            </a:r>
            <a:r>
              <a:rPr sz="1800" spc="-5" dirty="0">
                <a:latin typeface="Calibri"/>
                <a:cs typeface="Calibri"/>
              </a:rPr>
              <a:t>OH(min)</a:t>
            </a:r>
            <a:r>
              <a:rPr sz="1800" spc="3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−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V</a:t>
            </a:r>
            <a:r>
              <a:rPr sz="1800" spc="-5" dirty="0">
                <a:latin typeface="Calibri"/>
                <a:cs typeface="Calibri"/>
              </a:rPr>
              <a:t>IH(min)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V</a:t>
            </a:r>
            <a:r>
              <a:rPr sz="1800" spc="-10" dirty="0">
                <a:latin typeface="Calibri"/>
                <a:cs typeface="Calibri"/>
              </a:rPr>
              <a:t>NL</a:t>
            </a:r>
            <a:r>
              <a:rPr sz="1800" spc="3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=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V</a:t>
            </a:r>
            <a:r>
              <a:rPr sz="1800" spc="-5" dirty="0">
                <a:latin typeface="Calibri"/>
                <a:cs typeface="Calibri"/>
              </a:rPr>
              <a:t>IL(max)</a:t>
            </a:r>
            <a:r>
              <a:rPr sz="1800" spc="30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−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V</a:t>
            </a:r>
            <a:r>
              <a:rPr sz="1800" spc="-5" dirty="0">
                <a:latin typeface="Calibri"/>
                <a:cs typeface="Calibri"/>
              </a:rPr>
              <a:t>OL(max)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00400" y="152374"/>
            <a:ext cx="2894965" cy="462280"/>
            <a:chOff x="3200400" y="152374"/>
            <a:chExt cx="2894965" cy="4622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0400" y="152374"/>
              <a:ext cx="2894583" cy="46167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0400" y="152374"/>
              <a:ext cx="2894583" cy="46167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00400" y="152374"/>
            <a:ext cx="2894965" cy="462280"/>
          </a:xfrm>
          <a:prstGeom prst="rect">
            <a:avLst/>
          </a:prstGeom>
          <a:ln w="9525">
            <a:solidFill>
              <a:srgbClr val="F6924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15"/>
              </a:spcBef>
            </a:pPr>
            <a:r>
              <a:rPr sz="2400" spc="-5" dirty="0">
                <a:solidFill>
                  <a:srgbClr val="000000"/>
                </a:solidFill>
              </a:rPr>
              <a:t>Digital</a:t>
            </a:r>
            <a:r>
              <a:rPr sz="2400" spc="-5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IC</a:t>
            </a:r>
            <a:r>
              <a:rPr sz="2400" spc="-40" dirty="0">
                <a:solidFill>
                  <a:srgbClr val="000000"/>
                </a:solidFill>
              </a:rPr>
              <a:t> </a:t>
            </a:r>
            <a:r>
              <a:rPr sz="2400" spc="-20" dirty="0">
                <a:solidFill>
                  <a:srgbClr val="000000"/>
                </a:solidFill>
              </a:rPr>
              <a:t>Terminology</a:t>
            </a:r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501802" y="305765"/>
            <a:ext cx="222377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Noise</a:t>
            </a:r>
            <a:r>
              <a:rPr sz="32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15" dirty="0">
                <a:solidFill>
                  <a:srgbClr val="FF0000"/>
                </a:solidFill>
                <a:latin typeface="Calibri"/>
                <a:cs typeface="Calibri"/>
              </a:rPr>
              <a:t>Margin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6229" y="997211"/>
            <a:ext cx="7449540" cy="3041388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921829" y="4477232"/>
            <a:ext cx="6953250" cy="1950720"/>
            <a:chOff x="921829" y="4477232"/>
            <a:chExt cx="6953250" cy="195072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0190" y="4482228"/>
              <a:ext cx="6914314" cy="19456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21829" y="4477232"/>
              <a:ext cx="1183005" cy="361315"/>
            </a:xfrm>
            <a:custGeom>
              <a:avLst/>
              <a:gdLst/>
              <a:ahLst/>
              <a:cxnLst/>
              <a:rect l="l" t="t" r="r" b="b"/>
              <a:pathLst>
                <a:path w="1183005" h="361314">
                  <a:moveTo>
                    <a:pt x="1182941" y="0"/>
                  </a:moveTo>
                  <a:lnTo>
                    <a:pt x="0" y="0"/>
                  </a:lnTo>
                  <a:lnTo>
                    <a:pt x="0" y="360959"/>
                  </a:lnTo>
                  <a:lnTo>
                    <a:pt x="1182941" y="360959"/>
                  </a:lnTo>
                  <a:lnTo>
                    <a:pt x="11829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048" y="856310"/>
            <a:ext cx="8689975" cy="3378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95"/>
              </a:spcBef>
            </a:pPr>
            <a:r>
              <a:rPr sz="2000" u="sng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Current</a:t>
            </a:r>
            <a:r>
              <a:rPr sz="2000" u="sng" spc="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Parameters: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750">
              <a:latin typeface="Calibri"/>
              <a:cs typeface="Calibri"/>
            </a:endParaRPr>
          </a:p>
          <a:p>
            <a:pPr marL="433070" indent="-34480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33070" algn="l"/>
                <a:tab pos="433705" algn="l"/>
              </a:tabLst>
            </a:pPr>
            <a:r>
              <a:rPr sz="2000" spc="-5" dirty="0">
                <a:latin typeface="Calibri"/>
                <a:cs typeface="Calibri"/>
              </a:rPr>
              <a:t>I</a:t>
            </a:r>
            <a:r>
              <a:rPr sz="2025" spc="-7" baseline="-20576" dirty="0">
                <a:latin typeface="Calibri"/>
                <a:cs typeface="Calibri"/>
              </a:rPr>
              <a:t>OH</a:t>
            </a:r>
            <a:r>
              <a:rPr sz="2025" spc="195" baseline="-20576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– </a:t>
            </a:r>
            <a:r>
              <a:rPr sz="2000" spc="-15" dirty="0">
                <a:latin typeface="Calibri"/>
                <a:cs typeface="Calibri"/>
              </a:rPr>
              <a:t>Current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flowing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into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output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logical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“1” </a:t>
            </a:r>
            <a:r>
              <a:rPr sz="2000" spc="-25" dirty="0">
                <a:latin typeface="Calibri"/>
                <a:cs typeface="Calibri"/>
              </a:rPr>
              <a:t>state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under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specified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load</a:t>
            </a:r>
            <a:endParaRPr sz="2000">
              <a:latin typeface="Calibri"/>
              <a:cs typeface="Calibri"/>
            </a:endParaRPr>
          </a:p>
          <a:p>
            <a:pPr marL="43307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conditions</a:t>
            </a:r>
            <a:endParaRPr sz="2000">
              <a:latin typeface="Calibri"/>
              <a:cs typeface="Calibri"/>
            </a:endParaRPr>
          </a:p>
          <a:p>
            <a:pPr marL="433070" indent="-34480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433070" algn="l"/>
                <a:tab pos="433705" algn="l"/>
              </a:tabLst>
            </a:pPr>
            <a:r>
              <a:rPr sz="2000" spc="-5" dirty="0">
                <a:latin typeface="Calibri"/>
                <a:cs typeface="Calibri"/>
              </a:rPr>
              <a:t>I</a:t>
            </a:r>
            <a:r>
              <a:rPr sz="2025" spc="-7" baseline="-20576" dirty="0">
                <a:latin typeface="Calibri"/>
                <a:cs typeface="Calibri"/>
              </a:rPr>
              <a:t>OL</a:t>
            </a:r>
            <a:r>
              <a:rPr sz="2025" spc="202" baseline="-20576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–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Current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flowing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into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 </a:t>
            </a:r>
            <a:r>
              <a:rPr sz="2000" dirty="0">
                <a:latin typeface="Calibri"/>
                <a:cs typeface="Calibri"/>
              </a:rPr>
              <a:t>output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dirty="0">
                <a:latin typeface="Calibri"/>
                <a:cs typeface="Calibri"/>
              </a:rPr>
              <a:t> the</a:t>
            </a:r>
            <a:r>
              <a:rPr sz="2000" spc="-10" dirty="0">
                <a:latin typeface="Calibri"/>
                <a:cs typeface="Calibri"/>
              </a:rPr>
              <a:t> logical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“0”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state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under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specified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load</a:t>
            </a:r>
            <a:endParaRPr sz="2000">
              <a:latin typeface="Calibri"/>
              <a:cs typeface="Calibri"/>
            </a:endParaRPr>
          </a:p>
          <a:p>
            <a:pPr marL="43307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conditions</a:t>
            </a:r>
            <a:endParaRPr sz="2000">
              <a:latin typeface="Calibri"/>
              <a:cs typeface="Calibri"/>
            </a:endParaRPr>
          </a:p>
          <a:p>
            <a:pPr marL="433070" indent="-34480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433070" algn="l"/>
                <a:tab pos="433705" algn="l"/>
              </a:tabLst>
            </a:pPr>
            <a:r>
              <a:rPr sz="2000" spc="-5" dirty="0">
                <a:latin typeface="Calibri"/>
                <a:cs typeface="Calibri"/>
              </a:rPr>
              <a:t>I</a:t>
            </a:r>
            <a:r>
              <a:rPr sz="2025" spc="-7" baseline="-20576" dirty="0">
                <a:latin typeface="Calibri"/>
                <a:cs typeface="Calibri"/>
              </a:rPr>
              <a:t>IH</a:t>
            </a:r>
            <a:r>
              <a:rPr sz="2025" spc="187" baseline="-20576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– </a:t>
            </a:r>
            <a:r>
              <a:rPr sz="2000" spc="-15" dirty="0">
                <a:latin typeface="Calibri"/>
                <a:cs typeface="Calibri"/>
              </a:rPr>
              <a:t>Current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flowing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into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input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when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specified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HI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level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applied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that</a:t>
            </a:r>
            <a:endParaRPr sz="2000">
              <a:latin typeface="Calibri"/>
              <a:cs typeface="Calibri"/>
            </a:endParaRPr>
          </a:p>
          <a:p>
            <a:pPr marL="43307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input</a:t>
            </a:r>
            <a:endParaRPr sz="2000">
              <a:latin typeface="Calibri"/>
              <a:cs typeface="Calibri"/>
            </a:endParaRPr>
          </a:p>
          <a:p>
            <a:pPr marL="433070" indent="-34480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433070" algn="l"/>
                <a:tab pos="433705" algn="l"/>
              </a:tabLst>
            </a:pPr>
            <a:r>
              <a:rPr sz="2000" spc="-5" dirty="0">
                <a:latin typeface="Calibri"/>
                <a:cs typeface="Calibri"/>
              </a:rPr>
              <a:t>I</a:t>
            </a:r>
            <a:r>
              <a:rPr sz="2025" spc="-7" baseline="-20576" dirty="0">
                <a:latin typeface="Calibri"/>
                <a:cs typeface="Calibri"/>
              </a:rPr>
              <a:t>IL</a:t>
            </a:r>
            <a:r>
              <a:rPr sz="2025" spc="202" baseline="-20576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–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Current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flowing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into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 </a:t>
            </a:r>
            <a:r>
              <a:rPr sz="2000" dirty="0">
                <a:latin typeface="Calibri"/>
                <a:cs typeface="Calibri"/>
              </a:rPr>
              <a:t>input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when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specified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LO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level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applied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that</a:t>
            </a:r>
            <a:endParaRPr sz="2000">
              <a:latin typeface="Calibri"/>
              <a:cs typeface="Calibri"/>
            </a:endParaRPr>
          </a:p>
          <a:p>
            <a:pPr marL="43307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input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939" y="4414714"/>
            <a:ext cx="7456062" cy="234339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61005" y="6007100"/>
            <a:ext cx="50292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000" spc="-7" baseline="13888" dirty="0">
                <a:latin typeface="Arial MT"/>
                <a:cs typeface="Arial MT"/>
              </a:rPr>
              <a:t>V</a:t>
            </a:r>
            <a:r>
              <a:rPr sz="1350" spc="-5" dirty="0">
                <a:latin typeface="Arial MT"/>
                <a:cs typeface="Arial MT"/>
              </a:rPr>
              <a:t>OH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88409" y="6004052"/>
            <a:ext cx="41148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000" spc="-30" baseline="13888" dirty="0">
                <a:latin typeface="Arial MT"/>
                <a:cs typeface="Arial MT"/>
              </a:rPr>
              <a:t>V</a:t>
            </a:r>
            <a:r>
              <a:rPr sz="1350" spc="-20" dirty="0">
                <a:latin typeface="Arial MT"/>
                <a:cs typeface="Arial MT"/>
              </a:rPr>
              <a:t>IH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41517" y="6050076"/>
            <a:ext cx="47498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000" spc="-7" baseline="13888" dirty="0">
                <a:latin typeface="Arial MT"/>
                <a:cs typeface="Arial MT"/>
              </a:rPr>
              <a:t>V</a:t>
            </a:r>
            <a:r>
              <a:rPr sz="1350" spc="-5" dirty="0">
                <a:latin typeface="Arial MT"/>
                <a:cs typeface="Arial MT"/>
              </a:rPr>
              <a:t>OL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02501" y="6047028"/>
            <a:ext cx="38290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000" spc="-30" baseline="13888" dirty="0">
                <a:latin typeface="Arial MT"/>
                <a:cs typeface="Arial MT"/>
              </a:rPr>
              <a:t>V</a:t>
            </a:r>
            <a:r>
              <a:rPr sz="1350" spc="-20" dirty="0">
                <a:latin typeface="Arial MT"/>
                <a:cs typeface="Arial MT"/>
              </a:rPr>
              <a:t>IL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72029" y="5195696"/>
            <a:ext cx="40513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000" b="1" baseline="13888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350" b="1" dirty="0">
                <a:solidFill>
                  <a:srgbClr val="0000FF"/>
                </a:solidFill>
                <a:latin typeface="Arial"/>
                <a:cs typeface="Arial"/>
              </a:rPr>
              <a:t>OH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17264" y="5195696"/>
            <a:ext cx="32004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000" b="1" baseline="13888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350" b="1" dirty="0">
                <a:solidFill>
                  <a:srgbClr val="0000FF"/>
                </a:solidFill>
                <a:latin typeface="Arial"/>
                <a:cs typeface="Arial"/>
              </a:rPr>
              <a:t>IH</a:t>
            </a:r>
            <a:endParaRPr sz="13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82819" y="5195696"/>
            <a:ext cx="38608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000" b="1" baseline="13888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350" b="1" dirty="0">
                <a:solidFill>
                  <a:srgbClr val="0000FF"/>
                </a:solidFill>
                <a:latin typeface="Arial"/>
                <a:cs typeface="Arial"/>
              </a:rPr>
              <a:t>OL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28053" y="5195696"/>
            <a:ext cx="30099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000" b="1" baseline="13888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350" b="1" dirty="0">
                <a:solidFill>
                  <a:srgbClr val="0000FF"/>
                </a:solidFill>
                <a:latin typeface="Arial"/>
                <a:cs typeface="Arial"/>
              </a:rPr>
              <a:t>IL</a:t>
            </a:r>
            <a:endParaRPr sz="13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15019" y="6416446"/>
            <a:ext cx="1905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5" dirty="0">
                <a:latin typeface="Times New Roman"/>
                <a:cs typeface="Times New Roman"/>
              </a:rPr>
              <a:t>11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00400" y="152374"/>
            <a:ext cx="2894965" cy="462280"/>
            <a:chOff x="3200400" y="152374"/>
            <a:chExt cx="2894965" cy="46228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0400" y="152374"/>
              <a:ext cx="2894583" cy="46167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00400" y="152374"/>
              <a:ext cx="2894583" cy="461670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200400" y="152374"/>
            <a:ext cx="2894965" cy="462280"/>
          </a:xfrm>
          <a:prstGeom prst="rect">
            <a:avLst/>
          </a:prstGeom>
          <a:ln w="9525">
            <a:solidFill>
              <a:srgbClr val="F6924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15"/>
              </a:spcBef>
            </a:pPr>
            <a:r>
              <a:rPr sz="2400" spc="-5" dirty="0">
                <a:solidFill>
                  <a:srgbClr val="000000"/>
                </a:solidFill>
              </a:rPr>
              <a:t>Digital</a:t>
            </a:r>
            <a:r>
              <a:rPr sz="2400" spc="-5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IC</a:t>
            </a:r>
            <a:r>
              <a:rPr sz="2400" spc="-40" dirty="0">
                <a:solidFill>
                  <a:srgbClr val="000000"/>
                </a:solidFill>
              </a:rPr>
              <a:t> </a:t>
            </a:r>
            <a:r>
              <a:rPr sz="2400" spc="-20" dirty="0">
                <a:solidFill>
                  <a:srgbClr val="000000"/>
                </a:solidFill>
              </a:rPr>
              <a:t>Terminology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00400" y="152374"/>
            <a:ext cx="2894965" cy="462280"/>
            <a:chOff x="3200400" y="152374"/>
            <a:chExt cx="2894965" cy="4622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0400" y="152374"/>
              <a:ext cx="2894583" cy="46167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0400" y="152374"/>
              <a:ext cx="2894583" cy="46167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3200400" y="152374"/>
            <a:ext cx="2894965" cy="462280"/>
          </a:xfrm>
          <a:prstGeom prst="rect">
            <a:avLst/>
          </a:prstGeom>
          <a:ln w="9525">
            <a:solidFill>
              <a:srgbClr val="F6924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15"/>
              </a:spcBef>
            </a:pPr>
            <a:r>
              <a:rPr sz="2400" spc="-5" dirty="0">
                <a:latin typeface="Calibri"/>
                <a:cs typeface="Calibri"/>
              </a:rPr>
              <a:t>Digital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IC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Terminology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939" y="929462"/>
            <a:ext cx="8503285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maximum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standard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logic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 output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can</a:t>
            </a:r>
            <a:endParaRPr sz="240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drive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reliably.</a:t>
            </a:r>
            <a:endParaRPr sz="24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Calibri"/>
                <a:cs typeface="Calibri"/>
              </a:rPr>
              <a:t>Also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 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loading</a:t>
            </a:r>
            <a:r>
              <a:rPr sz="2400" i="1" spc="3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factor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spc="-15" dirty="0">
                <a:latin typeface="Calibri"/>
                <a:cs typeface="Calibri"/>
              </a:rPr>
              <a:t>Related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current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parameters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(both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low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states.)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02360" y="176860"/>
            <a:ext cx="139001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75" dirty="0"/>
              <a:t>f</a:t>
            </a:r>
            <a:r>
              <a:rPr sz="4000" spc="5" dirty="0"/>
              <a:t>anout</a:t>
            </a:r>
            <a:endParaRPr sz="4000"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07724" y="3854535"/>
            <a:ext cx="1730061" cy="166759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425795" y="2736596"/>
            <a:ext cx="127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80069" y="6354572"/>
            <a:ext cx="2025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" dirty="0">
                <a:latin typeface="Times New Roman"/>
                <a:cs typeface="Times New Roman"/>
              </a:rPr>
              <a:t>12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12584" y="3810000"/>
            <a:ext cx="5760085" cy="2367915"/>
            <a:chOff x="412584" y="3810000"/>
            <a:chExt cx="5760085" cy="236791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3920" y="3831335"/>
              <a:ext cx="640930" cy="4876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14108" y="3811523"/>
              <a:ext cx="5756910" cy="2364740"/>
            </a:xfrm>
            <a:custGeom>
              <a:avLst/>
              <a:gdLst/>
              <a:ahLst/>
              <a:cxnLst/>
              <a:rect l="l" t="t" r="r" b="b"/>
              <a:pathLst>
                <a:path w="5756910" h="2364740">
                  <a:moveTo>
                    <a:pt x="0" y="0"/>
                  </a:moveTo>
                  <a:lnTo>
                    <a:pt x="5756567" y="0"/>
                  </a:lnTo>
                </a:path>
                <a:path w="5756910" h="2364740">
                  <a:moveTo>
                    <a:pt x="0" y="0"/>
                  </a:moveTo>
                  <a:lnTo>
                    <a:pt x="0" y="2364308"/>
                  </a:lnTo>
                </a:path>
                <a:path w="5756910" h="2364740">
                  <a:moveTo>
                    <a:pt x="0" y="2364308"/>
                  </a:moveTo>
                  <a:lnTo>
                    <a:pt x="5756567" y="2364308"/>
                  </a:lnTo>
                </a:path>
                <a:path w="5756910" h="2364740">
                  <a:moveTo>
                    <a:pt x="5756567" y="2364308"/>
                  </a:moveTo>
                  <a:lnTo>
                    <a:pt x="57565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3147663" y="2983983"/>
            <a:ext cx="535940" cy="0"/>
          </a:xfrm>
          <a:custGeom>
            <a:avLst/>
            <a:gdLst/>
            <a:ahLst/>
            <a:cxnLst/>
            <a:rect l="l" t="t" r="r" b="b"/>
            <a:pathLst>
              <a:path w="535939">
                <a:moveTo>
                  <a:pt x="0" y="0"/>
                </a:moveTo>
                <a:lnTo>
                  <a:pt x="535635" y="0"/>
                </a:lnTo>
              </a:path>
            </a:pathLst>
          </a:custGeom>
          <a:ln w="1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55948" y="2983983"/>
            <a:ext cx="481330" cy="0"/>
          </a:xfrm>
          <a:custGeom>
            <a:avLst/>
            <a:gdLst/>
            <a:ahLst/>
            <a:cxnLst/>
            <a:rect l="l" t="t" r="r" b="b"/>
            <a:pathLst>
              <a:path w="481329">
                <a:moveTo>
                  <a:pt x="0" y="0"/>
                </a:moveTo>
                <a:lnTo>
                  <a:pt x="480924" y="0"/>
                </a:lnTo>
              </a:path>
            </a:pathLst>
          </a:custGeom>
          <a:ln w="1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165455" y="3065155"/>
            <a:ext cx="1127760" cy="41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758825" algn="l"/>
              </a:tabLst>
            </a:pPr>
            <a:r>
              <a:rPr sz="3825" i="1" spc="7" baseline="14161" dirty="0">
                <a:latin typeface="Times New Roman"/>
                <a:cs typeface="Times New Roman"/>
              </a:rPr>
              <a:t>I</a:t>
            </a:r>
            <a:r>
              <a:rPr sz="3825" i="1" spc="-540" baseline="14161" dirty="0">
                <a:latin typeface="Times New Roman"/>
                <a:cs typeface="Times New Roman"/>
              </a:rPr>
              <a:t> </a:t>
            </a:r>
            <a:r>
              <a:rPr sz="1500" i="1" spc="5" dirty="0">
                <a:latin typeface="Times New Roman"/>
                <a:cs typeface="Times New Roman"/>
              </a:rPr>
              <a:t>I</a:t>
            </a:r>
            <a:r>
              <a:rPr sz="1500" i="1" spc="30" dirty="0">
                <a:latin typeface="Times New Roman"/>
                <a:cs typeface="Times New Roman"/>
              </a:rPr>
              <a:t>H</a:t>
            </a:r>
            <a:r>
              <a:rPr sz="1500" i="1" dirty="0">
                <a:latin typeface="Times New Roman"/>
                <a:cs typeface="Times New Roman"/>
              </a:rPr>
              <a:t>	</a:t>
            </a:r>
            <a:r>
              <a:rPr sz="3825" i="1" spc="7" baseline="14161" dirty="0">
                <a:latin typeface="Times New Roman"/>
                <a:cs typeface="Times New Roman"/>
              </a:rPr>
              <a:t>I</a:t>
            </a:r>
            <a:r>
              <a:rPr sz="3825" i="1" spc="-540" baseline="14161" dirty="0">
                <a:latin typeface="Times New Roman"/>
                <a:cs typeface="Times New Roman"/>
              </a:rPr>
              <a:t> </a:t>
            </a:r>
            <a:r>
              <a:rPr sz="1500" i="1" spc="10" dirty="0">
                <a:latin typeface="Times New Roman"/>
                <a:cs typeface="Times New Roman"/>
              </a:rPr>
              <a:t>IL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4827" y="2717811"/>
            <a:ext cx="2940050" cy="41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b="1" spc="-5" dirty="0">
                <a:solidFill>
                  <a:srgbClr val="0000FF"/>
                </a:solidFill>
                <a:latin typeface="Arial"/>
                <a:cs typeface="Arial"/>
              </a:rPr>
              <a:t>DC</a:t>
            </a:r>
            <a:r>
              <a:rPr sz="24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Arial"/>
                <a:cs typeface="Arial"/>
              </a:rPr>
              <a:t>fanout</a:t>
            </a:r>
            <a:r>
              <a:rPr sz="2400" b="1" spc="-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min(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3825" i="1" spc="22" baseline="34858" dirty="0">
                <a:latin typeface="Times New Roman"/>
                <a:cs typeface="Times New Roman"/>
              </a:rPr>
              <a:t>I</a:t>
            </a:r>
            <a:r>
              <a:rPr sz="2250" i="1" spc="22" baseline="35185" dirty="0">
                <a:latin typeface="Times New Roman"/>
                <a:cs typeface="Times New Roman"/>
              </a:rPr>
              <a:t>OH</a:t>
            </a:r>
            <a:endParaRPr sz="2250" baseline="35185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90690" y="2596583"/>
            <a:ext cx="598805" cy="41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825" spc="7" baseline="-22875" dirty="0">
                <a:latin typeface="Times New Roman"/>
                <a:cs typeface="Times New Roman"/>
              </a:rPr>
              <a:t>,</a:t>
            </a:r>
            <a:r>
              <a:rPr sz="3825" spc="-82" baseline="-22875" dirty="0">
                <a:latin typeface="Times New Roman"/>
                <a:cs typeface="Times New Roman"/>
              </a:rPr>
              <a:t> </a:t>
            </a:r>
            <a:r>
              <a:rPr sz="3825" i="1" spc="22" baseline="14161" dirty="0">
                <a:latin typeface="Times New Roman"/>
                <a:cs typeface="Times New Roman"/>
              </a:rPr>
              <a:t>I</a:t>
            </a:r>
            <a:r>
              <a:rPr sz="1500" i="1" spc="15" dirty="0">
                <a:latin typeface="Times New Roman"/>
                <a:cs typeface="Times New Roman"/>
              </a:rPr>
              <a:t>OL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00400" y="152374"/>
            <a:ext cx="2894965" cy="462280"/>
          </a:xfrm>
          <a:prstGeom prst="rect">
            <a:avLst/>
          </a:prstGeom>
          <a:ln w="9525">
            <a:solidFill>
              <a:srgbClr val="F6924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15"/>
              </a:spcBef>
            </a:pPr>
            <a:r>
              <a:rPr sz="2400" spc="-5" dirty="0">
                <a:latin typeface="Calibri"/>
                <a:cs typeface="Calibri"/>
              </a:rPr>
              <a:t>Digital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IC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Terminology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4644" y="543620"/>
            <a:ext cx="8182609" cy="163830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82270" indent="-344805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82270" algn="l"/>
                <a:tab pos="382905" algn="l"/>
              </a:tabLst>
            </a:pPr>
            <a:r>
              <a:rPr sz="3200" b="1" spc="-10" dirty="0">
                <a:solidFill>
                  <a:srgbClr val="0000FF"/>
                </a:solidFill>
                <a:latin typeface="Calibri"/>
                <a:cs typeface="Calibri"/>
              </a:rPr>
              <a:t>Timing</a:t>
            </a:r>
            <a:r>
              <a:rPr sz="3200" b="1" spc="-15" dirty="0">
                <a:solidFill>
                  <a:srgbClr val="0000FF"/>
                </a:solidFill>
                <a:latin typeface="Calibri"/>
                <a:cs typeface="Calibri"/>
              </a:rPr>
              <a:t> considerations</a:t>
            </a:r>
            <a:endParaRPr sz="3200">
              <a:latin typeface="Calibri"/>
              <a:cs typeface="Calibri"/>
            </a:endParaRPr>
          </a:p>
          <a:p>
            <a:pPr marL="7816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dirty="0">
                <a:latin typeface="Calibri"/>
                <a:cs typeface="Calibri"/>
              </a:rPr>
              <a:t>all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gates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have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certain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propagation</a:t>
            </a:r>
            <a:r>
              <a:rPr sz="2800" b="1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Calibri"/>
                <a:cs typeface="Calibri"/>
              </a:rPr>
              <a:t>delay</a:t>
            </a:r>
            <a:r>
              <a:rPr sz="280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0000FF"/>
                </a:solidFill>
                <a:latin typeface="Calibri"/>
                <a:cs typeface="Calibri"/>
              </a:rPr>
              <a:t>time</a:t>
            </a:r>
            <a:r>
              <a:rPr sz="2800" spc="5" dirty="0">
                <a:latin typeface="Calibri"/>
                <a:cs typeface="Calibri"/>
              </a:rPr>
              <a:t>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b="1" i="1" spc="15" dirty="0">
                <a:solidFill>
                  <a:srgbClr val="0000FF"/>
                </a:solidFill>
                <a:latin typeface="Calibri"/>
                <a:cs typeface="Calibri"/>
              </a:rPr>
              <a:t>t</a:t>
            </a:r>
            <a:r>
              <a:rPr sz="2775" b="1" i="1" spc="22" baseline="-19519" dirty="0">
                <a:solidFill>
                  <a:srgbClr val="0000FF"/>
                </a:solidFill>
                <a:latin typeface="Calibri"/>
                <a:cs typeface="Calibri"/>
              </a:rPr>
              <a:t>PD</a:t>
            </a:r>
            <a:endParaRPr sz="2775" baseline="-19519">
              <a:latin typeface="Calibri"/>
              <a:cs typeface="Calibri"/>
            </a:endParaRPr>
          </a:p>
          <a:p>
            <a:pPr marL="7816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5" dirty="0">
                <a:latin typeface="Calibri"/>
                <a:cs typeface="Calibri"/>
              </a:rPr>
              <a:t>this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" dirty="0">
                <a:latin typeface="Calibri"/>
                <a:cs typeface="Calibri"/>
              </a:rPr>
              <a:t> the </a:t>
            </a:r>
            <a:r>
              <a:rPr sz="2800" spc="-20" dirty="0">
                <a:latin typeface="Calibri"/>
                <a:cs typeface="Calibri"/>
              </a:rPr>
              <a:t>average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" dirty="0">
                <a:latin typeface="Calibri"/>
                <a:cs typeface="Calibri"/>
              </a:rPr>
              <a:t> the two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switching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times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8046" y="2313760"/>
            <a:ext cx="4003388" cy="300000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178847" y="3272080"/>
            <a:ext cx="130175" cy="245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15" dirty="0">
                <a:latin typeface="Arial MT"/>
                <a:cs typeface="Arial MT"/>
              </a:rPr>
              <a:t>2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2361" y="3172486"/>
            <a:ext cx="216979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850" i="1" spc="97" baseline="14619" dirty="0">
                <a:latin typeface="Arial"/>
                <a:cs typeface="Arial"/>
              </a:rPr>
              <a:t>t</a:t>
            </a:r>
            <a:r>
              <a:rPr sz="1450" i="1" spc="-10" dirty="0">
                <a:latin typeface="Arial"/>
                <a:cs typeface="Arial"/>
              </a:rPr>
              <a:t>P</a:t>
            </a:r>
            <a:r>
              <a:rPr sz="1450" i="1" spc="20" dirty="0">
                <a:latin typeface="Arial"/>
                <a:cs typeface="Arial"/>
              </a:rPr>
              <a:t>D</a:t>
            </a:r>
            <a:r>
              <a:rPr sz="1450" i="1" dirty="0">
                <a:latin typeface="Arial"/>
                <a:cs typeface="Arial"/>
              </a:rPr>
              <a:t> </a:t>
            </a:r>
            <a:r>
              <a:rPr sz="1450" i="1" spc="-100" dirty="0">
                <a:latin typeface="Arial"/>
                <a:cs typeface="Arial"/>
              </a:rPr>
              <a:t> </a:t>
            </a:r>
            <a:r>
              <a:rPr sz="2850" spc="60" baseline="14619" dirty="0">
                <a:latin typeface="Symbol"/>
                <a:cs typeface="Symbol"/>
              </a:rPr>
              <a:t></a:t>
            </a:r>
            <a:r>
              <a:rPr sz="2850" spc="157" baseline="14619" dirty="0">
                <a:latin typeface="Times New Roman"/>
                <a:cs typeface="Times New Roman"/>
              </a:rPr>
              <a:t> </a:t>
            </a:r>
            <a:r>
              <a:rPr sz="2175" u="sng" spc="22" baseline="4214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1</a:t>
            </a:r>
            <a:r>
              <a:rPr sz="2175" spc="-375" baseline="42145" dirty="0">
                <a:latin typeface="Arial MT"/>
                <a:cs typeface="Arial MT"/>
              </a:rPr>
              <a:t> </a:t>
            </a:r>
            <a:r>
              <a:rPr sz="2850" i="1" spc="7" baseline="14619" dirty="0">
                <a:latin typeface="Arial"/>
                <a:cs typeface="Arial"/>
              </a:rPr>
              <a:t>(</a:t>
            </a:r>
            <a:r>
              <a:rPr sz="2850" i="1" spc="82" baseline="14619" dirty="0">
                <a:latin typeface="Arial"/>
                <a:cs typeface="Arial"/>
              </a:rPr>
              <a:t>t</a:t>
            </a:r>
            <a:r>
              <a:rPr sz="1450" i="1" spc="-5" dirty="0">
                <a:latin typeface="Arial"/>
                <a:cs typeface="Arial"/>
              </a:rPr>
              <a:t>PH</a:t>
            </a:r>
            <a:r>
              <a:rPr sz="1450" i="1" spc="15" dirty="0">
                <a:latin typeface="Arial"/>
                <a:cs typeface="Arial"/>
              </a:rPr>
              <a:t>L</a:t>
            </a:r>
            <a:r>
              <a:rPr sz="1450" i="1" spc="175" dirty="0">
                <a:latin typeface="Arial"/>
                <a:cs typeface="Arial"/>
              </a:rPr>
              <a:t> </a:t>
            </a:r>
            <a:r>
              <a:rPr sz="2850" spc="60" baseline="14619" dirty="0">
                <a:latin typeface="Symbol"/>
                <a:cs typeface="Symbol"/>
              </a:rPr>
              <a:t></a:t>
            </a:r>
            <a:r>
              <a:rPr sz="2850" spc="-217" baseline="14619" dirty="0">
                <a:latin typeface="Times New Roman"/>
                <a:cs typeface="Times New Roman"/>
              </a:rPr>
              <a:t> </a:t>
            </a:r>
            <a:r>
              <a:rPr sz="2850" i="1" spc="97" baseline="14619" dirty="0">
                <a:latin typeface="Arial"/>
                <a:cs typeface="Arial"/>
              </a:rPr>
              <a:t>t</a:t>
            </a:r>
            <a:r>
              <a:rPr sz="1450" i="1" spc="-10" dirty="0">
                <a:latin typeface="Arial"/>
                <a:cs typeface="Arial"/>
              </a:rPr>
              <a:t>P</a:t>
            </a:r>
            <a:r>
              <a:rPr sz="1450" i="1" spc="-5" dirty="0">
                <a:latin typeface="Arial"/>
                <a:cs typeface="Arial"/>
              </a:rPr>
              <a:t>L</a:t>
            </a:r>
            <a:r>
              <a:rPr sz="1450" i="1" spc="20" dirty="0">
                <a:latin typeface="Arial"/>
                <a:cs typeface="Arial"/>
              </a:rPr>
              <a:t>H</a:t>
            </a:r>
            <a:r>
              <a:rPr sz="1450" i="1" spc="-50" dirty="0">
                <a:latin typeface="Arial"/>
                <a:cs typeface="Arial"/>
              </a:rPr>
              <a:t> </a:t>
            </a:r>
            <a:r>
              <a:rPr sz="2850" i="1" spc="30" baseline="14619" dirty="0">
                <a:latin typeface="Arial"/>
                <a:cs typeface="Arial"/>
              </a:rPr>
              <a:t>)</a:t>
            </a:r>
            <a:endParaRPr sz="2850" baseline="14619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00400" y="152374"/>
            <a:ext cx="2894965" cy="462280"/>
            <a:chOff x="3200400" y="152374"/>
            <a:chExt cx="2894965" cy="4622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0400" y="152374"/>
              <a:ext cx="2894583" cy="46167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0400" y="152374"/>
              <a:ext cx="2894583" cy="46167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00400" y="152374"/>
            <a:ext cx="2894965" cy="462280"/>
          </a:xfrm>
          <a:prstGeom prst="rect">
            <a:avLst/>
          </a:prstGeom>
          <a:ln w="9525">
            <a:solidFill>
              <a:srgbClr val="F6924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15"/>
              </a:spcBef>
            </a:pPr>
            <a:r>
              <a:rPr sz="2400" spc="-5" dirty="0">
                <a:solidFill>
                  <a:srgbClr val="000000"/>
                </a:solidFill>
              </a:rPr>
              <a:t>Digital</a:t>
            </a:r>
            <a:r>
              <a:rPr sz="2400" spc="-5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IC</a:t>
            </a:r>
            <a:r>
              <a:rPr sz="2400" spc="-40" dirty="0">
                <a:solidFill>
                  <a:srgbClr val="000000"/>
                </a:solidFill>
              </a:rPr>
              <a:t> </a:t>
            </a:r>
            <a:r>
              <a:rPr sz="2400" spc="-20" dirty="0">
                <a:solidFill>
                  <a:srgbClr val="000000"/>
                </a:solidFill>
              </a:rPr>
              <a:t>Terminology</a:t>
            </a:r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269240" y="542777"/>
            <a:ext cx="7143750" cy="364490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327025">
              <a:lnSpc>
                <a:spcPct val="100000"/>
              </a:lnSpc>
              <a:spcBef>
                <a:spcPts val="1225"/>
              </a:spcBef>
            </a:pPr>
            <a:r>
              <a:rPr sz="2800" spc="-15" dirty="0">
                <a:solidFill>
                  <a:srgbClr val="FF0000"/>
                </a:solidFill>
                <a:latin typeface="Calibri"/>
                <a:cs typeface="Calibri"/>
              </a:rPr>
              <a:t>Power</a:t>
            </a:r>
            <a:r>
              <a:rPr sz="28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FF0000"/>
                </a:solidFill>
                <a:latin typeface="Calibri"/>
                <a:cs typeface="Calibri"/>
              </a:rPr>
              <a:t>Requirements</a:t>
            </a:r>
            <a:endParaRPr sz="2800">
              <a:latin typeface="Calibri"/>
              <a:cs typeface="Calibri"/>
            </a:endParaRPr>
          </a:p>
          <a:p>
            <a:pPr marL="394970" marR="55880" indent="-34480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394970" algn="l"/>
                <a:tab pos="395605" algn="l"/>
              </a:tabLst>
            </a:pPr>
            <a:r>
              <a:rPr sz="2400" spc="-15" dirty="0">
                <a:latin typeface="Calibri"/>
                <a:cs typeface="Calibri"/>
              </a:rPr>
              <a:t>Every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IC </a:t>
            </a:r>
            <a:r>
              <a:rPr sz="2400" spc="5" dirty="0">
                <a:latin typeface="Calibri"/>
                <a:cs typeface="Calibri"/>
              </a:rPr>
              <a:t>needs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certain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amount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electrical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power</a:t>
            </a:r>
            <a:r>
              <a:rPr sz="2400" spc="-10" dirty="0">
                <a:latin typeface="Calibri"/>
                <a:cs typeface="Calibri"/>
              </a:rPr>
              <a:t> to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operate.</a:t>
            </a:r>
            <a:endParaRPr sz="2400">
              <a:latin typeface="Calibri"/>
              <a:cs typeface="Calibri"/>
            </a:endParaRPr>
          </a:p>
          <a:p>
            <a:pPr marL="394970" indent="-34480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94970" algn="l"/>
                <a:tab pos="395605" algn="l"/>
              </a:tabLst>
            </a:pPr>
            <a:r>
              <a:rPr sz="2400" spc="-40" dirty="0">
                <a:latin typeface="Calibri"/>
                <a:cs typeface="Calibri"/>
              </a:rPr>
              <a:t>V</a:t>
            </a:r>
            <a:r>
              <a:rPr sz="2400" spc="-60" baseline="-20833" dirty="0">
                <a:latin typeface="Calibri"/>
                <a:cs typeface="Calibri"/>
              </a:rPr>
              <a:t>cc</a:t>
            </a:r>
            <a:r>
              <a:rPr sz="2400" spc="179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(TTL)</a:t>
            </a:r>
            <a:endParaRPr sz="2400">
              <a:latin typeface="Calibri"/>
              <a:cs typeface="Calibri"/>
            </a:endParaRPr>
          </a:p>
          <a:p>
            <a:pPr marL="394970" indent="-34480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94970" algn="l"/>
                <a:tab pos="395605" algn="l"/>
              </a:tabLst>
            </a:pPr>
            <a:r>
              <a:rPr sz="2400" spc="-5" dirty="0">
                <a:latin typeface="Calibri"/>
                <a:cs typeface="Calibri"/>
              </a:rPr>
              <a:t>V</a:t>
            </a:r>
            <a:r>
              <a:rPr sz="2400" spc="-7" baseline="-20833" dirty="0">
                <a:latin typeface="Calibri"/>
                <a:cs typeface="Calibri"/>
              </a:rPr>
              <a:t>DD</a:t>
            </a:r>
            <a:r>
              <a:rPr sz="2400" spc="-5" dirty="0">
                <a:latin typeface="Calibri"/>
                <a:cs typeface="Calibri"/>
              </a:rPr>
              <a:t>(MOS)</a:t>
            </a:r>
            <a:endParaRPr sz="2400">
              <a:latin typeface="Calibri"/>
              <a:cs typeface="Calibri"/>
            </a:endParaRPr>
          </a:p>
          <a:p>
            <a:pPr marL="394970" indent="-34480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94970" algn="l"/>
                <a:tab pos="395605" algn="l"/>
              </a:tabLst>
            </a:pPr>
            <a:r>
              <a:rPr sz="2400" spc="-15" dirty="0">
                <a:latin typeface="Calibri"/>
                <a:cs typeface="Calibri"/>
              </a:rPr>
              <a:t>Power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dissipation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determined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spc="-7" baseline="-20833" dirty="0">
                <a:latin typeface="Calibri"/>
                <a:cs typeface="Calibri"/>
              </a:rPr>
              <a:t>cc</a:t>
            </a:r>
            <a:r>
              <a:rPr sz="2400" spc="23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V</a:t>
            </a:r>
            <a:r>
              <a:rPr sz="2400" spc="-52" baseline="-20833" dirty="0">
                <a:latin typeface="Calibri"/>
                <a:cs typeface="Calibri"/>
              </a:rPr>
              <a:t>cc</a:t>
            </a:r>
            <a:r>
              <a:rPr sz="2400" spc="-3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394970" indent="-34480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94970" algn="l"/>
                <a:tab pos="395605" algn="l"/>
              </a:tabLst>
            </a:pPr>
            <a:r>
              <a:rPr sz="2400" spc="-20" dirty="0">
                <a:latin typeface="Calibri"/>
                <a:cs typeface="Calibri"/>
              </a:rPr>
              <a:t>Average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</a:t>
            </a:r>
            <a:r>
              <a:rPr sz="2400" spc="-22" baseline="-20833" dirty="0">
                <a:latin typeface="Calibri"/>
                <a:cs typeface="Calibri"/>
              </a:rPr>
              <a:t>cc</a:t>
            </a:r>
            <a:r>
              <a:rPr sz="2400" spc="-15" dirty="0">
                <a:latin typeface="Calibri"/>
                <a:cs typeface="Calibri"/>
              </a:rPr>
              <a:t>(avg)=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</a:t>
            </a:r>
            <a:r>
              <a:rPr sz="2400" baseline="-20833" dirty="0">
                <a:latin typeface="Calibri"/>
                <a:cs typeface="Calibri"/>
              </a:rPr>
              <a:t>CCH</a:t>
            </a:r>
            <a:r>
              <a:rPr sz="2400" spc="209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spc="-7" baseline="-20833" dirty="0">
                <a:latin typeface="Calibri"/>
                <a:cs typeface="Calibri"/>
              </a:rPr>
              <a:t>CCL</a:t>
            </a:r>
            <a:r>
              <a:rPr sz="2400" spc="-5" dirty="0">
                <a:latin typeface="Calibri"/>
                <a:cs typeface="Calibri"/>
              </a:rPr>
              <a:t>)/2</a:t>
            </a:r>
            <a:endParaRPr sz="2400">
              <a:latin typeface="Calibri"/>
              <a:cs typeface="Calibri"/>
            </a:endParaRPr>
          </a:p>
          <a:p>
            <a:pPr marL="394970" indent="-34480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94970" algn="l"/>
                <a:tab pos="395605" algn="l"/>
              </a:tabLst>
            </a:pPr>
            <a:r>
              <a:rPr sz="2400" spc="-15" dirty="0">
                <a:latin typeface="Calibri"/>
                <a:cs typeface="Calibri"/>
              </a:rPr>
              <a:t>P</a:t>
            </a:r>
            <a:r>
              <a:rPr sz="2400" spc="-22" baseline="-20833" dirty="0">
                <a:latin typeface="Calibri"/>
                <a:cs typeface="Calibri"/>
              </a:rPr>
              <a:t>D</a:t>
            </a:r>
            <a:r>
              <a:rPr sz="2400" spc="-15" dirty="0">
                <a:latin typeface="Calibri"/>
                <a:cs typeface="Calibri"/>
              </a:rPr>
              <a:t>(avg)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</a:t>
            </a:r>
            <a:r>
              <a:rPr sz="2400" spc="-22" baseline="-20833" dirty="0">
                <a:latin typeface="Calibri"/>
                <a:cs typeface="Calibri"/>
              </a:rPr>
              <a:t>cc</a:t>
            </a:r>
            <a:r>
              <a:rPr sz="2400" spc="-15" dirty="0">
                <a:latin typeface="Calibri"/>
                <a:cs typeface="Calibri"/>
              </a:rPr>
              <a:t>(avg)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V</a:t>
            </a:r>
            <a:r>
              <a:rPr sz="2400" spc="-67" baseline="-20833" dirty="0">
                <a:latin typeface="Calibri"/>
                <a:cs typeface="Calibri"/>
              </a:rPr>
              <a:t>cc</a:t>
            </a:r>
            <a:endParaRPr sz="2400" baseline="-20833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05200" y="3886198"/>
            <a:ext cx="5562600" cy="29717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00400" y="152374"/>
            <a:ext cx="2894965" cy="462280"/>
            <a:chOff x="3200400" y="152374"/>
            <a:chExt cx="2894965" cy="4622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0400" y="152374"/>
              <a:ext cx="2894583" cy="46167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0400" y="152374"/>
              <a:ext cx="2894583" cy="46167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3200400" y="152374"/>
            <a:ext cx="2894965" cy="462280"/>
          </a:xfrm>
          <a:prstGeom prst="rect">
            <a:avLst/>
          </a:prstGeom>
          <a:ln w="9525">
            <a:solidFill>
              <a:srgbClr val="F6924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15"/>
              </a:spcBef>
            </a:pPr>
            <a:r>
              <a:rPr sz="2400" spc="-5" dirty="0">
                <a:latin typeface="Calibri"/>
                <a:cs typeface="Calibri"/>
              </a:rPr>
              <a:t>Digital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IC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Terminology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835657" y="952626"/>
            <a:ext cx="493903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0" dirty="0">
                <a:solidFill>
                  <a:srgbClr val="000000"/>
                </a:solidFill>
              </a:rPr>
              <a:t>Speed-Power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Product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3540" y="2273847"/>
            <a:ext cx="6295390" cy="270827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spc="-15" dirty="0">
                <a:latin typeface="Calibri"/>
                <a:cs typeface="Calibri"/>
              </a:rPr>
              <a:t>Desirable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properties: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dirty="0">
                <a:latin typeface="Calibri"/>
                <a:cs typeface="Calibri"/>
              </a:rPr>
              <a:t>Short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propagation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delays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(high </a:t>
            </a:r>
            <a:r>
              <a:rPr sz="2800" spc="-5" dirty="0">
                <a:latin typeface="Calibri"/>
                <a:cs typeface="Calibri"/>
              </a:rPr>
              <a:t>speed)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dirty="0">
                <a:latin typeface="Calibri"/>
                <a:cs typeface="Calibri"/>
              </a:rPr>
              <a:t>Low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power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dissipation</a:t>
            </a:r>
            <a:endParaRPr sz="2800">
              <a:latin typeface="Calibri"/>
              <a:cs typeface="Calibri"/>
            </a:endParaRPr>
          </a:p>
          <a:p>
            <a:pPr marL="356870" marR="5080" indent="-34480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200" spc="-10" dirty="0">
                <a:latin typeface="Calibri"/>
                <a:cs typeface="Calibri"/>
              </a:rPr>
              <a:t>Speed-power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product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measures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the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combined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effect.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9833" y="464896"/>
            <a:ext cx="570547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>
                <a:solidFill>
                  <a:srgbClr val="000000"/>
                </a:solidFill>
              </a:rPr>
              <a:t>Interfacing</a:t>
            </a:r>
            <a:r>
              <a:rPr spc="4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Logic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Families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9069" y="1658493"/>
            <a:ext cx="6435090" cy="66421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57505" marR="5080" indent="-344805">
              <a:lnSpc>
                <a:spcPts val="2380"/>
              </a:lnSpc>
              <a:spcBef>
                <a:spcPts val="4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200" spc="-20" dirty="0">
                <a:latin typeface="Calibri"/>
                <a:cs typeface="Calibri"/>
              </a:rPr>
              <a:t>We’ve </a:t>
            </a:r>
            <a:r>
              <a:rPr sz="2200" spc="5" dirty="0">
                <a:latin typeface="Calibri"/>
                <a:cs typeface="Calibri"/>
              </a:rPr>
              <a:t>seen </a:t>
            </a:r>
            <a:r>
              <a:rPr sz="2200" spc="-10" dirty="0">
                <a:latin typeface="Calibri"/>
                <a:cs typeface="Calibri"/>
              </a:rPr>
              <a:t>that </a:t>
            </a:r>
            <a:r>
              <a:rPr sz="2200" spc="-15" dirty="0">
                <a:latin typeface="Calibri"/>
                <a:cs typeface="Calibri"/>
              </a:rPr>
              <a:t>different </a:t>
            </a:r>
            <a:r>
              <a:rPr sz="2200" dirty="0">
                <a:latin typeface="Calibri"/>
                <a:cs typeface="Calibri"/>
              </a:rPr>
              <a:t>logic </a:t>
            </a:r>
            <a:r>
              <a:rPr sz="2200" spc="-5" dirty="0">
                <a:latin typeface="Calibri"/>
                <a:cs typeface="Calibri"/>
              </a:rPr>
              <a:t>families </a:t>
            </a:r>
            <a:r>
              <a:rPr sz="2200" spc="-15" dirty="0">
                <a:latin typeface="Calibri"/>
                <a:cs typeface="Calibri"/>
              </a:rPr>
              <a:t>have different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voltage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current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specifications.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49069" y="4945456"/>
            <a:ext cx="7016750" cy="6642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7505" indent="-344805">
              <a:lnSpc>
                <a:spcPts val="2510"/>
              </a:lnSpc>
              <a:spcBef>
                <a:spcPts val="11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200" dirty="0">
                <a:latin typeface="Calibri"/>
                <a:cs typeface="Calibri"/>
              </a:rPr>
              <a:t>These</a:t>
            </a:r>
            <a:r>
              <a:rPr sz="2200" spc="-10" dirty="0">
                <a:latin typeface="Calibri"/>
                <a:cs typeface="Calibri"/>
              </a:rPr>
              <a:t> differences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can</a:t>
            </a:r>
            <a:r>
              <a:rPr sz="2200" dirty="0">
                <a:latin typeface="Calibri"/>
                <a:cs typeface="Calibri"/>
              </a:rPr>
              <a:t> cause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problems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when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you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connect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a</a:t>
            </a:r>
            <a:endParaRPr sz="2200">
              <a:latin typeface="Calibri"/>
              <a:cs typeface="Calibri"/>
            </a:endParaRPr>
          </a:p>
          <a:p>
            <a:pPr marL="357505">
              <a:lnSpc>
                <a:spcPts val="2510"/>
              </a:lnSpc>
            </a:pPr>
            <a:r>
              <a:rPr sz="2200" spc="-25" dirty="0">
                <a:latin typeface="Calibri"/>
                <a:cs typeface="Calibri"/>
              </a:rPr>
              <a:t>gate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from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one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family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to</a:t>
            </a:r>
            <a:r>
              <a:rPr sz="2200" dirty="0">
                <a:latin typeface="Calibri"/>
                <a:cs typeface="Calibri"/>
              </a:rPr>
              <a:t> a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gate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from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another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family.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2905125"/>
            <a:ext cx="8362950" cy="26574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0335" y="189941"/>
            <a:ext cx="478536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Notes</a:t>
            </a:r>
            <a:r>
              <a:rPr spc="-20" dirty="0"/>
              <a:t> </a:t>
            </a:r>
            <a:r>
              <a:rPr spc="-5" dirty="0"/>
              <a:t>about</a:t>
            </a:r>
            <a:r>
              <a:rPr spc="-15" dirty="0"/>
              <a:t> </a:t>
            </a:r>
            <a:r>
              <a:rPr spc="-20" dirty="0"/>
              <a:t>Families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05525" y="1295400"/>
            <a:ext cx="2743200" cy="18288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3540" y="1153794"/>
            <a:ext cx="3731895" cy="8775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350"/>
              </a:lnSpc>
              <a:spcBef>
                <a:spcPts val="105"/>
              </a:spcBef>
            </a:pPr>
            <a:r>
              <a:rPr sz="2800" spc="-5" dirty="0">
                <a:solidFill>
                  <a:srgbClr val="0000FF"/>
                </a:solidFill>
                <a:latin typeface="Arial MT"/>
                <a:cs typeface="Arial MT"/>
              </a:rPr>
              <a:t>Diode</a:t>
            </a: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Arial MT"/>
                <a:cs typeface="Arial MT"/>
              </a:rPr>
              <a:t>Logic </a:t>
            </a: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(DL)</a:t>
            </a:r>
            <a:endParaRPr sz="2800">
              <a:latin typeface="Arial MT"/>
              <a:cs typeface="Arial MT"/>
            </a:endParaRPr>
          </a:p>
          <a:p>
            <a:pPr marL="271780" indent="-259715">
              <a:lnSpc>
                <a:spcPts val="3350"/>
              </a:lnSpc>
              <a:buChar char="•"/>
              <a:tabLst>
                <a:tab pos="272415" algn="l"/>
              </a:tabLst>
            </a:pPr>
            <a:r>
              <a:rPr sz="2800" spc="-5" dirty="0">
                <a:latin typeface="Calibri"/>
                <a:cs typeface="Calibri"/>
              </a:rPr>
              <a:t>simplest;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does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scale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540" y="2004441"/>
            <a:ext cx="3665854" cy="88391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0"/>
              </a:spcBef>
              <a:buChar char="•"/>
              <a:tabLst>
                <a:tab pos="272415" algn="l"/>
              </a:tabLst>
            </a:pPr>
            <a:r>
              <a:rPr sz="2800" spc="-25" dirty="0">
                <a:latin typeface="Calibri"/>
                <a:cs typeface="Calibri"/>
              </a:rPr>
              <a:t>NOT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possible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(need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 </a:t>
            </a:r>
            <a:r>
              <a:rPr sz="2800" spc="-5" dirty="0">
                <a:latin typeface="Calibri"/>
                <a:cs typeface="Calibri"/>
              </a:rPr>
              <a:t>active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element)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78170" y="2082241"/>
            <a:ext cx="1974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24600" y="3505200"/>
            <a:ext cx="2667000" cy="29718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87850" y="5095875"/>
            <a:ext cx="1009650" cy="52387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83540" y="3442157"/>
            <a:ext cx="6703695" cy="2061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3350"/>
              </a:lnSpc>
              <a:spcBef>
                <a:spcPts val="110"/>
              </a:spcBef>
            </a:pPr>
            <a:r>
              <a:rPr sz="2800" spc="-5" dirty="0">
                <a:solidFill>
                  <a:srgbClr val="0000FF"/>
                </a:solidFill>
                <a:latin typeface="Arial MT"/>
                <a:cs typeface="Arial MT"/>
              </a:rPr>
              <a:t>Resistor-Transistor</a:t>
            </a:r>
            <a:r>
              <a:rPr sz="2800" spc="-8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Logic </a:t>
            </a:r>
            <a:r>
              <a:rPr sz="2800" spc="-15" dirty="0">
                <a:solidFill>
                  <a:srgbClr val="0000FF"/>
                </a:solidFill>
                <a:latin typeface="Arial MT"/>
                <a:cs typeface="Arial MT"/>
              </a:rPr>
              <a:t>(RTL)</a:t>
            </a:r>
            <a:endParaRPr sz="2800">
              <a:latin typeface="Arial MT"/>
              <a:cs typeface="Arial MT"/>
            </a:endParaRPr>
          </a:p>
          <a:p>
            <a:pPr marL="271780" indent="-259715">
              <a:lnSpc>
                <a:spcPts val="3350"/>
              </a:lnSpc>
              <a:buChar char="•"/>
              <a:tabLst>
                <a:tab pos="272415" algn="l"/>
              </a:tabLst>
            </a:pPr>
            <a:r>
              <a:rPr sz="2800" spc="-5" dirty="0">
                <a:latin typeface="Calibri"/>
                <a:cs typeface="Calibri"/>
              </a:rPr>
              <a:t>replace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diode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switch </a:t>
            </a:r>
            <a:r>
              <a:rPr sz="2800" spc="5" dirty="0">
                <a:latin typeface="Calibri"/>
                <a:cs typeface="Calibri"/>
              </a:rPr>
              <a:t>with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transistor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switch</a:t>
            </a:r>
            <a:endParaRPr sz="2800">
              <a:latin typeface="Calibri"/>
              <a:cs typeface="Calibri"/>
            </a:endParaRPr>
          </a:p>
          <a:p>
            <a:pPr marL="271780" indent="-259715">
              <a:lnSpc>
                <a:spcPct val="100000"/>
              </a:lnSpc>
              <a:buChar char="•"/>
              <a:tabLst>
                <a:tab pos="272415" algn="l"/>
              </a:tabLst>
            </a:pPr>
            <a:r>
              <a:rPr sz="2800" spc="-10" dirty="0">
                <a:latin typeface="Calibri"/>
                <a:cs typeface="Calibri"/>
              </a:rPr>
              <a:t>can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cascaded</a:t>
            </a:r>
            <a:endParaRPr sz="2800">
              <a:latin typeface="Calibri"/>
              <a:cs typeface="Calibri"/>
            </a:endParaRPr>
          </a:p>
          <a:p>
            <a:pPr marL="271780" indent="-259715">
              <a:lnSpc>
                <a:spcPts val="3210"/>
              </a:lnSpc>
              <a:spcBef>
                <a:spcPts val="30"/>
              </a:spcBef>
              <a:buChar char="•"/>
              <a:tabLst>
                <a:tab pos="272415" algn="l"/>
              </a:tabLst>
            </a:pPr>
            <a:r>
              <a:rPr sz="2800" spc="-10" dirty="0">
                <a:latin typeface="Calibri"/>
                <a:cs typeface="Calibri"/>
              </a:rPr>
              <a:t>large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power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draw</a:t>
            </a:r>
            <a:endParaRPr sz="2800">
              <a:latin typeface="Calibri"/>
              <a:cs typeface="Calibri"/>
            </a:endParaRPr>
          </a:p>
          <a:p>
            <a:pPr marR="1216025" algn="r">
              <a:lnSpc>
                <a:spcPts val="2730"/>
              </a:lnSpc>
            </a:pPr>
            <a:r>
              <a:rPr sz="2400" dirty="0"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00550" y="2019300"/>
            <a:ext cx="990600" cy="51435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408923" y="6416446"/>
            <a:ext cx="2025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" dirty="0">
                <a:latin typeface="Times New Roman"/>
                <a:cs typeface="Times New Roman"/>
              </a:rPr>
              <a:t>19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4530" y="189941"/>
            <a:ext cx="116141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Then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4333875"/>
            <a:ext cx="1009650" cy="5238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65830" y="4350207"/>
            <a:ext cx="1974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540" y="1091641"/>
            <a:ext cx="7601584" cy="17348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3350"/>
              </a:lnSpc>
              <a:spcBef>
                <a:spcPts val="110"/>
              </a:spcBef>
            </a:pPr>
            <a:r>
              <a:rPr sz="2800" spc="-5" dirty="0">
                <a:solidFill>
                  <a:srgbClr val="0000FF"/>
                </a:solidFill>
                <a:latin typeface="Arial MT"/>
                <a:cs typeface="Arial MT"/>
              </a:rPr>
              <a:t>Diode-Transistor</a:t>
            </a:r>
            <a:r>
              <a:rPr sz="2800" spc="-2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Logic</a:t>
            </a:r>
            <a:r>
              <a:rPr sz="2800" spc="-1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Arial MT"/>
                <a:cs typeface="Arial MT"/>
              </a:rPr>
              <a:t>(DTL)</a:t>
            </a:r>
            <a:endParaRPr sz="2800">
              <a:latin typeface="Arial MT"/>
              <a:cs typeface="Arial MT"/>
            </a:endParaRPr>
          </a:p>
          <a:p>
            <a:pPr marL="271780" indent="-259715">
              <a:lnSpc>
                <a:spcPts val="3350"/>
              </a:lnSpc>
              <a:buChar char="•"/>
              <a:tabLst>
                <a:tab pos="272415" algn="l"/>
              </a:tabLst>
            </a:pPr>
            <a:r>
              <a:rPr sz="2800" dirty="0">
                <a:latin typeface="Calibri"/>
                <a:cs typeface="Calibri"/>
              </a:rPr>
              <a:t>essentially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diode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5" dirty="0">
                <a:latin typeface="Calibri"/>
                <a:cs typeface="Calibri"/>
              </a:rPr>
              <a:t>logic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5" dirty="0">
                <a:latin typeface="Calibri"/>
                <a:cs typeface="Calibri"/>
              </a:rPr>
              <a:t>with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transistor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amplification</a:t>
            </a:r>
            <a:endParaRPr sz="2800">
              <a:latin typeface="Calibri"/>
              <a:cs typeface="Calibri"/>
            </a:endParaRPr>
          </a:p>
          <a:p>
            <a:pPr marL="271780" indent="-259715">
              <a:lnSpc>
                <a:spcPct val="100000"/>
              </a:lnSpc>
              <a:buChar char="•"/>
              <a:tabLst>
                <a:tab pos="272415" algn="l"/>
              </a:tabLst>
            </a:pPr>
            <a:r>
              <a:rPr sz="2800" spc="-10" dirty="0">
                <a:latin typeface="Calibri"/>
                <a:cs typeface="Calibri"/>
              </a:rPr>
              <a:t>reduced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power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consumption</a:t>
            </a:r>
            <a:endParaRPr sz="2800">
              <a:latin typeface="Calibri"/>
              <a:cs typeface="Calibri"/>
            </a:endParaRPr>
          </a:p>
          <a:p>
            <a:pPr marL="271780" indent="-259715">
              <a:lnSpc>
                <a:spcPct val="100000"/>
              </a:lnSpc>
              <a:spcBef>
                <a:spcPts val="25"/>
              </a:spcBef>
              <a:buChar char="•"/>
              <a:tabLst>
                <a:tab pos="272415" algn="l"/>
              </a:tabLst>
            </a:pPr>
            <a:r>
              <a:rPr sz="2800" spc="-15" dirty="0">
                <a:latin typeface="Calibri"/>
                <a:cs typeface="Calibri"/>
              </a:rPr>
              <a:t>faster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RTL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271837" y="3195637"/>
            <a:ext cx="4505325" cy="2676525"/>
            <a:chOff x="3271837" y="3195637"/>
            <a:chExt cx="4505325" cy="267652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95675" y="3200400"/>
              <a:ext cx="3962400" cy="25908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276600" y="3200400"/>
              <a:ext cx="4495800" cy="2667000"/>
            </a:xfrm>
            <a:custGeom>
              <a:avLst/>
              <a:gdLst/>
              <a:ahLst/>
              <a:cxnLst/>
              <a:rect l="l" t="t" r="r" b="b"/>
              <a:pathLst>
                <a:path w="4495800" h="2667000">
                  <a:moveTo>
                    <a:pt x="0" y="2667000"/>
                  </a:moveTo>
                  <a:lnTo>
                    <a:pt x="2971800" y="2667000"/>
                  </a:lnTo>
                  <a:lnTo>
                    <a:pt x="2971800" y="0"/>
                  </a:lnTo>
                  <a:lnTo>
                    <a:pt x="0" y="0"/>
                  </a:lnTo>
                  <a:lnTo>
                    <a:pt x="0" y="2667000"/>
                  </a:lnTo>
                  <a:close/>
                </a:path>
                <a:path w="4495800" h="2667000">
                  <a:moveTo>
                    <a:pt x="3048000" y="2667000"/>
                  </a:moveTo>
                  <a:lnTo>
                    <a:pt x="4495800" y="2667000"/>
                  </a:lnTo>
                  <a:lnTo>
                    <a:pt x="4495800" y="0"/>
                  </a:lnTo>
                  <a:lnTo>
                    <a:pt x="3048000" y="0"/>
                  </a:lnTo>
                  <a:lnTo>
                    <a:pt x="3048000" y="2667000"/>
                  </a:lnTo>
                  <a:close/>
                </a:path>
              </a:pathLst>
            </a:custGeom>
            <a:ln w="9525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356609" y="5971743"/>
            <a:ext cx="141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DL</a:t>
            </a:r>
            <a:r>
              <a:rPr sz="1800" spc="2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gate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29298" y="5895543"/>
            <a:ext cx="18948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Saturating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inverter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08923" y="6416446"/>
            <a:ext cx="2025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" dirty="0">
                <a:latin typeface="Times New Roman"/>
                <a:cs typeface="Times New Roman"/>
              </a:rPr>
              <a:t>20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3151" y="83312"/>
            <a:ext cx="369062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10" dirty="0">
                <a:solidFill>
                  <a:srgbClr val="000000"/>
                </a:solidFill>
              </a:rPr>
              <a:t>TTL</a:t>
            </a:r>
            <a:r>
              <a:rPr sz="4000" spc="-20" dirty="0">
                <a:solidFill>
                  <a:srgbClr val="000000"/>
                </a:solidFill>
              </a:rPr>
              <a:t> </a:t>
            </a:r>
            <a:r>
              <a:rPr sz="4000" spc="-5" dirty="0">
                <a:solidFill>
                  <a:srgbClr val="000000"/>
                </a:solidFill>
              </a:rPr>
              <a:t>Logic</a:t>
            </a:r>
            <a:r>
              <a:rPr sz="4000" spc="-75" dirty="0">
                <a:solidFill>
                  <a:srgbClr val="000000"/>
                </a:solidFill>
              </a:rPr>
              <a:t> </a:t>
            </a:r>
            <a:r>
              <a:rPr sz="4000" spc="-15" dirty="0">
                <a:solidFill>
                  <a:srgbClr val="000000"/>
                </a:solidFill>
              </a:rPr>
              <a:t>Families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54939" y="794116"/>
            <a:ext cx="4569461" cy="5820183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58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TTL:</a:t>
            </a:r>
            <a:r>
              <a:rPr sz="2000" b="1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Transistor-Transistor</a:t>
            </a:r>
            <a:r>
              <a:rPr sz="20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Logic</a:t>
            </a:r>
            <a:endParaRPr sz="2000" dirty="0">
              <a:latin typeface="Calibri"/>
              <a:cs typeface="Calibri"/>
            </a:endParaRPr>
          </a:p>
          <a:p>
            <a:pPr marL="814069" lvl="1" indent="-344805">
              <a:lnSpc>
                <a:spcPct val="100000"/>
              </a:lnSpc>
              <a:spcBef>
                <a:spcPts val="480"/>
              </a:spcBef>
              <a:buFont typeface="Wingdings"/>
              <a:buChar char=""/>
              <a:tabLst>
                <a:tab pos="814069" algn="l"/>
                <a:tab pos="814705" algn="l"/>
              </a:tabLst>
            </a:pPr>
            <a:r>
              <a:rPr sz="2000" spc="-20" dirty="0">
                <a:latin typeface="Calibri"/>
                <a:cs typeface="Calibri"/>
              </a:rPr>
              <a:t>first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introduced</a:t>
            </a:r>
            <a:r>
              <a:rPr sz="2000" dirty="0">
                <a:latin typeface="Calibri"/>
                <a:cs typeface="Calibri"/>
              </a:rPr>
              <a:t> by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1964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(Texas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Instruments)</a:t>
            </a:r>
            <a:endParaRPr sz="2000" dirty="0">
              <a:latin typeface="Calibri"/>
              <a:cs typeface="Calibri"/>
            </a:endParaRPr>
          </a:p>
          <a:p>
            <a:pPr marL="814069" lvl="1" indent="-344805">
              <a:lnSpc>
                <a:spcPct val="100000"/>
              </a:lnSpc>
              <a:spcBef>
                <a:spcPts val="480"/>
              </a:spcBef>
              <a:buFont typeface="Wingdings"/>
              <a:buChar char=""/>
              <a:tabLst>
                <a:tab pos="814069" algn="l"/>
                <a:tab pos="814705" algn="l"/>
              </a:tabLst>
            </a:pPr>
            <a:r>
              <a:rPr sz="2000" spc="-10" dirty="0">
                <a:latin typeface="Calibri"/>
                <a:cs typeface="Calibri"/>
              </a:rPr>
              <a:t>TTL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shaped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digital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technology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 </a:t>
            </a:r>
            <a:r>
              <a:rPr sz="2000" spc="-15" dirty="0">
                <a:latin typeface="Calibri"/>
                <a:cs typeface="Calibri"/>
              </a:rPr>
              <a:t>many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ways</a:t>
            </a:r>
            <a:endParaRPr sz="20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Wingdings"/>
              <a:buChar char=""/>
              <a:tabLst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one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 </a:t>
            </a:r>
            <a:r>
              <a:rPr sz="2000" spc="-15" dirty="0">
                <a:latin typeface="Calibri"/>
                <a:cs typeface="Calibri"/>
              </a:rPr>
              <a:t>most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widely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used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families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small-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medium-scale</a:t>
            </a:r>
            <a:endParaRPr sz="2000" dirty="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Calibri"/>
                <a:cs typeface="Calibri"/>
              </a:rPr>
              <a:t>devices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–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rarely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VLSI</a:t>
            </a:r>
            <a:endParaRPr sz="2000" dirty="0">
              <a:latin typeface="Calibri"/>
              <a:cs typeface="Calibri"/>
            </a:endParaRPr>
          </a:p>
          <a:p>
            <a:pPr marL="814069" lvl="1" indent="-344805">
              <a:lnSpc>
                <a:spcPct val="100000"/>
              </a:lnSpc>
              <a:spcBef>
                <a:spcPts val="480"/>
              </a:spcBef>
              <a:buFont typeface="Wingdings"/>
              <a:buChar char=""/>
              <a:tabLst>
                <a:tab pos="814069" algn="l"/>
                <a:tab pos="814705" algn="l"/>
              </a:tabLst>
            </a:pPr>
            <a:r>
              <a:rPr sz="2000" spc="-10" dirty="0">
                <a:latin typeface="Calibri"/>
                <a:cs typeface="Calibri"/>
              </a:rPr>
              <a:t>Standard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TTL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family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(e.g.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7400)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obsolete</a:t>
            </a:r>
            <a:endParaRPr sz="2000" dirty="0">
              <a:latin typeface="Calibri"/>
              <a:cs typeface="Calibri"/>
            </a:endParaRPr>
          </a:p>
          <a:p>
            <a:pPr marL="814069" lvl="1" indent="-344805">
              <a:lnSpc>
                <a:spcPct val="100000"/>
              </a:lnSpc>
              <a:spcBef>
                <a:spcPts val="480"/>
              </a:spcBef>
              <a:buFont typeface="Wingdings"/>
              <a:buChar char=""/>
              <a:tabLst>
                <a:tab pos="814069" algn="l"/>
                <a:tab pos="814705" algn="l"/>
              </a:tabLst>
            </a:pPr>
            <a:r>
              <a:rPr sz="2000" spc="-15" dirty="0">
                <a:latin typeface="Calibri"/>
                <a:cs typeface="Calibri"/>
              </a:rPr>
              <a:t>Newer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TTL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families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still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used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(e.g.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74ALS00)</a:t>
            </a:r>
            <a:endParaRPr sz="20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Wingdings"/>
              <a:buChar char=""/>
              <a:tabLst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High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energy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consumption,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but</a:t>
            </a:r>
            <a:endParaRPr sz="2000" dirty="0">
              <a:latin typeface="Calibri"/>
              <a:cs typeface="Calibri"/>
            </a:endParaRPr>
          </a:p>
          <a:p>
            <a:pPr marL="814069" lvl="1" indent="-344805">
              <a:lnSpc>
                <a:spcPct val="100000"/>
              </a:lnSpc>
              <a:spcBef>
                <a:spcPts val="480"/>
              </a:spcBef>
              <a:buFont typeface="Wingdings"/>
              <a:buChar char=""/>
              <a:tabLst>
                <a:tab pos="814069" algn="l"/>
                <a:tab pos="814705" algn="l"/>
              </a:tabLst>
            </a:pPr>
            <a:r>
              <a:rPr sz="2000" spc="-15" dirty="0">
                <a:latin typeface="Calibri"/>
                <a:cs typeface="Calibri"/>
              </a:rPr>
              <a:t>relatively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insensitive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electrostatic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discharge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(ESD)</a:t>
            </a:r>
            <a:endParaRPr sz="20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Font typeface="Wingdings"/>
              <a:buChar char=""/>
              <a:tabLst>
                <a:tab pos="756920" algn="l"/>
              </a:tabLst>
            </a:pPr>
            <a:r>
              <a:rPr sz="2000" spc="-10" dirty="0">
                <a:solidFill>
                  <a:srgbClr val="006FC0"/>
                </a:solidFill>
                <a:latin typeface="Calibri"/>
                <a:cs typeface="Calibri"/>
              </a:rPr>
              <a:t>Distinct</a:t>
            </a:r>
            <a:r>
              <a:rPr sz="2000" spc="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006FC0"/>
                </a:solidFill>
                <a:latin typeface="Calibri"/>
                <a:cs typeface="Calibri"/>
              </a:rPr>
              <a:t>features</a:t>
            </a:r>
            <a:r>
              <a:rPr sz="2000" spc="-15" dirty="0">
                <a:latin typeface="Calibri"/>
                <a:cs typeface="Calibri"/>
              </a:rPr>
              <a:t>: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(Multi-emitter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transistors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-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Totem-pole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output)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3400" y="1523999"/>
            <a:ext cx="4448683" cy="50902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7872" y="189941"/>
            <a:ext cx="458724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5" dirty="0"/>
              <a:t>TTL</a:t>
            </a:r>
            <a:r>
              <a:rPr spc="-35" dirty="0"/>
              <a:t> </a:t>
            </a:r>
            <a:r>
              <a:rPr spc="-20" dirty="0"/>
              <a:t>family</a:t>
            </a:r>
            <a:r>
              <a:rPr spc="-5" dirty="0"/>
              <a:t> </a:t>
            </a:r>
            <a:r>
              <a:rPr spc="-15" dirty="0"/>
              <a:t>evolution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3837" y="1366837"/>
            <a:ext cx="8696325" cy="4124325"/>
            <a:chOff x="223837" y="1366837"/>
            <a:chExt cx="8696325" cy="41243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154" y="1487423"/>
              <a:ext cx="8358349" cy="38750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8600" y="1371600"/>
              <a:ext cx="2667000" cy="4114800"/>
            </a:xfrm>
            <a:custGeom>
              <a:avLst/>
              <a:gdLst/>
              <a:ahLst/>
              <a:cxnLst/>
              <a:rect l="l" t="t" r="r" b="b"/>
              <a:pathLst>
                <a:path w="2667000" h="4114800">
                  <a:moveTo>
                    <a:pt x="0" y="4114800"/>
                  </a:moveTo>
                  <a:lnTo>
                    <a:pt x="2667000" y="4114800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4114800"/>
                  </a:lnTo>
                  <a:close/>
                </a:path>
              </a:pathLst>
            </a:custGeom>
            <a:ln w="9525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00400" y="2819400"/>
              <a:ext cx="5715000" cy="2667000"/>
            </a:xfrm>
            <a:custGeom>
              <a:avLst/>
              <a:gdLst/>
              <a:ahLst/>
              <a:cxnLst/>
              <a:rect l="l" t="t" r="r" b="b"/>
              <a:pathLst>
                <a:path w="5715000" h="2667000">
                  <a:moveTo>
                    <a:pt x="0" y="2667000"/>
                  </a:moveTo>
                  <a:lnTo>
                    <a:pt x="5715000" y="2667000"/>
                  </a:lnTo>
                  <a:lnTo>
                    <a:pt x="5715000" y="0"/>
                  </a:lnTo>
                  <a:lnTo>
                    <a:pt x="0" y="0"/>
                  </a:lnTo>
                  <a:lnTo>
                    <a:pt x="0" y="2667000"/>
                  </a:lnTo>
                  <a:close/>
                </a:path>
              </a:pathLst>
            </a:custGeom>
            <a:ln w="9525">
              <a:solidFill>
                <a:srgbClr val="008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07340" y="5605068"/>
            <a:ext cx="24174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Legacy:</a:t>
            </a:r>
            <a:r>
              <a:rPr sz="24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don’t</a:t>
            </a:r>
            <a:r>
              <a:rPr sz="24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use </a:t>
            </a:r>
            <a:r>
              <a:rPr sz="2400" spc="-6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in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new</a:t>
            </a:r>
            <a:r>
              <a:rPr sz="24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designs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64534" y="5605068"/>
            <a:ext cx="2519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" dirty="0">
                <a:solidFill>
                  <a:srgbClr val="008000"/>
                </a:solidFill>
                <a:latin typeface="Arial MT"/>
                <a:cs typeface="Arial MT"/>
              </a:rPr>
              <a:t>Widely</a:t>
            </a:r>
            <a:r>
              <a:rPr sz="2400" spc="-95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used</a:t>
            </a:r>
            <a:r>
              <a:rPr sz="2400" spc="-40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today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08923" y="6416446"/>
            <a:ext cx="2025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" dirty="0">
                <a:latin typeface="Times New Roman"/>
                <a:cs typeface="Times New Roman"/>
              </a:rPr>
              <a:t>22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62171" y="189941"/>
            <a:ext cx="82296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5" dirty="0"/>
              <a:t>E</a:t>
            </a:r>
            <a:r>
              <a:rPr spc="-10" dirty="0"/>
              <a:t>CL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95250">
              <a:lnSpc>
                <a:spcPts val="3329"/>
              </a:lnSpc>
              <a:spcBef>
                <a:spcPts val="110"/>
              </a:spcBef>
            </a:pPr>
            <a:r>
              <a:rPr dirty="0"/>
              <a:t>Emitter-Coupled</a:t>
            </a:r>
            <a:r>
              <a:rPr spc="-30" dirty="0"/>
              <a:t> </a:t>
            </a:r>
            <a:r>
              <a:rPr dirty="0"/>
              <a:t>Logic</a:t>
            </a:r>
            <a:r>
              <a:rPr spc="-20" dirty="0"/>
              <a:t> </a:t>
            </a:r>
            <a:r>
              <a:rPr spc="-5" dirty="0"/>
              <a:t>(ECL)</a:t>
            </a:r>
          </a:p>
          <a:p>
            <a:pPr marL="552450" marR="5080" indent="-457834">
              <a:lnSpc>
                <a:spcPts val="2880"/>
              </a:lnSpc>
              <a:spcBef>
                <a:spcPts val="65"/>
              </a:spcBef>
              <a:buFont typeface="Arial MT"/>
              <a:buChar char="•"/>
              <a:tabLst>
                <a:tab pos="552450" algn="l"/>
                <a:tab pos="553085" algn="l"/>
              </a:tabLs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based</a:t>
            </a: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on</a:t>
            </a:r>
            <a:r>
              <a:rPr sz="240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60" dirty="0">
                <a:solidFill>
                  <a:srgbClr val="000000"/>
                </a:solidFill>
                <a:latin typeface="Calibri"/>
                <a:cs typeface="Calibri"/>
              </a:rPr>
              <a:t>BJT,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5" dirty="0">
                <a:solidFill>
                  <a:srgbClr val="000000"/>
                </a:solidFill>
                <a:latin typeface="Calibri"/>
                <a:cs typeface="Calibri"/>
              </a:rPr>
              <a:t>but</a:t>
            </a:r>
            <a:r>
              <a:rPr sz="24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removes</a:t>
            </a:r>
            <a:r>
              <a:rPr sz="24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problems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40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delay</a:t>
            </a:r>
            <a:r>
              <a:rPr sz="24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time</a:t>
            </a:r>
            <a:r>
              <a:rPr sz="240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5" dirty="0">
                <a:solidFill>
                  <a:srgbClr val="000000"/>
                </a:solidFill>
                <a:latin typeface="Calibri"/>
                <a:cs typeface="Calibri"/>
              </a:rPr>
              <a:t>by</a:t>
            </a:r>
            <a:r>
              <a:rPr sz="24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preventing </a:t>
            </a:r>
            <a:r>
              <a:rPr sz="2400" spc="-5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5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40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transistors</a:t>
            </a:r>
            <a:r>
              <a:rPr sz="24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from</a:t>
            </a:r>
            <a:r>
              <a:rPr sz="24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saturating</a:t>
            </a:r>
            <a:endParaRPr sz="2400">
              <a:latin typeface="Calibri"/>
              <a:cs typeface="Calibri"/>
            </a:endParaRPr>
          </a:p>
          <a:p>
            <a:pPr marL="552450" indent="-457834">
              <a:lnSpc>
                <a:spcPts val="2790"/>
              </a:lnSpc>
              <a:buFont typeface="Arial MT"/>
              <a:buChar char="•"/>
              <a:tabLst>
                <a:tab pos="552450" algn="l"/>
                <a:tab pos="553085" algn="l"/>
              </a:tabLst>
            </a:pP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very</a:t>
            </a: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fast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operation</a:t>
            </a:r>
            <a:r>
              <a:rPr sz="240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-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 propagation</a:t>
            </a:r>
            <a:r>
              <a:rPr sz="240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delays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4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1ns</a:t>
            </a:r>
            <a:r>
              <a:rPr sz="240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less</a:t>
            </a:r>
            <a:endParaRPr sz="2400">
              <a:latin typeface="Calibri"/>
              <a:cs typeface="Calibri"/>
            </a:endParaRPr>
          </a:p>
          <a:p>
            <a:pPr marL="552450" indent="-457834">
              <a:lnSpc>
                <a:spcPct val="100000"/>
              </a:lnSpc>
              <a:buFont typeface="Arial MT"/>
              <a:buChar char="•"/>
              <a:tabLst>
                <a:tab pos="552450" algn="l"/>
                <a:tab pos="553085" algn="l"/>
              </a:tabLs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high</a:t>
            </a:r>
            <a:r>
              <a:rPr sz="240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power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consumption,</a:t>
            </a:r>
            <a:r>
              <a:rPr sz="240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5" dirty="0">
                <a:solidFill>
                  <a:srgbClr val="000000"/>
                </a:solidFill>
                <a:latin typeface="Calibri"/>
                <a:cs typeface="Calibri"/>
              </a:rPr>
              <a:t>perhaps</a:t>
            </a:r>
            <a:r>
              <a:rPr sz="240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5" dirty="0">
                <a:solidFill>
                  <a:srgbClr val="000000"/>
                </a:solidFill>
                <a:latin typeface="Calibri"/>
                <a:cs typeface="Calibri"/>
              </a:rPr>
              <a:t>60</a:t>
            </a:r>
            <a:r>
              <a:rPr sz="24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0000"/>
                </a:solidFill>
                <a:latin typeface="Calibri"/>
                <a:cs typeface="Calibri"/>
              </a:rPr>
              <a:t>mW/gate</a:t>
            </a:r>
            <a:endParaRPr sz="2400">
              <a:latin typeface="Calibri"/>
              <a:cs typeface="Calibri"/>
            </a:endParaRPr>
          </a:p>
          <a:p>
            <a:pPr marL="552450" indent="-457834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552450" algn="l"/>
                <a:tab pos="553085" algn="l"/>
                <a:tab pos="3749675" algn="l"/>
              </a:tabLs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Logic</a:t>
            </a:r>
            <a:r>
              <a:rPr sz="24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levels. “0”:</a:t>
            </a:r>
            <a:r>
              <a:rPr sz="24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40" dirty="0">
                <a:solidFill>
                  <a:srgbClr val="000000"/>
                </a:solidFill>
                <a:latin typeface="Calibri"/>
                <a:cs typeface="Calibri"/>
              </a:rPr>
              <a:t>–1.7V.	</a:t>
            </a: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“1”:</a:t>
            </a:r>
            <a:r>
              <a:rPr sz="240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–0.8V</a:t>
            </a:r>
            <a:endParaRPr sz="2400">
              <a:latin typeface="Calibri"/>
              <a:cs typeface="Calibri"/>
            </a:endParaRPr>
          </a:p>
          <a:p>
            <a:pPr marL="552450" marR="80010" indent="-457834">
              <a:lnSpc>
                <a:spcPct val="100000"/>
              </a:lnSpc>
              <a:buFont typeface="Arial MT"/>
              <a:buChar char="•"/>
              <a:tabLst>
                <a:tab pos="552450" algn="l"/>
                <a:tab pos="553085" algn="l"/>
              </a:tabLs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Such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 strange</a:t>
            </a:r>
            <a:r>
              <a:rPr sz="240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logic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levels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require</a:t>
            </a:r>
            <a:r>
              <a:rPr sz="24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0000"/>
                </a:solidFill>
                <a:latin typeface="Calibri"/>
                <a:cs typeface="Calibri"/>
              </a:rPr>
              <a:t>extra</a:t>
            </a:r>
            <a:r>
              <a:rPr sz="24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effort</a:t>
            </a:r>
            <a:r>
              <a:rPr sz="24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when</a:t>
            </a:r>
            <a:r>
              <a:rPr sz="24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interfacing</a:t>
            </a:r>
            <a:r>
              <a:rPr sz="24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to </a:t>
            </a:r>
            <a:r>
              <a:rPr sz="2400" spc="-5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TTL/CMOS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logic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families.</a:t>
            </a:r>
            <a:endParaRPr sz="2400">
              <a:latin typeface="Calibri"/>
              <a:cs typeface="Calibri"/>
            </a:endParaRPr>
          </a:p>
          <a:p>
            <a:pPr marL="552450" indent="-457834">
              <a:lnSpc>
                <a:spcPct val="100000"/>
              </a:lnSpc>
              <a:buFont typeface="Arial MT"/>
              <a:buChar char="•"/>
              <a:tabLst>
                <a:tab pos="552450" algn="l"/>
                <a:tab pos="553085" algn="l"/>
              </a:tabLs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low</a:t>
            </a:r>
            <a:r>
              <a:rPr sz="24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noise</a:t>
            </a:r>
            <a:r>
              <a:rPr sz="240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5" dirty="0">
                <a:solidFill>
                  <a:srgbClr val="000000"/>
                </a:solidFill>
                <a:latin typeface="Calibri"/>
                <a:cs typeface="Calibri"/>
              </a:rPr>
              <a:t>immunity</a:t>
            </a:r>
            <a:r>
              <a:rPr sz="24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5" dirty="0">
                <a:solidFill>
                  <a:srgbClr val="000000"/>
                </a:solidFill>
                <a:latin typeface="Calibri"/>
                <a:cs typeface="Calibri"/>
              </a:rPr>
              <a:t>about</a:t>
            </a:r>
            <a:r>
              <a:rPr sz="240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0.2-0.25</a:t>
            </a:r>
            <a:r>
              <a:rPr sz="24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V</a:t>
            </a:r>
            <a:endParaRPr sz="2400">
              <a:latin typeface="Calibri"/>
              <a:cs typeface="Calibri"/>
            </a:endParaRPr>
          </a:p>
          <a:p>
            <a:pPr marL="552450" indent="-457834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552450" algn="l"/>
                <a:tab pos="553085" algn="l"/>
              </a:tabLst>
            </a:pP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used</a:t>
            </a:r>
            <a:r>
              <a:rPr sz="24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24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some</a:t>
            </a:r>
            <a:r>
              <a:rPr sz="24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high</a:t>
            </a:r>
            <a:r>
              <a:rPr sz="24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speed</a:t>
            </a:r>
            <a:r>
              <a:rPr sz="24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specialist</a:t>
            </a:r>
            <a:r>
              <a:rPr sz="24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applications,</a:t>
            </a:r>
            <a:r>
              <a:rPr sz="24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but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now</a:t>
            </a:r>
            <a:r>
              <a:rPr sz="240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largely</a:t>
            </a:r>
            <a:endParaRPr sz="2400">
              <a:latin typeface="Calibri"/>
              <a:cs typeface="Calibri"/>
            </a:endParaRPr>
          </a:p>
          <a:p>
            <a:pPr marL="552450">
              <a:lnSpc>
                <a:spcPct val="100000"/>
              </a:lnSpc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replaced</a:t>
            </a:r>
            <a:r>
              <a:rPr sz="24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5" dirty="0">
                <a:solidFill>
                  <a:srgbClr val="000000"/>
                </a:solidFill>
                <a:latin typeface="Calibri"/>
                <a:cs typeface="Calibri"/>
              </a:rPr>
              <a:t>by</a:t>
            </a:r>
            <a:r>
              <a:rPr sz="240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high</a:t>
            </a:r>
            <a:r>
              <a:rPr sz="240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speed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00"/>
                </a:solidFill>
                <a:latin typeface="Calibri"/>
                <a:cs typeface="Calibri"/>
              </a:rPr>
              <a:t>CMOS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08923" y="6416446"/>
            <a:ext cx="2025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" dirty="0">
                <a:latin typeface="Times New Roman"/>
                <a:cs typeface="Times New Roman"/>
              </a:rPr>
              <a:t>23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1066" y="168605"/>
            <a:ext cx="519874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spc="-5" dirty="0"/>
              <a:t>CMOS</a:t>
            </a:r>
            <a:r>
              <a:rPr sz="2800" spc="-15" dirty="0"/>
              <a:t> </a:t>
            </a:r>
            <a:r>
              <a:rPr sz="2800" spc="-5" dirty="0"/>
              <a:t>Complimentary</a:t>
            </a:r>
            <a:r>
              <a:rPr sz="2800" spc="-45" dirty="0"/>
              <a:t> </a:t>
            </a:r>
            <a:r>
              <a:rPr sz="2800" dirty="0"/>
              <a:t>MOS</a:t>
            </a:r>
            <a:r>
              <a:rPr sz="2800" spc="-15" dirty="0"/>
              <a:t> </a:t>
            </a:r>
            <a:r>
              <a:rPr sz="2800" spc="-5" dirty="0"/>
              <a:t>(CMOS)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3540" y="700862"/>
            <a:ext cx="8350884" cy="4782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3370" indent="-281305">
              <a:lnSpc>
                <a:spcPct val="100000"/>
              </a:lnSpc>
              <a:spcBef>
                <a:spcPts val="100"/>
              </a:spcBef>
              <a:buChar char="•"/>
              <a:tabLst>
                <a:tab pos="292735" algn="l"/>
                <a:tab pos="294005" algn="l"/>
              </a:tabLst>
            </a:pPr>
            <a:r>
              <a:rPr sz="2400" spc="-5" dirty="0">
                <a:latin typeface="Calibri"/>
                <a:cs typeface="Calibri"/>
              </a:rPr>
              <a:t>Considerably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lower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energy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consumption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TTL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ECL,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which</a:t>
            </a:r>
            <a:endParaRPr sz="2400">
              <a:latin typeface="Calibri"/>
              <a:cs typeface="Calibri"/>
            </a:endParaRPr>
          </a:p>
          <a:p>
            <a:pPr marL="29337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has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made portable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electronics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possible.</a:t>
            </a:r>
            <a:endParaRPr sz="2400">
              <a:latin typeface="Calibri"/>
              <a:cs typeface="Calibri"/>
            </a:endParaRPr>
          </a:p>
          <a:p>
            <a:pPr marL="293370" indent="-281305">
              <a:lnSpc>
                <a:spcPct val="100000"/>
              </a:lnSpc>
              <a:spcBef>
                <a:spcPts val="5"/>
              </a:spcBef>
              <a:buChar char="•"/>
              <a:tabLst>
                <a:tab pos="292735" algn="l"/>
                <a:tab pos="294005" algn="l"/>
              </a:tabLst>
            </a:pPr>
            <a:r>
              <a:rPr sz="2400" spc="-5" dirty="0">
                <a:latin typeface="Calibri"/>
                <a:cs typeface="Calibri"/>
              </a:rPr>
              <a:t>most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widely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used family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large-scale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devices</a:t>
            </a:r>
            <a:endParaRPr sz="2400">
              <a:latin typeface="Calibri"/>
              <a:cs typeface="Calibri"/>
            </a:endParaRPr>
          </a:p>
          <a:p>
            <a:pPr marL="293370" indent="-281305">
              <a:lnSpc>
                <a:spcPct val="100000"/>
              </a:lnSpc>
              <a:buChar char="•"/>
              <a:tabLst>
                <a:tab pos="292735" algn="l"/>
                <a:tab pos="294005" algn="l"/>
              </a:tabLst>
            </a:pPr>
            <a:r>
              <a:rPr sz="2400" dirty="0">
                <a:latin typeface="Calibri"/>
                <a:cs typeface="Calibri"/>
              </a:rPr>
              <a:t>combines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low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power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consumption</a:t>
            </a:r>
            <a:endParaRPr sz="2400">
              <a:latin typeface="Calibri"/>
              <a:cs typeface="Calibri"/>
            </a:endParaRPr>
          </a:p>
          <a:p>
            <a:pPr marL="293370" indent="-281305">
              <a:lnSpc>
                <a:spcPct val="100000"/>
              </a:lnSpc>
              <a:buChar char="•"/>
              <a:tabLst>
                <a:tab pos="292735" algn="l"/>
                <a:tab pos="294005" algn="l"/>
              </a:tabLst>
            </a:pPr>
            <a:r>
              <a:rPr sz="2400" dirty="0">
                <a:latin typeface="Calibri"/>
                <a:cs typeface="Calibri"/>
              </a:rPr>
              <a:t>usually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from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single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supply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15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</a:t>
            </a:r>
            <a:endParaRPr sz="2400">
              <a:latin typeface="Calibri"/>
              <a:cs typeface="Calibri"/>
            </a:endParaRPr>
          </a:p>
          <a:p>
            <a:pPr marL="293370" indent="-281305">
              <a:lnSpc>
                <a:spcPct val="100000"/>
              </a:lnSpc>
              <a:buChar char="•"/>
              <a:tabLst>
                <a:tab pos="292735" algn="l"/>
                <a:tab pos="294005" algn="l"/>
              </a:tabLst>
            </a:pPr>
            <a:r>
              <a:rPr sz="2400" spc="-10" dirty="0">
                <a:latin typeface="Calibri"/>
                <a:cs typeface="Calibri"/>
              </a:rPr>
              <a:t>excellent </a:t>
            </a:r>
            <a:r>
              <a:rPr sz="2400" dirty="0">
                <a:latin typeface="Calibri"/>
                <a:cs typeface="Calibri"/>
              </a:rPr>
              <a:t>noise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immunity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about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30%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supply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voltage</a:t>
            </a:r>
            <a:endParaRPr sz="2400">
              <a:latin typeface="Calibri"/>
              <a:cs typeface="Calibri"/>
            </a:endParaRPr>
          </a:p>
          <a:p>
            <a:pPr marL="293370" indent="-281305">
              <a:lnSpc>
                <a:spcPct val="100000"/>
              </a:lnSpc>
              <a:spcBef>
                <a:spcPts val="5"/>
              </a:spcBef>
              <a:buChar char="•"/>
              <a:tabLst>
                <a:tab pos="292735" algn="l"/>
                <a:tab pos="294005" algn="l"/>
              </a:tabLst>
            </a:pP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 </a:t>
            </a:r>
            <a:r>
              <a:rPr sz="2400" spc="-5" dirty="0">
                <a:latin typeface="Calibri"/>
                <a:cs typeface="Calibri"/>
              </a:rPr>
              <a:t>connected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large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gates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(about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50)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Char char="•"/>
            </a:pP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Calibri"/>
              <a:buChar char="•"/>
            </a:pPr>
            <a:endParaRPr sz="2300">
              <a:latin typeface="Calibri"/>
              <a:cs typeface="Calibri"/>
            </a:endParaRPr>
          </a:p>
          <a:p>
            <a:pPr marL="165100" indent="-153035">
              <a:lnSpc>
                <a:spcPct val="100000"/>
              </a:lnSpc>
              <a:spcBef>
                <a:spcPts val="5"/>
              </a:spcBef>
              <a:buChar char="•"/>
              <a:tabLst>
                <a:tab pos="165735" algn="l"/>
              </a:tabLst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Things</a:t>
            </a:r>
            <a:r>
              <a:rPr sz="2400" u="heavy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2400" u="heavy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watch</a:t>
            </a:r>
            <a:r>
              <a:rPr sz="2400" u="heavy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out</a:t>
            </a:r>
            <a:r>
              <a:rPr sz="2400" u="heavy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sz="2400" spc="-15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469900" marR="598805" lvl="1">
              <a:lnSpc>
                <a:spcPct val="100000"/>
              </a:lnSpc>
              <a:buChar char="–"/>
              <a:tabLst>
                <a:tab pos="690245" algn="l"/>
              </a:tabLst>
            </a:pPr>
            <a:r>
              <a:rPr sz="2400" spc="5" dirty="0">
                <a:latin typeface="Calibri"/>
                <a:cs typeface="Calibri"/>
              </a:rPr>
              <a:t>don’t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leave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inputs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floating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(in </a:t>
            </a:r>
            <a:r>
              <a:rPr sz="2400" spc="10" dirty="0">
                <a:latin typeface="Calibri"/>
                <a:cs typeface="Calibri"/>
              </a:rPr>
              <a:t>TTL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will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float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HI,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CMOS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you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get</a:t>
            </a:r>
            <a:r>
              <a:rPr sz="2400" dirty="0">
                <a:latin typeface="Calibri"/>
                <a:cs typeface="Calibri"/>
              </a:rPr>
              <a:t> undefined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behaviour)</a:t>
            </a:r>
            <a:endParaRPr sz="2400">
              <a:latin typeface="Calibri"/>
              <a:cs typeface="Calibri"/>
            </a:endParaRPr>
          </a:p>
          <a:p>
            <a:pPr marL="689610" lvl="1" indent="-220345">
              <a:lnSpc>
                <a:spcPct val="100000"/>
              </a:lnSpc>
              <a:spcBef>
                <a:spcPts val="5"/>
              </a:spcBef>
              <a:buChar char="–"/>
              <a:tabLst>
                <a:tab pos="690245" algn="l"/>
              </a:tabLst>
            </a:pPr>
            <a:r>
              <a:rPr sz="2400" dirty="0">
                <a:latin typeface="Calibri"/>
                <a:cs typeface="Calibri"/>
              </a:rPr>
              <a:t>susceptible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electrostatic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damage (finger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death)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08923" y="6416446"/>
            <a:ext cx="2025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" dirty="0">
                <a:latin typeface="Times New Roman"/>
                <a:cs typeface="Times New Roman"/>
              </a:rPr>
              <a:t>24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9670" y="189941"/>
            <a:ext cx="720344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CMOS/TTL</a:t>
            </a:r>
            <a:r>
              <a:rPr spc="25" dirty="0"/>
              <a:t> </a:t>
            </a:r>
            <a:r>
              <a:rPr spc="-20" dirty="0"/>
              <a:t>power</a:t>
            </a:r>
            <a:r>
              <a:rPr spc="10" dirty="0"/>
              <a:t> </a:t>
            </a:r>
            <a:r>
              <a:rPr spc="-20" dirty="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0840" y="1088593"/>
            <a:ext cx="6837680" cy="1310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 marR="17780">
              <a:lnSpc>
                <a:spcPct val="100000"/>
              </a:lnSpc>
              <a:spcBef>
                <a:spcPts val="110"/>
              </a:spcBef>
              <a:buChar char="•"/>
              <a:tabLst>
                <a:tab pos="285115" algn="l"/>
              </a:tabLst>
            </a:pPr>
            <a:r>
              <a:rPr sz="2800" spc="15" dirty="0">
                <a:latin typeface="Calibri"/>
                <a:cs typeface="Calibri"/>
              </a:rPr>
              <a:t>TTL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power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essentially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constant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(no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frequency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dependence)</a:t>
            </a:r>
            <a:endParaRPr sz="2800">
              <a:latin typeface="Calibri"/>
              <a:cs typeface="Calibri"/>
            </a:endParaRPr>
          </a:p>
          <a:p>
            <a:pPr marL="284480" indent="-259715">
              <a:lnSpc>
                <a:spcPct val="100000"/>
              </a:lnSpc>
              <a:spcBef>
                <a:spcPts val="25"/>
              </a:spcBef>
              <a:buChar char="•"/>
              <a:tabLst>
                <a:tab pos="285115" algn="l"/>
                <a:tab pos="3677920" algn="l"/>
              </a:tabLst>
            </a:pPr>
            <a:r>
              <a:rPr sz="2800" spc="-5" dirty="0">
                <a:latin typeface="Calibri"/>
                <a:cs typeface="Calibri"/>
              </a:rPr>
              <a:t>CMOS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power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scales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	</a:t>
            </a:r>
            <a:r>
              <a:rPr sz="2800" spc="5" dirty="0">
                <a:latin typeface="Symbol"/>
                <a:cs typeface="Symbol"/>
              </a:rPr>
              <a:t>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alibri"/>
                <a:cs typeface="Calibri"/>
              </a:rPr>
              <a:t>f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Symbol"/>
                <a:cs typeface="Symbol"/>
              </a:rPr>
              <a:t>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alibri"/>
                <a:cs typeface="Calibri"/>
              </a:rPr>
              <a:t>C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Symbol"/>
                <a:cs typeface="Symbol"/>
              </a:rPr>
              <a:t>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alibri"/>
                <a:cs typeface="Calibri"/>
              </a:rPr>
              <a:t>V</a:t>
            </a:r>
            <a:r>
              <a:rPr sz="2775" baseline="25525" dirty="0">
                <a:latin typeface="Calibri"/>
                <a:cs typeface="Calibri"/>
              </a:rPr>
              <a:t>2</a:t>
            </a:r>
            <a:endParaRPr sz="2775" baseline="25525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3650056"/>
            <a:ext cx="7813040" cy="21615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12700">
              <a:lnSpc>
                <a:spcPct val="100000"/>
              </a:lnSpc>
              <a:spcBef>
                <a:spcPts val="110"/>
              </a:spcBef>
              <a:buChar char="•"/>
              <a:tabLst>
                <a:tab pos="272415" algn="l"/>
              </a:tabLst>
            </a:pPr>
            <a:r>
              <a:rPr sz="2800" spc="-30" dirty="0">
                <a:latin typeface="Calibri"/>
                <a:cs typeface="Calibri"/>
              </a:rPr>
              <a:t>At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high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frequencies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(&gt;&gt;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5" dirty="0">
                <a:latin typeface="Calibri"/>
                <a:cs typeface="Calibri"/>
              </a:rPr>
              <a:t>MHz)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CMOS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dissipates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more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power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15" dirty="0">
                <a:latin typeface="Calibri"/>
                <a:cs typeface="Calibri"/>
              </a:rPr>
              <a:t>TTL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buChar char="•"/>
              <a:tabLst>
                <a:tab pos="272415" algn="l"/>
              </a:tabLst>
            </a:pPr>
            <a:r>
              <a:rPr sz="2800" spc="-10" dirty="0">
                <a:latin typeface="Calibri"/>
                <a:cs typeface="Calibri"/>
              </a:rPr>
              <a:t>Overall </a:t>
            </a:r>
            <a:r>
              <a:rPr sz="2800" spc="-15" dirty="0">
                <a:latin typeface="Calibri"/>
                <a:cs typeface="Calibri"/>
              </a:rPr>
              <a:t>advantage </a:t>
            </a:r>
            <a:r>
              <a:rPr sz="2800" dirty="0">
                <a:latin typeface="Calibri"/>
                <a:cs typeface="Calibri"/>
              </a:rPr>
              <a:t>is </a:t>
            </a:r>
            <a:r>
              <a:rPr sz="2800" spc="-5" dirty="0">
                <a:latin typeface="Calibri"/>
                <a:cs typeface="Calibri"/>
              </a:rPr>
              <a:t>still </a:t>
            </a:r>
            <a:r>
              <a:rPr sz="2800" spc="-10" dirty="0">
                <a:latin typeface="Calibri"/>
                <a:cs typeface="Calibri"/>
              </a:rPr>
              <a:t>for </a:t>
            </a:r>
            <a:r>
              <a:rPr sz="2800" spc="-5" dirty="0">
                <a:latin typeface="Calibri"/>
                <a:cs typeface="Calibri"/>
              </a:rPr>
              <a:t>CMOS </a:t>
            </a:r>
            <a:r>
              <a:rPr sz="2800" spc="-15" dirty="0">
                <a:latin typeface="Calibri"/>
                <a:cs typeface="Calibri"/>
              </a:rPr>
              <a:t>even for </a:t>
            </a:r>
            <a:r>
              <a:rPr sz="2800" dirty="0">
                <a:latin typeface="Calibri"/>
                <a:cs typeface="Calibri"/>
              </a:rPr>
              <a:t>very </a:t>
            </a:r>
            <a:r>
              <a:rPr sz="2800" spc="-15" dirty="0">
                <a:latin typeface="Calibri"/>
                <a:cs typeface="Calibri"/>
              </a:rPr>
              <a:t>fast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chips </a:t>
            </a:r>
            <a:r>
              <a:rPr sz="2800" spc="5" dirty="0">
                <a:latin typeface="Calibri"/>
                <a:cs typeface="Calibri"/>
              </a:rPr>
              <a:t>– </a:t>
            </a:r>
            <a:r>
              <a:rPr sz="2800" dirty="0">
                <a:latin typeface="Calibri"/>
                <a:cs typeface="Calibri"/>
              </a:rPr>
              <a:t>only </a:t>
            </a:r>
            <a:r>
              <a:rPr sz="2800" spc="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relatively </a:t>
            </a:r>
            <a:r>
              <a:rPr sz="2800" dirty="0">
                <a:latin typeface="Calibri"/>
                <a:cs typeface="Calibri"/>
              </a:rPr>
              <a:t>small portion of </a:t>
            </a:r>
            <a:r>
              <a:rPr sz="2800" spc="-10" dirty="0">
                <a:latin typeface="Calibri"/>
                <a:cs typeface="Calibri"/>
              </a:rPr>
              <a:t>complicated </a:t>
            </a:r>
            <a:r>
              <a:rPr sz="2800" spc="-5" dirty="0">
                <a:latin typeface="Calibri"/>
                <a:cs typeface="Calibri"/>
              </a:rPr>
              <a:t> circuitry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operates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highest</a:t>
            </a:r>
            <a:r>
              <a:rPr sz="2800" spc="-10" dirty="0">
                <a:latin typeface="Calibri"/>
                <a:cs typeface="Calibri"/>
              </a:rPr>
              <a:t> frequencies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85920" y="2454275"/>
            <a:ext cx="217804" cy="292735"/>
          </a:xfrm>
          <a:custGeom>
            <a:avLst/>
            <a:gdLst/>
            <a:ahLst/>
            <a:cxnLst/>
            <a:rect l="l" t="t" r="r" b="b"/>
            <a:pathLst>
              <a:path w="217804" h="292735">
                <a:moveTo>
                  <a:pt x="167513" y="57550"/>
                </a:moveTo>
                <a:lnTo>
                  <a:pt x="0" y="285114"/>
                </a:lnTo>
                <a:lnTo>
                  <a:pt x="10159" y="292735"/>
                </a:lnTo>
                <a:lnTo>
                  <a:pt x="177756" y="65100"/>
                </a:lnTo>
                <a:lnTo>
                  <a:pt x="167513" y="57550"/>
                </a:lnTo>
                <a:close/>
              </a:path>
              <a:path w="217804" h="292735">
                <a:moveTo>
                  <a:pt x="209635" y="47371"/>
                </a:moveTo>
                <a:lnTo>
                  <a:pt x="175005" y="47371"/>
                </a:lnTo>
                <a:lnTo>
                  <a:pt x="185292" y="54863"/>
                </a:lnTo>
                <a:lnTo>
                  <a:pt x="177756" y="65100"/>
                </a:lnTo>
                <a:lnTo>
                  <a:pt x="203326" y="83947"/>
                </a:lnTo>
                <a:lnTo>
                  <a:pt x="209635" y="47371"/>
                </a:lnTo>
                <a:close/>
              </a:path>
              <a:path w="217804" h="292735">
                <a:moveTo>
                  <a:pt x="175005" y="47371"/>
                </a:moveTo>
                <a:lnTo>
                  <a:pt x="167513" y="57550"/>
                </a:lnTo>
                <a:lnTo>
                  <a:pt x="177756" y="65100"/>
                </a:lnTo>
                <a:lnTo>
                  <a:pt x="185292" y="54863"/>
                </a:lnTo>
                <a:lnTo>
                  <a:pt x="175005" y="47371"/>
                </a:lnTo>
                <a:close/>
              </a:path>
              <a:path w="217804" h="292735">
                <a:moveTo>
                  <a:pt x="217804" y="0"/>
                </a:moveTo>
                <a:lnTo>
                  <a:pt x="141985" y="38735"/>
                </a:lnTo>
                <a:lnTo>
                  <a:pt x="167513" y="57550"/>
                </a:lnTo>
                <a:lnTo>
                  <a:pt x="175005" y="47371"/>
                </a:lnTo>
                <a:lnTo>
                  <a:pt x="209635" y="47371"/>
                </a:lnTo>
                <a:lnTo>
                  <a:pt x="2178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09009" y="2692095"/>
            <a:ext cx="12395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frequency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2438400"/>
            <a:ext cx="233045" cy="233045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105400" y="2438400"/>
            <a:ext cx="310515" cy="612775"/>
          </a:xfrm>
          <a:custGeom>
            <a:avLst/>
            <a:gdLst/>
            <a:ahLst/>
            <a:cxnLst/>
            <a:rect l="l" t="t" r="r" b="b"/>
            <a:pathLst>
              <a:path w="310514" h="612775">
                <a:moveTo>
                  <a:pt x="39711" y="65324"/>
                </a:moveTo>
                <a:lnTo>
                  <a:pt x="28386" y="70997"/>
                </a:lnTo>
                <a:lnTo>
                  <a:pt x="299085" y="612394"/>
                </a:lnTo>
                <a:lnTo>
                  <a:pt x="310514" y="606805"/>
                </a:lnTo>
                <a:lnTo>
                  <a:pt x="39711" y="65324"/>
                </a:lnTo>
                <a:close/>
              </a:path>
              <a:path w="310514" h="612775">
                <a:moveTo>
                  <a:pt x="0" y="0"/>
                </a:moveTo>
                <a:lnTo>
                  <a:pt x="0" y="85216"/>
                </a:lnTo>
                <a:lnTo>
                  <a:pt x="28386" y="70997"/>
                </a:lnTo>
                <a:lnTo>
                  <a:pt x="22733" y="59689"/>
                </a:lnTo>
                <a:lnTo>
                  <a:pt x="34036" y="53975"/>
                </a:lnTo>
                <a:lnTo>
                  <a:pt x="62367" y="53975"/>
                </a:lnTo>
                <a:lnTo>
                  <a:pt x="68199" y="51053"/>
                </a:lnTo>
                <a:lnTo>
                  <a:pt x="0" y="0"/>
                </a:lnTo>
                <a:close/>
              </a:path>
              <a:path w="310514" h="612775">
                <a:moveTo>
                  <a:pt x="34036" y="53975"/>
                </a:moveTo>
                <a:lnTo>
                  <a:pt x="22733" y="59689"/>
                </a:lnTo>
                <a:lnTo>
                  <a:pt x="28386" y="70997"/>
                </a:lnTo>
                <a:lnTo>
                  <a:pt x="39711" y="65324"/>
                </a:lnTo>
                <a:lnTo>
                  <a:pt x="34036" y="53975"/>
                </a:lnTo>
                <a:close/>
              </a:path>
              <a:path w="310514" h="612775">
                <a:moveTo>
                  <a:pt x="62367" y="53975"/>
                </a:moveTo>
                <a:lnTo>
                  <a:pt x="34036" y="53975"/>
                </a:lnTo>
                <a:lnTo>
                  <a:pt x="39711" y="65324"/>
                </a:lnTo>
                <a:lnTo>
                  <a:pt x="62367" y="539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58917" y="2615946"/>
            <a:ext cx="24320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652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supply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volt.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eff.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capacitance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08923" y="6416446"/>
            <a:ext cx="2025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" dirty="0">
                <a:latin typeface="Times New Roman"/>
                <a:cs typeface="Times New Roman"/>
              </a:rPr>
              <a:t>25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CMOS </a:t>
            </a:r>
            <a:r>
              <a:rPr spc="-20" dirty="0"/>
              <a:t>family</a:t>
            </a:r>
            <a:r>
              <a:rPr spc="-35" dirty="0"/>
              <a:t> </a:t>
            </a:r>
            <a:r>
              <a:rPr spc="-15" dirty="0"/>
              <a:t>evolution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3187" y="1230312"/>
            <a:ext cx="8818245" cy="4888865"/>
            <a:chOff x="103187" y="1230312"/>
            <a:chExt cx="8818245" cy="48888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145" y="1336141"/>
              <a:ext cx="8727757" cy="478303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7950" y="1235075"/>
              <a:ext cx="2178050" cy="2193925"/>
            </a:xfrm>
            <a:custGeom>
              <a:avLst/>
              <a:gdLst/>
              <a:ahLst/>
              <a:cxnLst/>
              <a:rect l="l" t="t" r="r" b="b"/>
              <a:pathLst>
                <a:path w="2178050" h="2193925">
                  <a:moveTo>
                    <a:pt x="0" y="2193925"/>
                  </a:moveTo>
                  <a:lnTo>
                    <a:pt x="2178050" y="2193925"/>
                  </a:lnTo>
                  <a:lnTo>
                    <a:pt x="2178050" y="0"/>
                  </a:lnTo>
                  <a:lnTo>
                    <a:pt x="0" y="0"/>
                  </a:lnTo>
                  <a:lnTo>
                    <a:pt x="0" y="2193925"/>
                  </a:lnTo>
                  <a:close/>
                </a:path>
              </a:pathLst>
            </a:custGeom>
            <a:ln w="9525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15290" y="827659"/>
            <a:ext cx="8085455" cy="19202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obsolete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 marL="2543810" marR="5080">
              <a:lnSpc>
                <a:spcPct val="100000"/>
              </a:lnSpc>
              <a:spcBef>
                <a:spcPts val="2320"/>
              </a:spcBef>
              <a:buSzPct val="96428"/>
              <a:buChar char="•"/>
              <a:tabLst>
                <a:tab pos="2722880" algn="l"/>
              </a:tabLst>
            </a:pPr>
            <a:r>
              <a:rPr sz="2800" spc="-15" dirty="0">
                <a:latin typeface="Calibri"/>
                <a:cs typeface="Calibri"/>
              </a:rPr>
              <a:t>Power </a:t>
            </a:r>
            <a:r>
              <a:rPr sz="2800" spc="-10" dirty="0">
                <a:latin typeface="Calibri"/>
                <a:cs typeface="Calibri"/>
              </a:rPr>
              <a:t>reduction </a:t>
            </a:r>
            <a:r>
              <a:rPr sz="2800" dirty="0">
                <a:latin typeface="Calibri"/>
                <a:cs typeface="Calibri"/>
              </a:rPr>
              <a:t>is one of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35" dirty="0">
                <a:latin typeface="Calibri"/>
                <a:cs typeface="Calibri"/>
              </a:rPr>
              <a:t>keys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progressive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growth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integration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08923" y="6416446"/>
            <a:ext cx="2025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" dirty="0">
                <a:latin typeface="Times New Roman"/>
                <a:cs typeface="Times New Roman"/>
              </a:rPr>
              <a:t>26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75" y="901700"/>
            <a:ext cx="8915400" cy="44323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85134" y="189941"/>
            <a:ext cx="217297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</a:t>
            </a:r>
            <a:r>
              <a:rPr spc="-55" dirty="0"/>
              <a:t>v</a:t>
            </a:r>
            <a:r>
              <a:rPr spc="-5" dirty="0"/>
              <a:t>e</a:t>
            </a:r>
            <a:r>
              <a:rPr spc="35" dirty="0"/>
              <a:t>r</a:t>
            </a:r>
            <a:r>
              <a:rPr spc="-5" dirty="0"/>
              <a:t>vi</a:t>
            </a:r>
            <a:r>
              <a:rPr spc="-30" dirty="0"/>
              <a:t>e</a:t>
            </a:r>
            <a:r>
              <a:rPr spc="-5" dirty="0"/>
              <a:t>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7595" y="217678"/>
            <a:ext cx="583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TTL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" y="3383026"/>
            <a:ext cx="990600" cy="2316480"/>
          </a:xfrm>
          <a:custGeom>
            <a:avLst/>
            <a:gdLst/>
            <a:ahLst/>
            <a:cxnLst/>
            <a:rect l="l" t="t" r="r" b="b"/>
            <a:pathLst>
              <a:path w="990600" h="2316479">
                <a:moveTo>
                  <a:pt x="0" y="165100"/>
                </a:moveTo>
                <a:lnTo>
                  <a:pt x="5897" y="121208"/>
                </a:lnTo>
                <a:lnTo>
                  <a:pt x="22540" y="81769"/>
                </a:lnTo>
                <a:lnTo>
                  <a:pt x="48355" y="48355"/>
                </a:lnTo>
                <a:lnTo>
                  <a:pt x="81769" y="22540"/>
                </a:lnTo>
                <a:lnTo>
                  <a:pt x="121208" y="5897"/>
                </a:lnTo>
                <a:lnTo>
                  <a:pt x="165100" y="0"/>
                </a:lnTo>
                <a:lnTo>
                  <a:pt x="412750" y="0"/>
                </a:lnTo>
                <a:lnTo>
                  <a:pt x="825500" y="0"/>
                </a:lnTo>
                <a:lnTo>
                  <a:pt x="869391" y="5897"/>
                </a:lnTo>
                <a:lnTo>
                  <a:pt x="908830" y="22540"/>
                </a:lnTo>
                <a:lnTo>
                  <a:pt x="942244" y="48355"/>
                </a:lnTo>
                <a:lnTo>
                  <a:pt x="968059" y="81769"/>
                </a:lnTo>
                <a:lnTo>
                  <a:pt x="984702" y="121208"/>
                </a:lnTo>
                <a:lnTo>
                  <a:pt x="990600" y="165100"/>
                </a:lnTo>
                <a:lnTo>
                  <a:pt x="990600" y="1093597"/>
                </a:lnTo>
                <a:lnTo>
                  <a:pt x="990600" y="1562354"/>
                </a:lnTo>
                <a:lnTo>
                  <a:pt x="990600" y="1709674"/>
                </a:lnTo>
                <a:lnTo>
                  <a:pt x="984702" y="1753565"/>
                </a:lnTo>
                <a:lnTo>
                  <a:pt x="968059" y="1793004"/>
                </a:lnTo>
                <a:lnTo>
                  <a:pt x="942244" y="1826418"/>
                </a:lnTo>
                <a:lnTo>
                  <a:pt x="908830" y="1852233"/>
                </a:lnTo>
                <a:lnTo>
                  <a:pt x="869391" y="1868876"/>
                </a:lnTo>
                <a:lnTo>
                  <a:pt x="825500" y="1874774"/>
                </a:lnTo>
                <a:lnTo>
                  <a:pt x="412750" y="1874774"/>
                </a:lnTo>
                <a:lnTo>
                  <a:pt x="154000" y="2316149"/>
                </a:lnTo>
                <a:lnTo>
                  <a:pt x="165100" y="1874774"/>
                </a:lnTo>
                <a:lnTo>
                  <a:pt x="121208" y="1868876"/>
                </a:lnTo>
                <a:lnTo>
                  <a:pt x="81769" y="1852233"/>
                </a:lnTo>
                <a:lnTo>
                  <a:pt x="48355" y="1826418"/>
                </a:lnTo>
                <a:lnTo>
                  <a:pt x="22540" y="1793004"/>
                </a:lnTo>
                <a:lnTo>
                  <a:pt x="5897" y="1753565"/>
                </a:lnTo>
                <a:lnTo>
                  <a:pt x="0" y="1709674"/>
                </a:lnTo>
                <a:lnTo>
                  <a:pt x="0" y="1562354"/>
                </a:lnTo>
                <a:lnTo>
                  <a:pt x="0" y="1093597"/>
                </a:lnTo>
                <a:lnTo>
                  <a:pt x="0" y="165100"/>
                </a:lnTo>
                <a:close/>
              </a:path>
            </a:pathLst>
          </a:custGeom>
          <a:ln w="28575">
            <a:solidFill>
              <a:srgbClr val="008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0997" y="998931"/>
            <a:ext cx="77978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Logic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20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ily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113" y="5741619"/>
            <a:ext cx="8902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" dirty="0">
                <a:solidFill>
                  <a:srgbClr val="008000"/>
                </a:solidFill>
                <a:latin typeface="Times New Roman"/>
                <a:cs typeface="Times New Roman"/>
              </a:rPr>
              <a:t>C</a:t>
            </a:r>
            <a:r>
              <a:rPr sz="2400" spc="-5" dirty="0">
                <a:solidFill>
                  <a:srgbClr val="008000"/>
                </a:solidFill>
                <a:latin typeface="Times New Roman"/>
                <a:cs typeface="Times New Roman"/>
              </a:rPr>
              <a:t>MOS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49375" y="5343550"/>
            <a:ext cx="7439025" cy="8807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7180" indent="-259079">
              <a:lnSpc>
                <a:spcPct val="100000"/>
              </a:lnSpc>
              <a:spcBef>
                <a:spcPts val="105"/>
              </a:spcBef>
              <a:buChar char="•"/>
              <a:tabLst>
                <a:tab pos="297180" algn="l"/>
              </a:tabLst>
            </a:pPr>
            <a:r>
              <a:rPr sz="2800" spc="-30" dirty="0">
                <a:latin typeface="Calibri"/>
                <a:cs typeface="Calibri"/>
              </a:rPr>
              <a:t>Values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typical</a:t>
            </a:r>
            <a:r>
              <a:rPr sz="2800" spc="-15" dirty="0">
                <a:latin typeface="Calibri"/>
                <a:cs typeface="Calibri"/>
              </a:rPr>
              <a:t> for</a:t>
            </a:r>
            <a:r>
              <a:rPr sz="2800" spc="-35" dirty="0">
                <a:latin typeface="Calibri"/>
                <a:cs typeface="Calibri"/>
              </a:rPr>
              <a:t> V</a:t>
            </a:r>
            <a:r>
              <a:rPr sz="2775" spc="-52" baseline="-19519" dirty="0">
                <a:latin typeface="Calibri"/>
                <a:cs typeface="Calibri"/>
              </a:rPr>
              <a:t>cc</a:t>
            </a:r>
            <a:r>
              <a:rPr sz="2800" spc="-35" dirty="0">
                <a:latin typeface="Calibri"/>
                <a:cs typeface="Calibri"/>
              </a:rPr>
              <a:t>/V</a:t>
            </a:r>
            <a:r>
              <a:rPr sz="2775" spc="-52" baseline="-19519" dirty="0">
                <a:latin typeface="Calibri"/>
                <a:cs typeface="Calibri"/>
              </a:rPr>
              <a:t>dd</a:t>
            </a:r>
            <a:r>
              <a:rPr sz="2775" spc="300" baseline="-1951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5" dirty="0">
                <a:latin typeface="Calibri"/>
                <a:cs typeface="Calibri"/>
              </a:rPr>
              <a:t> 5V</a:t>
            </a:r>
            <a:endParaRPr sz="2800">
              <a:latin typeface="Calibri"/>
              <a:cs typeface="Calibri"/>
            </a:endParaRPr>
          </a:p>
          <a:p>
            <a:pPr marL="297180" indent="-259079">
              <a:lnSpc>
                <a:spcPct val="100000"/>
              </a:lnSpc>
              <a:spcBef>
                <a:spcPts val="5"/>
              </a:spcBef>
              <a:buChar char="•"/>
              <a:tabLst>
                <a:tab pos="297180" algn="l"/>
              </a:tabLst>
            </a:pPr>
            <a:r>
              <a:rPr sz="2800" dirty="0">
                <a:latin typeface="Calibri"/>
                <a:cs typeface="Calibri"/>
              </a:rPr>
              <a:t>When</a:t>
            </a:r>
            <a:r>
              <a:rPr sz="2800" spc="-10" dirty="0">
                <a:latin typeface="Calibri"/>
                <a:cs typeface="Calibri"/>
              </a:rPr>
              <a:t> interfacing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different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families,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pay</a:t>
            </a:r>
            <a:r>
              <a:rPr sz="2800" spc="-15" dirty="0">
                <a:latin typeface="Calibri"/>
                <a:cs typeface="Calibri"/>
              </a:rPr>
              <a:t> attention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4775" y="6197295"/>
            <a:ext cx="6671309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their</a:t>
            </a:r>
            <a:r>
              <a:rPr sz="2800" spc="-10" dirty="0">
                <a:latin typeface="Calibri"/>
                <a:cs typeface="Calibri"/>
              </a:rPr>
              <a:t> input/output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voltage,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current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(fanout)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2400" y="762000"/>
            <a:ext cx="920750" cy="2300605"/>
          </a:xfrm>
          <a:custGeom>
            <a:avLst/>
            <a:gdLst/>
            <a:ahLst/>
            <a:cxnLst/>
            <a:rect l="l" t="t" r="r" b="b"/>
            <a:pathLst>
              <a:path w="920750" h="2300605">
                <a:moveTo>
                  <a:pt x="0" y="1082675"/>
                </a:moveTo>
                <a:lnTo>
                  <a:pt x="7769" y="1034492"/>
                </a:lnTo>
                <a:lnTo>
                  <a:pt x="29405" y="992655"/>
                </a:lnTo>
                <a:lnTo>
                  <a:pt x="62396" y="959669"/>
                </a:lnTo>
                <a:lnTo>
                  <a:pt x="104231" y="938041"/>
                </a:lnTo>
                <a:lnTo>
                  <a:pt x="152400" y="930275"/>
                </a:lnTo>
                <a:lnTo>
                  <a:pt x="533400" y="930275"/>
                </a:lnTo>
                <a:lnTo>
                  <a:pt x="920750" y="0"/>
                </a:lnTo>
                <a:lnTo>
                  <a:pt x="762000" y="930275"/>
                </a:lnTo>
                <a:lnTo>
                  <a:pt x="810168" y="938041"/>
                </a:lnTo>
                <a:lnTo>
                  <a:pt x="852003" y="959669"/>
                </a:lnTo>
                <a:lnTo>
                  <a:pt x="884994" y="992655"/>
                </a:lnTo>
                <a:lnTo>
                  <a:pt x="906630" y="1034492"/>
                </a:lnTo>
                <a:lnTo>
                  <a:pt x="914400" y="1082675"/>
                </a:lnTo>
                <a:lnTo>
                  <a:pt x="914400" y="1158621"/>
                </a:lnTo>
                <a:lnTo>
                  <a:pt x="914400" y="1501139"/>
                </a:lnTo>
                <a:lnTo>
                  <a:pt x="914400" y="2147824"/>
                </a:lnTo>
                <a:lnTo>
                  <a:pt x="906630" y="2196006"/>
                </a:lnTo>
                <a:lnTo>
                  <a:pt x="884994" y="2237843"/>
                </a:lnTo>
                <a:lnTo>
                  <a:pt x="852003" y="2270829"/>
                </a:lnTo>
                <a:lnTo>
                  <a:pt x="810168" y="2292457"/>
                </a:lnTo>
                <a:lnTo>
                  <a:pt x="762000" y="2300224"/>
                </a:lnTo>
                <a:lnTo>
                  <a:pt x="533400" y="2300224"/>
                </a:lnTo>
                <a:lnTo>
                  <a:pt x="152400" y="2300224"/>
                </a:lnTo>
                <a:lnTo>
                  <a:pt x="104231" y="2292457"/>
                </a:lnTo>
                <a:lnTo>
                  <a:pt x="62396" y="2270829"/>
                </a:lnTo>
                <a:lnTo>
                  <a:pt x="29405" y="2237843"/>
                </a:lnTo>
                <a:lnTo>
                  <a:pt x="7769" y="2196006"/>
                </a:lnTo>
                <a:lnTo>
                  <a:pt x="0" y="2147824"/>
                </a:lnTo>
                <a:lnTo>
                  <a:pt x="0" y="1501139"/>
                </a:lnTo>
                <a:lnTo>
                  <a:pt x="0" y="1158621"/>
                </a:lnTo>
                <a:lnTo>
                  <a:pt x="0" y="1082675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622297" y="1152270"/>
            <a:ext cx="164211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885825" algn="l"/>
              </a:tabLst>
            </a:pPr>
            <a:r>
              <a:rPr sz="3000" b="1" spc="-7" baseline="13888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135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PD	</a:t>
            </a:r>
            <a:r>
              <a:rPr sz="3000" b="1" spc="-22" baseline="13888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135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rise/fall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41395" y="1152270"/>
            <a:ext cx="185928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  <a:tabLst>
                <a:tab pos="1110615" algn="l"/>
              </a:tabLst>
            </a:pPr>
            <a:r>
              <a:rPr sz="3000" b="1" baseline="13888" dirty="0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sz="1350" b="1" dirty="0">
                <a:solidFill>
                  <a:srgbClr val="FFFFFF"/>
                </a:solidFill>
                <a:latin typeface="Times New Roman"/>
                <a:cs typeface="Times New Roman"/>
              </a:rPr>
              <a:t>IH,min	</a:t>
            </a:r>
            <a:r>
              <a:rPr sz="3000" b="1" spc="-7" baseline="13888" dirty="0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sz="135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IL,max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05602" y="1152270"/>
            <a:ext cx="85471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000" b="1" spc="-7" baseline="13888" dirty="0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sz="135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OH,min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87895" y="1152270"/>
            <a:ext cx="86042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000" b="1" spc="-15" baseline="13888" dirty="0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sz="13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OL,max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89569" y="998931"/>
            <a:ext cx="848994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Noise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Margin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08923" y="6416446"/>
            <a:ext cx="2025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" dirty="0">
                <a:latin typeface="Times New Roman"/>
                <a:cs typeface="Times New Roman"/>
              </a:rPr>
              <a:t>27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8727" y="14986"/>
            <a:ext cx="247332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olidFill>
                  <a:srgbClr val="000000"/>
                </a:solidFill>
              </a:rPr>
              <a:t>Some</a:t>
            </a:r>
            <a:r>
              <a:rPr sz="4000" spc="-110" dirty="0">
                <a:solidFill>
                  <a:srgbClr val="000000"/>
                </a:solidFill>
              </a:rPr>
              <a:t> </a:t>
            </a:r>
            <a:r>
              <a:rPr sz="4000" spc="-20" dirty="0">
                <a:solidFill>
                  <a:srgbClr val="000000"/>
                </a:solidFill>
              </a:rPr>
              <a:t>Gates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609600"/>
            <a:ext cx="4152265" cy="256006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57800" y="410222"/>
            <a:ext cx="3494246" cy="287107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6792" y="3385549"/>
            <a:ext cx="2228981" cy="26342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86586" y="6269228"/>
            <a:ext cx="19596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2-input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Gate 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Diode-Resistor</a:t>
            </a:r>
            <a:r>
              <a:rPr sz="1800" spc="3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Logic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8727" y="14986"/>
            <a:ext cx="247332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olidFill>
                  <a:srgbClr val="000000"/>
                </a:solidFill>
              </a:rPr>
              <a:t>Some</a:t>
            </a:r>
            <a:r>
              <a:rPr sz="4000" spc="-110" dirty="0">
                <a:solidFill>
                  <a:srgbClr val="000000"/>
                </a:solidFill>
              </a:rPr>
              <a:t> </a:t>
            </a:r>
            <a:r>
              <a:rPr sz="4000" spc="-20" dirty="0">
                <a:solidFill>
                  <a:srgbClr val="000000"/>
                </a:solidFill>
              </a:rPr>
              <a:t>Gates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427" y="861086"/>
            <a:ext cx="4113276" cy="33368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32549" y="876300"/>
            <a:ext cx="2965938" cy="26003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5118" y="14986"/>
            <a:ext cx="476250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15" dirty="0">
                <a:solidFill>
                  <a:srgbClr val="000000"/>
                </a:solidFill>
              </a:rPr>
              <a:t>Diode-Resistor</a:t>
            </a:r>
            <a:r>
              <a:rPr sz="4000" spc="-55" dirty="0">
                <a:solidFill>
                  <a:srgbClr val="000000"/>
                </a:solidFill>
              </a:rPr>
              <a:t> </a:t>
            </a:r>
            <a:r>
              <a:rPr sz="4000" dirty="0">
                <a:solidFill>
                  <a:srgbClr val="000000"/>
                </a:solidFill>
              </a:rPr>
              <a:t>OR</a:t>
            </a:r>
            <a:r>
              <a:rPr sz="4000" spc="-45" dirty="0">
                <a:solidFill>
                  <a:srgbClr val="000000"/>
                </a:solidFill>
              </a:rPr>
              <a:t> </a:t>
            </a:r>
            <a:r>
              <a:rPr sz="4000" spc="-40" dirty="0">
                <a:solidFill>
                  <a:srgbClr val="000000"/>
                </a:solidFill>
              </a:rPr>
              <a:t>gate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609600"/>
            <a:ext cx="2605024" cy="229781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9400" y="609600"/>
            <a:ext cx="2362200" cy="229781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48400" y="786094"/>
            <a:ext cx="1554536" cy="227333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5771" y="3194203"/>
            <a:ext cx="8298643" cy="96339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7266" y="4281487"/>
            <a:ext cx="8502335" cy="92868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72418" y="5400582"/>
            <a:ext cx="8437345" cy="130501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3574" y="14986"/>
            <a:ext cx="508508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15" dirty="0">
                <a:solidFill>
                  <a:srgbClr val="000000"/>
                </a:solidFill>
              </a:rPr>
              <a:t>Diode-Resistor</a:t>
            </a:r>
            <a:r>
              <a:rPr sz="4000" spc="-50" dirty="0">
                <a:solidFill>
                  <a:srgbClr val="000000"/>
                </a:solidFill>
              </a:rPr>
              <a:t> </a:t>
            </a:r>
            <a:r>
              <a:rPr sz="4000" dirty="0">
                <a:solidFill>
                  <a:srgbClr val="000000"/>
                </a:solidFill>
              </a:rPr>
              <a:t>AND</a:t>
            </a:r>
            <a:r>
              <a:rPr sz="4000" spc="-45" dirty="0">
                <a:solidFill>
                  <a:srgbClr val="000000"/>
                </a:solidFill>
              </a:rPr>
              <a:t> </a:t>
            </a:r>
            <a:r>
              <a:rPr sz="4000" spc="-40" dirty="0">
                <a:solidFill>
                  <a:srgbClr val="000000"/>
                </a:solidFill>
              </a:rPr>
              <a:t>gate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8378" y="565276"/>
            <a:ext cx="7917433" cy="248272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9596" y="3159511"/>
            <a:ext cx="8668250" cy="369848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3048" y="14986"/>
            <a:ext cx="192786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25" dirty="0">
                <a:solidFill>
                  <a:srgbClr val="000000"/>
                </a:solidFill>
              </a:rPr>
              <a:t>NOT</a:t>
            </a:r>
            <a:r>
              <a:rPr sz="4000" spc="-105" dirty="0">
                <a:solidFill>
                  <a:srgbClr val="000000"/>
                </a:solidFill>
              </a:rPr>
              <a:t> </a:t>
            </a:r>
            <a:r>
              <a:rPr sz="4000" spc="-40" dirty="0">
                <a:solidFill>
                  <a:srgbClr val="000000"/>
                </a:solidFill>
              </a:rPr>
              <a:t>gate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630301"/>
            <a:ext cx="8077200" cy="21890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9753" y="3090032"/>
            <a:ext cx="8746009" cy="216776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4527" y="121107"/>
            <a:ext cx="262572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5" dirty="0">
                <a:solidFill>
                  <a:srgbClr val="000000"/>
                </a:solidFill>
              </a:rPr>
              <a:t>Common</a:t>
            </a:r>
            <a:r>
              <a:rPr sz="4000" spc="-70" dirty="0">
                <a:solidFill>
                  <a:srgbClr val="000000"/>
                </a:solidFill>
              </a:rPr>
              <a:t> </a:t>
            </a:r>
            <a:r>
              <a:rPr sz="4000" dirty="0">
                <a:solidFill>
                  <a:srgbClr val="000000"/>
                </a:solidFill>
              </a:rPr>
              <a:t>ICs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874775"/>
            <a:ext cx="2560320" cy="17556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5620" y="2914599"/>
            <a:ext cx="3464560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7400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Quad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2-input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Logic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NAND</a:t>
            </a:r>
            <a:r>
              <a:rPr sz="1800" b="1" spc="40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Gate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Also:</a:t>
            </a:r>
            <a:endParaRPr sz="1800">
              <a:latin typeface="Calibri"/>
              <a:cs typeface="Calibri"/>
            </a:endParaRPr>
          </a:p>
          <a:p>
            <a:pPr marL="12700" marR="144907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Calibri"/>
                <a:cs typeface="Calibri"/>
              </a:rPr>
              <a:t>74LS00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Quad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2-input </a:t>
            </a:r>
            <a:r>
              <a:rPr sz="1800" spc="-5" dirty="0">
                <a:latin typeface="Calibri"/>
                <a:cs typeface="Calibri"/>
              </a:rPr>
              <a:t> 74LS10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Triple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3-input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74LS20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Dual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4-input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74LS30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Single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8-input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43117" y="2729941"/>
            <a:ext cx="27832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7402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Quad 2-input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NOR</a:t>
            </a:r>
            <a:r>
              <a:rPr sz="1800" b="1" spc="-15" dirty="0">
                <a:latin typeface="Calibri"/>
                <a:cs typeface="Calibri"/>
              </a:rPr>
              <a:t> Gate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62954" y="647700"/>
            <a:ext cx="2667000" cy="18288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919342" y="6269228"/>
            <a:ext cx="2780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7408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Quad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2-input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AND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Gate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89497" y="3949356"/>
            <a:ext cx="2667000" cy="18288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221229" y="6257645"/>
            <a:ext cx="31610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7432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Quad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2-input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Logic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OR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Gate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83485" y="4012526"/>
            <a:ext cx="2667000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C:\Users\ADMIN\Desktop\Basic Ga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304378" y="-923379"/>
            <a:ext cx="6616700" cy="892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7437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1293</Words>
  <Application>Microsoft Office PowerPoint</Application>
  <PresentationFormat>On-screen Show (4:3)</PresentationFormat>
  <Paragraphs>230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A bit of history</vt:lpstr>
      <vt:lpstr>A bit more history</vt:lpstr>
      <vt:lpstr>Integrated Circuits</vt:lpstr>
      <vt:lpstr>Integration Levels</vt:lpstr>
      <vt:lpstr>Moore’s law</vt:lpstr>
      <vt:lpstr>Logic Families</vt:lpstr>
      <vt:lpstr>Digital IC Terminology</vt:lpstr>
      <vt:lpstr>Digital IC Terminology</vt:lpstr>
      <vt:lpstr>Digital IC Terminology</vt:lpstr>
      <vt:lpstr>Digital IC Terminology</vt:lpstr>
      <vt:lpstr>fanout</vt:lpstr>
      <vt:lpstr>PowerPoint Presentation</vt:lpstr>
      <vt:lpstr>Digital IC Terminology</vt:lpstr>
      <vt:lpstr>Speed-Power Product</vt:lpstr>
      <vt:lpstr>Interfacing Logic Families</vt:lpstr>
      <vt:lpstr>Notes about Families</vt:lpstr>
      <vt:lpstr>Then</vt:lpstr>
      <vt:lpstr>TTL Logic Families</vt:lpstr>
      <vt:lpstr>TTL family evolution</vt:lpstr>
      <vt:lpstr>ECL</vt:lpstr>
      <vt:lpstr>CMOS Complimentary MOS (CMOS)</vt:lpstr>
      <vt:lpstr>CMOS/TTL power requirements</vt:lpstr>
      <vt:lpstr>CMOS family evolution</vt:lpstr>
      <vt:lpstr>Overview</vt:lpstr>
      <vt:lpstr>Some Gates</vt:lpstr>
      <vt:lpstr>Some Gates</vt:lpstr>
      <vt:lpstr>Diode-Resistor OR gate</vt:lpstr>
      <vt:lpstr>Diode-Resistor AND gate</vt:lpstr>
      <vt:lpstr>NOT gate</vt:lpstr>
      <vt:lpstr>Common ICs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 Families</dc:title>
  <dc:creator>kath meehan</dc:creator>
  <cp:lastModifiedBy>ADMIN</cp:lastModifiedBy>
  <cp:revision>4</cp:revision>
  <dcterms:created xsi:type="dcterms:W3CDTF">2022-03-22T17:06:26Z</dcterms:created>
  <dcterms:modified xsi:type="dcterms:W3CDTF">2022-03-24T10:40:34Z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2015-04-19T00:00:00Z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2022-03-22T00:00:00Z</vt:filetime>
  </property>
</Properties>
</file>