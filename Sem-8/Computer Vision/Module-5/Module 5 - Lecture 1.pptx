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1" r:id="rId1"/>
  </p:sldMasterIdLst>
  <p:sldIdLst>
    <p:sldId id="257" r:id="rId2"/>
    <p:sldId id="258" r:id="rId3"/>
    <p:sldId id="259" r:id="rId4"/>
    <p:sldId id="260" r:id="rId5"/>
    <p:sldId id="261" r:id="rId6"/>
    <p:sldId id="262" r:id="rId7"/>
    <p:sldId id="263" r:id="rId8"/>
    <p:sldId id="276" r:id="rId9"/>
    <p:sldId id="264" r:id="rId10"/>
    <p:sldId id="265" r:id="rId11"/>
    <p:sldId id="266" r:id="rId12"/>
    <p:sldId id="267" r:id="rId13"/>
    <p:sldId id="268" r:id="rId14"/>
    <p:sldId id="269" r:id="rId15"/>
    <p:sldId id="270" r:id="rId16"/>
    <p:sldId id="271" r:id="rId17"/>
    <p:sldId id="272" r:id="rId18"/>
    <p:sldId id="274" r:id="rId19"/>
    <p:sldId id="273"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2" autoAdjust="0"/>
    <p:restoredTop sz="94660"/>
  </p:normalViewPr>
  <p:slideViewPr>
    <p:cSldViewPr snapToGrid="0">
      <p:cViewPr varScale="1">
        <p:scale>
          <a:sx n="90" d="100"/>
          <a:sy n="90" d="100"/>
        </p:scale>
        <p:origin x="44" y="1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4AAD347D-5ACD-4C99-B74B-A9C85AD731AF}" type="datetimeFigureOut">
              <a:rPr lang="en-US" smtClean="0"/>
              <a:t>2/9/2021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8506410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509A250-FF31-4206-8172-F9D3106AACB1}" type="datetimeFigureOut">
              <a:rPr lang="en-US" smtClean="0"/>
              <a:t>2/9/2021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8447131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2/9/2021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4572208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9796027F-7875-4030-9381-8BD8C4F21935}" type="datetimeFigureOut">
              <a:rPr lang="en-US" smtClean="0"/>
              <a:t>2/9/2021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980665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9796027F-7875-4030-9381-8BD8C4F21935}" type="datetimeFigureOut">
              <a:rPr lang="en-US" smtClean="0"/>
              <a:t>2/9/2021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858704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4509A250-FF31-4206-8172-F9D3106AACB1}" type="datetimeFigureOut">
              <a:rPr lang="en-US" smtClean="0"/>
              <a:t>2/9/2021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669927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2/9/2021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738095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2/9/2021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7740011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2/9/2021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5376614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509A250-FF31-4206-8172-F9D3106AACB1}" type="datetimeFigureOut">
              <a:rPr lang="en-US" smtClean="0"/>
              <a:t>2/9/2021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604067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509A250-FF31-4206-8172-F9D3106AACB1}" type="datetimeFigureOut">
              <a:rPr lang="en-US" smtClean="0"/>
              <a:t>2/9/2021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759997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AD347D-5ACD-4C99-B74B-A9C85AD731AF}" type="datetimeFigureOut">
              <a:rPr lang="en-US" smtClean="0"/>
              <a:t>2/9/2021</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3685146371"/>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25294" y="453813"/>
            <a:ext cx="8825658" cy="2677648"/>
          </a:xfrm>
        </p:spPr>
        <p:txBody>
          <a:bodyPr>
            <a:normAutofit fontScale="90000"/>
          </a:bodyPr>
          <a:lstStyle/>
          <a:p>
            <a:pPr algn="ctr"/>
            <a:r>
              <a:rPr lang="en-US" sz="6600" dirty="0" smtClean="0"/>
              <a:t>CSG2005 </a:t>
            </a:r>
            <a:br>
              <a:rPr lang="en-US" sz="6600" dirty="0" smtClean="0"/>
            </a:br>
            <a:r>
              <a:rPr lang="en-US" sz="6600" dirty="0" smtClean="0"/>
              <a:t>Computer Vision &amp; Robotics</a:t>
            </a:r>
            <a:endParaRPr lang="en-IN" sz="6600" dirty="0"/>
          </a:p>
        </p:txBody>
      </p:sp>
      <p:sp>
        <p:nvSpPr>
          <p:cNvPr id="3" name="Subtitle 2"/>
          <p:cNvSpPr>
            <a:spLocks noGrp="1"/>
          </p:cNvSpPr>
          <p:nvPr>
            <p:ph type="subTitle" idx="1"/>
          </p:nvPr>
        </p:nvSpPr>
        <p:spPr>
          <a:xfrm>
            <a:off x="6163053" y="4003655"/>
            <a:ext cx="8825658" cy="861420"/>
          </a:xfrm>
        </p:spPr>
        <p:txBody>
          <a:bodyPr>
            <a:noAutofit/>
          </a:bodyPr>
          <a:lstStyle/>
          <a:p>
            <a:pPr algn="l"/>
            <a:r>
              <a:rPr lang="en-US" sz="2800" dirty="0" smtClean="0">
                <a:latin typeface="Algerian" panose="04020705040A02060702" pitchFamily="82" charset="0"/>
              </a:rPr>
              <a:t>Dr Mayuri A v r</a:t>
            </a:r>
          </a:p>
          <a:p>
            <a:pPr algn="l"/>
            <a:r>
              <a:rPr lang="en-US" sz="2800" dirty="0" smtClean="0">
                <a:latin typeface="Algerian" panose="04020705040A02060702" pitchFamily="82" charset="0"/>
              </a:rPr>
              <a:t>Senior assistant professor</a:t>
            </a:r>
          </a:p>
          <a:p>
            <a:pPr algn="l"/>
            <a:r>
              <a:rPr lang="en-US" sz="2800" dirty="0" err="1" smtClean="0">
                <a:latin typeface="Algerian" panose="04020705040A02060702" pitchFamily="82" charset="0"/>
              </a:rPr>
              <a:t>ViT</a:t>
            </a:r>
            <a:r>
              <a:rPr lang="en-US" sz="2800" dirty="0" smtClean="0">
                <a:latin typeface="Algerian" panose="04020705040A02060702" pitchFamily="82" charset="0"/>
              </a:rPr>
              <a:t> </a:t>
            </a:r>
            <a:r>
              <a:rPr lang="en-US" sz="2800" dirty="0" err="1" smtClean="0">
                <a:latin typeface="Algerian" panose="04020705040A02060702" pitchFamily="82" charset="0"/>
              </a:rPr>
              <a:t>bhopal</a:t>
            </a:r>
            <a:endParaRPr lang="en-IN" sz="2800" dirty="0">
              <a:latin typeface="Algerian" panose="04020705040A02060702" pitchFamily="82" charset="0"/>
            </a:endParaRPr>
          </a:p>
        </p:txBody>
      </p:sp>
    </p:spTree>
    <p:extLst>
      <p:ext uri="{BB962C8B-B14F-4D97-AF65-F5344CB8AC3E}">
        <p14:creationId xmlns:p14="http://schemas.microsoft.com/office/powerpoint/2010/main" val="5855159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Camera</a:t>
            </a:r>
            <a:endParaRPr lang="en-IN" dirty="0"/>
          </a:p>
        </p:txBody>
      </p:sp>
      <p:sp>
        <p:nvSpPr>
          <p:cNvPr id="3" name="Content Placeholder 2"/>
          <p:cNvSpPr>
            <a:spLocks noGrp="1"/>
          </p:cNvSpPr>
          <p:nvPr>
            <p:ph idx="1"/>
          </p:nvPr>
        </p:nvSpPr>
        <p:spPr>
          <a:xfrm>
            <a:off x="1103312" y="2052918"/>
            <a:ext cx="10804990" cy="4195481"/>
          </a:xfrm>
        </p:spPr>
        <p:txBody>
          <a:bodyPr>
            <a:normAutofit fontScale="85000" lnSpcReduction="20000"/>
          </a:bodyPr>
          <a:lstStyle/>
          <a:p>
            <a:r>
              <a:rPr lang="en-US" dirty="0" smtClean="0"/>
              <a:t>Many types of imaging devices are </a:t>
            </a:r>
            <a:r>
              <a:rPr lang="en-US" dirty="0"/>
              <a:t>available (from animal eyes to video cameras and radio </a:t>
            </a:r>
            <a:r>
              <a:rPr lang="en-US" dirty="0" smtClean="0"/>
              <a:t>telescopes). </a:t>
            </a:r>
            <a:endParaRPr lang="en-US" dirty="0" smtClean="0"/>
          </a:p>
          <a:p>
            <a:r>
              <a:rPr lang="en-US" dirty="0" smtClean="0"/>
              <a:t>They </a:t>
            </a:r>
            <a:r>
              <a:rPr lang="en-US" dirty="0"/>
              <a:t>may, or may not, be equipped with </a:t>
            </a:r>
            <a:r>
              <a:rPr lang="en-US" dirty="0" smtClean="0"/>
              <a:t>lenses</a:t>
            </a:r>
          </a:p>
          <a:p>
            <a:r>
              <a:rPr lang="en-US" dirty="0" smtClean="0"/>
              <a:t>First model - camera </a:t>
            </a:r>
            <a:r>
              <a:rPr lang="en-US" dirty="0" err="1" smtClean="0"/>
              <a:t>obscura</a:t>
            </a:r>
            <a:r>
              <a:rPr lang="en-US" dirty="0" smtClean="0"/>
              <a:t> </a:t>
            </a:r>
            <a:r>
              <a:rPr lang="en-US" dirty="0"/>
              <a:t>invented in the sixteenth century </a:t>
            </a:r>
            <a:endParaRPr lang="en-US" dirty="0" smtClean="0"/>
          </a:p>
          <a:p>
            <a:r>
              <a:rPr lang="en-US" dirty="0" smtClean="0"/>
              <a:t>Did </a:t>
            </a:r>
            <a:r>
              <a:rPr lang="en-US" dirty="0"/>
              <a:t>not have </a:t>
            </a:r>
            <a:r>
              <a:rPr lang="en-US" dirty="0" smtClean="0"/>
              <a:t>lenses </a:t>
            </a:r>
          </a:p>
          <a:p>
            <a:r>
              <a:rPr lang="en-US" dirty="0" smtClean="0"/>
              <a:t>Use a </a:t>
            </a:r>
            <a:r>
              <a:rPr lang="en-US" dirty="0"/>
              <a:t>pinhole to focus light rays onto a wall or a </a:t>
            </a:r>
            <a:r>
              <a:rPr lang="en-US" dirty="0" smtClean="0"/>
              <a:t>translucent (semi-transparent) </a:t>
            </a:r>
            <a:r>
              <a:rPr lang="en-US" dirty="0"/>
              <a:t>plate and demonstrate the laws of </a:t>
            </a:r>
            <a:r>
              <a:rPr lang="en-US" dirty="0" smtClean="0"/>
              <a:t>perspective.</a:t>
            </a:r>
          </a:p>
          <a:p>
            <a:r>
              <a:rPr lang="en-US" dirty="0" smtClean="0"/>
              <a:t> </a:t>
            </a:r>
            <a:r>
              <a:rPr lang="en-US" dirty="0"/>
              <a:t>Of course pinholes have many limitations </a:t>
            </a:r>
            <a:r>
              <a:rPr lang="en-US" dirty="0" smtClean="0"/>
              <a:t>and </a:t>
            </a:r>
            <a:r>
              <a:rPr lang="en-US" dirty="0"/>
              <a:t>they were </a:t>
            </a:r>
            <a:r>
              <a:rPr lang="en-US" dirty="0" smtClean="0"/>
              <a:t>replaced by more </a:t>
            </a:r>
            <a:r>
              <a:rPr lang="en-US" dirty="0"/>
              <a:t>sophisticated lenses. </a:t>
            </a:r>
            <a:endParaRPr lang="en-US" dirty="0" smtClean="0"/>
          </a:p>
          <a:p>
            <a:r>
              <a:rPr lang="en-US" dirty="0" smtClean="0"/>
              <a:t>The </a:t>
            </a:r>
            <a:r>
              <a:rPr lang="en-US" dirty="0"/>
              <a:t>modern photographic or digital camera is essentially a camera </a:t>
            </a:r>
            <a:r>
              <a:rPr lang="en-US" dirty="0" err="1"/>
              <a:t>obscura</a:t>
            </a:r>
            <a:r>
              <a:rPr lang="en-US" dirty="0"/>
              <a:t> </a:t>
            </a:r>
            <a:endParaRPr lang="en-US" dirty="0" smtClean="0"/>
          </a:p>
          <a:p>
            <a:r>
              <a:rPr lang="en-US" dirty="0" smtClean="0"/>
              <a:t>Capable </a:t>
            </a:r>
            <a:r>
              <a:rPr lang="en-US" dirty="0"/>
              <a:t>of recording the amount of light striking every small area of its backplane</a:t>
            </a:r>
            <a:endParaRPr lang="en-IN" dirty="0"/>
          </a:p>
        </p:txBody>
      </p:sp>
    </p:spTree>
    <p:extLst>
      <p:ext uri="{BB962C8B-B14F-4D97-AF65-F5344CB8AC3E}">
        <p14:creationId xmlns:p14="http://schemas.microsoft.com/office/powerpoint/2010/main" val="87986979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Pinhole Cameras </a:t>
            </a:r>
            <a:r>
              <a:rPr lang="pt-BR" dirty="0" smtClean="0"/>
              <a:t>- </a:t>
            </a:r>
            <a:r>
              <a:rPr lang="pt-BR" dirty="0"/>
              <a:t>Perspective Projection</a:t>
            </a:r>
            <a:endParaRPr lang="en-IN" dirty="0"/>
          </a:p>
        </p:txBody>
      </p:sp>
      <p:sp>
        <p:nvSpPr>
          <p:cNvPr id="3" name="Content Placeholder 2"/>
          <p:cNvSpPr>
            <a:spLocks noGrp="1"/>
          </p:cNvSpPr>
          <p:nvPr>
            <p:ph idx="1"/>
          </p:nvPr>
        </p:nvSpPr>
        <p:spPr/>
        <p:txBody>
          <a:bodyPr>
            <a:normAutofit fontScale="92500"/>
          </a:bodyPr>
          <a:lstStyle/>
          <a:p>
            <a:r>
              <a:rPr lang="en-US" dirty="0"/>
              <a:t>Imagine taking a </a:t>
            </a:r>
            <a:r>
              <a:rPr lang="en-US" dirty="0" smtClean="0"/>
              <a:t>box </a:t>
            </a:r>
          </a:p>
          <a:p>
            <a:r>
              <a:rPr lang="en-US" dirty="0" smtClean="0"/>
              <a:t>use </a:t>
            </a:r>
            <a:r>
              <a:rPr lang="en-US" dirty="0"/>
              <a:t>a pin to prick a small hole in the center of one of its </a:t>
            </a:r>
            <a:r>
              <a:rPr lang="en-US" dirty="0" smtClean="0"/>
              <a:t>sides </a:t>
            </a:r>
            <a:r>
              <a:rPr lang="en-US" dirty="0"/>
              <a:t>and </a:t>
            </a:r>
            <a:endParaRPr lang="en-US" dirty="0" smtClean="0"/>
          </a:p>
          <a:p>
            <a:r>
              <a:rPr lang="en-US" dirty="0" smtClean="0"/>
              <a:t>then replace </a:t>
            </a:r>
            <a:r>
              <a:rPr lang="en-US" dirty="0"/>
              <a:t>the opposite side with a translucent plate. </a:t>
            </a:r>
            <a:endParaRPr lang="en-US" dirty="0" smtClean="0"/>
          </a:p>
          <a:p>
            <a:r>
              <a:rPr lang="en-US" dirty="0" smtClean="0"/>
              <a:t>If </a:t>
            </a:r>
            <a:r>
              <a:rPr lang="en-US" dirty="0"/>
              <a:t>you hold that box in front of you in a dimly lit room, with the pinhole facing some light source, say a candle, you will see an inverted image of the candle appearing on the translucent plate </a:t>
            </a:r>
            <a:endParaRPr lang="en-US" dirty="0" smtClean="0"/>
          </a:p>
          <a:p>
            <a:r>
              <a:rPr lang="en-US" dirty="0" smtClean="0"/>
              <a:t>This </a:t>
            </a:r>
            <a:r>
              <a:rPr lang="en-US" dirty="0"/>
              <a:t>image is formed by light rays issued from the scene facing the box</a:t>
            </a:r>
            <a:r>
              <a:rPr lang="en-US" dirty="0" smtClean="0"/>
              <a:t>.</a:t>
            </a:r>
          </a:p>
          <a:p>
            <a:r>
              <a:rPr lang="en-US" dirty="0" smtClean="0"/>
              <a:t>If </a:t>
            </a:r>
            <a:r>
              <a:rPr lang="en-US" dirty="0"/>
              <a:t>the pinhole were really reduced to a point (which is of course physically impossible), exactly one light ray would pass through each point in the plane of the plate (or image plane), the pinhole, and some scene point.</a:t>
            </a:r>
            <a:endParaRPr lang="en-IN" dirty="0"/>
          </a:p>
        </p:txBody>
      </p:sp>
    </p:spTree>
    <p:extLst>
      <p:ext uri="{BB962C8B-B14F-4D97-AF65-F5344CB8AC3E}">
        <p14:creationId xmlns:p14="http://schemas.microsoft.com/office/powerpoint/2010/main" val="99067366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rotWithShape="1">
          <a:blip r:embed="rId2"/>
          <a:srcRect l="29259" t="44385" r="30672" b="39513"/>
          <a:stretch/>
        </p:blipFill>
        <p:spPr>
          <a:xfrm>
            <a:off x="1484309" y="2666998"/>
            <a:ext cx="10018713" cy="3124201"/>
          </a:xfrm>
          <a:prstGeom prst="rect">
            <a:avLst/>
          </a:prstGeom>
        </p:spPr>
      </p:pic>
    </p:spTree>
    <p:extLst>
      <p:ext uri="{BB962C8B-B14F-4D97-AF65-F5344CB8AC3E}">
        <p14:creationId xmlns:p14="http://schemas.microsoft.com/office/powerpoint/2010/main" val="324912376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US" dirty="0"/>
              <a:t>the pinhole will have a finite (albeit small) size, and each point in the image plane will collect light from a cone of rays subtending a finite solid </a:t>
            </a:r>
            <a:r>
              <a:rPr lang="en-US" dirty="0" smtClean="0"/>
              <a:t>angle. </a:t>
            </a:r>
          </a:p>
          <a:p>
            <a:r>
              <a:rPr lang="en-US" dirty="0" smtClean="0"/>
              <a:t>In </a:t>
            </a:r>
            <a:r>
              <a:rPr lang="en-US" dirty="0"/>
              <a:t>addition, real cameras are normally equipped with lenses, which further complicates things. </a:t>
            </a:r>
            <a:endParaRPr lang="en-US" dirty="0" smtClean="0"/>
          </a:p>
          <a:p>
            <a:r>
              <a:rPr lang="en-US" dirty="0" smtClean="0"/>
              <a:t>Still</a:t>
            </a:r>
            <a:r>
              <a:rPr lang="en-US" dirty="0"/>
              <a:t>, the pinhole perspective (also called central perspective) projection model, first proposed by Brunelleschi at the beginning of the fifteenth century, is mathematically convenient and, despite its simplicity, it often provides an acceptable approximation of the imaging process. </a:t>
            </a:r>
            <a:endParaRPr lang="en-IN" dirty="0"/>
          </a:p>
        </p:txBody>
      </p:sp>
    </p:spTree>
    <p:extLst>
      <p:ext uri="{BB962C8B-B14F-4D97-AF65-F5344CB8AC3E}">
        <p14:creationId xmlns:p14="http://schemas.microsoft.com/office/powerpoint/2010/main" val="176460050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US" dirty="0"/>
              <a:t>Perspective projection creates inverted </a:t>
            </a:r>
            <a:r>
              <a:rPr lang="en-US" dirty="0" smtClean="0"/>
              <a:t>images</a:t>
            </a:r>
          </a:p>
          <a:p>
            <a:r>
              <a:rPr lang="en-US" dirty="0" smtClean="0"/>
              <a:t>It </a:t>
            </a:r>
            <a:r>
              <a:rPr lang="en-US" dirty="0"/>
              <a:t>is sometimes convenient to consider </a:t>
            </a:r>
            <a:r>
              <a:rPr lang="en-US" dirty="0" smtClean="0"/>
              <a:t>a </a:t>
            </a:r>
            <a:r>
              <a:rPr lang="en-US" dirty="0"/>
              <a:t>virtual image associated with a plane lying in front of the pinhole, at the same distance from it as the actual image plane </a:t>
            </a:r>
            <a:r>
              <a:rPr lang="en-US" dirty="0" smtClean="0"/>
              <a:t>. </a:t>
            </a:r>
          </a:p>
          <a:p>
            <a:r>
              <a:rPr lang="en-US" dirty="0" smtClean="0"/>
              <a:t>This </a:t>
            </a:r>
            <a:r>
              <a:rPr lang="en-US" dirty="0"/>
              <a:t>virtual image is not inverted </a:t>
            </a:r>
            <a:endParaRPr lang="en-US" dirty="0" smtClean="0"/>
          </a:p>
          <a:p>
            <a:r>
              <a:rPr lang="en-US" dirty="0" smtClean="0"/>
              <a:t>It is strictly </a:t>
            </a:r>
            <a:r>
              <a:rPr lang="en-US" dirty="0"/>
              <a:t>equivalent to the actual one. </a:t>
            </a:r>
            <a:endParaRPr lang="en-US" dirty="0" smtClean="0"/>
          </a:p>
        </p:txBody>
      </p:sp>
    </p:spTree>
    <p:extLst>
      <p:ext uri="{BB962C8B-B14F-4D97-AF65-F5344CB8AC3E}">
        <p14:creationId xmlns:p14="http://schemas.microsoft.com/office/powerpoint/2010/main" val="338035959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b="24967"/>
          <a:stretch/>
        </p:blipFill>
        <p:spPr>
          <a:xfrm>
            <a:off x="1812642" y="685800"/>
            <a:ext cx="9362049" cy="5539154"/>
          </a:xfrm>
        </p:spPr>
      </p:pic>
    </p:spTree>
    <p:extLst>
      <p:ext uri="{BB962C8B-B14F-4D97-AF65-F5344CB8AC3E}">
        <p14:creationId xmlns:p14="http://schemas.microsoft.com/office/powerpoint/2010/main" val="26996350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Fig1: the apparent size of objects depends on their distance: </a:t>
            </a:r>
            <a:endParaRPr lang="en-US" dirty="0" smtClean="0"/>
          </a:p>
          <a:p>
            <a:r>
              <a:rPr lang="en-US" dirty="0" smtClean="0"/>
              <a:t>for </a:t>
            </a:r>
            <a:r>
              <a:rPr lang="en-US" dirty="0"/>
              <a:t>example, the images </a:t>
            </a:r>
            <a:r>
              <a:rPr lang="en-US" dirty="0" smtClean="0"/>
              <a:t>B’ </a:t>
            </a:r>
            <a:r>
              <a:rPr lang="en-US" dirty="0"/>
              <a:t>and </a:t>
            </a:r>
            <a:r>
              <a:rPr lang="en-US" dirty="0" smtClean="0"/>
              <a:t>C’ of </a:t>
            </a:r>
            <a:r>
              <a:rPr lang="en-US" dirty="0"/>
              <a:t>the posts B and C have the same height, but A and C are really half the size of B</a:t>
            </a:r>
            <a:r>
              <a:rPr lang="en-US" dirty="0" smtClean="0"/>
              <a:t>.</a:t>
            </a:r>
          </a:p>
          <a:p>
            <a:r>
              <a:rPr lang="en-US" dirty="0"/>
              <a:t>Fig2: the projections of two parallel lines lying in some plane Π appear to converge on a horizon line H formed by the intersection of the image plane with the plane parallel to Π and passing through the pinhole.</a:t>
            </a:r>
            <a:endParaRPr lang="en-IN" dirty="0"/>
          </a:p>
        </p:txBody>
      </p:sp>
    </p:spTree>
    <p:extLst>
      <p:ext uri="{BB962C8B-B14F-4D97-AF65-F5344CB8AC3E}">
        <p14:creationId xmlns:p14="http://schemas.microsoft.com/office/powerpoint/2010/main" val="35235458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r>
              <a:rPr lang="en-US" dirty="0"/>
              <a:t>Consider for example a coordinate system (O, </a:t>
            </a:r>
            <a:r>
              <a:rPr lang="en-US" dirty="0" err="1"/>
              <a:t>i</a:t>
            </a:r>
            <a:r>
              <a:rPr lang="en-US" dirty="0"/>
              <a:t>, j, k) attached to a pinhole </a:t>
            </a:r>
            <a:r>
              <a:rPr lang="en-US" dirty="0" smtClean="0"/>
              <a:t>camera </a:t>
            </a:r>
          </a:p>
          <a:p>
            <a:r>
              <a:rPr lang="en-US" dirty="0" smtClean="0"/>
              <a:t>whose </a:t>
            </a:r>
            <a:r>
              <a:rPr lang="en-US" dirty="0"/>
              <a:t>origin O coincides with the pinhole, </a:t>
            </a:r>
            <a:endParaRPr lang="en-US" dirty="0" smtClean="0"/>
          </a:p>
          <a:p>
            <a:r>
              <a:rPr lang="en-US" dirty="0" smtClean="0"/>
              <a:t>vectors </a:t>
            </a:r>
            <a:r>
              <a:rPr lang="en-US" dirty="0" err="1"/>
              <a:t>i</a:t>
            </a:r>
            <a:r>
              <a:rPr lang="en-US" dirty="0"/>
              <a:t> and j form a basis for a vector plane parallel to the image plane </a:t>
            </a:r>
            <a:r>
              <a:rPr lang="en-US" dirty="0" smtClean="0"/>
              <a:t>Π’ </a:t>
            </a:r>
          </a:p>
          <a:p>
            <a:r>
              <a:rPr lang="en-US" dirty="0" smtClean="0"/>
              <a:t>Located </a:t>
            </a:r>
            <a:r>
              <a:rPr lang="en-US" dirty="0"/>
              <a:t>at a positive distance </a:t>
            </a:r>
            <a:r>
              <a:rPr lang="en-US" dirty="0" smtClean="0"/>
              <a:t>f’ </a:t>
            </a:r>
            <a:r>
              <a:rPr lang="en-US" dirty="0"/>
              <a:t>from the pinhole along the vector k </a:t>
            </a:r>
            <a:endParaRPr lang="en-US" dirty="0" smtClean="0"/>
          </a:p>
          <a:p>
            <a:r>
              <a:rPr lang="en-US" dirty="0" smtClean="0"/>
              <a:t>The </a:t>
            </a:r>
            <a:r>
              <a:rPr lang="en-US" dirty="0"/>
              <a:t>line perpendicular to </a:t>
            </a:r>
            <a:r>
              <a:rPr lang="en-US" dirty="0" smtClean="0"/>
              <a:t>Π’ </a:t>
            </a:r>
            <a:r>
              <a:rPr lang="en-US" dirty="0"/>
              <a:t>and passing through the pinhole is called the optical axis, </a:t>
            </a:r>
            <a:r>
              <a:rPr lang="en-US" dirty="0" smtClean="0"/>
              <a:t>and</a:t>
            </a:r>
          </a:p>
          <a:p>
            <a:r>
              <a:rPr lang="en-US" dirty="0" smtClean="0"/>
              <a:t>The </a:t>
            </a:r>
            <a:r>
              <a:rPr lang="en-US" dirty="0"/>
              <a:t>point </a:t>
            </a:r>
            <a:r>
              <a:rPr lang="en-US" dirty="0" smtClean="0"/>
              <a:t>C’ </a:t>
            </a:r>
            <a:r>
              <a:rPr lang="en-US" dirty="0"/>
              <a:t>where it pierces </a:t>
            </a:r>
            <a:r>
              <a:rPr lang="en-US" dirty="0" smtClean="0"/>
              <a:t>Π’ </a:t>
            </a:r>
            <a:r>
              <a:rPr lang="en-US" dirty="0"/>
              <a:t>is called the image center. </a:t>
            </a:r>
            <a:endParaRPr lang="en-US" dirty="0" smtClean="0"/>
          </a:p>
          <a:p>
            <a:r>
              <a:rPr lang="en-US" dirty="0" smtClean="0"/>
              <a:t>This </a:t>
            </a:r>
            <a:r>
              <a:rPr lang="en-US" dirty="0"/>
              <a:t>point can be used as the origin of an image plane coordinate frame, </a:t>
            </a:r>
            <a:endParaRPr lang="en-US" dirty="0" smtClean="0"/>
          </a:p>
          <a:p>
            <a:r>
              <a:rPr lang="en-US" dirty="0" smtClean="0"/>
              <a:t>And </a:t>
            </a:r>
            <a:r>
              <a:rPr lang="en-US" dirty="0"/>
              <a:t>it plays an important role in camera calibration procedures.</a:t>
            </a:r>
            <a:endParaRPr lang="en-IN" dirty="0"/>
          </a:p>
        </p:txBody>
      </p:sp>
    </p:spTree>
    <p:extLst>
      <p:ext uri="{BB962C8B-B14F-4D97-AF65-F5344CB8AC3E}">
        <p14:creationId xmlns:p14="http://schemas.microsoft.com/office/powerpoint/2010/main" val="266717735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19310" y="1463040"/>
            <a:ext cx="9805181" cy="4417255"/>
          </a:xfrm>
        </p:spPr>
      </p:pic>
    </p:spTree>
    <p:extLst>
      <p:ext uri="{BB962C8B-B14F-4D97-AF65-F5344CB8AC3E}">
        <p14:creationId xmlns:p14="http://schemas.microsoft.com/office/powerpoint/2010/main" val="13665919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4" name="Picture 3"/>
          <p:cNvPicPr>
            <a:picLocks noChangeAspect="1"/>
          </p:cNvPicPr>
          <p:nvPr/>
        </p:nvPicPr>
        <p:blipFill>
          <a:blip r:embed="rId2"/>
          <a:stretch>
            <a:fillRect/>
          </a:stretch>
        </p:blipFill>
        <p:spPr>
          <a:xfrm>
            <a:off x="485335" y="-28135"/>
            <a:ext cx="11017688" cy="6407833"/>
          </a:xfrm>
          <a:prstGeom prst="rect">
            <a:avLst/>
          </a:prstGeom>
        </p:spPr>
      </p:pic>
    </p:spTree>
    <p:extLst>
      <p:ext uri="{BB962C8B-B14F-4D97-AF65-F5344CB8AC3E}">
        <p14:creationId xmlns:p14="http://schemas.microsoft.com/office/powerpoint/2010/main" val="253886647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Affine Projection</a:t>
            </a:r>
          </a:p>
        </p:txBody>
      </p:sp>
      <p:sp>
        <p:nvSpPr>
          <p:cNvPr id="3" name="Content Placeholder 2"/>
          <p:cNvSpPr>
            <a:spLocks noGrp="1"/>
          </p:cNvSpPr>
          <p:nvPr>
            <p:ph idx="1"/>
          </p:nvPr>
        </p:nvSpPr>
        <p:spPr/>
        <p:txBody>
          <a:bodyPr/>
          <a:lstStyle/>
          <a:p>
            <a:r>
              <a:rPr lang="en-US" dirty="0" smtClean="0"/>
              <a:t>Two </a:t>
            </a:r>
            <a:r>
              <a:rPr lang="en-US" dirty="0"/>
              <a:t>specific affine models, namely weak-perspective and orthographic projections. </a:t>
            </a:r>
            <a:endParaRPr lang="en-US" dirty="0" smtClean="0"/>
          </a:p>
          <a:p>
            <a:r>
              <a:rPr lang="en-US" dirty="0" smtClean="0"/>
              <a:t>A </a:t>
            </a:r>
            <a:r>
              <a:rPr lang="en-US" dirty="0"/>
              <a:t>third one, the </a:t>
            </a:r>
            <a:r>
              <a:rPr lang="en-US" dirty="0" err="1"/>
              <a:t>paraperspective</a:t>
            </a:r>
            <a:r>
              <a:rPr lang="en-US" dirty="0"/>
              <a:t> </a:t>
            </a:r>
            <a:r>
              <a:rPr lang="en-US" dirty="0" smtClean="0"/>
              <a:t>model</a:t>
            </a:r>
            <a:endParaRPr lang="en-IN" dirty="0"/>
          </a:p>
        </p:txBody>
      </p:sp>
    </p:spTree>
    <p:extLst>
      <p:ext uri="{BB962C8B-B14F-4D97-AF65-F5344CB8AC3E}">
        <p14:creationId xmlns:p14="http://schemas.microsoft.com/office/powerpoint/2010/main" val="326024130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838199" y="302454"/>
            <a:ext cx="10641037" cy="5985804"/>
          </a:xfrm>
          <a:prstGeom prst="rect">
            <a:avLst/>
          </a:prstGeom>
        </p:spPr>
      </p:pic>
    </p:spTree>
    <p:extLst>
      <p:ext uri="{BB962C8B-B14F-4D97-AF65-F5344CB8AC3E}">
        <p14:creationId xmlns:p14="http://schemas.microsoft.com/office/powerpoint/2010/main" val="2408483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smtClean="0"/>
              <a:t>Physical constraints impose that z</a:t>
            </a:r>
            <a:r>
              <a:rPr lang="en-US" baseline="-25000" dirty="0" smtClean="0"/>
              <a:t>0</a:t>
            </a:r>
            <a:r>
              <a:rPr lang="en-US" dirty="0" smtClean="0"/>
              <a:t> be negative (the plane must be in front of the pinhole), so the magnification m associated with the plane Π</a:t>
            </a:r>
            <a:r>
              <a:rPr lang="en-US" baseline="-25000" dirty="0" smtClean="0"/>
              <a:t>0</a:t>
            </a:r>
            <a:r>
              <a:rPr lang="en-US" dirty="0" smtClean="0"/>
              <a:t> is positive. </a:t>
            </a:r>
          </a:p>
          <a:p>
            <a:r>
              <a:rPr lang="en-US" dirty="0" smtClean="0"/>
              <a:t>Consider two points P and Q in Π</a:t>
            </a:r>
            <a:r>
              <a:rPr lang="en-US" baseline="-25000" dirty="0" smtClean="0"/>
              <a:t>0</a:t>
            </a:r>
            <a:r>
              <a:rPr lang="en-US" dirty="0" smtClean="0"/>
              <a:t> and their images P’ and Q’ obviously, the vectors P Q and P’Q’ are parallel, and we have |P’Q’ | = m| PQ|. This is the dependent on the image size.</a:t>
            </a:r>
          </a:p>
          <a:p>
            <a:r>
              <a:rPr lang="en-US" dirty="0" smtClean="0"/>
              <a:t>When the scene depth is small relative to the average distance from the camera, the magnification can be taken to be constant. </a:t>
            </a:r>
          </a:p>
          <a:p>
            <a:r>
              <a:rPr lang="en-US" dirty="0" smtClean="0"/>
              <a:t>This projection model is called weak perspective, or scaled orthography.</a:t>
            </a:r>
            <a:endParaRPr lang="en-IN" dirty="0"/>
          </a:p>
        </p:txBody>
      </p:sp>
    </p:spTree>
    <p:extLst>
      <p:ext uri="{BB962C8B-B14F-4D97-AF65-F5344CB8AC3E}">
        <p14:creationId xmlns:p14="http://schemas.microsoft.com/office/powerpoint/2010/main" val="13967732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smtClean="0"/>
              <a:t>When it is a priori known that the camera will always remain at a roughly constant distance from the scene, we can go further and normalize the image coordinates so that m = −1. </a:t>
            </a:r>
          </a:p>
          <a:p>
            <a:r>
              <a:rPr lang="en-US" dirty="0" smtClean="0"/>
              <a:t>This is orthographic projection, defined by x’ = x, y’ = y, with all light rays parallel to the k axis and orthogonal to the image plane Π’ </a:t>
            </a:r>
          </a:p>
          <a:p>
            <a:r>
              <a:rPr lang="en-US" dirty="0" smtClean="0"/>
              <a:t>Although weak-perspective projection is an acceptable model for many imaging conditions, assuming pure orthographic projection is usually unrealistic.</a:t>
            </a:r>
            <a:endParaRPr lang="en-IN" dirty="0"/>
          </a:p>
        </p:txBody>
      </p:sp>
    </p:spTree>
    <p:extLst>
      <p:ext uri="{BB962C8B-B14F-4D97-AF65-F5344CB8AC3E}">
        <p14:creationId xmlns:p14="http://schemas.microsoft.com/office/powerpoint/2010/main" val="25536589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Orthographic projection</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02788" y="1582614"/>
            <a:ext cx="10151012" cy="2771335"/>
          </a:xfrm>
        </p:spPr>
      </p:pic>
      <p:sp>
        <p:nvSpPr>
          <p:cNvPr id="5" name="Rectangle 4"/>
          <p:cNvSpPr/>
          <p:nvPr/>
        </p:nvSpPr>
        <p:spPr>
          <a:xfrm>
            <a:off x="2154702" y="4648108"/>
            <a:ext cx="8656320" cy="923330"/>
          </a:xfrm>
          <a:prstGeom prst="rect">
            <a:avLst/>
          </a:prstGeom>
        </p:spPr>
        <p:txBody>
          <a:bodyPr wrap="square">
            <a:spAutoFit/>
          </a:bodyPr>
          <a:lstStyle/>
          <a:p>
            <a:r>
              <a:rPr lang="en-US" dirty="0"/>
              <a:t>Unlike other geometric models of the image formation process, orthographic projection does not involve a reversal of image features. Accordingly, the magnification is taken to be negative, which is a bit unnatural but simplifies the projection equations.</a:t>
            </a:r>
            <a:endParaRPr lang="en-IN" dirty="0"/>
          </a:p>
        </p:txBody>
      </p:sp>
    </p:spTree>
    <p:extLst>
      <p:ext uri="{BB962C8B-B14F-4D97-AF65-F5344CB8AC3E}">
        <p14:creationId xmlns:p14="http://schemas.microsoft.com/office/powerpoint/2010/main" val="28709776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Spherical projection</a:t>
            </a:r>
            <a:endParaRPr lang="en-IN" dirty="0"/>
          </a:p>
        </p:txBody>
      </p:sp>
      <p:sp>
        <p:nvSpPr>
          <p:cNvPr id="3" name="Content Placeholder 2"/>
          <p:cNvSpPr>
            <a:spLocks noGrp="1"/>
          </p:cNvSpPr>
          <p:nvPr>
            <p:ph idx="1"/>
          </p:nvPr>
        </p:nvSpPr>
        <p:spPr/>
        <p:txBody>
          <a:bodyPr/>
          <a:lstStyle/>
          <a:p>
            <a:r>
              <a:rPr lang="en-US" dirty="0" smtClean="0"/>
              <a:t>The imaging surface, or retina, used in both perspective and affine projection models is a plane. </a:t>
            </a:r>
          </a:p>
          <a:p>
            <a:r>
              <a:rPr lang="en-US" dirty="0" smtClean="0"/>
              <a:t>One can of course imagine retinas with other simple shapes, such as cylinders or spheres for example. </a:t>
            </a:r>
          </a:p>
          <a:p>
            <a:r>
              <a:rPr lang="en-US" dirty="0" smtClean="0"/>
              <a:t>Here we consider spherical cameras where light rays passing through a pinhole form images on a spherical surface centered at the pinhole.</a:t>
            </a:r>
            <a:endParaRPr lang="en-IN" dirty="0"/>
          </a:p>
        </p:txBody>
      </p:sp>
    </p:spTree>
    <p:extLst>
      <p:ext uri="{BB962C8B-B14F-4D97-AF65-F5344CB8AC3E}">
        <p14:creationId xmlns:p14="http://schemas.microsoft.com/office/powerpoint/2010/main" val="3034659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26942" y="1800665"/>
            <a:ext cx="9861451" cy="4698609"/>
          </a:xfrm>
        </p:spPr>
      </p:pic>
    </p:spTree>
    <p:extLst>
      <p:ext uri="{BB962C8B-B14F-4D97-AF65-F5344CB8AC3E}">
        <p14:creationId xmlns:p14="http://schemas.microsoft.com/office/powerpoint/2010/main" val="9849766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62500" lnSpcReduction="20000"/>
          </a:bodyPr>
          <a:lstStyle/>
          <a:p>
            <a:r>
              <a:rPr lang="en-US" dirty="0" smtClean="0"/>
              <a:t>This model is particularly interesting because of its symmetry: </a:t>
            </a:r>
          </a:p>
          <a:p>
            <a:r>
              <a:rPr lang="en-US" dirty="0" smtClean="0"/>
              <a:t>consider for example a sphere observed by conventional perspective and orthographic cameras, as well as a spherical perspective camera (Figure 1.7). </a:t>
            </a:r>
          </a:p>
          <a:p>
            <a:r>
              <a:rPr lang="en-US" dirty="0" smtClean="0"/>
              <a:t>The outline of the sphere in the two perspective images is the intersection of the retina and a double cone tangent to the sphere with its apex located at the pinhole. </a:t>
            </a:r>
          </a:p>
          <a:p>
            <a:r>
              <a:rPr lang="en-US" dirty="0" smtClean="0"/>
              <a:t>Because of the symmetry of the problem, this viewing cone is circular, and it grazes the sphere along a circle.</a:t>
            </a:r>
          </a:p>
          <a:p>
            <a:r>
              <a:rPr lang="en-US" dirty="0" smtClean="0"/>
              <a:t>(left) In the planar perspective case however, the shape of the outline will depend on the orientation of the image plane </a:t>
            </a:r>
          </a:p>
          <a:p>
            <a:r>
              <a:rPr lang="en-US" dirty="0" smtClean="0"/>
              <a:t>if this plane is perpendicular to the line joining the center of the sphere to the pinhole, the outline will be a circle, but in all other cases it will be a non-circular conic section,1 usually an ellipse. </a:t>
            </a:r>
          </a:p>
          <a:p>
            <a:r>
              <a:rPr lang="en-US" dirty="0" smtClean="0"/>
              <a:t>(right) In the spherical projection case, there is no plane orientation to account for, and the outline is always, by symmetry, a circle. </a:t>
            </a:r>
          </a:p>
          <a:p>
            <a:r>
              <a:rPr lang="en-US" dirty="0" smtClean="0"/>
              <a:t>Spheres also have circular outlines under orthographic projection. In this case, the tangent cone degenerates into a cylinder that intersects the image plane along a circle since its axis is always orthogonal to that plane.(middle)</a:t>
            </a:r>
            <a:endParaRPr lang="en-IN" dirty="0"/>
          </a:p>
        </p:txBody>
      </p:sp>
    </p:spTree>
    <p:extLst>
      <p:ext uri="{BB962C8B-B14F-4D97-AF65-F5344CB8AC3E}">
        <p14:creationId xmlns:p14="http://schemas.microsoft.com/office/powerpoint/2010/main" val="11242100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20000"/>
          </a:bodyPr>
          <a:lstStyle/>
          <a:p>
            <a:r>
              <a:rPr lang="en-US" dirty="0"/>
              <a:t>S</a:t>
            </a:r>
            <a:r>
              <a:rPr lang="en-US" dirty="0" smtClean="0"/>
              <a:t>pherical perspective cameras are “better” than their planar perspective since the pictures they record only depend on the position of the pinhole. </a:t>
            </a:r>
          </a:p>
          <a:p>
            <a:r>
              <a:rPr lang="en-US" dirty="0" smtClean="0"/>
              <a:t>At the same time, they accurately capture the image size, and the image size is dependent on object distance, </a:t>
            </a:r>
          </a:p>
          <a:p>
            <a:r>
              <a:rPr lang="en-US" dirty="0" smtClean="0"/>
              <a:t>So they are also “better” than affine cameras. </a:t>
            </a:r>
          </a:p>
          <a:p>
            <a:r>
              <a:rPr lang="en-US" dirty="0" smtClean="0"/>
              <a:t>One could object cameras that have planar retinas, but it is fact that it is easy to calibrate a planar perspective camera . </a:t>
            </a:r>
          </a:p>
          <a:p>
            <a:r>
              <a:rPr lang="en-US" dirty="0" smtClean="0"/>
              <a:t>A drawback of spherical cameras is that they map straight lines onto circles, which at times complicates calculations. </a:t>
            </a:r>
          </a:p>
          <a:p>
            <a:r>
              <a:rPr lang="en-US" dirty="0" smtClean="0"/>
              <a:t>In reality these are not serious problems, and spherical camera models have their role to play in computer vision. </a:t>
            </a:r>
          </a:p>
          <a:p>
            <a:r>
              <a:rPr lang="en-US" dirty="0" smtClean="0"/>
              <a:t>Indeed, they have proven useful in the study of </a:t>
            </a:r>
            <a:r>
              <a:rPr lang="en-US" smtClean="0"/>
              <a:t>shape and </a:t>
            </a:r>
            <a:r>
              <a:rPr lang="en-US" dirty="0" smtClean="0"/>
              <a:t>the analysis of motion (e.g., to recover the shape of smooth objects from sequences of pictures).</a:t>
            </a:r>
            <a:endParaRPr lang="en-IN" dirty="0"/>
          </a:p>
        </p:txBody>
      </p:sp>
    </p:spTree>
    <p:extLst>
      <p:ext uri="{BB962C8B-B14F-4D97-AF65-F5344CB8AC3E}">
        <p14:creationId xmlns:p14="http://schemas.microsoft.com/office/powerpoint/2010/main" val="16100198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442</TotalTime>
  <Words>1320</Words>
  <Application>Microsoft Office PowerPoint</Application>
  <PresentationFormat>Widescreen</PresentationFormat>
  <Paragraphs>69</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Algerian</vt:lpstr>
      <vt:lpstr>Arial</vt:lpstr>
      <vt:lpstr>Calibri</vt:lpstr>
      <vt:lpstr>Calibri Light</vt:lpstr>
      <vt:lpstr>Office Theme</vt:lpstr>
      <vt:lpstr>CSG2005  Computer Vision &amp; Robotics</vt:lpstr>
      <vt:lpstr>Camera</vt:lpstr>
      <vt:lpstr>Pinhole Cameras - Perspective Projection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Affine Projection</vt:lpstr>
      <vt:lpstr>PowerPoint Presentation</vt:lpstr>
      <vt:lpstr>PowerPoint Presentation</vt:lpstr>
      <vt:lpstr>PowerPoint Presentation</vt:lpstr>
      <vt:lpstr>Orthographic projection</vt:lpstr>
      <vt:lpstr>Spherical projection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CSG2005  Computer Vision &amp; Robotics</dc:title>
  <dc:creator>Microsoft account</dc:creator>
  <cp:lastModifiedBy>Microsoft account</cp:lastModifiedBy>
  <cp:revision>24</cp:revision>
  <dcterms:created xsi:type="dcterms:W3CDTF">2021-02-04T09:38:22Z</dcterms:created>
  <dcterms:modified xsi:type="dcterms:W3CDTF">2021-02-09T10:30:56Z</dcterms:modified>
</cp:coreProperties>
</file>