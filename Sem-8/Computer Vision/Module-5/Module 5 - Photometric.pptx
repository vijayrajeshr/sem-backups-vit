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0.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1" r:id="rId1"/>
  </p:sldMasterIdLst>
  <p:sldIdLst>
    <p:sldId id="257" r:id="rId2"/>
    <p:sldId id="258" r:id="rId3"/>
    <p:sldId id="273" r:id="rId4"/>
    <p:sldId id="259" r:id="rId5"/>
    <p:sldId id="260" r:id="rId6"/>
    <p:sldId id="266" r:id="rId7"/>
    <p:sldId id="261" r:id="rId8"/>
    <p:sldId id="262" r:id="rId9"/>
    <p:sldId id="263" r:id="rId10"/>
    <p:sldId id="264" r:id="rId11"/>
    <p:sldId id="265"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2" autoAdjust="0"/>
    <p:restoredTop sz="94660"/>
  </p:normalViewPr>
  <p:slideViewPr>
    <p:cSldViewPr snapToGrid="0">
      <p:cViewPr varScale="1">
        <p:scale>
          <a:sx n="46" d="100"/>
          <a:sy n="46" d="100"/>
        </p:scale>
        <p:origin x="52" y="3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5643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5529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46619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2/18/2021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31769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2/18/2021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05850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5046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85557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55094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50197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588662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3562777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28215634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656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5277769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AD347D-5ACD-4C99-B74B-A9C85AD731AF}" type="datetimeFigureOut">
              <a:rPr lang="en-US" smtClean="0"/>
              <a:t>2/18/2021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453305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5923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21525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smtClean="0"/>
              <a:t>2/18/2021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946186991"/>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25294" y="453813"/>
            <a:ext cx="8825658" cy="2677648"/>
          </a:xfrm>
        </p:spPr>
        <p:txBody>
          <a:bodyPr>
            <a:normAutofit fontScale="90000"/>
          </a:bodyPr>
          <a:lstStyle/>
          <a:p>
            <a:pPr algn="ctr"/>
            <a:r>
              <a:rPr lang="en-US" sz="6600" dirty="0" smtClean="0"/>
              <a:t> </a:t>
            </a:r>
            <a:br>
              <a:rPr lang="en-US" sz="6600" dirty="0" smtClean="0"/>
            </a:br>
            <a:r>
              <a:rPr lang="en-IN" sz="6600" dirty="0" smtClean="0"/>
              <a:t>Local Shading Models</a:t>
            </a:r>
            <a:endParaRPr lang="en-IN" sz="6600" dirty="0"/>
          </a:p>
        </p:txBody>
      </p:sp>
      <p:sp>
        <p:nvSpPr>
          <p:cNvPr id="3" name="Subtitle 2"/>
          <p:cNvSpPr>
            <a:spLocks noGrp="1"/>
          </p:cNvSpPr>
          <p:nvPr>
            <p:ph type="subTitle" idx="1"/>
          </p:nvPr>
        </p:nvSpPr>
        <p:spPr>
          <a:xfrm>
            <a:off x="6163053" y="4003655"/>
            <a:ext cx="8825658" cy="861420"/>
          </a:xfrm>
        </p:spPr>
        <p:txBody>
          <a:bodyPr>
            <a:noAutofit/>
          </a:bodyPr>
          <a:lstStyle/>
          <a:p>
            <a:pPr algn="l"/>
            <a:r>
              <a:rPr lang="en-US" sz="2800" dirty="0" smtClean="0">
                <a:latin typeface="Algerian" panose="04020705040A02060702" pitchFamily="82" charset="0"/>
              </a:rPr>
              <a:t>Dr Mayuri A v r</a:t>
            </a:r>
          </a:p>
          <a:p>
            <a:pPr algn="l"/>
            <a:r>
              <a:rPr lang="en-US" sz="2800" dirty="0" smtClean="0">
                <a:latin typeface="Algerian" panose="04020705040A02060702" pitchFamily="82" charset="0"/>
              </a:rPr>
              <a:t>Senior assistant professor</a:t>
            </a:r>
          </a:p>
          <a:p>
            <a:pPr algn="l"/>
            <a:r>
              <a:rPr lang="en-US" sz="2800" dirty="0" err="1" smtClean="0">
                <a:latin typeface="Algerian" panose="04020705040A02060702" pitchFamily="82" charset="0"/>
              </a:rPr>
              <a:t>ViT</a:t>
            </a:r>
            <a:r>
              <a:rPr lang="en-US" sz="2800" dirty="0" smtClean="0">
                <a:latin typeface="Algerian" panose="04020705040A02060702" pitchFamily="82" charset="0"/>
              </a:rPr>
              <a:t> </a:t>
            </a:r>
            <a:r>
              <a:rPr lang="en-US" sz="2800" dirty="0" err="1" smtClean="0">
                <a:latin typeface="Algerian" panose="04020705040A02060702" pitchFamily="82" charset="0"/>
              </a:rPr>
              <a:t>bhopal</a:t>
            </a:r>
            <a:endParaRPr lang="en-IN" sz="2800" dirty="0">
              <a:latin typeface="Algerian" panose="04020705040A02060702" pitchFamily="82" charset="0"/>
            </a:endParaRPr>
          </a:p>
        </p:txBody>
      </p:sp>
    </p:spTree>
    <p:extLst>
      <p:ext uri="{BB962C8B-B14F-4D97-AF65-F5344CB8AC3E}">
        <p14:creationId xmlns:p14="http://schemas.microsoft.com/office/powerpoint/2010/main" val="585515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Shading Models for Point Sources</a:t>
            </a:r>
            <a:endParaRPr lang="en-IN" dirty="0"/>
          </a:p>
        </p:txBody>
      </p:sp>
      <p:pic>
        <p:nvPicPr>
          <p:cNvPr id="4" name="Content Placeholder 3"/>
          <p:cNvPicPr>
            <a:picLocks noGrp="1" noChangeAspect="1"/>
          </p:cNvPicPr>
          <p:nvPr>
            <p:ph idx="1"/>
          </p:nvPr>
        </p:nvPicPr>
        <p:blipFill rotWithShape="1">
          <a:blip r:embed="rId2"/>
          <a:srcRect l="32022" t="23164" r="40038" b="63257"/>
          <a:stretch/>
        </p:blipFill>
        <p:spPr>
          <a:xfrm>
            <a:off x="873715" y="3052996"/>
            <a:ext cx="9404723" cy="1899138"/>
          </a:xfrm>
          <a:prstGeom prst="rect">
            <a:avLst/>
          </a:prstGeom>
        </p:spPr>
      </p:pic>
      <p:sp>
        <p:nvSpPr>
          <p:cNvPr id="5" name="Rectangle 4"/>
          <p:cNvSpPr/>
          <p:nvPr/>
        </p:nvSpPr>
        <p:spPr>
          <a:xfrm>
            <a:off x="1004668" y="5143473"/>
            <a:ext cx="4851008" cy="369332"/>
          </a:xfrm>
          <a:prstGeom prst="rect">
            <a:avLst/>
          </a:prstGeom>
        </p:spPr>
        <p:txBody>
          <a:bodyPr wrap="none">
            <a:spAutoFit/>
          </a:bodyPr>
          <a:lstStyle/>
          <a:p>
            <a:r>
              <a:rPr lang="en-US" dirty="0"/>
              <a:t>where </a:t>
            </a:r>
            <a:r>
              <a:rPr lang="en-US" dirty="0" err="1"/>
              <a:t>B</a:t>
            </a:r>
            <a:r>
              <a:rPr lang="en-US" baseline="-25000" dirty="0" err="1"/>
              <a:t>s</a:t>
            </a:r>
            <a:r>
              <a:rPr lang="en-US" dirty="0"/>
              <a:t>(x) is the </a:t>
            </a:r>
            <a:r>
              <a:rPr lang="en-US" dirty="0" err="1"/>
              <a:t>radiosity</a:t>
            </a:r>
            <a:r>
              <a:rPr lang="en-US" dirty="0"/>
              <a:t> due to source s</a:t>
            </a:r>
            <a:endParaRPr lang="en-IN" dirty="0"/>
          </a:p>
        </p:txBody>
      </p:sp>
      <p:sp>
        <p:nvSpPr>
          <p:cNvPr id="9" name="Rectangle 8"/>
          <p:cNvSpPr/>
          <p:nvPr/>
        </p:nvSpPr>
        <p:spPr>
          <a:xfrm>
            <a:off x="769034" y="1938327"/>
            <a:ext cx="10464018" cy="923330"/>
          </a:xfrm>
          <a:prstGeom prst="rect">
            <a:avLst/>
          </a:prstGeom>
        </p:spPr>
        <p:txBody>
          <a:bodyPr wrap="square">
            <a:spAutoFit/>
          </a:bodyPr>
          <a:lstStyle/>
          <a:p>
            <a:r>
              <a:rPr lang="en-US" dirty="0" smtClean="0"/>
              <a:t>Consider that all the points in a given region can see the same sources</a:t>
            </a:r>
          </a:p>
          <a:p>
            <a:endParaRPr lang="en-US" dirty="0"/>
          </a:p>
          <a:p>
            <a:r>
              <a:rPr lang="en-US" dirty="0" smtClean="0"/>
              <a:t>Then we </a:t>
            </a:r>
            <a:r>
              <a:rPr lang="en-US" dirty="0"/>
              <a:t>could add all the source vectors to obtain a single virtual </a:t>
            </a:r>
            <a:r>
              <a:rPr lang="en-US" dirty="0" smtClean="0"/>
              <a:t>Source.</a:t>
            </a:r>
            <a:endParaRPr lang="en-US" dirty="0"/>
          </a:p>
        </p:txBody>
      </p:sp>
    </p:spTree>
    <p:extLst>
      <p:ext uri="{BB962C8B-B14F-4D97-AF65-F5344CB8AC3E}">
        <p14:creationId xmlns:p14="http://schemas.microsoft.com/office/powerpoint/2010/main" val="1250418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l="27663" t="29148" r="30315" b="64800"/>
          <a:stretch/>
        </p:blipFill>
        <p:spPr>
          <a:xfrm>
            <a:off x="646111" y="2975317"/>
            <a:ext cx="11218985" cy="1561513"/>
          </a:xfrm>
          <a:prstGeom prst="rect">
            <a:avLst/>
          </a:prstGeom>
        </p:spPr>
      </p:pic>
      <p:sp>
        <p:nvSpPr>
          <p:cNvPr id="5" name="TextBox 4"/>
          <p:cNvSpPr txBox="1"/>
          <p:nvPr/>
        </p:nvSpPr>
        <p:spPr>
          <a:xfrm>
            <a:off x="724485" y="2074985"/>
            <a:ext cx="10093569" cy="369332"/>
          </a:xfrm>
          <a:prstGeom prst="rect">
            <a:avLst/>
          </a:prstGeom>
          <a:noFill/>
        </p:spPr>
        <p:txBody>
          <a:bodyPr wrap="square" rtlCol="0">
            <a:spAutoFit/>
          </a:bodyPr>
          <a:lstStyle/>
          <a:p>
            <a:r>
              <a:rPr lang="en-US" dirty="0" smtClean="0"/>
              <a:t>If all the sources are point sources at infinity, then the expression becomes</a:t>
            </a:r>
            <a:endParaRPr lang="en-IN" dirty="0"/>
          </a:p>
        </p:txBody>
      </p:sp>
    </p:spTree>
    <p:extLst>
      <p:ext uri="{BB962C8B-B14F-4D97-AF65-F5344CB8AC3E}">
        <p14:creationId xmlns:p14="http://schemas.microsoft.com/office/powerpoint/2010/main" val="427779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If Point sources that are not at infinity the model become </a:t>
            </a:r>
          </a:p>
          <a:p>
            <a:endParaRPr lang="en-US" dirty="0"/>
          </a:p>
          <a:p>
            <a:endParaRPr lang="en-US" dirty="0" smtClean="0"/>
          </a:p>
          <a:p>
            <a:endParaRPr lang="en-US" dirty="0"/>
          </a:p>
          <a:p>
            <a:r>
              <a:rPr lang="en-US" dirty="0"/>
              <a:t>where </a:t>
            </a:r>
            <a:r>
              <a:rPr lang="en-US" dirty="0" err="1"/>
              <a:t>r</a:t>
            </a:r>
            <a:r>
              <a:rPr lang="en-US" baseline="-25000" dirty="0" err="1"/>
              <a:t>s</a:t>
            </a:r>
            <a:r>
              <a:rPr lang="en-US" dirty="0"/>
              <a:t>(x) is the distance from the source to x; </a:t>
            </a:r>
            <a:endParaRPr lang="en-US" dirty="0" smtClean="0"/>
          </a:p>
          <a:p>
            <a:r>
              <a:rPr lang="en-US" dirty="0" smtClean="0"/>
              <a:t>the </a:t>
            </a:r>
            <a:r>
              <a:rPr lang="en-US" dirty="0"/>
              <a:t>presence of this term means that the relationship between shape and shading is somewhat more obscure.</a:t>
            </a:r>
            <a:endParaRPr lang="en-IN" dirty="0"/>
          </a:p>
        </p:txBody>
      </p:sp>
      <p:pic>
        <p:nvPicPr>
          <p:cNvPr id="4" name="Picture 3"/>
          <p:cNvPicPr>
            <a:picLocks noChangeAspect="1"/>
          </p:cNvPicPr>
          <p:nvPr/>
        </p:nvPicPr>
        <p:blipFill rotWithShape="1">
          <a:blip r:embed="rId2"/>
          <a:srcRect l="29587" t="54294" r="31412" b="40575"/>
          <a:stretch/>
        </p:blipFill>
        <p:spPr>
          <a:xfrm>
            <a:off x="1441939" y="2617279"/>
            <a:ext cx="8425035" cy="1139483"/>
          </a:xfrm>
          <a:prstGeom prst="rect">
            <a:avLst/>
          </a:prstGeom>
        </p:spPr>
      </p:pic>
    </p:spTree>
    <p:extLst>
      <p:ext uri="{BB962C8B-B14F-4D97-AF65-F5344CB8AC3E}">
        <p14:creationId xmlns:p14="http://schemas.microsoft.com/office/powerpoint/2010/main" val="237877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Appearance of Shadows</a:t>
            </a:r>
          </a:p>
        </p:txBody>
      </p:sp>
      <p:sp>
        <p:nvSpPr>
          <p:cNvPr id="3" name="Content Placeholder 2"/>
          <p:cNvSpPr>
            <a:spLocks noGrp="1"/>
          </p:cNvSpPr>
          <p:nvPr>
            <p:ph idx="1"/>
          </p:nvPr>
        </p:nvSpPr>
        <p:spPr/>
        <p:txBody>
          <a:bodyPr>
            <a:normAutofit/>
          </a:bodyPr>
          <a:lstStyle/>
          <a:p>
            <a:r>
              <a:rPr lang="en-US" dirty="0"/>
              <a:t>In a local shading model, shadows occur when the patch can not see one or more sources. </a:t>
            </a:r>
            <a:endParaRPr lang="en-US" dirty="0" smtClean="0"/>
          </a:p>
          <a:p>
            <a:r>
              <a:rPr lang="en-US" dirty="0" smtClean="0"/>
              <a:t>In </a:t>
            </a:r>
            <a:r>
              <a:rPr lang="en-US" dirty="0"/>
              <a:t>this model, point sources produce a series of shadows with crisp boundaries; </a:t>
            </a:r>
            <a:endParaRPr lang="en-US" dirty="0" smtClean="0"/>
          </a:p>
          <a:p>
            <a:r>
              <a:rPr lang="en-US" dirty="0" smtClean="0"/>
              <a:t>shadow </a:t>
            </a:r>
            <a:r>
              <a:rPr lang="en-US" dirty="0"/>
              <a:t>regions where no source can be seen are particularly dark. </a:t>
            </a:r>
            <a:endParaRPr lang="en-US" dirty="0" smtClean="0"/>
          </a:p>
          <a:p>
            <a:r>
              <a:rPr lang="en-US" dirty="0" smtClean="0"/>
              <a:t>Shadows </a:t>
            </a:r>
            <a:r>
              <a:rPr lang="en-US" dirty="0"/>
              <a:t>cast with a single source can be very crisp and very black, </a:t>
            </a:r>
            <a:endParaRPr lang="en-US" dirty="0" smtClean="0"/>
          </a:p>
          <a:p>
            <a:r>
              <a:rPr lang="en-US" dirty="0" smtClean="0"/>
              <a:t>This depends </a:t>
            </a:r>
            <a:r>
              <a:rPr lang="en-US" dirty="0"/>
              <a:t>on the size of the source and the albedo of other nearby </a:t>
            </a:r>
            <a:r>
              <a:rPr lang="en-US" dirty="0" smtClean="0"/>
              <a:t>surfaces. </a:t>
            </a:r>
          </a:p>
        </p:txBody>
      </p:sp>
    </p:spTree>
    <p:extLst>
      <p:ext uri="{BB962C8B-B14F-4D97-AF65-F5344CB8AC3E}">
        <p14:creationId xmlns:p14="http://schemas.microsoft.com/office/powerpoint/2010/main" val="3309036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l="29228" t="15620" r="28750" b="49007"/>
          <a:stretch/>
        </p:blipFill>
        <p:spPr>
          <a:xfrm>
            <a:off x="646111" y="452718"/>
            <a:ext cx="10410091" cy="6053590"/>
          </a:xfrm>
          <a:prstGeom prst="rect">
            <a:avLst/>
          </a:prstGeom>
        </p:spPr>
      </p:pic>
    </p:spTree>
    <p:extLst>
      <p:ext uri="{BB962C8B-B14F-4D97-AF65-F5344CB8AC3E}">
        <p14:creationId xmlns:p14="http://schemas.microsoft.com/office/powerpoint/2010/main" val="194528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The geometry of the shadow cast by a point source on a plane is analogous to the geometry of viewing in a perspective camera </a:t>
            </a:r>
          </a:p>
          <a:p>
            <a:r>
              <a:rPr lang="en-US" dirty="0" smtClean="0"/>
              <a:t>Any </a:t>
            </a:r>
            <a:r>
              <a:rPr lang="en-US" dirty="0"/>
              <a:t>patch on the plane is in shadow if a ray from the patch to the source passes through an object. </a:t>
            </a:r>
            <a:endParaRPr lang="en-US" dirty="0" smtClean="0"/>
          </a:p>
          <a:p>
            <a:r>
              <a:rPr lang="en-US" dirty="0" smtClean="0"/>
              <a:t>This </a:t>
            </a:r>
            <a:r>
              <a:rPr lang="en-US" dirty="0"/>
              <a:t>means that there are two kinds of shadow boundary. </a:t>
            </a:r>
            <a:endParaRPr lang="en-US" dirty="0" smtClean="0"/>
          </a:p>
          <a:p>
            <a:r>
              <a:rPr lang="en-US" dirty="0" smtClean="0"/>
              <a:t>At </a:t>
            </a:r>
            <a:r>
              <a:rPr lang="en-US" dirty="0"/>
              <a:t>self shadow boundaries, the surface is turning away from the light, and a ray from the patch to the source is tangent to the surface. </a:t>
            </a:r>
            <a:endParaRPr lang="en-US" dirty="0" smtClean="0"/>
          </a:p>
          <a:p>
            <a:r>
              <a:rPr lang="en-US" dirty="0" smtClean="0"/>
              <a:t>At </a:t>
            </a:r>
            <a:r>
              <a:rPr lang="en-US" dirty="0"/>
              <a:t>cast shadow boundaries, from the perspective of the </a:t>
            </a:r>
            <a:r>
              <a:rPr lang="en-US" dirty="0" smtClean="0"/>
              <a:t>patch</a:t>
            </a:r>
            <a:r>
              <a:rPr lang="en-US" dirty="0"/>
              <a:t>, the source suddenly disappears behind an occluding object. </a:t>
            </a:r>
            <a:endParaRPr lang="en-US" dirty="0" smtClean="0"/>
          </a:p>
          <a:p>
            <a:r>
              <a:rPr lang="en-US" dirty="0" smtClean="0"/>
              <a:t>However, Shadows </a:t>
            </a:r>
            <a:r>
              <a:rPr lang="en-US" dirty="0"/>
              <a:t>cast onto curved surfaces can have extremely complex </a:t>
            </a:r>
            <a:r>
              <a:rPr lang="en-US" dirty="0" smtClean="0"/>
              <a:t>geometries.</a:t>
            </a:r>
            <a:endParaRPr lang="en-IN" dirty="0"/>
          </a:p>
        </p:txBody>
      </p:sp>
    </p:spTree>
    <p:extLst>
      <p:ext uri="{BB962C8B-B14F-4D97-AF65-F5344CB8AC3E}">
        <p14:creationId xmlns:p14="http://schemas.microsoft.com/office/powerpoint/2010/main" val="3814476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If there are many sources, the shadows will be less dark (except at points where no source is visible) and there can be very many qualitatively distinct shadow regions (each source casts its own shadow — some points may not see more than one source). </a:t>
            </a:r>
            <a:endParaRPr lang="en-US" dirty="0" smtClean="0"/>
          </a:p>
          <a:p>
            <a:r>
              <a:rPr lang="en-US" dirty="0" smtClean="0"/>
              <a:t>One </a:t>
            </a:r>
            <a:r>
              <a:rPr lang="en-US" dirty="0"/>
              <a:t>example of this effect occurs in televised soccer matches — because the stadium has multiple bright distant point-like illuminants spaced evenly around the perimeter of the stadium, there is a set of shadows radiating evenly around each player’s feet. </a:t>
            </a:r>
            <a:endParaRPr lang="en-US" dirty="0" smtClean="0"/>
          </a:p>
          <a:p>
            <a:r>
              <a:rPr lang="en-US" dirty="0" smtClean="0"/>
              <a:t>These </a:t>
            </a:r>
            <a:r>
              <a:rPr lang="en-US" dirty="0"/>
              <a:t>shadows typically become brighter or darker as the player moves around, usually because the illumination due to other sources and to </a:t>
            </a:r>
            <a:r>
              <a:rPr lang="en-US" dirty="0" err="1"/>
              <a:t>interreflections</a:t>
            </a:r>
            <a:r>
              <a:rPr lang="en-US" dirty="0"/>
              <a:t> in the region of the shadow increases or decreases.</a:t>
            </a:r>
            <a:endParaRPr lang="en-IN" dirty="0"/>
          </a:p>
        </p:txBody>
      </p:sp>
    </p:spTree>
    <p:extLst>
      <p:ext uri="{BB962C8B-B14F-4D97-AF65-F5344CB8AC3E}">
        <p14:creationId xmlns:p14="http://schemas.microsoft.com/office/powerpoint/2010/main" val="207831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Area Sources and their Shadows</a:t>
            </a:r>
            <a:endParaRPr lang="en-IN" dirty="0"/>
          </a:p>
        </p:txBody>
      </p:sp>
      <p:pic>
        <p:nvPicPr>
          <p:cNvPr id="4" name="Content Placeholder 3"/>
          <p:cNvPicPr>
            <a:picLocks noGrp="1" noChangeAspect="1"/>
          </p:cNvPicPr>
          <p:nvPr>
            <p:ph idx="1"/>
          </p:nvPr>
        </p:nvPicPr>
        <p:blipFill rotWithShape="1">
          <a:blip r:embed="rId2"/>
          <a:srcRect l="27774" t="18817" r="26739" b="70641"/>
          <a:stretch/>
        </p:blipFill>
        <p:spPr>
          <a:xfrm>
            <a:off x="646110" y="2869810"/>
            <a:ext cx="8596363" cy="1308295"/>
          </a:xfrm>
          <a:prstGeom prst="rect">
            <a:avLst/>
          </a:prstGeom>
        </p:spPr>
      </p:pic>
      <p:sp>
        <p:nvSpPr>
          <p:cNvPr id="6" name="Rectangle 5"/>
          <p:cNvSpPr/>
          <p:nvPr/>
        </p:nvSpPr>
        <p:spPr>
          <a:xfrm>
            <a:off x="525193" y="2076214"/>
            <a:ext cx="9575409" cy="923330"/>
          </a:xfrm>
          <a:prstGeom prst="rect">
            <a:avLst/>
          </a:prstGeom>
        </p:spPr>
        <p:txBody>
          <a:bodyPr wrap="square">
            <a:spAutoFit/>
          </a:bodyPr>
          <a:lstStyle/>
          <a:p>
            <a:r>
              <a:rPr lang="en-US" dirty="0"/>
              <a:t>The local shading model for a set of area sources is significantly more complex, because it is possible for patches to see only a portion of a given source.</a:t>
            </a:r>
            <a:r>
              <a:rPr lang="en-IN" dirty="0"/>
              <a:t/>
            </a:r>
            <a:br>
              <a:rPr lang="en-IN" dirty="0"/>
            </a:br>
            <a:endParaRPr lang="en-IN" dirty="0"/>
          </a:p>
        </p:txBody>
      </p:sp>
      <p:sp>
        <p:nvSpPr>
          <p:cNvPr id="7" name="TextBox 6"/>
          <p:cNvSpPr txBox="1"/>
          <p:nvPr/>
        </p:nvSpPr>
        <p:spPr>
          <a:xfrm>
            <a:off x="576776" y="4438356"/>
            <a:ext cx="4909625" cy="369332"/>
          </a:xfrm>
          <a:prstGeom prst="rect">
            <a:avLst/>
          </a:prstGeom>
          <a:noFill/>
        </p:spPr>
        <p:txBody>
          <a:bodyPr wrap="square" rtlCol="0">
            <a:spAutoFit/>
          </a:bodyPr>
          <a:lstStyle/>
          <a:p>
            <a:r>
              <a:rPr lang="en-US" dirty="0" smtClean="0"/>
              <a:t>Assume that E is constant over the source</a:t>
            </a:r>
            <a:endParaRPr lang="en-IN" dirty="0"/>
          </a:p>
        </p:txBody>
      </p:sp>
    </p:spTree>
    <p:extLst>
      <p:ext uri="{BB962C8B-B14F-4D97-AF65-F5344CB8AC3E}">
        <p14:creationId xmlns:p14="http://schemas.microsoft.com/office/powerpoint/2010/main" val="3154206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a:t>Area sources do not produce dark shadows with crisp boundaries. </a:t>
            </a:r>
            <a:endParaRPr lang="en-US" dirty="0" smtClean="0"/>
          </a:p>
          <a:p>
            <a:r>
              <a:rPr lang="en-US" dirty="0" smtClean="0"/>
              <a:t>This </a:t>
            </a:r>
            <a:r>
              <a:rPr lang="en-US" dirty="0"/>
              <a:t>is because, from the perspective of a viewing patch, the source appears slowly from behind the occluding object (think of an eclipse of the moon — it is an exact analogy). </a:t>
            </a:r>
            <a:endParaRPr lang="en-US" dirty="0" smtClean="0"/>
          </a:p>
          <a:p>
            <a:r>
              <a:rPr lang="en-US" dirty="0" smtClean="0"/>
              <a:t>It </a:t>
            </a:r>
            <a:r>
              <a:rPr lang="en-US" dirty="0"/>
              <a:t>is common to distinguish between points in the umbra (a Latin word, meaning “shadow”) — which cannot see the source at all — and points in the penumbra (a compound of Latin words, meaning “almost shadow”) — which see part of the source. </a:t>
            </a:r>
            <a:endParaRPr lang="en-US" dirty="0" smtClean="0"/>
          </a:p>
          <a:p>
            <a:r>
              <a:rPr lang="en-US" dirty="0" smtClean="0"/>
              <a:t>The </a:t>
            </a:r>
            <a:r>
              <a:rPr lang="en-US" dirty="0"/>
              <a:t>vast majority of indoor sources are area sources of one form or another, so the effects are quite easy to see; </a:t>
            </a:r>
            <a:endParaRPr lang="en-US" dirty="0" smtClean="0"/>
          </a:p>
          <a:p>
            <a:r>
              <a:rPr lang="en-US" dirty="0" smtClean="0"/>
              <a:t>hold </a:t>
            </a:r>
            <a:r>
              <a:rPr lang="en-US" dirty="0"/>
              <a:t>an arm quite close to the wall (for reasons we will discuss below) and look at the shadow it casts — there is a dark core, which gets larger as the arm gets closer to the wall; this is the umbra — surrounded by a lighter region with a fuzzier boundary (the penumbra)</a:t>
            </a:r>
            <a:endParaRPr lang="en-IN" dirty="0"/>
          </a:p>
        </p:txBody>
      </p:sp>
    </p:spTree>
    <p:extLst>
      <p:ext uri="{BB962C8B-B14F-4D97-AF65-F5344CB8AC3E}">
        <p14:creationId xmlns:p14="http://schemas.microsoft.com/office/powerpoint/2010/main" val="332073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l="29339" t="39593" r="29980" b="14976"/>
          <a:stretch/>
        </p:blipFill>
        <p:spPr>
          <a:xfrm>
            <a:off x="646111" y="452718"/>
            <a:ext cx="9588135" cy="6145030"/>
          </a:xfrm>
          <a:prstGeom prst="rect">
            <a:avLst/>
          </a:prstGeom>
        </p:spPr>
      </p:pic>
    </p:spTree>
    <p:extLst>
      <p:ext uri="{BB962C8B-B14F-4D97-AF65-F5344CB8AC3E}">
        <p14:creationId xmlns:p14="http://schemas.microsoft.com/office/powerpoint/2010/main" val="2448094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Ambient Illumination</a:t>
            </a:r>
          </a:p>
        </p:txBody>
      </p:sp>
      <p:sp>
        <p:nvSpPr>
          <p:cNvPr id="3" name="Content Placeholder 2"/>
          <p:cNvSpPr>
            <a:spLocks noGrp="1"/>
          </p:cNvSpPr>
          <p:nvPr>
            <p:ph idx="1"/>
          </p:nvPr>
        </p:nvSpPr>
        <p:spPr/>
        <p:txBody>
          <a:bodyPr>
            <a:normAutofit lnSpcReduction="10000"/>
          </a:bodyPr>
          <a:lstStyle/>
          <a:p>
            <a:r>
              <a:rPr lang="en-US" dirty="0"/>
              <a:t>One problem with local shading models </a:t>
            </a:r>
            <a:r>
              <a:rPr lang="en-US" dirty="0" smtClean="0"/>
              <a:t>is that they </a:t>
            </a:r>
            <a:r>
              <a:rPr lang="en-US" dirty="0"/>
              <a:t>predict that some shadow regions are arbitrarily dark, because they cannot see the source. </a:t>
            </a:r>
            <a:endParaRPr lang="en-US" dirty="0" smtClean="0"/>
          </a:p>
          <a:p>
            <a:r>
              <a:rPr lang="en-US" dirty="0" smtClean="0"/>
              <a:t>This </a:t>
            </a:r>
            <a:r>
              <a:rPr lang="en-US" dirty="0"/>
              <a:t>prediction is inaccurate in almost every case, because shadows are illuminated by light from other diffuse surfaces. </a:t>
            </a:r>
            <a:endParaRPr lang="en-US" dirty="0" smtClean="0"/>
          </a:p>
          <a:p>
            <a:r>
              <a:rPr lang="en-US" dirty="0" smtClean="0"/>
              <a:t>This </a:t>
            </a:r>
            <a:r>
              <a:rPr lang="en-US" dirty="0"/>
              <a:t>effect can be very significant</a:t>
            </a:r>
            <a:r>
              <a:rPr lang="en-US" dirty="0" smtClean="0"/>
              <a:t>.</a:t>
            </a:r>
          </a:p>
          <a:p>
            <a:r>
              <a:rPr lang="en-US" dirty="0"/>
              <a:t>In rooms with light walls and area sources, it is possible to see shadows only by holding objects close to the wall or close to the source. </a:t>
            </a:r>
            <a:endParaRPr lang="en-US" dirty="0" smtClean="0"/>
          </a:p>
          <a:p>
            <a:r>
              <a:rPr lang="en-US" dirty="0" smtClean="0"/>
              <a:t>This </a:t>
            </a:r>
            <a:r>
              <a:rPr lang="en-US" dirty="0"/>
              <a:t>is because a patch on the wall sees all the other walls in the room; and until an object is close to the wall, it blocks out only a very small fraction of each patches visual hemisphere</a:t>
            </a:r>
            <a:endParaRPr lang="en-IN" dirty="0"/>
          </a:p>
          <a:p>
            <a:endParaRPr lang="en-IN" dirty="0"/>
          </a:p>
        </p:txBody>
      </p:sp>
    </p:spTree>
    <p:extLst>
      <p:ext uri="{BB962C8B-B14F-4D97-AF65-F5344CB8AC3E}">
        <p14:creationId xmlns:p14="http://schemas.microsoft.com/office/powerpoint/2010/main" val="357137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For some environments, the total irradiance a patch obtains from other patches is roughly constant and roughly uniformly distributed across the input hemisphere. </a:t>
            </a:r>
          </a:p>
          <a:p>
            <a:r>
              <a:rPr lang="en-US" dirty="0"/>
              <a:t>This must be true for the interior of a sphere with a constant distribution of </a:t>
            </a:r>
            <a:r>
              <a:rPr lang="en-US" dirty="0" err="1"/>
              <a:t>radiosity</a:t>
            </a:r>
            <a:r>
              <a:rPr lang="en-US" dirty="0"/>
              <a:t> (by symmetry), and (by accepting a model of a cube as a sphere) is roughly true for the interior of a room with white walls. </a:t>
            </a:r>
          </a:p>
          <a:p>
            <a:endParaRPr lang="en-IN" dirty="0"/>
          </a:p>
        </p:txBody>
      </p:sp>
    </p:spTree>
    <p:extLst>
      <p:ext uri="{BB962C8B-B14F-4D97-AF65-F5344CB8AC3E}">
        <p14:creationId xmlns:p14="http://schemas.microsoft.com/office/powerpoint/2010/main" val="4060487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smtClean="0"/>
              <a:t>In </a:t>
            </a:r>
            <a:r>
              <a:rPr lang="en-US" dirty="0"/>
              <a:t>such an environment it is sometimes possible to model the effect of other patches by adding an ambient illumination term to each patch’s </a:t>
            </a:r>
            <a:r>
              <a:rPr lang="en-US" dirty="0" err="1"/>
              <a:t>radiosity</a:t>
            </a:r>
            <a:r>
              <a:rPr lang="en-US" dirty="0"/>
              <a:t>. </a:t>
            </a:r>
            <a:endParaRPr lang="en-US" dirty="0" smtClean="0"/>
          </a:p>
          <a:p>
            <a:r>
              <a:rPr lang="en-US" dirty="0" smtClean="0"/>
              <a:t>There </a:t>
            </a:r>
            <a:r>
              <a:rPr lang="en-US" dirty="0"/>
              <a:t>are two strategies for determining this term. </a:t>
            </a:r>
            <a:endParaRPr lang="en-US" dirty="0" smtClean="0"/>
          </a:p>
          <a:p>
            <a:r>
              <a:rPr lang="en-US" dirty="0" smtClean="0"/>
              <a:t>Firstly</a:t>
            </a:r>
            <a:r>
              <a:rPr lang="en-US" dirty="0"/>
              <a:t>, if each patch sees the same proportion of the world (for example, the interior of a sphere), we can add the same constant term to the </a:t>
            </a:r>
            <a:r>
              <a:rPr lang="en-US" dirty="0" err="1"/>
              <a:t>radiosity</a:t>
            </a:r>
            <a:r>
              <a:rPr lang="en-US" dirty="0"/>
              <a:t> of each patch. </a:t>
            </a:r>
            <a:endParaRPr lang="en-US" dirty="0" smtClean="0"/>
          </a:p>
          <a:p>
            <a:r>
              <a:rPr lang="en-US" dirty="0" smtClean="0"/>
              <a:t>The </a:t>
            </a:r>
            <a:r>
              <a:rPr lang="en-US" dirty="0"/>
              <a:t>magnitude of this term is usually guessed</a:t>
            </a:r>
            <a:r>
              <a:rPr lang="en-US" dirty="0" smtClean="0"/>
              <a:t>.</a:t>
            </a:r>
          </a:p>
          <a:p>
            <a:r>
              <a:rPr lang="en-US" dirty="0"/>
              <a:t>Secondly, if some patches see more or less of the world than others (this happens if regions of the world occlude a patch’s view, for example, a patch at the bottom of a groove), this can be taken into account.</a:t>
            </a:r>
            <a:endParaRPr lang="en-IN" dirty="0"/>
          </a:p>
        </p:txBody>
      </p:sp>
    </p:spTree>
    <p:extLst>
      <p:ext uri="{BB962C8B-B14F-4D97-AF65-F5344CB8AC3E}">
        <p14:creationId xmlns:p14="http://schemas.microsoft.com/office/powerpoint/2010/main" val="1651773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To </a:t>
            </a:r>
            <a:r>
              <a:rPr lang="en-US" dirty="0"/>
              <a:t>do so, we need a model of the world from the perspective of the patch under consideration. </a:t>
            </a:r>
            <a:endParaRPr lang="en-US" dirty="0" smtClean="0"/>
          </a:p>
          <a:p>
            <a:r>
              <a:rPr lang="en-US" dirty="0" smtClean="0"/>
              <a:t>A </a:t>
            </a:r>
            <a:r>
              <a:rPr lang="en-US" dirty="0"/>
              <a:t>natural strategy is to model the world as a large, distant polygon of constant </a:t>
            </a:r>
            <a:r>
              <a:rPr lang="en-US" dirty="0" err="1"/>
              <a:t>radiosity</a:t>
            </a:r>
            <a:r>
              <a:rPr lang="en-US" dirty="0"/>
              <a:t>, where the view of this polygon is occluded at some patches (see Figure 3.8). </a:t>
            </a:r>
            <a:endParaRPr lang="en-US" dirty="0" smtClean="0"/>
          </a:p>
          <a:p>
            <a:r>
              <a:rPr lang="en-US" dirty="0" smtClean="0"/>
              <a:t>The </a:t>
            </a:r>
            <a:r>
              <a:rPr lang="en-US" dirty="0"/>
              <a:t>result is that the ambient term is smaller for patches that see less of the world. </a:t>
            </a:r>
            <a:endParaRPr lang="en-US" dirty="0" smtClean="0"/>
          </a:p>
          <a:p>
            <a:r>
              <a:rPr lang="en-US" dirty="0" smtClean="0"/>
              <a:t>This </a:t>
            </a:r>
            <a:r>
              <a:rPr lang="en-US" dirty="0"/>
              <a:t>model is often more accurate than adding a constant ambient term. </a:t>
            </a:r>
            <a:endParaRPr lang="en-US" dirty="0" smtClean="0"/>
          </a:p>
          <a:p>
            <a:r>
              <a:rPr lang="en-US" dirty="0" smtClean="0"/>
              <a:t>Unfortunately</a:t>
            </a:r>
            <a:r>
              <a:rPr lang="en-US" dirty="0"/>
              <a:t>, it is much more difficult to extract information from this model, possibly as difficult as for a global shading model.</a:t>
            </a:r>
            <a:endParaRPr lang="en-IN" dirty="0"/>
          </a:p>
        </p:txBody>
      </p:sp>
    </p:spTree>
    <p:extLst>
      <p:ext uri="{BB962C8B-B14F-4D97-AF65-F5344CB8AC3E}">
        <p14:creationId xmlns:p14="http://schemas.microsoft.com/office/powerpoint/2010/main" val="270197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rotWithShape="1">
          <a:blip r:embed="rId2"/>
          <a:srcRect l="29563" t="12268" r="32326" b="38781"/>
          <a:stretch/>
        </p:blipFill>
        <p:spPr>
          <a:xfrm>
            <a:off x="1842869" y="452718"/>
            <a:ext cx="8328074" cy="5828507"/>
          </a:xfrm>
          <a:prstGeom prst="rect">
            <a:avLst/>
          </a:prstGeom>
        </p:spPr>
      </p:pic>
    </p:spTree>
    <p:extLst>
      <p:ext uri="{BB962C8B-B14F-4D97-AF65-F5344CB8AC3E}">
        <p14:creationId xmlns:p14="http://schemas.microsoft.com/office/powerpoint/2010/main" val="1917090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Photometric Stereo</a:t>
            </a:r>
            <a:endParaRPr lang="en-IN" dirty="0"/>
          </a:p>
        </p:txBody>
      </p:sp>
      <p:sp>
        <p:nvSpPr>
          <p:cNvPr id="3" name="Content Placeholder 2"/>
          <p:cNvSpPr>
            <a:spLocks noGrp="1"/>
          </p:cNvSpPr>
          <p:nvPr>
            <p:ph idx="1"/>
          </p:nvPr>
        </p:nvSpPr>
        <p:spPr/>
        <p:txBody>
          <a:bodyPr/>
          <a:lstStyle/>
          <a:p>
            <a:r>
              <a:rPr lang="en-US" dirty="0" smtClean="0"/>
              <a:t>Input – Several Images of the same object in different illumination conditions and same pose</a:t>
            </a:r>
          </a:p>
          <a:p>
            <a:r>
              <a:rPr lang="en-US" dirty="0" smtClean="0"/>
              <a:t>Output  - 3D shape of the object in the images </a:t>
            </a:r>
          </a:p>
          <a:p>
            <a:r>
              <a:rPr lang="en-US" dirty="0" smtClean="0"/>
              <a:t>We can also determine the albedo of the surface and lighting </a:t>
            </a:r>
          </a:p>
          <a:p>
            <a:r>
              <a:rPr lang="en-US" dirty="0" smtClean="0"/>
              <a:t>Consider Camera (</a:t>
            </a:r>
            <a:r>
              <a:rPr lang="en-US" dirty="0" err="1" smtClean="0"/>
              <a:t>x,y,z</a:t>
            </a:r>
            <a:r>
              <a:rPr lang="en-US" dirty="0" smtClean="0"/>
              <a:t>) projected in to (</a:t>
            </a:r>
            <a:r>
              <a:rPr lang="en-US" dirty="0" err="1" smtClean="0"/>
              <a:t>x,y</a:t>
            </a:r>
            <a:r>
              <a:rPr lang="en-US" dirty="0" smtClean="0"/>
              <a:t>) coordinate.</a:t>
            </a:r>
          </a:p>
          <a:p>
            <a:r>
              <a:rPr lang="en-US" dirty="0" smtClean="0"/>
              <a:t>In this case the depth information is lost</a:t>
            </a:r>
          </a:p>
          <a:p>
            <a:endParaRPr lang="en-US" dirty="0" smtClean="0"/>
          </a:p>
          <a:p>
            <a:endParaRPr lang="en-IN" dirty="0"/>
          </a:p>
        </p:txBody>
      </p:sp>
    </p:spTree>
    <p:extLst>
      <p:ext uri="{BB962C8B-B14F-4D97-AF65-F5344CB8AC3E}">
        <p14:creationId xmlns:p14="http://schemas.microsoft.com/office/powerpoint/2010/main" val="1869265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7543" b="7925"/>
          <a:stretch/>
        </p:blipFill>
        <p:spPr>
          <a:xfrm>
            <a:off x="0" y="0"/>
            <a:ext cx="12192000" cy="6858000"/>
          </a:xfrm>
          <a:prstGeom prst="rect">
            <a:avLst/>
          </a:prstGeom>
        </p:spPr>
      </p:pic>
    </p:spTree>
    <p:extLst>
      <p:ext uri="{BB962C8B-B14F-4D97-AF65-F5344CB8AC3E}">
        <p14:creationId xmlns:p14="http://schemas.microsoft.com/office/powerpoint/2010/main" val="1662146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smtClean="0"/>
              <a:t>Representation of a surface is called as </a:t>
            </a:r>
            <a:r>
              <a:rPr lang="en-US" dirty="0" err="1" smtClean="0"/>
              <a:t>Monge</a:t>
            </a:r>
            <a:r>
              <a:rPr lang="en-US" dirty="0" smtClean="0"/>
              <a:t> patch</a:t>
            </a:r>
          </a:p>
          <a:p>
            <a:r>
              <a:rPr lang="en-US" dirty="0" smtClean="0"/>
              <a:t>The Pixel (</a:t>
            </a:r>
            <a:r>
              <a:rPr lang="en-US" dirty="0" err="1" smtClean="0"/>
              <a:t>x,y</a:t>
            </a:r>
            <a:r>
              <a:rPr lang="en-US" dirty="0" smtClean="0"/>
              <a:t>) is actually f(</a:t>
            </a:r>
            <a:r>
              <a:rPr lang="en-US" dirty="0" err="1" smtClean="0"/>
              <a:t>x,y</a:t>
            </a:r>
            <a:r>
              <a:rPr lang="en-US" dirty="0" smtClean="0"/>
              <a:t>)</a:t>
            </a:r>
          </a:p>
          <a:p>
            <a:r>
              <a:rPr lang="en-US" dirty="0" smtClean="0"/>
              <a:t>Photometric Stereo concept is , for different views </a:t>
            </a:r>
            <a:r>
              <a:rPr lang="en-US" dirty="0" err="1" smtClean="0"/>
              <a:t>i.e</a:t>
            </a:r>
            <a:r>
              <a:rPr lang="en-US" dirty="0" smtClean="0"/>
              <a:t>) we are considering number of light sources and we will see f(</a:t>
            </a:r>
            <a:r>
              <a:rPr lang="en-US" dirty="0" err="1" smtClean="0"/>
              <a:t>x,y</a:t>
            </a:r>
            <a:r>
              <a:rPr lang="en-US" dirty="0" smtClean="0"/>
              <a:t>) and find the depth map</a:t>
            </a:r>
          </a:p>
          <a:p>
            <a:r>
              <a:rPr lang="en-US" dirty="0" smtClean="0"/>
              <a:t>The point (</a:t>
            </a:r>
            <a:r>
              <a:rPr lang="en-US" dirty="0" err="1" smtClean="0"/>
              <a:t>x,y</a:t>
            </a:r>
            <a:r>
              <a:rPr lang="en-US" dirty="0" smtClean="0"/>
              <a:t>) is illuminated by different light sources, from this I want to get the value of f(</a:t>
            </a:r>
            <a:r>
              <a:rPr lang="en-US" dirty="0" err="1" smtClean="0"/>
              <a:t>x,y</a:t>
            </a:r>
            <a:r>
              <a:rPr lang="en-US" dirty="0" smtClean="0"/>
              <a:t>) and from this I will get depth map</a:t>
            </a:r>
          </a:p>
          <a:p>
            <a:endParaRPr lang="en-IN" dirty="0"/>
          </a:p>
        </p:txBody>
      </p:sp>
      <p:pic>
        <p:nvPicPr>
          <p:cNvPr id="4" name="Picture 3"/>
          <p:cNvPicPr>
            <a:picLocks noChangeAspect="1"/>
          </p:cNvPicPr>
          <p:nvPr/>
        </p:nvPicPr>
        <p:blipFill rotWithShape="1">
          <a:blip r:embed="rId2"/>
          <a:srcRect l="67262" t="12971" r="8095" b="58136"/>
          <a:stretch/>
        </p:blipFill>
        <p:spPr>
          <a:xfrm>
            <a:off x="9664504" y="1125415"/>
            <a:ext cx="2527496" cy="2602523"/>
          </a:xfrm>
          <a:prstGeom prst="rect">
            <a:avLst/>
          </a:prstGeom>
        </p:spPr>
      </p:pic>
    </p:spTree>
    <p:extLst>
      <p:ext uri="{BB962C8B-B14F-4D97-AF65-F5344CB8AC3E}">
        <p14:creationId xmlns:p14="http://schemas.microsoft.com/office/powerpoint/2010/main" val="91231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Photometric stereo setup</a:t>
            </a:r>
            <a:endParaRPr lang="en-IN" dirty="0"/>
          </a:p>
        </p:txBody>
      </p:sp>
      <p:pic>
        <p:nvPicPr>
          <p:cNvPr id="13" name="Content Placeholder 12"/>
          <p:cNvPicPr>
            <a:picLocks noGrp="1" noChangeAspect="1"/>
          </p:cNvPicPr>
          <p:nvPr>
            <p:ph idx="1"/>
          </p:nvPr>
        </p:nvPicPr>
        <p:blipFill rotWithShape="1">
          <a:blip r:embed="rId2"/>
          <a:srcRect t="7543" b="11557"/>
          <a:stretch/>
        </p:blipFill>
        <p:spPr>
          <a:xfrm>
            <a:off x="0" y="1191491"/>
            <a:ext cx="12053455" cy="5666509"/>
          </a:xfrm>
          <a:prstGeom prst="rect">
            <a:avLst/>
          </a:prstGeom>
        </p:spPr>
      </p:pic>
    </p:spTree>
    <p:extLst>
      <p:ext uri="{BB962C8B-B14F-4D97-AF65-F5344CB8AC3E}">
        <p14:creationId xmlns:p14="http://schemas.microsoft.com/office/powerpoint/2010/main" val="1276071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smtClean="0"/>
              <a:t>Consider the surface</a:t>
            </a:r>
          </a:p>
          <a:p>
            <a:r>
              <a:rPr lang="en-US" dirty="0" smtClean="0"/>
              <a:t>Light is coming from the source corresponding to the point (</a:t>
            </a:r>
            <a:r>
              <a:rPr lang="en-US" dirty="0" err="1" smtClean="0"/>
              <a:t>x,y</a:t>
            </a:r>
            <a:r>
              <a:rPr lang="en-US" dirty="0" smtClean="0"/>
              <a:t>)</a:t>
            </a:r>
          </a:p>
          <a:p>
            <a:r>
              <a:rPr lang="en-US" dirty="0" smtClean="0"/>
              <a:t>Consider light sources s1,s2,s3…</a:t>
            </a:r>
          </a:p>
          <a:p>
            <a:r>
              <a:rPr lang="en-US" dirty="0" smtClean="0"/>
              <a:t>So we are getting number of images</a:t>
            </a:r>
          </a:p>
          <a:p>
            <a:r>
              <a:rPr lang="en-US" dirty="0" smtClean="0"/>
              <a:t>Image we got in the image plane is I(</a:t>
            </a:r>
            <a:r>
              <a:rPr lang="en-US" dirty="0" err="1" smtClean="0"/>
              <a:t>x,y</a:t>
            </a:r>
            <a:r>
              <a:rPr lang="en-US" dirty="0" smtClean="0"/>
              <a:t>)</a:t>
            </a:r>
          </a:p>
          <a:p>
            <a:r>
              <a:rPr lang="en-US" dirty="0" smtClean="0"/>
              <a:t>Only at a particular time only one light source is considered. For this I am using </a:t>
            </a:r>
            <a:r>
              <a:rPr lang="en-US" dirty="0" err="1" smtClean="0"/>
              <a:t>occluder</a:t>
            </a:r>
            <a:endParaRPr lang="en-US" dirty="0" smtClean="0"/>
          </a:p>
          <a:p>
            <a:r>
              <a:rPr lang="en-US" dirty="0" smtClean="0"/>
              <a:t>Corresponding to the light source S1, I am getting an image .</a:t>
            </a:r>
          </a:p>
          <a:p>
            <a:r>
              <a:rPr lang="en-US" dirty="0" smtClean="0"/>
              <a:t>Let it be I1(</a:t>
            </a:r>
            <a:r>
              <a:rPr lang="en-US" dirty="0" err="1" smtClean="0"/>
              <a:t>x,y</a:t>
            </a:r>
            <a:r>
              <a:rPr lang="en-US" dirty="0" smtClean="0"/>
              <a:t>)…similarly we get images by considering different light sources</a:t>
            </a:r>
          </a:p>
          <a:p>
            <a:r>
              <a:rPr lang="en-US" dirty="0" smtClean="0"/>
              <a:t>Let it be I2(</a:t>
            </a:r>
            <a:r>
              <a:rPr lang="en-US" dirty="0" err="1" smtClean="0"/>
              <a:t>x,y</a:t>
            </a:r>
            <a:r>
              <a:rPr lang="en-US" dirty="0" smtClean="0"/>
              <a:t>), I3(</a:t>
            </a:r>
            <a:r>
              <a:rPr lang="en-US" dirty="0" err="1" smtClean="0"/>
              <a:t>x,y</a:t>
            </a:r>
            <a:r>
              <a:rPr lang="en-US" dirty="0" smtClean="0"/>
              <a:t>)</a:t>
            </a:r>
          </a:p>
          <a:p>
            <a:r>
              <a:rPr lang="en-US" dirty="0" smtClean="0"/>
              <a:t>From this images I will get the depth map </a:t>
            </a:r>
            <a:r>
              <a:rPr lang="en-US" dirty="0" err="1" smtClean="0"/>
              <a:t>i.e</a:t>
            </a:r>
            <a:r>
              <a:rPr lang="en-US" dirty="0"/>
              <a:t> </a:t>
            </a:r>
            <a:r>
              <a:rPr lang="en-US" dirty="0" smtClean="0"/>
              <a:t>f(</a:t>
            </a:r>
            <a:r>
              <a:rPr lang="en-US" dirty="0" err="1" smtClean="0"/>
              <a:t>x,y</a:t>
            </a:r>
            <a:r>
              <a:rPr lang="en-US" dirty="0" smtClean="0"/>
              <a:t>)</a:t>
            </a:r>
          </a:p>
          <a:p>
            <a:endParaRPr lang="en-IN" dirty="0"/>
          </a:p>
        </p:txBody>
      </p:sp>
    </p:spTree>
    <p:extLst>
      <p:ext uri="{BB962C8B-B14F-4D97-AF65-F5344CB8AC3E}">
        <p14:creationId xmlns:p14="http://schemas.microsoft.com/office/powerpoint/2010/main" val="513766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6952" b="11340"/>
          <a:stretch/>
        </p:blipFill>
        <p:spPr>
          <a:xfrm>
            <a:off x="775855" y="2341418"/>
            <a:ext cx="9274979" cy="4516582"/>
          </a:xfrm>
          <a:prstGeom prst="rect">
            <a:avLst/>
          </a:prstGeom>
        </p:spPr>
      </p:pic>
      <p:sp>
        <p:nvSpPr>
          <p:cNvPr id="5" name="TextBox 4"/>
          <p:cNvSpPr txBox="1"/>
          <p:nvPr/>
        </p:nvSpPr>
        <p:spPr>
          <a:xfrm>
            <a:off x="6733309" y="286464"/>
            <a:ext cx="4350327" cy="2308324"/>
          </a:xfrm>
          <a:prstGeom prst="rect">
            <a:avLst/>
          </a:prstGeom>
          <a:noFill/>
        </p:spPr>
        <p:txBody>
          <a:bodyPr wrap="square" rtlCol="0">
            <a:spAutoFit/>
          </a:bodyPr>
          <a:lstStyle/>
          <a:p>
            <a:r>
              <a:rPr lang="en-US" dirty="0" smtClean="0"/>
              <a:t>I(</a:t>
            </a:r>
            <a:r>
              <a:rPr lang="en-US" dirty="0" err="1" smtClean="0"/>
              <a:t>x,y</a:t>
            </a:r>
            <a:r>
              <a:rPr lang="en-US" dirty="0" smtClean="0"/>
              <a:t>) – Pixel of the image (</a:t>
            </a:r>
            <a:r>
              <a:rPr lang="en-US" dirty="0" err="1" smtClean="0"/>
              <a:t>x,y</a:t>
            </a:r>
            <a:r>
              <a:rPr lang="en-US" dirty="0" smtClean="0"/>
              <a:t>)</a:t>
            </a:r>
          </a:p>
          <a:p>
            <a:r>
              <a:rPr lang="en-US" dirty="0" smtClean="0"/>
              <a:t>K- linearity</a:t>
            </a:r>
          </a:p>
          <a:p>
            <a:r>
              <a:rPr lang="en-US" dirty="0" smtClean="0"/>
              <a:t>p(</a:t>
            </a:r>
            <a:r>
              <a:rPr lang="en-US" dirty="0" err="1" smtClean="0"/>
              <a:t>x,y</a:t>
            </a:r>
            <a:r>
              <a:rPr lang="en-US" dirty="0" smtClean="0"/>
              <a:t>) – surface albedo</a:t>
            </a:r>
          </a:p>
          <a:p>
            <a:r>
              <a:rPr lang="en-US" dirty="0" smtClean="0"/>
              <a:t>n(</a:t>
            </a:r>
            <a:r>
              <a:rPr lang="en-US" dirty="0" err="1" smtClean="0"/>
              <a:t>x,y</a:t>
            </a:r>
            <a:r>
              <a:rPr lang="en-US" dirty="0" smtClean="0"/>
              <a:t>)- surface normal</a:t>
            </a:r>
          </a:p>
          <a:p>
            <a:r>
              <a:rPr lang="en-US" dirty="0" smtClean="0"/>
              <a:t>S1-source vector</a:t>
            </a:r>
          </a:p>
          <a:p>
            <a:r>
              <a:rPr lang="en-US" dirty="0" smtClean="0"/>
              <a:t>R(</a:t>
            </a:r>
            <a:r>
              <a:rPr lang="en-US" dirty="0" err="1" smtClean="0"/>
              <a:t>x,y</a:t>
            </a:r>
            <a:r>
              <a:rPr lang="en-US" dirty="0" smtClean="0"/>
              <a:t>) – surface characteristics</a:t>
            </a:r>
          </a:p>
          <a:p>
            <a:r>
              <a:rPr lang="en-US" dirty="0" smtClean="0"/>
              <a:t>C1 – camera characteristics </a:t>
            </a:r>
          </a:p>
          <a:p>
            <a:endParaRPr lang="en-IN" dirty="0"/>
          </a:p>
        </p:txBody>
      </p:sp>
    </p:spTree>
    <p:extLst>
      <p:ext uri="{BB962C8B-B14F-4D97-AF65-F5344CB8AC3E}">
        <p14:creationId xmlns:p14="http://schemas.microsoft.com/office/powerpoint/2010/main" val="889022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10845" b="9245"/>
          <a:stretch/>
        </p:blipFill>
        <p:spPr>
          <a:xfrm>
            <a:off x="646111" y="452718"/>
            <a:ext cx="9404723" cy="6405282"/>
          </a:xfrm>
          <a:prstGeom prst="rect">
            <a:avLst/>
          </a:prstGeom>
        </p:spPr>
      </p:pic>
    </p:spTree>
    <p:extLst>
      <p:ext uri="{BB962C8B-B14F-4D97-AF65-F5344CB8AC3E}">
        <p14:creationId xmlns:p14="http://schemas.microsoft.com/office/powerpoint/2010/main" val="1817941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Consider n number of sources, for each source we get C</a:t>
            </a:r>
          </a:p>
          <a:p>
            <a:r>
              <a:rPr lang="en-US" dirty="0" smtClean="0"/>
              <a:t>Corresponding to the sources I am getting the images I</a:t>
            </a:r>
          </a:p>
          <a:p>
            <a:r>
              <a:rPr lang="en-US" dirty="0" smtClean="0"/>
              <a:t>Only one source at a particular time</a:t>
            </a:r>
          </a:p>
          <a:p>
            <a:r>
              <a:rPr lang="en-US" dirty="0" smtClean="0"/>
              <a:t>R(</a:t>
            </a:r>
            <a:r>
              <a:rPr lang="en-US" dirty="0" err="1" smtClean="0"/>
              <a:t>x,y</a:t>
            </a:r>
            <a:r>
              <a:rPr lang="en-US" dirty="0" smtClean="0"/>
              <a:t>) – surface characteristics is unknown</a:t>
            </a:r>
          </a:p>
          <a:p>
            <a:r>
              <a:rPr lang="en-US" dirty="0" smtClean="0"/>
              <a:t>We have to determine the </a:t>
            </a:r>
            <a:r>
              <a:rPr lang="en-US" dirty="0" err="1" smtClean="0"/>
              <a:t>Suface</a:t>
            </a:r>
            <a:r>
              <a:rPr lang="en-US" dirty="0" smtClean="0"/>
              <a:t> albedo * surface normal  which will give r(</a:t>
            </a:r>
            <a:r>
              <a:rPr lang="en-US" dirty="0" err="1" smtClean="0"/>
              <a:t>x,y</a:t>
            </a:r>
            <a:r>
              <a:rPr lang="en-US" dirty="0" smtClean="0"/>
              <a:t>)</a:t>
            </a:r>
          </a:p>
          <a:p>
            <a:r>
              <a:rPr lang="en-US" dirty="0" smtClean="0"/>
              <a:t>Main objective is to determine the surface normal</a:t>
            </a:r>
          </a:p>
          <a:p>
            <a:r>
              <a:rPr lang="en-US" dirty="0" smtClean="0"/>
              <a:t>Because surface normal means it gives the orientation of the surface </a:t>
            </a:r>
            <a:r>
              <a:rPr lang="en-US" dirty="0" err="1" smtClean="0"/>
              <a:t>i.e</a:t>
            </a:r>
            <a:r>
              <a:rPr lang="en-US" dirty="0" smtClean="0"/>
              <a:t>) the shape of the surface can be determined</a:t>
            </a:r>
          </a:p>
          <a:p>
            <a:endParaRPr lang="en-US" dirty="0" smtClean="0"/>
          </a:p>
          <a:p>
            <a:endParaRPr lang="en-IN" dirty="0"/>
          </a:p>
        </p:txBody>
      </p:sp>
    </p:spTree>
    <p:extLst>
      <p:ext uri="{BB962C8B-B14F-4D97-AF65-F5344CB8AC3E}">
        <p14:creationId xmlns:p14="http://schemas.microsoft.com/office/powerpoint/2010/main" val="3620104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8203" b="9906"/>
          <a:stretch/>
        </p:blipFill>
        <p:spPr>
          <a:xfrm>
            <a:off x="762000" y="1205345"/>
            <a:ext cx="9947564" cy="5347855"/>
          </a:xfrm>
          <a:prstGeom prst="rect">
            <a:avLst/>
          </a:prstGeom>
        </p:spPr>
      </p:pic>
    </p:spTree>
    <p:extLst>
      <p:ext uri="{BB962C8B-B14F-4D97-AF65-F5344CB8AC3E}">
        <p14:creationId xmlns:p14="http://schemas.microsoft.com/office/powerpoint/2010/main" val="3277298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8204" b="9906"/>
          <a:stretch/>
        </p:blipFill>
        <p:spPr>
          <a:xfrm>
            <a:off x="285893" y="452718"/>
            <a:ext cx="11559743" cy="6169755"/>
          </a:xfrm>
          <a:prstGeom prst="rect">
            <a:avLst/>
          </a:prstGeom>
        </p:spPr>
      </p:pic>
    </p:spTree>
    <p:extLst>
      <p:ext uri="{BB962C8B-B14F-4D97-AF65-F5344CB8AC3E}">
        <p14:creationId xmlns:p14="http://schemas.microsoft.com/office/powerpoint/2010/main" val="185575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16128" b="13208"/>
          <a:stretch/>
        </p:blipFill>
        <p:spPr>
          <a:xfrm>
            <a:off x="646111" y="286464"/>
            <a:ext cx="10839307" cy="6405281"/>
          </a:xfrm>
          <a:prstGeom prst="rect">
            <a:avLst/>
          </a:prstGeom>
        </p:spPr>
      </p:pic>
    </p:spTree>
    <p:extLst>
      <p:ext uri="{BB962C8B-B14F-4D97-AF65-F5344CB8AC3E}">
        <p14:creationId xmlns:p14="http://schemas.microsoft.com/office/powerpoint/2010/main" val="2954033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9855" b="45238"/>
          <a:stretch/>
        </p:blipFill>
        <p:spPr>
          <a:xfrm>
            <a:off x="817418" y="2008910"/>
            <a:ext cx="9233416" cy="3906982"/>
          </a:xfrm>
          <a:prstGeom prst="rect">
            <a:avLst/>
          </a:prstGeom>
        </p:spPr>
      </p:pic>
    </p:spTree>
    <p:extLst>
      <p:ext uri="{BB962C8B-B14F-4D97-AF65-F5344CB8AC3E}">
        <p14:creationId xmlns:p14="http://schemas.microsoft.com/office/powerpoint/2010/main" val="1823309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We have to consider this partial derivative of p with respect to y is approximately equal to partial derivative of q with respect to x.</a:t>
            </a:r>
          </a:p>
          <a:p>
            <a:r>
              <a:rPr lang="en-US" dirty="0" smtClean="0"/>
              <a:t>This is called the test of </a:t>
            </a:r>
            <a:r>
              <a:rPr lang="en-US" dirty="0" err="1" smtClean="0"/>
              <a:t>integrability</a:t>
            </a:r>
            <a:endParaRPr lang="en-US" dirty="0" smtClean="0"/>
          </a:p>
          <a:p>
            <a:r>
              <a:rPr lang="en-US" dirty="0" smtClean="0"/>
              <a:t>Finally reconstruct the surface</a:t>
            </a:r>
          </a:p>
          <a:p>
            <a:endParaRPr lang="en-US" dirty="0" smtClean="0"/>
          </a:p>
          <a:p>
            <a:endParaRPr lang="en-IN" dirty="0"/>
          </a:p>
        </p:txBody>
      </p:sp>
    </p:spTree>
    <p:extLst>
      <p:ext uri="{BB962C8B-B14F-4D97-AF65-F5344CB8AC3E}">
        <p14:creationId xmlns:p14="http://schemas.microsoft.com/office/powerpoint/2010/main" val="50748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11176" b="8586"/>
          <a:stretch/>
        </p:blipFill>
        <p:spPr>
          <a:xfrm>
            <a:off x="646111" y="452718"/>
            <a:ext cx="9620107" cy="6405281"/>
          </a:xfrm>
          <a:prstGeom prst="rect">
            <a:avLst/>
          </a:prstGeom>
        </p:spPr>
      </p:pic>
    </p:spTree>
    <p:extLst>
      <p:ext uri="{BB962C8B-B14F-4D97-AF65-F5344CB8AC3E}">
        <p14:creationId xmlns:p14="http://schemas.microsoft.com/office/powerpoint/2010/main" val="2382072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t="10845" b="16840"/>
          <a:stretch/>
        </p:blipFill>
        <p:spPr>
          <a:xfrm>
            <a:off x="646111" y="452718"/>
            <a:ext cx="9404723" cy="6045063"/>
          </a:xfrm>
          <a:prstGeom prst="rect">
            <a:avLst/>
          </a:prstGeom>
        </p:spPr>
      </p:pic>
    </p:spTree>
    <p:extLst>
      <p:ext uri="{BB962C8B-B14F-4D97-AF65-F5344CB8AC3E}">
        <p14:creationId xmlns:p14="http://schemas.microsoft.com/office/powerpoint/2010/main" val="19062402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68FA30C5010E488E831E4BE5D93A37" ma:contentTypeVersion="3" ma:contentTypeDescription="Create a new document." ma:contentTypeScope="" ma:versionID="5591e4d89575f61b0c6af3e757ef33b1">
  <xsd:schema xmlns:xsd="http://www.w3.org/2001/XMLSchema" xmlns:xs="http://www.w3.org/2001/XMLSchema" xmlns:p="http://schemas.microsoft.com/office/2006/metadata/properties" xmlns:ns2="e2f553f4-6436-432d-9236-78e6978d63b7" targetNamespace="http://schemas.microsoft.com/office/2006/metadata/properties" ma:root="true" ma:fieldsID="5f6a52558c385b1a7dd2a960f6c4e850" ns2:_="">
    <xsd:import namespace="e2f553f4-6436-432d-9236-78e6978d63b7"/>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553f4-6436-432d-9236-78e6978d63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779030-977F-410A-A809-8D2B083911DC}"/>
</file>

<file path=customXml/itemProps2.xml><?xml version="1.0" encoding="utf-8"?>
<ds:datastoreItem xmlns:ds="http://schemas.openxmlformats.org/officeDocument/2006/customXml" ds:itemID="{A235EC5F-B3F9-4F26-BBD9-04C1985D1D87}"/>
</file>

<file path=customXml/itemProps3.xml><?xml version="1.0" encoding="utf-8"?>
<ds:datastoreItem xmlns:ds="http://schemas.openxmlformats.org/officeDocument/2006/customXml" ds:itemID="{D77C78AC-C2D5-4D82-9922-7335EAC60D74}"/>
</file>

<file path=docProps/app.xml><?xml version="1.0" encoding="utf-8"?>
<Properties xmlns="http://schemas.openxmlformats.org/officeDocument/2006/extended-properties" xmlns:vt="http://schemas.openxmlformats.org/officeDocument/2006/docPropsVTypes">
  <Template>Ion</Template>
  <TotalTime>1287</TotalTime>
  <Words>1483</Words>
  <Application>Microsoft Office PowerPoint</Application>
  <PresentationFormat>Widescreen</PresentationFormat>
  <Paragraphs>95</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Algerian</vt:lpstr>
      <vt:lpstr>Arial</vt:lpstr>
      <vt:lpstr>Century Gothic</vt:lpstr>
      <vt:lpstr>Wingdings 3</vt:lpstr>
      <vt:lpstr>Ion</vt:lpstr>
      <vt:lpstr>  Local Shading Models</vt:lpstr>
      <vt:lpstr>Local Shading Models for Point Sources</vt:lpstr>
      <vt:lpstr>PowerPoint Presentation</vt:lpstr>
      <vt:lpstr>PowerPoint Presentation</vt:lpstr>
      <vt:lpstr>Appearance of Shadows</vt:lpstr>
      <vt:lpstr>PowerPoint Presentation</vt:lpstr>
      <vt:lpstr>PowerPoint Presentation</vt:lpstr>
      <vt:lpstr>PowerPoint Presentation</vt:lpstr>
      <vt:lpstr>Area Sources and their Shadows</vt:lpstr>
      <vt:lpstr>PowerPoint Presentation</vt:lpstr>
      <vt:lpstr>PowerPoint Presentation</vt:lpstr>
      <vt:lpstr>Ambient Illumination</vt:lpstr>
      <vt:lpstr>PowerPoint Presentation</vt:lpstr>
      <vt:lpstr>PowerPoint Presentation</vt:lpstr>
      <vt:lpstr>PowerPoint Presentation</vt:lpstr>
      <vt:lpstr>PowerPoint Presentation</vt:lpstr>
      <vt:lpstr>Photometric Stereo</vt:lpstr>
      <vt:lpstr>PowerPoint Presentation</vt:lpstr>
      <vt:lpstr>PowerPoint Presentation</vt:lpstr>
      <vt:lpstr>Photometric stereo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CSG2005  Computer Vision &amp; Robotics</dc:title>
  <dc:creator>Microsoft account</dc:creator>
  <cp:lastModifiedBy>Microsoft account</cp:lastModifiedBy>
  <cp:revision>60</cp:revision>
  <dcterms:created xsi:type="dcterms:W3CDTF">2021-02-04T09:38:22Z</dcterms:created>
  <dcterms:modified xsi:type="dcterms:W3CDTF">2021-02-18T05:18:55Z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0x0101004268FA30C5010E488E831E4BE5D93A37</vt:lpwstr>
  </property>
</Properties>
</file>