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1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7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32" d="100"/>
          <a:sy n="32" d="100"/>
        </p:scale>
        <p:origin x="16" y="6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43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529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619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769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850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046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557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094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197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86624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6277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215634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60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77769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53305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9232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525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869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25294" y="453813"/>
            <a:ext cx="8825658" cy="267764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IN" sz="6600" dirty="0"/>
              <a:t>SOURCES, SHADOWS AND SHADING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63053" y="4003655"/>
            <a:ext cx="8825658" cy="861420"/>
          </a:xfrm>
        </p:spPr>
        <p:txBody>
          <a:bodyPr>
            <a:noAutofit/>
          </a:bodyPr>
          <a:lstStyle/>
          <a:p>
            <a:pPr algn="l"/>
            <a:r>
              <a:rPr lang="en-US" sz="2800" dirty="0" smtClean="0">
                <a:latin typeface="Algerian" panose="04020705040A02060702" pitchFamily="82" charset="0"/>
              </a:rPr>
              <a:t>Dr Mayuri A v r</a:t>
            </a:r>
          </a:p>
          <a:p>
            <a:pPr algn="l"/>
            <a:r>
              <a:rPr lang="en-US" sz="2800" dirty="0" smtClean="0">
                <a:latin typeface="Algerian" panose="04020705040A02060702" pitchFamily="82" charset="0"/>
              </a:rPr>
              <a:t>Senior assistant professor</a:t>
            </a:r>
          </a:p>
          <a:p>
            <a:pPr algn="l"/>
            <a:r>
              <a:rPr lang="en-US" sz="2800" dirty="0" err="1" smtClean="0">
                <a:latin typeface="Algerian" panose="04020705040A02060702" pitchFamily="82" charset="0"/>
              </a:rPr>
              <a:t>ViT</a:t>
            </a:r>
            <a:r>
              <a:rPr lang="en-US" sz="2800" dirty="0" smtClean="0">
                <a:latin typeface="Algerian" panose="04020705040A02060702" pitchFamily="82" charset="0"/>
              </a:rPr>
              <a:t> </a:t>
            </a:r>
            <a:r>
              <a:rPr lang="en-US" sz="2800" dirty="0" err="1" smtClean="0">
                <a:latin typeface="Algerian" panose="04020705040A02060702" pitchFamily="82" charset="0"/>
              </a:rPr>
              <a:t>bhopal</a:t>
            </a:r>
            <a:endParaRPr lang="en-IN" sz="28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5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Light Source emits light.</a:t>
            </a:r>
          </a:p>
          <a:p>
            <a:r>
              <a:rPr lang="en-US" dirty="0" smtClean="0"/>
              <a:t>A source can be described in terms of radiance.</a:t>
            </a:r>
          </a:p>
          <a:p>
            <a:r>
              <a:rPr lang="en-US" dirty="0" smtClean="0"/>
              <a:t>Emitted </a:t>
            </a:r>
            <a:r>
              <a:rPr lang="en-US" dirty="0" smtClean="0"/>
              <a:t>radiance is different from reflected radiance</a:t>
            </a:r>
          </a:p>
          <a:p>
            <a:r>
              <a:rPr lang="en-US" dirty="0" smtClean="0"/>
              <a:t>In addition to this, we </a:t>
            </a:r>
            <a:r>
              <a:rPr lang="en-US" dirty="0"/>
              <a:t>need </a:t>
            </a:r>
            <a:r>
              <a:rPr lang="en-US" dirty="0" smtClean="0"/>
              <a:t>to know about the description </a:t>
            </a:r>
            <a:r>
              <a:rPr lang="en-US" dirty="0"/>
              <a:t>of the geometry of the </a:t>
            </a:r>
            <a:r>
              <a:rPr lang="en-US" dirty="0" smtClean="0"/>
              <a:t>source </a:t>
            </a:r>
            <a:r>
              <a:rPr lang="en-US" dirty="0" smtClean="0"/>
              <a:t>and shadows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14930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Exitance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internally generated energy radiated per unit time and per unit area on the radiating </a:t>
            </a:r>
            <a:r>
              <a:rPr lang="en-US" dirty="0" smtClean="0"/>
              <a:t>surface</a:t>
            </a:r>
          </a:p>
          <a:p>
            <a:r>
              <a:rPr lang="en-US" dirty="0" err="1"/>
              <a:t>Exitance</a:t>
            </a:r>
            <a:r>
              <a:rPr lang="en-US" dirty="0"/>
              <a:t> is similar to </a:t>
            </a:r>
            <a:r>
              <a:rPr lang="en-US" dirty="0" err="1" smtClean="0"/>
              <a:t>radiosity</a:t>
            </a:r>
            <a:endParaRPr lang="en-US" dirty="0" smtClean="0"/>
          </a:p>
          <a:p>
            <a:r>
              <a:rPr lang="en-US" dirty="0"/>
              <a:t>Sources can have </a:t>
            </a:r>
            <a:r>
              <a:rPr lang="en-US" dirty="0" err="1"/>
              <a:t>radiosity</a:t>
            </a:r>
            <a:r>
              <a:rPr lang="en-US" dirty="0"/>
              <a:t> as well as </a:t>
            </a:r>
            <a:r>
              <a:rPr lang="en-US" dirty="0" err="1"/>
              <a:t>exitance</a:t>
            </a:r>
            <a:r>
              <a:rPr lang="en-US" dirty="0"/>
              <a:t>, because energy may be reflected off </a:t>
            </a:r>
            <a:r>
              <a:rPr lang="en-US" dirty="0" smtClean="0"/>
              <a:t>and energy can be generated </a:t>
            </a:r>
            <a:r>
              <a:rPr lang="en-US" dirty="0"/>
              <a:t>within </a:t>
            </a:r>
            <a:r>
              <a:rPr lang="en-US" dirty="0" smtClean="0"/>
              <a:t>it.</a:t>
            </a:r>
          </a:p>
          <a:p>
            <a:r>
              <a:rPr lang="en-US" dirty="0" smtClean="0"/>
              <a:t>It can be computed as 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162" y="4487869"/>
            <a:ext cx="5191609" cy="111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972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Qualitative Radiometry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</a:t>
            </a:r>
            <a:r>
              <a:rPr lang="en-US" dirty="0"/>
              <a:t>“bright” surfaces are going to be under various lighting </a:t>
            </a:r>
            <a:r>
              <a:rPr lang="en-US" dirty="0" smtClean="0"/>
              <a:t>conditions?</a:t>
            </a:r>
          </a:p>
          <a:p>
            <a:r>
              <a:rPr lang="en-US" dirty="0" smtClean="0"/>
              <a:t>How </a:t>
            </a:r>
            <a:r>
              <a:rPr lang="en-US" dirty="0"/>
              <a:t>this “brightness” depends on local surface </a:t>
            </a:r>
            <a:r>
              <a:rPr lang="en-US" dirty="0" smtClean="0"/>
              <a:t>properties</a:t>
            </a:r>
            <a:r>
              <a:rPr lang="en-US" dirty="0"/>
              <a:t>?</a:t>
            </a:r>
            <a:endParaRPr lang="en-US" dirty="0" smtClean="0"/>
          </a:p>
          <a:p>
            <a:r>
              <a:rPr lang="en-US" dirty="0" smtClean="0"/>
              <a:t>what </a:t>
            </a:r>
            <a:r>
              <a:rPr lang="en-US" dirty="0"/>
              <a:t>a source looks like from the </a:t>
            </a:r>
            <a:r>
              <a:rPr lang="en-US" dirty="0" smtClean="0"/>
              <a:t>surface?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6667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radiation arriving at the surface along a particular direction passes through a point on the hemisphere.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two surface patches have equivalent incoming hemispheres, they must have the same incoming </a:t>
            </a:r>
            <a:r>
              <a:rPr lang="en-US" dirty="0" smtClean="0"/>
              <a:t>radiation.</a:t>
            </a:r>
          </a:p>
          <a:p>
            <a:r>
              <a:rPr lang="en-US" dirty="0" smtClean="0"/>
              <a:t>Any </a:t>
            </a:r>
            <a:r>
              <a:rPr lang="en-US" dirty="0"/>
              <a:t>difference in “brightness” between patches with the same incoming hemisphere is a result of different surface properties.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6570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Sources and their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three main types of geometrical source models: </a:t>
            </a:r>
            <a:endParaRPr lang="en-US" dirty="0" smtClean="0"/>
          </a:p>
          <a:p>
            <a:r>
              <a:rPr lang="en-US" dirty="0" smtClean="0"/>
              <a:t>point </a:t>
            </a:r>
            <a:r>
              <a:rPr lang="en-US" dirty="0"/>
              <a:t>sources</a:t>
            </a:r>
            <a:r>
              <a:rPr lang="en-US" dirty="0" smtClean="0"/>
              <a:t>,</a:t>
            </a:r>
          </a:p>
          <a:p>
            <a:r>
              <a:rPr lang="en-US" dirty="0" smtClean="0"/>
              <a:t> </a:t>
            </a:r>
            <a:r>
              <a:rPr lang="en-US" dirty="0"/>
              <a:t>line sources and </a:t>
            </a:r>
            <a:endParaRPr lang="en-US" dirty="0" smtClean="0"/>
          </a:p>
          <a:p>
            <a:r>
              <a:rPr lang="en-US" dirty="0" smtClean="0"/>
              <a:t>area </a:t>
            </a:r>
            <a:r>
              <a:rPr lang="en-US" dirty="0"/>
              <a:t>sources.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71129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5" descr="Pointsource.tiff                                               0001DF7FPowerbook HD                   985CFB00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493" y="0"/>
            <a:ext cx="8350178" cy="678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237542"/>
              </p:ext>
            </p:extLst>
          </p:nvPr>
        </p:nvGraphicFramePr>
        <p:xfrm>
          <a:off x="7700828" y="4452848"/>
          <a:ext cx="906463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4" imgW="406400" imgH="431800" progId="Equation.3">
                  <p:embed/>
                </p:oleObj>
              </mc:Choice>
              <mc:Fallback>
                <p:oleObj name="Equation" r:id="rId4" imgW="4064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0828" y="4452848"/>
                        <a:ext cx="906463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3234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Sources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common approximation is to consider a light source as a point.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a natural model to use,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can obtain a </a:t>
            </a:r>
            <a:r>
              <a:rPr lang="en-US" dirty="0" smtClean="0"/>
              <a:t>model by </a:t>
            </a:r>
            <a:r>
              <a:rPr lang="en-US" dirty="0"/>
              <a:t>modelling the source as a very small sphere </a:t>
            </a:r>
            <a:r>
              <a:rPr lang="en-US" dirty="0" smtClean="0"/>
              <a:t>that emits light and </a:t>
            </a:r>
            <a:r>
              <a:rPr lang="en-US" dirty="0" err="1" smtClean="0"/>
              <a:t>exitance</a:t>
            </a:r>
            <a:r>
              <a:rPr lang="en-US" dirty="0" smtClean="0"/>
              <a:t> is constant</a:t>
            </a:r>
          </a:p>
          <a:p>
            <a:r>
              <a:rPr lang="en-US" dirty="0" smtClean="0"/>
              <a:t>Assume </a:t>
            </a:r>
            <a:r>
              <a:rPr lang="en-US" dirty="0"/>
              <a:t>that a surface patch is viewing a sphere of radius e, at a distance r away, and that </a:t>
            </a:r>
            <a:r>
              <a:rPr lang="en-US" dirty="0" smtClean="0"/>
              <a:t>e &gt; </a:t>
            </a:r>
            <a:r>
              <a:rPr lang="en-US" dirty="0"/>
              <a:t>r. </a:t>
            </a:r>
            <a:endParaRPr lang="en-US" dirty="0" smtClean="0"/>
          </a:p>
          <a:p>
            <a:r>
              <a:rPr lang="en-US" dirty="0" smtClean="0"/>
              <a:t>Assume </a:t>
            </a:r>
            <a:r>
              <a:rPr lang="en-US" dirty="0"/>
              <a:t>the sphere is far away from the </a:t>
            </a:r>
            <a:r>
              <a:rPr lang="en-US" dirty="0" smtClean="0"/>
              <a:t>patch.</a:t>
            </a:r>
            <a:endParaRPr lang="en-US" dirty="0" smtClean="0"/>
          </a:p>
          <a:p>
            <a:r>
              <a:rPr lang="en-US" dirty="0" smtClean="0"/>
              <a:t>Now </a:t>
            </a:r>
            <a:r>
              <a:rPr lang="en-US" dirty="0"/>
              <a:t>the solid </a:t>
            </a:r>
            <a:r>
              <a:rPr lang="en-US" dirty="0" smtClean="0"/>
              <a:t>angle </a:t>
            </a:r>
            <a:r>
              <a:rPr lang="en-US" dirty="0"/>
              <a:t>is Ωs.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will behave approximately proportional to </a:t>
            </a:r>
            <a:r>
              <a:rPr lang="en-US" dirty="0" smtClean="0"/>
              <a:t>e</a:t>
            </a:r>
            <a:r>
              <a:rPr lang="en-US" baseline="30000" dirty="0" smtClean="0"/>
              <a:t>2</a:t>
            </a:r>
            <a:r>
              <a:rPr lang="en-US" dirty="0" smtClean="0"/>
              <a:t> / r</a:t>
            </a:r>
            <a:r>
              <a:rPr lang="en-US" baseline="30000" dirty="0" smtClean="0"/>
              <a:t>2 </a:t>
            </a:r>
            <a:endParaRPr lang="en-IN" baseline="30000" dirty="0"/>
          </a:p>
        </p:txBody>
      </p:sp>
    </p:spTree>
    <p:extLst>
      <p:ext uri="{BB962C8B-B14F-4D97-AF65-F5344CB8AC3E}">
        <p14:creationId xmlns:p14="http://schemas.microsoft.com/office/powerpoint/2010/main" val="2552367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pattern of illumination that the source creates on the hemisphere will </a:t>
            </a:r>
            <a:r>
              <a:rPr lang="en-US" dirty="0" smtClean="0"/>
              <a:t>roughly </a:t>
            </a:r>
            <a:r>
              <a:rPr lang="en-US" dirty="0" smtClean="0"/>
              <a:t>scale. </a:t>
            </a:r>
          </a:p>
          <a:p>
            <a:r>
              <a:rPr lang="en-US" dirty="0" smtClean="0"/>
              <a:t>As </a:t>
            </a:r>
            <a:r>
              <a:rPr lang="en-US" dirty="0"/>
              <a:t>the sphere moves away, the rays leaving the surface patch and striking the sphere move closer together </a:t>
            </a:r>
            <a:r>
              <a:rPr lang="en-US" dirty="0" smtClean="0"/>
              <a:t>evenly</a:t>
            </a:r>
          </a:p>
          <a:p>
            <a:r>
              <a:rPr lang="en-US" dirty="0" smtClean="0"/>
              <a:t>The </a:t>
            </a:r>
            <a:r>
              <a:rPr lang="en-US" dirty="0"/>
              <a:t>contribution from these rays must be very </a:t>
            </a:r>
            <a:r>
              <a:rPr lang="en-US" dirty="0" smtClean="0"/>
              <a:t>small</a:t>
            </a:r>
          </a:p>
          <a:p>
            <a:r>
              <a:rPr lang="en-US" dirty="0" smtClean="0"/>
              <a:t>If </a:t>
            </a:r>
            <a:r>
              <a:rPr lang="en-US" dirty="0" smtClean="0"/>
              <a:t>e tends to 0 then no new rays are added and </a:t>
            </a:r>
            <a:r>
              <a:rPr lang="en-US" dirty="0" err="1" smtClean="0"/>
              <a:t>th</a:t>
            </a:r>
            <a:r>
              <a:rPr lang="en-US" dirty="0" smtClean="0"/>
              <a:t> patch shrinks</a:t>
            </a:r>
          </a:p>
          <a:p>
            <a:r>
              <a:rPr lang="pt-BR" dirty="0" smtClean="0"/>
              <a:t>Radiosity due to the source is obtained by integrating the pattern </a:t>
            </a:r>
            <a:r>
              <a:rPr lang="pt-BR" dirty="0"/>
              <a:t>cos θ </a:t>
            </a:r>
            <a:r>
              <a:rPr lang="pt-BR" dirty="0" smtClean="0"/>
              <a:t>times over the patch of solid </a:t>
            </a:r>
            <a:r>
              <a:rPr lang="pt-BR" dirty="0" smtClean="0"/>
              <a:t>angle</a:t>
            </a:r>
            <a:endParaRPr lang="pt-BR" dirty="0" smtClean="0"/>
          </a:p>
          <a:p>
            <a:r>
              <a:rPr lang="pt-BR" dirty="0" smtClean="0"/>
              <a:t>Radiosity = ρ (e/r)</a:t>
            </a:r>
            <a:r>
              <a:rPr lang="pt-BR" baseline="30000" dirty="0" smtClean="0"/>
              <a:t>2</a:t>
            </a:r>
            <a:r>
              <a:rPr lang="pt-BR" dirty="0" smtClean="0"/>
              <a:t> E cos </a:t>
            </a:r>
            <a:r>
              <a:rPr lang="pt-BR" dirty="0"/>
              <a:t>θ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0894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Nearby Point Source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angle </a:t>
            </a:r>
            <a:r>
              <a:rPr lang="en-US" dirty="0"/>
              <a:t>can be written in terms of N(x) </a:t>
            </a:r>
            <a:r>
              <a:rPr lang="en-US" dirty="0" smtClean="0"/>
              <a:t>and S(x)</a:t>
            </a:r>
          </a:p>
          <a:p>
            <a:r>
              <a:rPr lang="en-US" dirty="0" smtClean="0"/>
              <a:t>N(x) - the </a:t>
            </a:r>
            <a:r>
              <a:rPr lang="en-US" dirty="0"/>
              <a:t>unit normal to the </a:t>
            </a:r>
            <a:r>
              <a:rPr lang="en-US" dirty="0" smtClean="0"/>
              <a:t>surface </a:t>
            </a:r>
            <a:r>
              <a:rPr lang="en-US" dirty="0"/>
              <a:t>and </a:t>
            </a:r>
            <a:endParaRPr lang="en-US" dirty="0" smtClean="0"/>
          </a:p>
          <a:p>
            <a:r>
              <a:rPr lang="en-US" dirty="0" smtClean="0"/>
              <a:t>S(x) </a:t>
            </a:r>
            <a:r>
              <a:rPr lang="en-US" dirty="0" smtClean="0"/>
              <a:t>– source vector</a:t>
            </a:r>
            <a:endParaRPr lang="en-US" dirty="0" smtClean="0"/>
          </a:p>
          <a:p>
            <a:r>
              <a:rPr lang="en-US" dirty="0"/>
              <a:t>This is an extremely convenient model, because it gives an explicit relationship between </a:t>
            </a:r>
            <a:r>
              <a:rPr lang="en-US" dirty="0" err="1"/>
              <a:t>radiosity</a:t>
            </a:r>
            <a:r>
              <a:rPr lang="en-US" dirty="0"/>
              <a:t> and </a:t>
            </a:r>
            <a:r>
              <a:rPr lang="en-US" dirty="0" smtClean="0"/>
              <a:t>shape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8679" t="51804" r="39643" b="35739"/>
          <a:stretch/>
        </p:blipFill>
        <p:spPr>
          <a:xfrm>
            <a:off x="4549640" y="4668944"/>
            <a:ext cx="2053883" cy="75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67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point source at infinity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sun is far </a:t>
            </a:r>
            <a:r>
              <a:rPr lang="en-US" dirty="0" smtClean="0"/>
              <a:t>away</a:t>
            </a:r>
          </a:p>
          <a:p>
            <a:r>
              <a:rPr lang="en-US" dirty="0" smtClean="0"/>
              <a:t>As </a:t>
            </a:r>
            <a:r>
              <a:rPr lang="en-US" dirty="0"/>
              <a:t>a result, the terms 1/r(x)</a:t>
            </a:r>
            <a:r>
              <a:rPr lang="en-US" baseline="30000" dirty="0"/>
              <a:t>2</a:t>
            </a:r>
            <a:r>
              <a:rPr lang="en-US" dirty="0"/>
              <a:t> and S(x) are essentially constant.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this </a:t>
            </a:r>
            <a:r>
              <a:rPr lang="en-US" dirty="0" smtClean="0"/>
              <a:t>case, the point </a:t>
            </a:r>
            <a:r>
              <a:rPr lang="en-US" dirty="0"/>
              <a:t>source </a:t>
            </a:r>
            <a:r>
              <a:rPr lang="en-US" dirty="0" smtClean="0"/>
              <a:t>is at </a:t>
            </a:r>
            <a:r>
              <a:rPr lang="en-US" dirty="0"/>
              <a:t>infinity</a:t>
            </a:r>
            <a:r>
              <a:rPr lang="en-US" dirty="0" smtClean="0"/>
              <a:t>.</a:t>
            </a:r>
          </a:p>
          <a:p>
            <a:r>
              <a:rPr lang="en-US" dirty="0" err="1"/>
              <a:t>radiosity</a:t>
            </a:r>
            <a:r>
              <a:rPr lang="en-US" dirty="0"/>
              <a:t> due to a point source at infinity becomes: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B(x</a:t>
            </a:r>
            <a:r>
              <a:rPr lang="en-US" dirty="0"/>
              <a:t>) = </a:t>
            </a:r>
            <a:r>
              <a:rPr lang="en-US" dirty="0" err="1"/>
              <a:t>ρ</a:t>
            </a:r>
            <a:r>
              <a:rPr lang="en-US" baseline="-25000" dirty="0" err="1"/>
              <a:t>d</a:t>
            </a:r>
            <a:r>
              <a:rPr lang="en-US" dirty="0"/>
              <a:t>(x)(N · </a:t>
            </a:r>
            <a:r>
              <a:rPr lang="en-US" dirty="0" smtClean="0"/>
              <a:t>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6246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line source has the geometry of a line — a good example is a single fluorescent light bulb.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/>
              <a:t>radiosity</a:t>
            </a:r>
            <a:r>
              <a:rPr lang="en-US" dirty="0"/>
              <a:t> of patches reasonably close to a line source changes as the reciprocal of distance to the </a:t>
            </a:r>
            <a:r>
              <a:rPr lang="en-US" dirty="0" smtClean="0"/>
              <a:t>source(1/r) </a:t>
            </a:r>
            <a:r>
              <a:rPr lang="en-US" dirty="0"/>
              <a:t>(rather than the square of the </a:t>
            </a:r>
            <a:r>
              <a:rPr lang="en-US" dirty="0" smtClean="0"/>
              <a:t>distance (1/r^2))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064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4543" t="40463" r="35540" b="42768"/>
          <a:stretch/>
        </p:blipFill>
        <p:spPr>
          <a:xfrm>
            <a:off x="738554" y="1132450"/>
            <a:ext cx="10388991" cy="509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45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Area Sources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Area sources are important, for two reasons. </a:t>
            </a:r>
            <a:endParaRPr lang="en-US" dirty="0" smtClean="0"/>
          </a:p>
          <a:p>
            <a:r>
              <a:rPr lang="en-US" dirty="0" smtClean="0"/>
              <a:t>1) They </a:t>
            </a:r>
            <a:r>
              <a:rPr lang="en-US" dirty="0"/>
              <a:t>occur quite commonly in natural </a:t>
            </a:r>
            <a:r>
              <a:rPr lang="en-US" dirty="0" smtClean="0"/>
              <a:t>scenes</a:t>
            </a:r>
          </a:p>
          <a:p>
            <a:r>
              <a:rPr lang="en-US" dirty="0" smtClean="0"/>
              <a:t>Ex: an overcast</a:t>
            </a:r>
          </a:p>
          <a:p>
            <a:r>
              <a:rPr lang="en-US" dirty="0" smtClean="0"/>
              <a:t>Synthetic </a:t>
            </a:r>
            <a:r>
              <a:rPr lang="en-US" dirty="0"/>
              <a:t>environments </a:t>
            </a:r>
            <a:endParaRPr lang="en-US" dirty="0" smtClean="0"/>
          </a:p>
          <a:p>
            <a:r>
              <a:rPr lang="en-US" dirty="0" smtClean="0"/>
              <a:t>2</a:t>
            </a:r>
            <a:r>
              <a:rPr lang="en-US" dirty="0" smtClean="0"/>
              <a:t>) A </a:t>
            </a:r>
            <a:r>
              <a:rPr lang="en-US" dirty="0"/>
              <a:t>study of area sources will allow us to explain various shadowing and </a:t>
            </a:r>
            <a:r>
              <a:rPr lang="en-US" dirty="0" err="1"/>
              <a:t>interreflection</a:t>
            </a:r>
            <a:r>
              <a:rPr lang="en-US" dirty="0"/>
              <a:t> effects. </a:t>
            </a:r>
            <a:endParaRPr lang="en-US" dirty="0" smtClean="0"/>
          </a:p>
          <a:p>
            <a:r>
              <a:rPr lang="en-US" dirty="0" smtClean="0"/>
              <a:t>Area </a:t>
            </a:r>
            <a:r>
              <a:rPr lang="en-US" dirty="0"/>
              <a:t>sources are normally modelled as surface patches </a:t>
            </a:r>
            <a:endParaRPr lang="en-US" dirty="0" smtClean="0"/>
          </a:p>
          <a:p>
            <a:r>
              <a:rPr lang="en-US" dirty="0" smtClean="0"/>
              <a:t>They </a:t>
            </a:r>
            <a:r>
              <a:rPr lang="en-US" dirty="0"/>
              <a:t>can be described by their </a:t>
            </a:r>
            <a:r>
              <a:rPr lang="en-US" dirty="0" err="1"/>
              <a:t>exitance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8345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Radiosity</a:t>
            </a:r>
            <a:r>
              <a:rPr lang="en-US" dirty="0" smtClean="0"/>
              <a:t> of an area source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we have a diffuse surface patch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is illuminated by an area source with </a:t>
            </a:r>
            <a:r>
              <a:rPr lang="en-US" dirty="0" err="1"/>
              <a:t>exitance</a:t>
            </a:r>
            <a:r>
              <a:rPr lang="en-US" dirty="0"/>
              <a:t> E(u).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use u as a coordinate on the </a:t>
            </a:r>
            <a:r>
              <a:rPr lang="en-US" dirty="0" smtClean="0"/>
              <a:t>source</a:t>
            </a:r>
          </a:p>
          <a:p>
            <a:r>
              <a:rPr lang="en-US" dirty="0" smtClean="0"/>
              <a:t>Instead </a:t>
            </a:r>
            <a:r>
              <a:rPr lang="en-US" dirty="0"/>
              <a:t>of writing angles in coordinates, we write u → x for the direction from u to </a:t>
            </a:r>
            <a:r>
              <a:rPr lang="en-US" dirty="0" smtClean="0"/>
              <a:t>x</a:t>
            </a:r>
          </a:p>
          <a:p>
            <a:r>
              <a:rPr lang="en-US" dirty="0" smtClean="0"/>
              <a:t>The </a:t>
            </a:r>
            <a:r>
              <a:rPr lang="en-US" dirty="0" err="1"/>
              <a:t>radiosity</a:t>
            </a:r>
            <a:r>
              <a:rPr lang="en-US" dirty="0"/>
              <a:t> on the surface is obtained by summing the incoming radiance over all incoming directions</a:t>
            </a:r>
            <a:r>
              <a:rPr lang="en-US" dirty="0" smtClean="0"/>
              <a:t>.</a:t>
            </a:r>
            <a:endParaRPr lang="en-IN" dirty="0"/>
          </a:p>
          <a:p>
            <a:r>
              <a:rPr lang="en-US" dirty="0"/>
              <a:t>This integral can be transformed into an integral over the 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6565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2823" t="10400" r="24920" b="59495"/>
          <a:stretch/>
        </p:blipFill>
        <p:spPr>
          <a:xfrm>
            <a:off x="385859" y="2122083"/>
            <a:ext cx="10516603" cy="412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526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Shadows cast by a point source</a:t>
            </a:r>
          </a:p>
        </p:txBody>
      </p:sp>
      <p:pic>
        <p:nvPicPr>
          <p:cNvPr id="90117" name="Picture 5" descr="Shadow.tiff                                                    0001DF7FPowerbook HD                   985CFB00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887" y="2060575"/>
            <a:ext cx="4800600" cy="413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931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183575" y="413795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Area Source Shadows</a:t>
            </a:r>
            <a:endParaRPr lang="en-US" dirty="0"/>
          </a:p>
        </p:txBody>
      </p:sp>
      <p:pic>
        <p:nvPicPr>
          <p:cNvPr id="6" name="Picture 3" descr="AreaShadow.tiff                                                00029C06Powerbook HD                   985CFB00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1" y="1152983"/>
            <a:ext cx="6059018" cy="5517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AreaShadowFX.tiff                                              00029C06Powerbook HD                   985CFB00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5906" y="1772582"/>
            <a:ext cx="5029670" cy="438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959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Shading Models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Local shading model</a:t>
            </a:r>
          </a:p>
          <a:p>
            <a:r>
              <a:rPr lang="en-US" dirty="0" smtClean="0"/>
              <a:t>Surface </a:t>
            </a:r>
            <a:r>
              <a:rPr lang="en-US" dirty="0" err="1" smtClean="0"/>
              <a:t>radiosity</a:t>
            </a:r>
            <a:r>
              <a:rPr lang="en-US" dirty="0" smtClean="0"/>
              <a:t> is due to visibility of sources at each point sources a</a:t>
            </a:r>
          </a:p>
          <a:p>
            <a:r>
              <a:rPr lang="en-US" dirty="0" smtClean="0"/>
              <a:t>Easy to manipulate</a:t>
            </a:r>
          </a:p>
          <a:p>
            <a:r>
              <a:rPr lang="en-US" dirty="0" smtClean="0"/>
              <a:t>Supports simple theories that extract shape information from shading</a:t>
            </a:r>
          </a:p>
          <a:p>
            <a:r>
              <a:rPr lang="en-US" dirty="0" smtClean="0"/>
              <a:t>Global Shading model</a:t>
            </a:r>
          </a:p>
          <a:p>
            <a:pPr marL="342900" lvl="1" indent="-342900"/>
            <a:r>
              <a:rPr lang="en-US" dirty="0"/>
              <a:t>surface </a:t>
            </a:r>
            <a:r>
              <a:rPr lang="en-US" dirty="0" err="1"/>
              <a:t>radiosity</a:t>
            </a:r>
            <a:r>
              <a:rPr lang="en-US" dirty="0"/>
              <a:t> is due to radiance reflected from other surfaces as well as from surfaces</a:t>
            </a:r>
          </a:p>
          <a:p>
            <a:r>
              <a:rPr lang="en-US" dirty="0" smtClean="0"/>
              <a:t>Very accurate</a:t>
            </a:r>
          </a:p>
          <a:p>
            <a:r>
              <a:rPr lang="en-US" dirty="0" smtClean="0"/>
              <a:t>Extremely difficult to infer from shading values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52015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1039</TotalTime>
  <Words>764</Words>
  <Application>Microsoft Office PowerPoint</Application>
  <PresentationFormat>Widescreen</PresentationFormat>
  <Paragraphs>80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Algerian</vt:lpstr>
      <vt:lpstr>Arial</vt:lpstr>
      <vt:lpstr>Century Gothic</vt:lpstr>
      <vt:lpstr>Wingdings 3</vt:lpstr>
      <vt:lpstr>Ion</vt:lpstr>
      <vt:lpstr>Equation</vt:lpstr>
      <vt:lpstr>  SOURCES, SHADOWS AND SHADING</vt:lpstr>
      <vt:lpstr>Introduction</vt:lpstr>
      <vt:lpstr>Exitance</vt:lpstr>
      <vt:lpstr>Qualitative Radiometry</vt:lpstr>
      <vt:lpstr>PowerPoint Presentation</vt:lpstr>
      <vt:lpstr>Sources and their Effects</vt:lpstr>
      <vt:lpstr>PowerPoint Presentation</vt:lpstr>
      <vt:lpstr>Point Sources</vt:lpstr>
      <vt:lpstr>PowerPoint Presentation</vt:lpstr>
      <vt:lpstr>A Nearby Point Source</vt:lpstr>
      <vt:lpstr>A point source at infinity</vt:lpstr>
      <vt:lpstr>Line Sources</vt:lpstr>
      <vt:lpstr>PowerPoint Presentation</vt:lpstr>
      <vt:lpstr>Area Sources</vt:lpstr>
      <vt:lpstr>Radiosity of an area source</vt:lpstr>
      <vt:lpstr>PowerPoint Presentation</vt:lpstr>
      <vt:lpstr>Shadows cast by a point source</vt:lpstr>
      <vt:lpstr>PowerPoint Presentation</vt:lpstr>
      <vt:lpstr>Shading Models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CSG2005  Computer Vision &amp; Robotics</dc:title>
  <dc:creator>Microsoft account</dc:creator>
  <cp:lastModifiedBy>Microsoft account</cp:lastModifiedBy>
  <cp:revision>46</cp:revision>
  <dcterms:created xsi:type="dcterms:W3CDTF">2021-02-04T09:38:22Z</dcterms:created>
  <dcterms:modified xsi:type="dcterms:W3CDTF">2021-02-16T10:11:05Z</dcterms:modified>
</cp:coreProperties>
</file>