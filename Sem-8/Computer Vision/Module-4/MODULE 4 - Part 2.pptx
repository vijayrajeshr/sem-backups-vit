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58" r:id="rId12"/>
    <p:sldId id="272" r:id="rId13"/>
    <p:sldId id="267" r:id="rId14"/>
    <p:sldId id="268" r:id="rId15"/>
    <p:sldId id="269" r:id="rId16"/>
    <p:sldId id="270" r:id="rId17"/>
    <p:sldId id="271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61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93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3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5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74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8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36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50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49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20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75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E92FE-1E1F-4E62-93FA-4F1B4F4FC07F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7FBC6-FA3D-44F4-906E-F7BB30170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64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MODULE 4</a:t>
            </a:r>
            <a:br>
              <a:rPr lang="en-US" smtClean="0"/>
            </a:b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53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Dimensionality reduction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Dimensionality </a:t>
            </a:r>
            <a:r>
              <a:rPr lang="en-US" dirty="0"/>
              <a:t>reduction is an important approach in machine learning.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large number of features available in the dataset may result in </a:t>
            </a:r>
            <a:r>
              <a:rPr lang="en-US" dirty="0" err="1"/>
              <a:t>overfitting</a:t>
            </a:r>
            <a:r>
              <a:rPr lang="en-US" dirty="0"/>
              <a:t> of the learning model.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identify the set of significant features and to reduce the dimension of the dataset, </a:t>
            </a:r>
            <a:r>
              <a:rPr lang="en-US" dirty="0" smtClean="0"/>
              <a:t>dimensionality </a:t>
            </a:r>
            <a:r>
              <a:rPr lang="en-US" dirty="0"/>
              <a:t>reduction techniques that are used.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9453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Dimensionality reduction technique can be defined as, </a:t>
            </a:r>
            <a:r>
              <a:rPr lang="en-US" b="1" i="1" dirty="0"/>
              <a:t>"It is a way of converting the higher dimensions dataset into lesser dimensions dataset ensuring that it provides similar information."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techniques are widely used </a:t>
            </a:r>
            <a:r>
              <a:rPr lang="en-US" dirty="0" smtClean="0"/>
              <a:t>in</a:t>
            </a:r>
            <a:r>
              <a:rPr lang="en-US" dirty="0"/>
              <a:t> </a:t>
            </a:r>
            <a:r>
              <a:rPr lang="en-US" dirty="0" smtClean="0"/>
              <a:t>machine </a:t>
            </a:r>
            <a:r>
              <a:rPr lang="en-US" dirty="0"/>
              <a:t>learning for obtaining a better fit predictive model while solving the classification and regression problems.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06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input features, variables, or columns present in a given dataset is known as </a:t>
            </a:r>
            <a:r>
              <a:rPr lang="en-US" dirty="0" smtClean="0"/>
              <a:t>dimensionality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 smtClean="0"/>
              <a:t>Process </a:t>
            </a:r>
            <a:r>
              <a:rPr lang="en-US" dirty="0"/>
              <a:t>to reduce these features is called dimensionality reduction.</a:t>
            </a:r>
          </a:p>
          <a:p>
            <a:r>
              <a:rPr lang="en-US" dirty="0"/>
              <a:t>A dataset contains a huge number of input features in various cases, which makes the predictive modeling task more complicated. </a:t>
            </a:r>
            <a:endParaRPr lang="en-US" dirty="0" smtClean="0"/>
          </a:p>
          <a:p>
            <a:r>
              <a:rPr lang="en-US" dirty="0" smtClean="0"/>
              <a:t>Because </a:t>
            </a:r>
            <a:r>
              <a:rPr lang="en-US" dirty="0"/>
              <a:t>it is very difficult to visualize or make predictions for the training dataset with a high number of features, for such cases, dimensionality reduction techniques are required to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97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applying Dimensionality Reduction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 </a:t>
            </a:r>
            <a:r>
              <a:rPr lang="en-US" dirty="0"/>
              <a:t>reducing the dimensions of the features, the space required to store the dataset also gets reduced.</a:t>
            </a:r>
          </a:p>
          <a:p>
            <a:r>
              <a:rPr lang="en-US" dirty="0"/>
              <a:t>Less Computation training time is required for reduced dimensions of features.</a:t>
            </a:r>
          </a:p>
          <a:p>
            <a:r>
              <a:rPr lang="en-US" dirty="0"/>
              <a:t>Reduced dimensions of features of the dataset help in visualizing the data quickly.</a:t>
            </a:r>
          </a:p>
          <a:p>
            <a:r>
              <a:rPr lang="en-US" b="1" dirty="0"/>
              <a:t>I</a:t>
            </a:r>
            <a:r>
              <a:rPr lang="en-US" dirty="0"/>
              <a:t>t removes the redundant features (if present) by taking care of </a:t>
            </a:r>
            <a:r>
              <a:rPr lang="en-US" dirty="0" smtClean="0"/>
              <a:t>multi-</a:t>
            </a:r>
            <a:r>
              <a:rPr lang="en-US" dirty="0" err="1" smtClean="0"/>
              <a:t>collinearity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36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 of dimensionality Reduction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</a:t>
            </a:r>
            <a:r>
              <a:rPr lang="en-US" dirty="0"/>
              <a:t>data may be lost due to dimensionality reduction.</a:t>
            </a:r>
          </a:p>
          <a:p>
            <a:r>
              <a:rPr lang="en-US" dirty="0"/>
              <a:t>In the PCA dimensionality reduction technique, sometimes the principal components required to consider are unknown.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55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Approaches of Dimension Reduction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There are two ways to apply the dimension reduction </a:t>
            </a:r>
            <a:r>
              <a:rPr lang="en-US" dirty="0" smtClean="0"/>
              <a:t>technique: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Feature Selection</a:t>
            </a:r>
          </a:p>
          <a:p>
            <a:r>
              <a:rPr lang="en-US" dirty="0"/>
              <a:t>Feature selection is the process of selecting the subset of the relevant features and leaving out the irrelevant features present in a dataset to build a model of high accuracy.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other words, it is a way of selecting the optimal features from the input dataset.</a:t>
            </a:r>
          </a:p>
          <a:p>
            <a:r>
              <a:rPr lang="en-US" dirty="0"/>
              <a:t>Three methods are used for the feature selection:</a:t>
            </a:r>
          </a:p>
          <a:p>
            <a:pPr marL="0" indent="0">
              <a:buNone/>
            </a:pPr>
            <a:r>
              <a:rPr lang="en-US" b="1" dirty="0"/>
              <a:t>1. Filters Methods</a:t>
            </a:r>
            <a:endParaRPr lang="en-US" dirty="0"/>
          </a:p>
          <a:p>
            <a:r>
              <a:rPr lang="en-US" dirty="0"/>
              <a:t>In this method, the dataset is filtered, and a subset that contains only the relevant features is taken. Some common techniques of filters method are:</a:t>
            </a:r>
          </a:p>
          <a:p>
            <a:r>
              <a:rPr lang="en-US" b="1" dirty="0"/>
              <a:t>Correlation</a:t>
            </a:r>
            <a:endParaRPr lang="en-US" dirty="0"/>
          </a:p>
          <a:p>
            <a:r>
              <a:rPr lang="en-US" b="1" dirty="0"/>
              <a:t>Chi-Square Test</a:t>
            </a:r>
            <a:endParaRPr lang="en-US" dirty="0"/>
          </a:p>
          <a:p>
            <a:r>
              <a:rPr lang="en-US" b="1" dirty="0"/>
              <a:t>ANOVA</a:t>
            </a:r>
            <a:endParaRPr lang="en-US" dirty="0"/>
          </a:p>
          <a:p>
            <a:r>
              <a:rPr lang="en-US" b="1" dirty="0"/>
              <a:t>Information Gain, etc.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92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2. Wrappers </a:t>
            </a:r>
            <a:r>
              <a:rPr lang="en-US" b="1" dirty="0"/>
              <a:t>Methods</a:t>
            </a:r>
            <a:endParaRPr lang="en-US" dirty="0"/>
          </a:p>
          <a:p>
            <a:r>
              <a:rPr lang="en-US" dirty="0"/>
              <a:t>The wrapper method has the same goal as the filter method, but it takes a machine learning model for its evaluation.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method, some features are fed to the ML model, and evaluate the performance.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performance decides whether to add those features or remove to increase the accuracy of the model.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method is more accurate than the filtering method but complex to work. Some common techniques of wrapper methods are:</a:t>
            </a:r>
          </a:p>
          <a:p>
            <a:r>
              <a:rPr lang="en-US" dirty="0"/>
              <a:t>Forward Selection</a:t>
            </a:r>
          </a:p>
          <a:p>
            <a:r>
              <a:rPr lang="en-US" dirty="0"/>
              <a:t>Backward Selection</a:t>
            </a:r>
          </a:p>
          <a:p>
            <a:r>
              <a:rPr lang="en-US" dirty="0"/>
              <a:t>Bi-directional Elimination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88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3. Embedded </a:t>
            </a:r>
            <a:r>
              <a:rPr lang="en-US" b="1" dirty="0"/>
              <a:t>Methods:</a:t>
            </a:r>
            <a:r>
              <a:rPr lang="en-US" dirty="0"/>
              <a:t> Embedded methods check the different training iterations of the machine learning model and evaluate the importance of each feature.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Some </a:t>
            </a:r>
            <a:r>
              <a:rPr lang="en-US" dirty="0"/>
              <a:t>common techniques of Embedded methods are:</a:t>
            </a:r>
          </a:p>
          <a:p>
            <a:r>
              <a:rPr lang="en-US" b="1" dirty="0"/>
              <a:t>LASSO</a:t>
            </a:r>
            <a:endParaRPr lang="en-US" dirty="0"/>
          </a:p>
          <a:p>
            <a:r>
              <a:rPr lang="en-US" b="1" dirty="0"/>
              <a:t>Elastic Net</a:t>
            </a:r>
            <a:endParaRPr lang="en-US" dirty="0"/>
          </a:p>
          <a:p>
            <a:r>
              <a:rPr lang="en-US" b="1" dirty="0"/>
              <a:t>Ridge Regression, etc.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269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Feature Extraction:</a:t>
            </a:r>
          </a:p>
          <a:p>
            <a:r>
              <a:rPr lang="en-US" dirty="0"/>
              <a:t>Feature extraction is the process of transforming the space containing many dimensions into space with fewer dimensions.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approach is useful when we want to keep the whole information but use fewer resources while processing the information.</a:t>
            </a:r>
          </a:p>
          <a:p>
            <a:r>
              <a:rPr lang="en-US" dirty="0"/>
              <a:t>Some common feature extraction techniques are:</a:t>
            </a:r>
          </a:p>
          <a:p>
            <a:r>
              <a:rPr lang="en-US" dirty="0"/>
              <a:t>Principal Component Analysis</a:t>
            </a:r>
          </a:p>
          <a:p>
            <a:r>
              <a:rPr lang="en-US" dirty="0"/>
              <a:t>Linear Discriminant Analysis</a:t>
            </a:r>
          </a:p>
          <a:p>
            <a:r>
              <a:rPr lang="en-US" dirty="0"/>
              <a:t>Kernel PCA</a:t>
            </a:r>
          </a:p>
          <a:p>
            <a:r>
              <a:rPr lang="en-US" dirty="0"/>
              <a:t>Quadratic Discriminant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788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PCA – Principal Component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Principal Component Analysis is a statistical process </a:t>
            </a:r>
            <a:endParaRPr lang="en-US" dirty="0" smtClean="0"/>
          </a:p>
          <a:p>
            <a:r>
              <a:rPr lang="en-US" dirty="0" smtClean="0"/>
              <a:t>Converts </a:t>
            </a:r>
            <a:r>
              <a:rPr lang="en-US" dirty="0"/>
              <a:t>the observations of correlated features into a set of linearly uncorrelated features with the help of orthogonal transformation.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new transformed features are called the </a:t>
            </a:r>
            <a:r>
              <a:rPr lang="en-US" b="1" dirty="0"/>
              <a:t>Principal Components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one of the popular tools that is used for exploratory data analysis and predictive modeling.</a:t>
            </a:r>
          </a:p>
          <a:p>
            <a:r>
              <a:rPr lang="en-US" dirty="0"/>
              <a:t>PCA works by considering the variance of each attribute because the high attribute shows the good split between the classes, and hence it reduces the dimensionality.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real-world applications of PCA are </a:t>
            </a:r>
            <a:r>
              <a:rPr lang="en-US" b="1" i="1" dirty="0"/>
              <a:t>image processing, movie recommendation system, optimizing the power allocation in various communication channels.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49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235" t="18178" r="36817" b="29449"/>
          <a:stretch/>
        </p:blipFill>
        <p:spPr>
          <a:xfrm>
            <a:off x="774895" y="365125"/>
            <a:ext cx="10578905" cy="609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78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930" t="56165" r="23438" b="12475"/>
          <a:stretch/>
        </p:blipFill>
        <p:spPr>
          <a:xfrm>
            <a:off x="436099" y="274319"/>
            <a:ext cx="11176782" cy="614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41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Discriminant Analysis (LDA) is most commonly used as dimensionality reduction technique </a:t>
            </a:r>
            <a:endParaRPr lang="en-US" dirty="0" smtClean="0"/>
          </a:p>
          <a:p>
            <a:r>
              <a:rPr lang="en-US" dirty="0" smtClean="0"/>
              <a:t>Used in </a:t>
            </a:r>
            <a:r>
              <a:rPr lang="en-US" dirty="0"/>
              <a:t>the pre-processing step for pattern-classification and machine learning applications.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goal is to project a dataset onto a lower-dimensional space with good class-</a:t>
            </a:r>
            <a:r>
              <a:rPr lang="en-US" dirty="0" err="1"/>
              <a:t>separability</a:t>
            </a:r>
            <a:r>
              <a:rPr lang="en-US" dirty="0"/>
              <a:t> in order avoid </a:t>
            </a:r>
            <a:r>
              <a:rPr lang="en-US" dirty="0" err="1"/>
              <a:t>overfitting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/>
              <a:t>also reduce computational costs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66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233" t="53902" r="18065" b="17001"/>
          <a:stretch/>
        </p:blipFill>
        <p:spPr>
          <a:xfrm>
            <a:off x="626012" y="365126"/>
            <a:ext cx="10937631" cy="614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11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Independent component Analysis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098" t="24320" r="38326" b="37458"/>
          <a:stretch/>
        </p:blipFill>
        <p:spPr>
          <a:xfrm>
            <a:off x="295422" y="1690688"/>
            <a:ext cx="11648049" cy="4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34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641" t="17693" r="43067" b="34298"/>
          <a:stretch/>
        </p:blipFill>
        <p:spPr>
          <a:xfrm>
            <a:off x="1174652" y="309489"/>
            <a:ext cx="10179148" cy="609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8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809" t="17046" r="40913" b="34460"/>
          <a:stretch/>
        </p:blipFill>
        <p:spPr>
          <a:xfrm>
            <a:off x="838200" y="203982"/>
            <a:ext cx="10515600" cy="624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28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24" t="17854" r="41128" b="30418"/>
          <a:stretch/>
        </p:blipFill>
        <p:spPr>
          <a:xfrm>
            <a:off x="922607" y="365125"/>
            <a:ext cx="10431193" cy="605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12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241" t="18501" r="41881" b="33813"/>
          <a:stretch/>
        </p:blipFill>
        <p:spPr>
          <a:xfrm>
            <a:off x="928468" y="140677"/>
            <a:ext cx="10192043" cy="629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24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Optical Flow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832" t="35635" r="20437" b="7142"/>
          <a:stretch/>
        </p:blipFill>
        <p:spPr>
          <a:xfrm>
            <a:off x="323557" y="492369"/>
            <a:ext cx="11746523" cy="6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84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between consecutive frames,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can express the image intensity (I</a:t>
            </a:r>
            <a:r>
              <a:rPr lang="en-US" dirty="0" smtClean="0"/>
              <a:t>)</a:t>
            </a:r>
            <a:r>
              <a:rPr lang="en-US" dirty="0"/>
              <a:t> as a function of space (</a:t>
            </a:r>
            <a:r>
              <a:rPr lang="en-US" dirty="0" err="1"/>
              <a:t>x,y</a:t>
            </a:r>
            <a:r>
              <a:rPr lang="en-US" dirty="0" smtClean="0"/>
              <a:t>)</a:t>
            </a:r>
            <a:r>
              <a:rPr lang="en-US" dirty="0"/>
              <a:t> and time (t</a:t>
            </a:r>
            <a:r>
              <a:rPr lang="en-US" dirty="0" smtClean="0"/>
              <a:t>). </a:t>
            </a:r>
          </a:p>
          <a:p>
            <a:r>
              <a:rPr lang="en-US" dirty="0" smtClean="0"/>
              <a:t>In </a:t>
            </a:r>
            <a:r>
              <a:rPr lang="en-US" dirty="0"/>
              <a:t>other words, if we take the first image </a:t>
            </a:r>
            <a:r>
              <a:rPr lang="en-US" dirty="0" smtClean="0"/>
              <a:t>I(</a:t>
            </a:r>
            <a:r>
              <a:rPr lang="en-US" dirty="0" err="1" smtClean="0"/>
              <a:t>x,y,t</a:t>
            </a:r>
            <a:r>
              <a:rPr lang="en-US" dirty="0" smtClean="0"/>
              <a:t>)</a:t>
            </a:r>
            <a:r>
              <a:rPr lang="en-US" dirty="0"/>
              <a:t> and move its pixels by (</a:t>
            </a:r>
            <a:r>
              <a:rPr lang="en-US" dirty="0" err="1"/>
              <a:t>dx,dy</a:t>
            </a:r>
            <a:r>
              <a:rPr lang="en-US" dirty="0" smtClean="0"/>
              <a:t>)</a:t>
            </a:r>
            <a:r>
              <a:rPr lang="en-US" dirty="0"/>
              <a:t> over </a:t>
            </a:r>
            <a:r>
              <a:rPr lang="en-US" dirty="0" smtClean="0"/>
              <a:t>t</a:t>
            </a:r>
            <a:r>
              <a:rPr lang="en-US" dirty="0"/>
              <a:t> time,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obtain the new image </a:t>
            </a:r>
            <a:r>
              <a:rPr lang="en-US" dirty="0" smtClean="0"/>
              <a:t>I(</a:t>
            </a:r>
            <a:r>
              <a:rPr lang="en-US" dirty="0" err="1" smtClean="0"/>
              <a:t>x+dx,y+dy,t+dt</a:t>
            </a:r>
            <a:r>
              <a:rPr lang="en-US" dirty="0"/>
              <a:t>)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353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556" t="21411" r="22484" b="19426"/>
          <a:stretch/>
        </p:blipFill>
        <p:spPr>
          <a:xfrm>
            <a:off x="711591" y="253220"/>
            <a:ext cx="10768817" cy="628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82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664" t="23976" r="19250" b="8658"/>
          <a:stretch/>
        </p:blipFill>
        <p:spPr>
          <a:xfrm>
            <a:off x="838200" y="175846"/>
            <a:ext cx="10598834" cy="644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8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28" t="23997" r="36601" b="42703"/>
          <a:stretch/>
        </p:blipFill>
        <p:spPr>
          <a:xfrm>
            <a:off x="358726" y="302455"/>
            <a:ext cx="11296357" cy="604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19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883" t="24967" r="41881" b="43027"/>
          <a:stretch/>
        </p:blipFill>
        <p:spPr>
          <a:xfrm>
            <a:off x="774896" y="365125"/>
            <a:ext cx="10515600" cy="582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18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745" t="22057" r="35955" b="47715"/>
          <a:stretch/>
        </p:blipFill>
        <p:spPr>
          <a:xfrm>
            <a:off x="414997" y="232117"/>
            <a:ext cx="11359661" cy="62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18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744" t="23673" r="34446" b="36076"/>
          <a:stretch/>
        </p:blipFill>
        <p:spPr>
          <a:xfrm>
            <a:off x="724486" y="534572"/>
            <a:ext cx="10199077" cy="597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11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254" t="20764" r="36923" b="41410"/>
          <a:stretch/>
        </p:blipFill>
        <p:spPr>
          <a:xfrm>
            <a:off x="773723" y="309489"/>
            <a:ext cx="10016197" cy="630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41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90" t="23350" r="48671" b="33651"/>
          <a:stretch/>
        </p:blipFill>
        <p:spPr>
          <a:xfrm>
            <a:off x="689317" y="0"/>
            <a:ext cx="10587111" cy="639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00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314" t="21411" r="36817" b="48684"/>
          <a:stretch/>
        </p:blipFill>
        <p:spPr>
          <a:xfrm>
            <a:off x="584982" y="365125"/>
            <a:ext cx="11022035" cy="524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75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176" t="22704" r="32937" b="35107"/>
          <a:stretch/>
        </p:blipFill>
        <p:spPr>
          <a:xfrm>
            <a:off x="787790" y="302455"/>
            <a:ext cx="10255348" cy="640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88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882" t="23997" r="37679" b="37854"/>
          <a:stretch/>
        </p:blipFill>
        <p:spPr>
          <a:xfrm>
            <a:off x="1266092" y="365126"/>
            <a:ext cx="9481625" cy="575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96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617</Words>
  <Application>Microsoft Office PowerPoint</Application>
  <PresentationFormat>Widescreen</PresentationFormat>
  <Paragraphs>69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MODULE 4 </vt:lpstr>
      <vt:lpstr>Dimensionality reduction</vt:lpstr>
      <vt:lpstr>PowerPoint Presentation</vt:lpstr>
      <vt:lpstr>PowerPoint Presentation</vt:lpstr>
      <vt:lpstr>Benefits of applying Dimensionality Reduction </vt:lpstr>
      <vt:lpstr>Disadvantages of dimensionality Reduction </vt:lpstr>
      <vt:lpstr>Approaches of Dimension Reduction </vt:lpstr>
      <vt:lpstr>PowerPoint Presentation</vt:lpstr>
      <vt:lpstr>PowerPoint Presentation</vt:lpstr>
      <vt:lpstr>PowerPoint Presentation</vt:lpstr>
      <vt:lpstr>PCA – Principal Component Analysis</vt:lpstr>
      <vt:lpstr>PowerPoint Presentation</vt:lpstr>
      <vt:lpstr>PowerPoint Presentation</vt:lpstr>
      <vt:lpstr>LDA</vt:lpstr>
      <vt:lpstr>PowerPoint Presentation</vt:lpstr>
      <vt:lpstr>Independent component Analysis</vt:lpstr>
      <vt:lpstr>PowerPoint Presentation</vt:lpstr>
      <vt:lpstr>PowerPoint Presentation</vt:lpstr>
      <vt:lpstr>PowerPoint Presentation</vt:lpstr>
      <vt:lpstr>PowerPoint Presentation</vt:lpstr>
      <vt:lpstr>Optical Flow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17</cp:revision>
  <dcterms:created xsi:type="dcterms:W3CDTF">2021-05-03T15:00:28Z</dcterms:created>
  <dcterms:modified xsi:type="dcterms:W3CDTF">2021-05-04T12:18:40Z</dcterms:modified>
</cp:coreProperties>
</file>