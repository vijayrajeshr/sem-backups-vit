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64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66" r:id="rId28"/>
    <p:sldId id="268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27" r:id="rId43"/>
    <p:sldId id="300" r:id="rId44"/>
    <p:sldId id="301" r:id="rId45"/>
    <p:sldId id="302" r:id="rId46"/>
    <p:sldId id="303" r:id="rId47"/>
    <p:sldId id="305" r:id="rId48"/>
    <p:sldId id="304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73" d="100"/>
          <a:sy n="73" d="100"/>
        </p:scale>
        <p:origin x="5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4607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531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289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355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487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11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199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647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18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484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553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640ED-DAE3-40BA-96C6-813E7A106C2C}" type="datetimeFigureOut">
              <a:rPr lang="en-IN" smtClean="0"/>
              <a:t>25-04-2022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4B294-E3FB-48B3-84C0-30B40254FB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3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cdn.analyticsvidhya.com/wp-content/uploads/2019/10/gaussians-3d.png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avatpoint.com/bayes-theorem-in-artifical-intelligence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Segmentation by clustering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5908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K-means </a:t>
            </a:r>
            <a:r>
              <a:rPr lang="en-US" dirty="0"/>
              <a:t>clustering algorithm computes the centroids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iterates until </a:t>
            </a:r>
            <a:r>
              <a:rPr lang="en-US" dirty="0" smtClean="0"/>
              <a:t>optimal centroid is found. </a:t>
            </a:r>
          </a:p>
          <a:p>
            <a:r>
              <a:rPr lang="en-US" dirty="0" smtClean="0"/>
              <a:t>Assumption: No. of Clusters are already known.</a:t>
            </a:r>
          </a:p>
          <a:p>
            <a:r>
              <a:rPr lang="en-US" dirty="0" smtClean="0"/>
              <a:t>It </a:t>
            </a:r>
            <a:r>
              <a:rPr lang="en-US" dirty="0"/>
              <a:t>is also called </a:t>
            </a:r>
            <a:r>
              <a:rPr lang="en-US" b="1" dirty="0"/>
              <a:t>flat clustering</a:t>
            </a:r>
            <a:r>
              <a:rPr lang="en-US" dirty="0"/>
              <a:t> algorithm.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number of clusters identified from data </a:t>
            </a:r>
            <a:r>
              <a:rPr lang="en-US" dirty="0" smtClean="0"/>
              <a:t>is </a:t>
            </a:r>
            <a:r>
              <a:rPr lang="en-US" dirty="0"/>
              <a:t>represented by ‘K’ in K-means.</a:t>
            </a:r>
          </a:p>
          <a:p>
            <a:r>
              <a:rPr lang="en-US" dirty="0"/>
              <a:t>In this algorithm, the data points are assigned to a cluster in such a manner that the sum of the squared distance between the data points and centroid would be minimum.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61097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dirty="0"/>
              <a:t> − First, we need to specify the number of clusters, K, need to be generated by this algorithm.</a:t>
            </a:r>
          </a:p>
          <a:p>
            <a:r>
              <a:rPr lang="en-US" b="1" dirty="0"/>
              <a:t>Step 2</a:t>
            </a:r>
            <a:r>
              <a:rPr lang="en-US" dirty="0"/>
              <a:t> − Next, randomly select K data points and assign each data point to a cluster. In simple words, classify the data based on the number of data points.</a:t>
            </a:r>
          </a:p>
          <a:p>
            <a:r>
              <a:rPr lang="en-US" b="1" dirty="0"/>
              <a:t>Step 3</a:t>
            </a:r>
            <a:r>
              <a:rPr lang="en-US" dirty="0"/>
              <a:t> − Now it will compute the cluster centroids.</a:t>
            </a:r>
          </a:p>
        </p:txBody>
      </p:sp>
    </p:spTree>
    <p:extLst>
      <p:ext uri="{BB962C8B-B14F-4D97-AF65-F5344CB8AC3E}">
        <p14:creationId xmlns:p14="http://schemas.microsoft.com/office/powerpoint/2010/main" val="129894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 4</a:t>
            </a:r>
            <a:r>
              <a:rPr lang="en-US" dirty="0"/>
              <a:t> − Next, keep iterating the following until we find optimal centroid which is the assignment of data points to the clusters that are not changing any more</a:t>
            </a:r>
          </a:p>
          <a:p>
            <a:r>
              <a:rPr lang="en-US" b="1" dirty="0"/>
              <a:t>4.1</a:t>
            </a:r>
            <a:r>
              <a:rPr lang="en-US" dirty="0"/>
              <a:t> − First, the sum of squared distance between data points and centroids would be computed.</a:t>
            </a:r>
          </a:p>
          <a:p>
            <a:r>
              <a:rPr lang="en-US" b="1" dirty="0"/>
              <a:t>4.2</a:t>
            </a:r>
            <a:r>
              <a:rPr lang="en-US" dirty="0"/>
              <a:t> − Now, we have to assign each data point to the cluster that is closer than other cluster (centroid).</a:t>
            </a:r>
          </a:p>
          <a:p>
            <a:r>
              <a:rPr lang="en-US" b="1" dirty="0"/>
              <a:t>4.3</a:t>
            </a:r>
            <a:r>
              <a:rPr lang="en-US" dirty="0"/>
              <a:t> − At last compute the centroids for the clusters by taking the average of all data points of that cluster.</a:t>
            </a:r>
          </a:p>
        </p:txBody>
      </p:sp>
    </p:spTree>
    <p:extLst>
      <p:ext uri="{BB962C8B-B14F-4D97-AF65-F5344CB8AC3E}">
        <p14:creationId xmlns:p14="http://schemas.microsoft.com/office/powerpoint/2010/main" val="1019434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follows </a:t>
            </a:r>
            <a:r>
              <a:rPr lang="en-US" b="1" dirty="0"/>
              <a:t>Expectation-Maximization</a:t>
            </a:r>
            <a:r>
              <a:rPr lang="en-US" dirty="0"/>
              <a:t> approach to solve the problem.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Expectation-step is used for assigning the data points to the closest cluster and the Maximization-step is used for computing the centroid of each cluster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304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r>
              <a:rPr lang="en-US" dirty="0"/>
              <a:t>The following are some advantages of K-Means clustering algorithms −</a:t>
            </a:r>
          </a:p>
          <a:p>
            <a:r>
              <a:rPr lang="en-US" dirty="0"/>
              <a:t>It is very easy to understand and implement.</a:t>
            </a:r>
          </a:p>
          <a:p>
            <a:r>
              <a:rPr lang="en-US" dirty="0"/>
              <a:t>If we have large number of variables then, K-means would be faster than Hierarchical clustering.</a:t>
            </a:r>
          </a:p>
          <a:p>
            <a:r>
              <a:rPr lang="en-US" dirty="0"/>
              <a:t>On re-computation of centroids, an instance can change the cluster.</a:t>
            </a:r>
          </a:p>
          <a:p>
            <a:r>
              <a:rPr lang="en-US" dirty="0"/>
              <a:t>Tighter clusters are formed with K-means as compared to Hierarchical clustering.</a:t>
            </a:r>
          </a:p>
        </p:txBody>
      </p:sp>
    </p:spTree>
    <p:extLst>
      <p:ext uri="{BB962C8B-B14F-4D97-AF65-F5344CB8AC3E}">
        <p14:creationId xmlns:p14="http://schemas.microsoft.com/office/powerpoint/2010/main" val="1602842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Disadvantages</a:t>
            </a:r>
          </a:p>
          <a:p>
            <a:r>
              <a:rPr lang="en-US" dirty="0"/>
              <a:t>The following are some disadvantages of K-Means clustering algorithms −</a:t>
            </a:r>
          </a:p>
          <a:p>
            <a:r>
              <a:rPr lang="en-US" dirty="0"/>
              <a:t>It is a bit difficult to predict the number of clusters i.e. the value of k.</a:t>
            </a:r>
          </a:p>
          <a:p>
            <a:r>
              <a:rPr lang="en-US" dirty="0"/>
              <a:t>Output is strongly impacted by initial inputs like number of clusters (value of k)</a:t>
            </a:r>
          </a:p>
          <a:p>
            <a:r>
              <a:rPr lang="en-US" dirty="0"/>
              <a:t>Order of data will have strong impact on the final output.</a:t>
            </a:r>
          </a:p>
          <a:p>
            <a:r>
              <a:rPr lang="en-US" dirty="0"/>
              <a:t>It is very sensitive to rescaling. If we will rescale our data by means of normalization or standardization, then the output will completely change.</a:t>
            </a:r>
          </a:p>
          <a:p>
            <a:r>
              <a:rPr lang="en-US" dirty="0"/>
              <a:t>It is not good in doing clustering job if the clusters have a complicated geometric shape.</a:t>
            </a:r>
          </a:p>
        </p:txBody>
      </p:sp>
    </p:spTree>
    <p:extLst>
      <p:ext uri="{BB962C8B-B14F-4D97-AF65-F5344CB8AC3E}">
        <p14:creationId xmlns:p14="http://schemas.microsoft.com/office/powerpoint/2010/main" val="908380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7060" t="18662" r="51472" b="29610"/>
          <a:stretch/>
        </p:blipFill>
        <p:spPr>
          <a:xfrm>
            <a:off x="3291840" y="1078744"/>
            <a:ext cx="4276578" cy="482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273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343" t="12358" r="6211" b="8597"/>
          <a:stretch/>
        </p:blipFill>
        <p:spPr>
          <a:xfrm>
            <a:off x="921434" y="590843"/>
            <a:ext cx="10079501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222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913" t="13490" r="5457" b="9242"/>
          <a:stretch/>
        </p:blipFill>
        <p:spPr>
          <a:xfrm>
            <a:off x="838200" y="478303"/>
            <a:ext cx="9853246" cy="598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677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460" r="4702" b="8272"/>
          <a:stretch/>
        </p:blipFill>
        <p:spPr>
          <a:xfrm>
            <a:off x="914400" y="365125"/>
            <a:ext cx="10853225" cy="6302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645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622" r="4379" b="8434"/>
          <a:stretch/>
        </p:blipFill>
        <p:spPr>
          <a:xfrm>
            <a:off x="1280160" y="963637"/>
            <a:ext cx="8947051" cy="5767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49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652" r="4379" b="8757"/>
          <a:stretch/>
        </p:blipFill>
        <p:spPr>
          <a:xfrm>
            <a:off x="1005840" y="457201"/>
            <a:ext cx="9453489" cy="626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14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4136" r="4056" b="8920"/>
          <a:stretch/>
        </p:blipFill>
        <p:spPr>
          <a:xfrm>
            <a:off x="787792" y="794824"/>
            <a:ext cx="10566008" cy="585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5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2035" r="3841" b="7950"/>
          <a:stretch/>
        </p:blipFill>
        <p:spPr>
          <a:xfrm>
            <a:off x="1055078" y="429065"/>
            <a:ext cx="10065434" cy="632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6371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5592" r="5350" b="8434"/>
          <a:stretch/>
        </p:blipFill>
        <p:spPr>
          <a:xfrm>
            <a:off x="1216856" y="597876"/>
            <a:ext cx="10002130" cy="596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64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r>
              <a:rPr lang="en-US" dirty="0" smtClean="0"/>
              <a:t> Clustering</a:t>
            </a:r>
            <a:br>
              <a:rPr lang="en-US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r>
              <a:rPr lang="en-US" dirty="0" smtClean="0"/>
              <a:t> </a:t>
            </a:r>
            <a:r>
              <a:rPr lang="en-US" dirty="0"/>
              <a:t>is another type of clustering algorithm that can be used to find natural groupings in a dataset. </a:t>
            </a:r>
            <a:endParaRPr lang="en-US" dirty="0" smtClean="0"/>
          </a:p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r>
              <a:rPr lang="en-US" dirty="0" smtClean="0"/>
              <a:t> </a:t>
            </a:r>
            <a:r>
              <a:rPr lang="en-US" dirty="0"/>
              <a:t>clustering is very similar to k-means clustering, except for a few differences.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k-</a:t>
            </a:r>
            <a:r>
              <a:rPr lang="en-US" dirty="0" err="1"/>
              <a:t>medoids</a:t>
            </a:r>
            <a:r>
              <a:rPr lang="en-US" dirty="0"/>
              <a:t> clustering algorithm has a slightly different optimization function than k-means. </a:t>
            </a:r>
            <a:endParaRPr lang="en-US" dirty="0" smtClean="0"/>
          </a:p>
          <a:p>
            <a:r>
              <a:rPr lang="en-US" dirty="0" smtClean="0"/>
              <a:t>k-</a:t>
            </a:r>
            <a:r>
              <a:rPr lang="en-US" dirty="0" err="1" smtClean="0"/>
              <a:t>medoids</a:t>
            </a:r>
            <a:r>
              <a:rPr lang="en-US" dirty="0" smtClean="0"/>
              <a:t> clustering gives almost identical results to k-means clustering. But in some special cases where we have outliers in a dataset, k-</a:t>
            </a:r>
            <a:r>
              <a:rPr lang="en-US" dirty="0" err="1" smtClean="0"/>
              <a:t>medoids</a:t>
            </a:r>
            <a:r>
              <a:rPr lang="en-US" dirty="0" smtClean="0"/>
              <a:t> clustering is preferred as it's more robust to outliers. </a:t>
            </a:r>
            <a:endParaRPr lang="en-IN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7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426" t="18339" r="42205" b="33328"/>
          <a:stretch/>
        </p:blipFill>
        <p:spPr>
          <a:xfrm>
            <a:off x="963637" y="682282"/>
            <a:ext cx="9748911" cy="562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66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887" t="17045" r="41343" b="32344"/>
          <a:stretch/>
        </p:blipFill>
        <p:spPr>
          <a:xfrm>
            <a:off x="1259059" y="168813"/>
            <a:ext cx="9277644" cy="628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717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594" t="18986" r="42959" b="33166"/>
          <a:stretch/>
        </p:blipFill>
        <p:spPr>
          <a:xfrm>
            <a:off x="949569" y="302455"/>
            <a:ext cx="10353822" cy="5697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4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2857" t="18339" r="43175" b="45775"/>
          <a:stretch/>
        </p:blipFill>
        <p:spPr>
          <a:xfrm>
            <a:off x="1055078" y="274320"/>
            <a:ext cx="9340948" cy="571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15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887" t="17369" r="42097" b="53211"/>
          <a:stretch/>
        </p:blipFill>
        <p:spPr>
          <a:xfrm>
            <a:off x="838200" y="246185"/>
            <a:ext cx="10007991" cy="584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631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132" t="19470" r="41989" b="35268"/>
          <a:stretch/>
        </p:blipFill>
        <p:spPr>
          <a:xfrm>
            <a:off x="513471" y="450166"/>
            <a:ext cx="10840329" cy="623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805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0594" t="17854" r="42851" b="33651"/>
          <a:stretch/>
        </p:blipFill>
        <p:spPr>
          <a:xfrm>
            <a:off x="407964" y="365125"/>
            <a:ext cx="11043138" cy="63521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677" y="5472332"/>
            <a:ext cx="39811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Total Cost</a:t>
            </a:r>
          </a:p>
          <a:p>
            <a:r>
              <a:rPr lang="en-US" dirty="0" smtClean="0"/>
              <a:t>5+0+0+4.242641+1.414+2+0+4.472136 = 17.129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028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455" t="18986" r="43067" b="33490"/>
          <a:stretch/>
        </p:blipFill>
        <p:spPr>
          <a:xfrm>
            <a:off x="773724" y="365125"/>
            <a:ext cx="9784080" cy="628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4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1132" t="18178" r="42636" b="40602"/>
          <a:stretch/>
        </p:blipFill>
        <p:spPr>
          <a:xfrm>
            <a:off x="703385" y="308854"/>
            <a:ext cx="10487463" cy="638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080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Choose k data points from the scatter plot as starting points for cluster centers.</a:t>
            </a:r>
          </a:p>
          <a:p>
            <a:r>
              <a:rPr lang="en-US" dirty="0"/>
              <a:t>Calculate their distance from all the points in the scatter plot.</a:t>
            </a:r>
          </a:p>
          <a:p>
            <a:r>
              <a:rPr lang="en-US" dirty="0"/>
              <a:t>Classify each point into the cluster whose center it is closest to.</a:t>
            </a:r>
          </a:p>
          <a:p>
            <a:r>
              <a:rPr lang="en-US" dirty="0"/>
              <a:t>Select a new point in each cluster that minimizes the sum of distances of all points in that cluster from itself.</a:t>
            </a:r>
          </a:p>
          <a:p>
            <a:r>
              <a:rPr lang="en-US" dirty="0"/>
              <a:t>Repeat </a:t>
            </a:r>
            <a:r>
              <a:rPr lang="en-US" b="1" dirty="0"/>
              <a:t>Step 2</a:t>
            </a:r>
            <a:r>
              <a:rPr lang="en-US" dirty="0"/>
              <a:t> until the centers stop changing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557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Mixture Model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Gaussian Mixture Models (GMMs) assume that there are a certain number of Gaussian distributions, and each of these distributions represent a cluster. </a:t>
            </a:r>
            <a:endParaRPr lang="en-US" dirty="0" smtClean="0"/>
          </a:p>
          <a:p>
            <a:r>
              <a:rPr lang="en-US" dirty="0" smtClean="0"/>
              <a:t>Hence</a:t>
            </a:r>
            <a:r>
              <a:rPr lang="en-US" dirty="0"/>
              <a:t>, a Gaussian Mixture Model tends to group the data points belonging to a single distribution </a:t>
            </a:r>
            <a:r>
              <a:rPr lang="en-US" dirty="0" smtClean="0"/>
              <a:t>together</a:t>
            </a:r>
          </a:p>
          <a:p>
            <a:r>
              <a:rPr lang="en-US" dirty="0"/>
              <a:t>Let’s say we have three Gaussian distributions </a:t>
            </a:r>
            <a:r>
              <a:rPr lang="en-US" dirty="0" smtClean="0"/>
              <a:t>– </a:t>
            </a:r>
            <a:r>
              <a:rPr lang="en-US" dirty="0"/>
              <a:t>GD1, GD2, and GD3.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have a certain mean (μ1, μ2, μ3) and variance (σ1, σ2, σ3) value respectively.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a given set of data points, our GMM would identify the probability of each data point belonging to each of these distributions.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803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Gaussian Mixture Models are probabilistic models and use the soft clustering approach for distributing the points in different clusters</a:t>
            </a:r>
            <a:r>
              <a:rPr lang="en-US" b="1" dirty="0" smtClean="0"/>
              <a:t>.</a:t>
            </a:r>
          </a:p>
          <a:p>
            <a:r>
              <a:rPr lang="en-US" dirty="0"/>
              <a:t>Here, we have three clusters that are denoted by three colors – Blue, Green, and Cyan. </a:t>
            </a:r>
            <a:endParaRPr lang="en-US" dirty="0" smtClean="0"/>
          </a:p>
          <a:p>
            <a:r>
              <a:rPr lang="en-US" dirty="0" smtClean="0"/>
              <a:t>Let’s </a:t>
            </a:r>
            <a:r>
              <a:rPr lang="en-US" dirty="0"/>
              <a:t>take the data point highlighted in red.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probability of this point being a part of the blue cluster is 1, while the probability of it being a part of the green or cyan clusters is 0.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2093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gaussian mixture model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1249" y="2145323"/>
            <a:ext cx="6400799" cy="448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565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consider another point – somewhere in between the blue and </a:t>
            </a:r>
            <a:r>
              <a:rPr lang="en-US" dirty="0" smtClean="0"/>
              <a:t>cyan.</a:t>
            </a:r>
          </a:p>
          <a:p>
            <a:r>
              <a:rPr lang="en-US" dirty="0" smtClean="0"/>
              <a:t>The </a:t>
            </a:r>
            <a:r>
              <a:rPr lang="en-US" dirty="0"/>
              <a:t>probability that this point is a part of cluster green is 0,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the probability that this belongs to blue and cyan is 0.2 and 0.8 respectively.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34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https://cdn.analyticsvidhya.com/wp-content/uploads/2019/10/Screenshot-from-2019-10-21-12-53-29-300x204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2948" y="2053883"/>
            <a:ext cx="6379698" cy="462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8564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Gaussian Distribution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has a bell-shaped curve, with the data points symmetrically distributed around the mean value.</a:t>
            </a:r>
          </a:p>
          <a:p>
            <a:r>
              <a:rPr lang="en-US" dirty="0"/>
              <a:t>The below image has a few Gaussian distributions with a difference in mean (μ) and variance (σ</a:t>
            </a:r>
            <a:r>
              <a:rPr lang="en-US" baseline="30000" dirty="0"/>
              <a:t>2</a:t>
            </a:r>
            <a:r>
              <a:rPr lang="en-US" dirty="0"/>
              <a:t>).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5053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gaussian mixture model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3293" y="1244991"/>
            <a:ext cx="8785274" cy="5401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36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Density Function</a:t>
            </a:r>
            <a:endParaRPr lang="en-IN" dirty="0"/>
          </a:p>
        </p:txBody>
      </p:sp>
      <p:pic>
        <p:nvPicPr>
          <p:cNvPr id="4098" name="Picture 2" descr="gaussian distributio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040" y="1441939"/>
            <a:ext cx="8503919" cy="2869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34461" y="4969302"/>
            <a:ext cx="740429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95858"/>
                </a:solidFill>
                <a:latin typeface="roboto"/>
              </a:rPr>
              <a:t>But this would only be true for a single variable. </a:t>
            </a:r>
            <a:endParaRPr lang="en-US" dirty="0" smtClean="0">
              <a:solidFill>
                <a:srgbClr val="595858"/>
              </a:solidFill>
              <a:latin typeface="roboto"/>
            </a:endParaRPr>
          </a:p>
          <a:p>
            <a:endParaRPr lang="en-US" dirty="0">
              <a:solidFill>
                <a:srgbClr val="595858"/>
              </a:solidFill>
              <a:latin typeface="roboto"/>
            </a:endParaRPr>
          </a:p>
          <a:p>
            <a:r>
              <a:rPr lang="en-US" dirty="0" smtClean="0">
                <a:solidFill>
                  <a:srgbClr val="595858"/>
                </a:solidFill>
                <a:latin typeface="roboto"/>
              </a:rPr>
              <a:t>In </a:t>
            </a:r>
            <a:r>
              <a:rPr lang="en-US" dirty="0">
                <a:solidFill>
                  <a:srgbClr val="595858"/>
                </a:solidFill>
                <a:latin typeface="roboto"/>
              </a:rPr>
              <a:t>the case of two variables, instead of a 2D bell-shaped </a:t>
            </a:r>
            <a:r>
              <a:rPr lang="en-US" dirty="0" smtClean="0">
                <a:solidFill>
                  <a:srgbClr val="595858"/>
                </a:solidFill>
                <a:latin typeface="roboto"/>
              </a:rPr>
              <a:t>curve</a:t>
            </a:r>
            <a:r>
              <a:rPr lang="en-US" u="sng" dirty="0">
                <a:solidFill>
                  <a:srgbClr val="0037EE"/>
                </a:solidFill>
                <a:latin typeface="roboto"/>
                <a:hlinkClick r:id="rId3"/>
              </a:rPr>
              <a:t/>
            </a:r>
            <a:br>
              <a:rPr lang="en-US" u="sng" dirty="0">
                <a:solidFill>
                  <a:srgbClr val="0037EE"/>
                </a:solidFill>
                <a:latin typeface="roboto"/>
                <a:hlinkClick r:id="rId3"/>
              </a:rPr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7297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122" name="Picture 2" descr="gaussian mixture model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36" y="1825893"/>
            <a:ext cx="4736825" cy="369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gaussian distribu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825" y="1825893"/>
            <a:ext cx="5605975" cy="98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672797" y="300250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595858"/>
                </a:solidFill>
                <a:latin typeface="roboto"/>
              </a:rPr>
              <a:t>where x is the input vector, μ is the 2D mean vector, and Σ is the 2×2 covariance matrix. </a:t>
            </a:r>
            <a:endParaRPr lang="en-US" dirty="0" smtClean="0">
              <a:solidFill>
                <a:srgbClr val="595858"/>
              </a:solidFill>
              <a:latin typeface="roboto"/>
            </a:endParaRPr>
          </a:p>
          <a:p>
            <a:endParaRPr lang="en-US" dirty="0">
              <a:solidFill>
                <a:srgbClr val="595858"/>
              </a:solidFill>
              <a:latin typeface="roboto"/>
            </a:endParaRPr>
          </a:p>
          <a:p>
            <a:r>
              <a:rPr lang="en-US" dirty="0" smtClean="0">
                <a:solidFill>
                  <a:srgbClr val="595858"/>
                </a:solidFill>
                <a:latin typeface="roboto"/>
              </a:rPr>
              <a:t>The </a:t>
            </a:r>
            <a:r>
              <a:rPr lang="en-US" dirty="0">
                <a:solidFill>
                  <a:srgbClr val="595858"/>
                </a:solidFill>
                <a:latin typeface="roboto"/>
              </a:rPr>
              <a:t>covariance would now define the shape of this curve.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034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Expectation-Maximization (EM) is a statistical algorithm for finding the right model parameters. We typically use EM when the data has missing values, or in other words, when the data is </a:t>
            </a:r>
            <a:r>
              <a:rPr lang="en-US" dirty="0" smtClean="0"/>
              <a:t>incomplete</a:t>
            </a:r>
          </a:p>
          <a:p>
            <a:r>
              <a:rPr lang="en-US" b="1" dirty="0"/>
              <a:t>Expectation-Maximization tries to use the existing data to determine the optimum values for these variables and then finds the model parameters.</a:t>
            </a:r>
            <a:r>
              <a:rPr lang="en-US" dirty="0"/>
              <a:t> </a:t>
            </a:r>
            <a:endParaRPr lang="en-US" dirty="0" smtClean="0"/>
          </a:p>
          <a:p>
            <a:r>
              <a:rPr lang="en-US" dirty="0"/>
              <a:t>Broadly, the Expectation-Maximization algorithm has two steps:</a:t>
            </a:r>
          </a:p>
          <a:p>
            <a:r>
              <a:rPr lang="en-US" b="1" dirty="0"/>
              <a:t>E-step:</a:t>
            </a:r>
            <a:r>
              <a:rPr lang="en-US" dirty="0"/>
              <a:t> In this step, the available data is used to estimate (guess) the values of the missing variables</a:t>
            </a:r>
          </a:p>
          <a:p>
            <a:r>
              <a:rPr lang="en-US" b="1" dirty="0"/>
              <a:t>M-step:</a:t>
            </a:r>
            <a:r>
              <a:rPr lang="en-US" dirty="0"/>
              <a:t> Based on the estimated values generated in the E-step, the complete data is used to update the parameters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821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Let’s say we need to assign </a:t>
            </a:r>
            <a:r>
              <a:rPr lang="en-US" i="1" dirty="0"/>
              <a:t>k</a:t>
            </a:r>
            <a:r>
              <a:rPr lang="en-US" dirty="0"/>
              <a:t> number of clusters.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that there are k Gaussian distributions, with the mean and covariance values to be μ</a:t>
            </a:r>
            <a:r>
              <a:rPr lang="en-US" baseline="-25000" dirty="0"/>
              <a:t>1</a:t>
            </a:r>
            <a:r>
              <a:rPr lang="en-US" dirty="0"/>
              <a:t>, μ</a:t>
            </a:r>
            <a:r>
              <a:rPr lang="en-US" baseline="-25000" dirty="0"/>
              <a:t>2, .. </a:t>
            </a:r>
            <a:r>
              <a:rPr lang="en-US" baseline="-25000" dirty="0" err="1"/>
              <a:t>μk</a:t>
            </a:r>
            <a:r>
              <a:rPr lang="en-US" dirty="0"/>
              <a:t> and Σ</a:t>
            </a:r>
            <a:r>
              <a:rPr lang="en-US" baseline="-25000" dirty="0"/>
              <a:t>1</a:t>
            </a:r>
            <a:r>
              <a:rPr lang="en-US" dirty="0"/>
              <a:t>, Σ</a:t>
            </a:r>
            <a:r>
              <a:rPr lang="en-US" baseline="-25000" dirty="0"/>
              <a:t>2</a:t>
            </a:r>
            <a:r>
              <a:rPr lang="en-US" dirty="0"/>
              <a:t>, .. </a:t>
            </a:r>
            <a:r>
              <a:rPr lang="en-US" dirty="0" err="1"/>
              <a:t>Σk</a:t>
            </a:r>
            <a:r>
              <a:rPr lang="en-US" dirty="0"/>
              <a:t> . </a:t>
            </a:r>
            <a:endParaRPr lang="en-US" dirty="0" smtClean="0"/>
          </a:p>
          <a:p>
            <a:r>
              <a:rPr lang="en-US" dirty="0" smtClean="0"/>
              <a:t>Additionally</a:t>
            </a:r>
            <a:r>
              <a:rPr lang="en-US" dirty="0"/>
              <a:t>, there is another parameter for the distribution that defines the number of points for the distribution. </a:t>
            </a:r>
            <a:endParaRPr lang="en-US" dirty="0" smtClean="0"/>
          </a:p>
          <a:p>
            <a:r>
              <a:rPr lang="en-US" dirty="0" smtClean="0"/>
              <a:t>Or </a:t>
            </a:r>
            <a:r>
              <a:rPr lang="en-US" dirty="0"/>
              <a:t>in other words, the density of the distribution is represented with </a:t>
            </a:r>
            <a:r>
              <a:rPr lang="en-US" dirty="0" err="1"/>
              <a:t>Π</a:t>
            </a:r>
            <a:r>
              <a:rPr lang="en-US" baseline="-25000" dirty="0" err="1"/>
              <a:t>i</a:t>
            </a:r>
            <a:r>
              <a:rPr lang="en-US" dirty="0"/>
              <a:t>.</a:t>
            </a:r>
          </a:p>
          <a:p>
            <a:r>
              <a:rPr lang="en-US" dirty="0"/>
              <a:t>Now, we need to find the values for these parameters to define the Gaussian distributions. </a:t>
            </a:r>
            <a:endParaRPr lang="en-US" dirty="0" smtClean="0"/>
          </a:p>
          <a:p>
            <a:r>
              <a:rPr lang="en-US" dirty="0" smtClean="0"/>
              <a:t>We </a:t>
            </a:r>
            <a:r>
              <a:rPr lang="en-US" dirty="0"/>
              <a:t>already decided the number of clusters, and randomly assigned the values for the mean, covariance, and density. </a:t>
            </a:r>
            <a:endParaRPr lang="en-US" dirty="0" smtClean="0"/>
          </a:p>
          <a:p>
            <a:r>
              <a:rPr lang="en-US" dirty="0" smtClean="0"/>
              <a:t>Next</a:t>
            </a:r>
            <a:r>
              <a:rPr lang="en-US" dirty="0"/>
              <a:t>, we’ll perform the E-step and the M-step!</a:t>
            </a:r>
          </a:p>
        </p:txBody>
      </p:sp>
    </p:spTree>
    <p:extLst>
      <p:ext uri="{BB962C8B-B14F-4D97-AF65-F5344CB8AC3E}">
        <p14:creationId xmlns:p14="http://schemas.microsoft.com/office/powerpoint/2010/main" val="299504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176" t="26745" r="35631" b="29448"/>
          <a:stretch/>
        </p:blipFill>
        <p:spPr>
          <a:xfrm>
            <a:off x="893298" y="253218"/>
            <a:ext cx="10121705" cy="6119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57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499" t="18501" r="35524" b="20882"/>
          <a:stretch/>
        </p:blipFill>
        <p:spPr>
          <a:xfrm>
            <a:off x="838200" y="365125"/>
            <a:ext cx="9713742" cy="58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426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only considers the mean to update the centroid while GMM takes into account the mean as well as the variance of the data!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0004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Machine Learning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smtClean="0"/>
              <a:t>Supervised Learning</a:t>
            </a:r>
          </a:p>
          <a:p>
            <a:r>
              <a:rPr lang="en-IN" dirty="0"/>
              <a:t>A supervised learning algorithm learns from </a:t>
            </a:r>
            <a:r>
              <a:rPr lang="en-IN" dirty="0" err="1"/>
              <a:t>labeled</a:t>
            </a:r>
            <a:r>
              <a:rPr lang="en-IN" dirty="0"/>
              <a:t> training data, helps you to predict outcomes for unforeseen data. </a:t>
            </a:r>
          </a:p>
          <a:p>
            <a:pPr marL="0" indent="0">
              <a:buNone/>
            </a:pPr>
            <a:r>
              <a:rPr lang="en-US" dirty="0" smtClean="0"/>
              <a:t>Unsupervised Learning</a:t>
            </a:r>
          </a:p>
          <a:p>
            <a:r>
              <a:rPr lang="en-IN" dirty="0"/>
              <a:t>Unsupervised learning is a machine learning technique, where you do not need to supervise the model. </a:t>
            </a:r>
          </a:p>
          <a:p>
            <a:r>
              <a:rPr lang="en-IN" dirty="0"/>
              <a:t>Instead, you need to allow the model to work on its own to discover information. It mainly deals with the unlabelled data.</a:t>
            </a:r>
          </a:p>
          <a:p>
            <a:pPr marL="0" indent="0">
              <a:buNone/>
            </a:pPr>
            <a:r>
              <a:rPr lang="en-US" dirty="0" smtClean="0"/>
              <a:t>Semi supervised Learning</a:t>
            </a:r>
          </a:p>
          <a:p>
            <a:pPr fontAlgn="base"/>
            <a:r>
              <a:rPr lang="en-IN" b="1" dirty="0"/>
              <a:t>Semi-supervised learning</a:t>
            </a:r>
            <a:r>
              <a:rPr lang="en-IN" dirty="0"/>
              <a:t> is a learning problem that involves a small number of </a:t>
            </a:r>
            <a:r>
              <a:rPr lang="en-IN" dirty="0" err="1"/>
              <a:t>labeled</a:t>
            </a:r>
            <a:r>
              <a:rPr lang="en-IN" dirty="0"/>
              <a:t> examples and a large number of </a:t>
            </a:r>
            <a:r>
              <a:rPr lang="en-IN" dirty="0" err="1"/>
              <a:t>unlabeled</a:t>
            </a:r>
            <a:r>
              <a:rPr lang="en-IN" dirty="0"/>
              <a:t> examples.</a:t>
            </a:r>
          </a:p>
          <a:p>
            <a:r>
              <a:rPr lang="en-IN" dirty="0"/>
              <a:t>Learning problems of this type are challenging as neither supervised nor unsupervised learning algorithms are able to make effective use of the mixtures of </a:t>
            </a:r>
            <a:r>
              <a:rPr lang="en-IN" dirty="0" err="1"/>
              <a:t>labeled</a:t>
            </a:r>
            <a:r>
              <a:rPr lang="en-IN" dirty="0"/>
              <a:t> and untellable data. </a:t>
            </a:r>
            <a:endParaRPr lang="en-US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635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Supervised </a:t>
            </a:r>
            <a:r>
              <a:rPr lang="en-US" dirty="0"/>
              <a:t>Machine Learning algorithm can be broadly classified into Regression and Classification Algorithms.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Regression algorithms, we have predicted the output for continuous values, but to predict the categorical values, we need Classification algorithms</a:t>
            </a:r>
            <a:r>
              <a:rPr lang="en-US" dirty="0" smtClean="0"/>
              <a:t>.</a:t>
            </a:r>
          </a:p>
          <a:p>
            <a:r>
              <a:rPr lang="en-IN" dirty="0"/>
              <a:t>Classification Algorithm</a:t>
            </a:r>
          </a:p>
          <a:p>
            <a:r>
              <a:rPr lang="en-US" dirty="0"/>
              <a:t>The Classification algorithm is a Supervised Learning technique that is used to identify the category of new observations on the basis of training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In </a:t>
            </a:r>
            <a:r>
              <a:rPr lang="en-US" dirty="0"/>
              <a:t>classification algorithm, a discrete output function(y) is mapped to input variable(x).</a:t>
            </a:r>
          </a:p>
          <a:p>
            <a:r>
              <a:rPr lang="en-US" dirty="0"/>
              <a:t>y=f(x), where y = categorical output 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76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classification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which implements the classification on a dataset is known as a classifier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Binary </a:t>
            </a:r>
            <a:r>
              <a:rPr lang="en-US" b="1" dirty="0"/>
              <a:t>Classifier:</a:t>
            </a:r>
            <a:r>
              <a:rPr lang="en-US" dirty="0"/>
              <a:t> If the classification problem has only two possible outcomes, then it is called as Binary Classifier.</a:t>
            </a:r>
            <a:br>
              <a:rPr lang="en-US" dirty="0"/>
            </a:br>
            <a:r>
              <a:rPr lang="en-US" b="1" dirty="0"/>
              <a:t>Examples:</a:t>
            </a:r>
            <a:r>
              <a:rPr lang="en-US" dirty="0"/>
              <a:t> YES or NO, MALE or FEMALE, SPAM or NOT SPAM, CAT or DOG, etc.</a:t>
            </a:r>
          </a:p>
          <a:p>
            <a:r>
              <a:rPr lang="en-US" b="1" dirty="0"/>
              <a:t>Multi-class Classifier:</a:t>
            </a:r>
            <a:r>
              <a:rPr lang="en-US" dirty="0"/>
              <a:t> If a classification problem has more than two outcomes, then it is called as Multi-class Classifier.</a:t>
            </a:r>
            <a:br>
              <a:rPr lang="en-US" dirty="0"/>
            </a:br>
            <a:r>
              <a:rPr lang="en-US" b="1" dirty="0"/>
              <a:t>Example:</a:t>
            </a:r>
            <a:r>
              <a:rPr lang="en-US" dirty="0"/>
              <a:t> Classifications of types of crops, Classification of types of music.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8297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the classification problems, there are two types of learners:</a:t>
            </a:r>
          </a:p>
          <a:p>
            <a:r>
              <a:rPr lang="en-US" b="1" dirty="0"/>
              <a:t>Lazy Learners:</a:t>
            </a:r>
            <a:r>
              <a:rPr lang="en-US" dirty="0"/>
              <a:t> Lazy Learner firstly stores the training dataset and wait until it receives the test dataset.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Lazy learner case, classification is done on the basis of the most related data stored in the training dataset.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takes less time in training but more time for </a:t>
            </a:r>
            <a:r>
              <a:rPr lang="en-US" dirty="0" smtClean="0"/>
              <a:t>predictions.</a:t>
            </a:r>
          </a:p>
          <a:p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 K-NN algorithm, Case-based reasoning</a:t>
            </a:r>
          </a:p>
          <a:p>
            <a:r>
              <a:rPr lang="en-US" b="1" dirty="0"/>
              <a:t>Eager Learners:</a:t>
            </a:r>
            <a:r>
              <a:rPr lang="en-US" dirty="0"/>
              <a:t> Eager Learners develop a classification model based on a training dataset before receiving a test dataset. </a:t>
            </a:r>
            <a:endParaRPr lang="en-US" dirty="0" smtClean="0"/>
          </a:p>
          <a:p>
            <a:r>
              <a:rPr lang="en-US" dirty="0" smtClean="0"/>
              <a:t>Opposite </a:t>
            </a:r>
            <a:r>
              <a:rPr lang="en-US" dirty="0"/>
              <a:t>to Lazy learners, Eager learners take less time in training and more time in prediction. </a:t>
            </a:r>
            <a:endParaRPr lang="en-US" dirty="0" smtClean="0"/>
          </a:p>
          <a:p>
            <a:r>
              <a:rPr lang="en-US" b="1" dirty="0" smtClean="0"/>
              <a:t>Example</a:t>
            </a:r>
            <a:r>
              <a:rPr lang="en-US" b="1" dirty="0"/>
              <a:t>:</a:t>
            </a:r>
            <a:r>
              <a:rPr lang="en-US" dirty="0"/>
              <a:t> Decision Trees, Naïve Bayes, ANN.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8863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</a:t>
            </a:r>
            <a:r>
              <a:rPr lang="en-IN" dirty="0" smtClean="0"/>
              <a:t>of Classification </a:t>
            </a:r>
            <a:r>
              <a:rPr lang="en-IN" dirty="0"/>
              <a:t>Algorithms: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 smtClean="0"/>
              <a:t>Classification </a:t>
            </a:r>
            <a:r>
              <a:rPr lang="en-IN" dirty="0"/>
              <a:t>Algorithms can be further divided into the Mainly two category:</a:t>
            </a:r>
          </a:p>
          <a:p>
            <a:r>
              <a:rPr lang="en-IN" b="1" dirty="0"/>
              <a:t>Linear Models</a:t>
            </a:r>
            <a:endParaRPr lang="en-IN" dirty="0"/>
          </a:p>
          <a:p>
            <a:pPr lvl="1"/>
            <a:r>
              <a:rPr lang="en-IN" dirty="0"/>
              <a:t>Logistic Regression</a:t>
            </a:r>
          </a:p>
          <a:p>
            <a:pPr lvl="1"/>
            <a:r>
              <a:rPr lang="en-IN" dirty="0"/>
              <a:t>Support Vector Machines</a:t>
            </a:r>
          </a:p>
          <a:p>
            <a:r>
              <a:rPr lang="en-IN" b="1" dirty="0"/>
              <a:t>Non-linear Models</a:t>
            </a:r>
            <a:endParaRPr lang="en-IN" dirty="0"/>
          </a:p>
          <a:p>
            <a:pPr lvl="1"/>
            <a:r>
              <a:rPr lang="en-IN" b="1" dirty="0"/>
              <a:t>K-Nearest Neighbours</a:t>
            </a:r>
          </a:p>
          <a:p>
            <a:pPr lvl="1"/>
            <a:r>
              <a:rPr lang="en-IN" dirty="0"/>
              <a:t>Kernel SVM</a:t>
            </a:r>
          </a:p>
          <a:p>
            <a:pPr lvl="1"/>
            <a:r>
              <a:rPr lang="en-IN" b="1" dirty="0"/>
              <a:t>Naïve Bayes</a:t>
            </a:r>
          </a:p>
          <a:p>
            <a:pPr lvl="1"/>
            <a:r>
              <a:rPr lang="en-IN" dirty="0"/>
              <a:t>Decision Tree Classification</a:t>
            </a:r>
          </a:p>
          <a:p>
            <a:pPr lvl="1"/>
            <a:r>
              <a:rPr lang="en-IN" dirty="0"/>
              <a:t>Random Forest Classification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174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K-Nearest </a:t>
            </a:r>
            <a:r>
              <a:rPr lang="en-US" dirty="0" err="1"/>
              <a:t>Neighbour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Based </a:t>
            </a:r>
            <a:r>
              <a:rPr lang="en-US" dirty="0"/>
              <a:t>on Supervised Learning technique.</a:t>
            </a:r>
          </a:p>
          <a:p>
            <a:r>
              <a:rPr lang="en-US" dirty="0" smtClean="0"/>
              <a:t>Assumes the </a:t>
            </a:r>
            <a:r>
              <a:rPr lang="en-US" dirty="0"/>
              <a:t>similarity between the new case/data and available cases and put the new case into the category that is most similar to the available categories.</a:t>
            </a:r>
          </a:p>
          <a:p>
            <a:r>
              <a:rPr lang="en-US" dirty="0"/>
              <a:t>K-NN algorithm stores all the available data and classifies a new data point based on the similarity.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means when new data appears then it can be easily classified into a well suite category by using K- NN algorithm.</a:t>
            </a:r>
          </a:p>
          <a:p>
            <a:r>
              <a:rPr lang="en-US" dirty="0" smtClean="0"/>
              <a:t>K-NN </a:t>
            </a:r>
            <a:r>
              <a:rPr lang="en-US" dirty="0"/>
              <a:t>is a </a:t>
            </a:r>
            <a:r>
              <a:rPr lang="en-US" b="1" dirty="0"/>
              <a:t>non-parametric algorithm</a:t>
            </a:r>
            <a:r>
              <a:rPr lang="en-US" dirty="0"/>
              <a:t>, which means it does not make any assumption on underlying data.</a:t>
            </a:r>
          </a:p>
          <a:p>
            <a:r>
              <a:rPr lang="en-US" dirty="0"/>
              <a:t>It is also called a </a:t>
            </a:r>
            <a:r>
              <a:rPr lang="en-US" b="1" dirty="0"/>
              <a:t>lazy learner algorithm</a:t>
            </a:r>
            <a:r>
              <a:rPr lang="en-US" dirty="0"/>
              <a:t> because it does not learn from the training set immediately instead it stores the dataset and at the time of classification, it performs an action on the dataset.</a:t>
            </a:r>
          </a:p>
          <a:p>
            <a:r>
              <a:rPr lang="en-US" dirty="0"/>
              <a:t>KNN algorithm at the training phase just stores the dataset and when it gets new data, then it classifies that data into a category that is much similar to the new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12873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KNN Classifier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 descr="K-Nearest Neighbor(KNN) Algorithm for Machine Learni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117725"/>
            <a:ext cx="4762500" cy="26225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63017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K-NN</a:t>
            </a:r>
            <a:endParaRPr lang="en-IN" dirty="0"/>
          </a:p>
        </p:txBody>
      </p:sp>
      <p:pic>
        <p:nvPicPr>
          <p:cNvPr id="6146" name="Picture 2" descr="K-Nearest Neighbor(KNN) Algorithm for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2572544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179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Step-1:</a:t>
            </a:r>
            <a:r>
              <a:rPr lang="en-US" dirty="0"/>
              <a:t> Select the number K of the neighbors</a:t>
            </a:r>
          </a:p>
          <a:p>
            <a:r>
              <a:rPr lang="en-US" b="1" dirty="0"/>
              <a:t>Step-2:</a:t>
            </a:r>
            <a:r>
              <a:rPr lang="en-US" dirty="0"/>
              <a:t> Calculate the Euclidean distance of </a:t>
            </a:r>
            <a:r>
              <a:rPr lang="en-US" b="1" dirty="0"/>
              <a:t>K number of neighbors</a:t>
            </a:r>
            <a:endParaRPr lang="en-US" dirty="0"/>
          </a:p>
          <a:p>
            <a:r>
              <a:rPr lang="en-US" b="1" dirty="0"/>
              <a:t>Step-3:</a:t>
            </a:r>
            <a:r>
              <a:rPr lang="en-US" dirty="0"/>
              <a:t> Take the K nearest neighbors as per the calculated Euclidean distance.</a:t>
            </a:r>
          </a:p>
          <a:p>
            <a:r>
              <a:rPr lang="en-US" b="1" dirty="0"/>
              <a:t>Step-4:</a:t>
            </a:r>
            <a:r>
              <a:rPr lang="en-US" dirty="0"/>
              <a:t> Among these k neighbors, count the number of the data points in each category.</a:t>
            </a:r>
          </a:p>
          <a:p>
            <a:r>
              <a:rPr lang="en-US" b="1" dirty="0"/>
              <a:t>Step-5:</a:t>
            </a:r>
            <a:r>
              <a:rPr lang="en-US" dirty="0"/>
              <a:t> Assign the new data points to that category for which the number of the neighbor is maximum.</a:t>
            </a:r>
          </a:p>
          <a:p>
            <a:r>
              <a:rPr lang="en-US" b="1" dirty="0"/>
              <a:t>Step-6:</a:t>
            </a:r>
            <a:r>
              <a:rPr lang="en-US" dirty="0"/>
              <a:t> Our model is ready.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67783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0" name="Picture 2" descr="K-Nearest Neighbor(KNN) Algorithm for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096294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400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8194" name="Picture 2" descr="K-Nearest Neighbor(KNN) Algorithm for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096294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748902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218" name="Picture 2" descr="K-Nearest Neighbor(KNN) Algorithm for Machine Learn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50" y="2096294"/>
            <a:ext cx="47625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2600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K value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is no particular way to determine the best value for "K", so we need to try some values to find the best out of them.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most preferred value for K is 5.</a:t>
            </a:r>
          </a:p>
          <a:p>
            <a:r>
              <a:rPr lang="en-US" dirty="0"/>
              <a:t>A very low value for K such as K=1 or K=2, can be noisy and lead to the effects of outliers in the model.</a:t>
            </a:r>
          </a:p>
          <a:p>
            <a:r>
              <a:rPr lang="en-US" dirty="0"/>
              <a:t>Large values for K are good, but it may find some difficulties.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1435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Advantages </a:t>
            </a:r>
            <a:r>
              <a:rPr lang="en-US" dirty="0"/>
              <a:t>of KNN Algorithm:</a:t>
            </a:r>
          </a:p>
          <a:p>
            <a:r>
              <a:rPr lang="en-US" dirty="0" smtClean="0"/>
              <a:t>It </a:t>
            </a:r>
            <a:r>
              <a:rPr lang="en-US" dirty="0"/>
              <a:t>is simple to implement.</a:t>
            </a:r>
          </a:p>
          <a:p>
            <a:r>
              <a:rPr lang="en-US" dirty="0"/>
              <a:t>It is robust to the noisy training data</a:t>
            </a:r>
          </a:p>
          <a:p>
            <a:r>
              <a:rPr lang="en-US" dirty="0"/>
              <a:t>It can be more effective if the training data is large.</a:t>
            </a:r>
          </a:p>
          <a:p>
            <a:pPr marL="0" indent="0">
              <a:buNone/>
            </a:pPr>
            <a:r>
              <a:rPr lang="en-US" dirty="0"/>
              <a:t>Disadvantages of KNN Algorithm:</a:t>
            </a:r>
          </a:p>
          <a:p>
            <a:r>
              <a:rPr lang="en-US" dirty="0"/>
              <a:t>Always needs to determine the value of K which may be complex some time.</a:t>
            </a:r>
          </a:p>
          <a:p>
            <a:r>
              <a:rPr lang="en-US" dirty="0"/>
              <a:t>The computation cost is high because of calculating the distance between the data points for all the training samples.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173738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Naïve Bayes Classifier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Bayes algorithm is a supervised learning algorithm, </a:t>
            </a:r>
            <a:endParaRPr lang="en-US" dirty="0" smtClean="0"/>
          </a:p>
          <a:p>
            <a:r>
              <a:rPr lang="en-US" dirty="0" smtClean="0"/>
              <a:t>Based </a:t>
            </a:r>
            <a:r>
              <a:rPr lang="en-US" dirty="0"/>
              <a:t>on </a:t>
            </a:r>
            <a:r>
              <a:rPr lang="en-US" b="1" dirty="0"/>
              <a:t>Bayes theorem</a:t>
            </a:r>
            <a:r>
              <a:rPr lang="en-US" dirty="0"/>
              <a:t> and used for solving classification problems.</a:t>
            </a:r>
          </a:p>
          <a:p>
            <a:r>
              <a:rPr lang="en-US" dirty="0"/>
              <a:t>It is mainly used in </a:t>
            </a:r>
            <a:r>
              <a:rPr lang="en-US" i="1" dirty="0"/>
              <a:t>text classification</a:t>
            </a:r>
            <a:r>
              <a:rPr lang="en-US" dirty="0"/>
              <a:t> that includes a high-dimensional training dataset.</a:t>
            </a:r>
          </a:p>
          <a:p>
            <a:r>
              <a:rPr lang="en-US" dirty="0"/>
              <a:t>Naïve Bayes Classifier </a:t>
            </a:r>
            <a:r>
              <a:rPr lang="en-US" dirty="0" smtClean="0"/>
              <a:t>helps </a:t>
            </a:r>
            <a:r>
              <a:rPr lang="en-US" dirty="0"/>
              <a:t>in building the fast machine learning models that can make quick predictions.</a:t>
            </a:r>
          </a:p>
          <a:p>
            <a:r>
              <a:rPr lang="en-US" b="1" dirty="0"/>
              <a:t>It is a probabilistic classifier, which means it predicts on the basis of the probability of an object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00656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Naïve Bayes algorithm is comprised of two words Naïve and Bayes, Which can be described as:</a:t>
            </a:r>
          </a:p>
          <a:p>
            <a:r>
              <a:rPr lang="en-US" b="1" dirty="0"/>
              <a:t>Naïve</a:t>
            </a:r>
            <a:r>
              <a:rPr lang="en-US" dirty="0"/>
              <a:t>: It is called Naïve because it assumes that the occurrence of a certain feature is independent of the occurrence of other features. </a:t>
            </a:r>
            <a:endParaRPr lang="en-US" dirty="0" smtClean="0"/>
          </a:p>
          <a:p>
            <a:r>
              <a:rPr lang="en-US" dirty="0" smtClean="0"/>
              <a:t>Hence </a:t>
            </a:r>
            <a:r>
              <a:rPr lang="en-US" dirty="0"/>
              <a:t>each feature individually contributes to identify </a:t>
            </a:r>
            <a:r>
              <a:rPr lang="en-US" dirty="0" smtClean="0"/>
              <a:t>without </a:t>
            </a:r>
            <a:r>
              <a:rPr lang="en-US" dirty="0"/>
              <a:t>depending on each other.</a:t>
            </a:r>
          </a:p>
          <a:p>
            <a:r>
              <a:rPr lang="en-US" b="1" dirty="0"/>
              <a:t>Bayes</a:t>
            </a:r>
            <a:r>
              <a:rPr lang="en-US" dirty="0"/>
              <a:t>: It is called Bayes because it depends on the principle of </a:t>
            </a:r>
            <a:r>
              <a:rPr lang="en-US" dirty="0">
                <a:hlinkClick r:id="rId2"/>
              </a:rPr>
              <a:t>Bayes' Theorem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82793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Bayes' theorem </a:t>
            </a:r>
            <a:r>
              <a:rPr lang="en-US" dirty="0" smtClean="0"/>
              <a:t>is </a:t>
            </a:r>
            <a:r>
              <a:rPr lang="en-US" dirty="0"/>
              <a:t>used to determine the probability of a hypothesis with prior knowledge. It depends on the conditional probability.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pic>
        <p:nvPicPr>
          <p:cNvPr id="10244" name="Picture 4" descr="Naïve Bayes Classifier Algorith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2986770"/>
            <a:ext cx="4479730" cy="2239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060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P(A|B) is Posterior probability</a:t>
            </a:r>
            <a:r>
              <a:rPr lang="en-US" dirty="0"/>
              <a:t>: Probability of hypothesis A on the observed event B</a:t>
            </a:r>
            <a:r>
              <a:rPr lang="en-US" dirty="0" smtClean="0"/>
              <a:t>.</a:t>
            </a:r>
          </a:p>
          <a:p>
            <a:r>
              <a:rPr lang="en-US" b="1" dirty="0"/>
              <a:t>P(B|A) is Likelihood probability</a:t>
            </a:r>
            <a:r>
              <a:rPr lang="en-US" dirty="0"/>
              <a:t>: Probability of the evidence given that the probability of a hypothesis is true.</a:t>
            </a:r>
          </a:p>
          <a:p>
            <a:r>
              <a:rPr lang="en-US" b="1" dirty="0"/>
              <a:t>P(A) is Prior Probability</a:t>
            </a:r>
            <a:r>
              <a:rPr lang="en-US" dirty="0"/>
              <a:t>: Probability of hypothesis before observing the evidence.</a:t>
            </a:r>
          </a:p>
          <a:p>
            <a:r>
              <a:rPr lang="en-US" b="1" dirty="0"/>
              <a:t>P(B) is Marginal Probability</a:t>
            </a:r>
            <a:r>
              <a:rPr lang="en-US" dirty="0"/>
              <a:t>: Probability of Evidence.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49674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we have a dataset of </a:t>
            </a:r>
            <a:r>
              <a:rPr lang="en-US" b="1" dirty="0"/>
              <a:t>weather conditions</a:t>
            </a:r>
            <a:r>
              <a:rPr lang="en-US" dirty="0"/>
              <a:t> and corresponding target variable "</a:t>
            </a:r>
            <a:r>
              <a:rPr lang="en-US" b="1" dirty="0"/>
              <a:t>Play</a:t>
            </a:r>
            <a:r>
              <a:rPr lang="en-US" dirty="0"/>
              <a:t>". </a:t>
            </a:r>
            <a:endParaRPr lang="en-US" dirty="0" smtClean="0"/>
          </a:p>
          <a:p>
            <a:r>
              <a:rPr lang="en-US" dirty="0" smtClean="0"/>
              <a:t>So </a:t>
            </a:r>
            <a:r>
              <a:rPr lang="en-US" dirty="0"/>
              <a:t>using this dataset we need to decide that whether we should play or not on a particular day according to the weather conditions. </a:t>
            </a:r>
            <a:endParaRPr lang="en-US" dirty="0" smtClean="0"/>
          </a:p>
          <a:p>
            <a:r>
              <a:rPr lang="en-US" dirty="0" smtClean="0"/>
              <a:t>Convert </a:t>
            </a:r>
            <a:r>
              <a:rPr lang="en-US" dirty="0"/>
              <a:t>the given dataset into frequency tables.</a:t>
            </a:r>
          </a:p>
          <a:p>
            <a:r>
              <a:rPr lang="en-US" dirty="0"/>
              <a:t>Generate Likelihood table by finding the probabilities of given features.</a:t>
            </a:r>
          </a:p>
          <a:p>
            <a:r>
              <a:rPr lang="en-US" dirty="0"/>
              <a:t>Now, use Bayes theorem to calculate the posterior probability.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99031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</a:t>
            </a:r>
            <a:r>
              <a:rPr lang="en-US" dirty="0"/>
              <a:t>: If the weather is sunny, then the Player should play or not?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5874" t="19470" r="17849" b="13445"/>
          <a:stretch/>
        </p:blipFill>
        <p:spPr>
          <a:xfrm>
            <a:off x="1477108" y="1589648"/>
            <a:ext cx="8074855" cy="52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482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952" t="34989" r="17527" b="10859"/>
          <a:stretch/>
        </p:blipFill>
        <p:spPr>
          <a:xfrm>
            <a:off x="731520" y="520505"/>
            <a:ext cx="1062228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9488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Applying </a:t>
            </a:r>
            <a:r>
              <a:rPr lang="en-IN" b="1" dirty="0" err="1"/>
              <a:t>Bayes'theorem</a:t>
            </a:r>
            <a:r>
              <a:rPr lang="en-IN" b="1" dirty="0"/>
              <a:t>: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 smtClean="0"/>
              <a:t>P(</a:t>
            </a:r>
            <a:r>
              <a:rPr lang="en-IN" b="1" dirty="0" err="1" smtClean="0"/>
              <a:t>Yes|Sunny</a:t>
            </a:r>
            <a:r>
              <a:rPr lang="en-IN" b="1" dirty="0"/>
              <a:t>)= P(</a:t>
            </a:r>
            <a:r>
              <a:rPr lang="en-IN" b="1" dirty="0" err="1"/>
              <a:t>Sunny|Yes</a:t>
            </a:r>
            <a:r>
              <a:rPr lang="en-IN" b="1" dirty="0"/>
              <a:t>)*P(Yes)/P(Sunny)</a:t>
            </a:r>
            <a:endParaRPr lang="en-IN" dirty="0"/>
          </a:p>
          <a:p>
            <a:r>
              <a:rPr lang="en-IN" dirty="0"/>
              <a:t>P(</a:t>
            </a:r>
            <a:r>
              <a:rPr lang="en-IN" dirty="0" err="1"/>
              <a:t>Sunny|Yes</a:t>
            </a:r>
            <a:r>
              <a:rPr lang="en-IN" dirty="0"/>
              <a:t>)= 3/10= 0.3</a:t>
            </a:r>
          </a:p>
          <a:p>
            <a:r>
              <a:rPr lang="en-IN" dirty="0"/>
              <a:t>P(Sunny)= 0.35</a:t>
            </a:r>
          </a:p>
          <a:p>
            <a:r>
              <a:rPr lang="en-IN" dirty="0"/>
              <a:t>P(Yes)=0.71</a:t>
            </a:r>
          </a:p>
          <a:p>
            <a:r>
              <a:rPr lang="en-IN" dirty="0"/>
              <a:t>So P(</a:t>
            </a:r>
            <a:r>
              <a:rPr lang="en-IN" dirty="0" err="1"/>
              <a:t>Yes|Sunny</a:t>
            </a:r>
            <a:r>
              <a:rPr lang="en-IN" dirty="0"/>
              <a:t>) = 0.3*0.71/0.35= </a:t>
            </a:r>
            <a:r>
              <a:rPr lang="en-IN" b="1" dirty="0"/>
              <a:t>0.60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P(</a:t>
            </a:r>
            <a:r>
              <a:rPr lang="en-IN" b="1" dirty="0" err="1"/>
              <a:t>No|Sunny</a:t>
            </a:r>
            <a:r>
              <a:rPr lang="en-IN" b="1" dirty="0"/>
              <a:t>)= P(</a:t>
            </a:r>
            <a:r>
              <a:rPr lang="en-IN" b="1" dirty="0" err="1"/>
              <a:t>Sunny|No</a:t>
            </a:r>
            <a:r>
              <a:rPr lang="en-IN" b="1" dirty="0"/>
              <a:t>)*P(No)/P(Sunny)</a:t>
            </a:r>
            <a:endParaRPr lang="en-IN" dirty="0"/>
          </a:p>
          <a:p>
            <a:r>
              <a:rPr lang="en-IN" dirty="0"/>
              <a:t>P(</a:t>
            </a:r>
            <a:r>
              <a:rPr lang="en-IN" dirty="0" err="1"/>
              <a:t>Sunny|NO</a:t>
            </a:r>
            <a:r>
              <a:rPr lang="en-IN" dirty="0"/>
              <a:t>)= 2/4=0.5</a:t>
            </a:r>
          </a:p>
          <a:p>
            <a:r>
              <a:rPr lang="en-IN" dirty="0"/>
              <a:t>P(No)= 0.29</a:t>
            </a:r>
          </a:p>
          <a:p>
            <a:r>
              <a:rPr lang="en-IN" dirty="0"/>
              <a:t>P(Sunny)= 0.35</a:t>
            </a:r>
          </a:p>
          <a:p>
            <a:r>
              <a:rPr lang="en-IN" dirty="0"/>
              <a:t>So P(</a:t>
            </a:r>
            <a:r>
              <a:rPr lang="en-IN" dirty="0" err="1"/>
              <a:t>No|Sunny</a:t>
            </a:r>
            <a:r>
              <a:rPr lang="en-IN" dirty="0"/>
              <a:t>)= 0.5*0.29/0.35 = </a:t>
            </a:r>
            <a:r>
              <a:rPr lang="en-IN" b="1" dirty="0"/>
              <a:t>0.41</a:t>
            </a:r>
            <a:endParaRPr lang="en-IN" dirty="0"/>
          </a:p>
          <a:p>
            <a:r>
              <a:rPr lang="en-IN" dirty="0"/>
              <a:t>So as we can see from the above calculation that </a:t>
            </a:r>
            <a:r>
              <a:rPr lang="en-IN" b="1" dirty="0"/>
              <a:t>P(</a:t>
            </a:r>
            <a:r>
              <a:rPr lang="en-IN" b="1" dirty="0" err="1"/>
              <a:t>Yes|Sunny</a:t>
            </a:r>
            <a:r>
              <a:rPr lang="en-IN" b="1" dirty="0"/>
              <a:t>)&gt;P(</a:t>
            </a:r>
            <a:r>
              <a:rPr lang="en-IN" b="1" dirty="0" err="1"/>
              <a:t>No|Sunny</a:t>
            </a:r>
            <a:r>
              <a:rPr lang="en-IN" b="1" dirty="0"/>
              <a:t>)</a:t>
            </a:r>
            <a:endParaRPr lang="en-IN" dirty="0"/>
          </a:p>
          <a:p>
            <a:r>
              <a:rPr lang="en-IN" b="1" dirty="0"/>
              <a:t>Hence on a Sunny day, Player can play the game.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225124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Advantages of Naïve Bayes Classifier:</a:t>
            </a:r>
          </a:p>
          <a:p>
            <a:r>
              <a:rPr lang="en-US" dirty="0"/>
              <a:t>Naïve Bayes is one of the fast and easy ML algorithms to predict a class of datasets.</a:t>
            </a:r>
          </a:p>
          <a:p>
            <a:r>
              <a:rPr lang="en-US" dirty="0"/>
              <a:t>It can be used for Binary as well as Multi-class Classifications.</a:t>
            </a:r>
          </a:p>
          <a:p>
            <a:r>
              <a:rPr lang="en-US" dirty="0"/>
              <a:t>It performs well in Multi-class predictions as compared to the other Algorithms.</a:t>
            </a:r>
          </a:p>
          <a:p>
            <a:r>
              <a:rPr lang="en-US" dirty="0"/>
              <a:t>It is the most popular choice for </a:t>
            </a:r>
            <a:r>
              <a:rPr lang="en-US" b="1" dirty="0"/>
              <a:t>text classification problems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Disadvantages of Naïve Bayes Classifier:</a:t>
            </a:r>
          </a:p>
          <a:p>
            <a:r>
              <a:rPr lang="en-US" dirty="0"/>
              <a:t>Naive Bayes assumes that all features are independent or unrelated, so it cannot learn the relationship between features.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17556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Artificial neural Network model</a:t>
            </a:r>
            <a:endParaRPr lang="en-IN" dirty="0"/>
          </a:p>
        </p:txBody>
      </p:sp>
      <p:pic>
        <p:nvPicPr>
          <p:cNvPr id="11266" name="Picture 2" descr="Introduction to Artificial Neural Network Model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06" r="4714"/>
          <a:stretch/>
        </p:blipFill>
        <p:spPr bwMode="auto">
          <a:xfrm>
            <a:off x="2419642" y="1690688"/>
            <a:ext cx="694944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49985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b="1" dirty="0"/>
              <a:t>Multilayer Perceptron –</a:t>
            </a:r>
            <a:r>
              <a:rPr lang="en-US" dirty="0"/>
              <a:t> It is a </a:t>
            </a:r>
            <a:r>
              <a:rPr lang="en-US" dirty="0" err="1"/>
              <a:t>feedforward</a:t>
            </a:r>
            <a:r>
              <a:rPr lang="en-US" dirty="0"/>
              <a:t> artificial neural network model. It maps sets of input data onto a set of appropriate outputs.</a:t>
            </a:r>
          </a:p>
          <a:p>
            <a:pPr fontAlgn="base"/>
            <a:r>
              <a:rPr lang="en-US" b="1" dirty="0"/>
              <a:t>Radial Basis Function Network –</a:t>
            </a:r>
            <a:r>
              <a:rPr lang="en-US" dirty="0"/>
              <a:t> A radial basis function network is an artificial neural network. It uses radial basis functions as </a:t>
            </a:r>
            <a:r>
              <a:rPr lang="en-US" b="1" i="1" dirty="0"/>
              <a:t>activation functions.</a:t>
            </a:r>
            <a:endParaRPr lang="en-US" dirty="0"/>
          </a:p>
          <a:p>
            <a:pPr fontAlgn="base"/>
            <a:r>
              <a:rPr lang="en-US" dirty="0"/>
              <a:t>Both of the above are being </a:t>
            </a:r>
            <a:r>
              <a:rPr lang="en-US" b="1" dirty="0"/>
              <a:t>supervised learning</a:t>
            </a:r>
            <a:r>
              <a:rPr lang="en-US" dirty="0"/>
              <a:t> networks used with 1 or more dependent variables at the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00534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Multilayer Perceptron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</a:t>
            </a:r>
            <a:r>
              <a:rPr lang="en-US" dirty="0"/>
              <a:t>multilayer perceptron is a </a:t>
            </a:r>
            <a:r>
              <a:rPr lang="en-US" dirty="0" err="1"/>
              <a:t>feedforward</a:t>
            </a:r>
            <a:r>
              <a:rPr lang="en-US" dirty="0"/>
              <a:t> artificial neural network model.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maps sets of input data onto a set of appropriate outputs.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feed-forward neural networks, the movement is only possible in the forward </a:t>
            </a:r>
            <a:r>
              <a:rPr lang="en-US" dirty="0" smtClean="0"/>
              <a:t>direction.</a:t>
            </a:r>
          </a:p>
          <a:p>
            <a:r>
              <a:rPr lang="en-US" dirty="0" smtClean="0"/>
              <a:t>An</a:t>
            </a:r>
            <a:r>
              <a:rPr lang="en-US" dirty="0"/>
              <a:t> </a:t>
            </a:r>
            <a:r>
              <a:rPr lang="en-US" b="1" dirty="0"/>
              <a:t>MLP</a:t>
            </a:r>
            <a:r>
              <a:rPr lang="en-US" dirty="0"/>
              <a:t> consists of many layers of nodes in a directed graph, with each layer connected to the next one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</a:t>
            </a:r>
            <a:r>
              <a:rPr lang="en-US" dirty="0"/>
              <a:t>neuron is a linear equation like linear regression as shown in the following </a:t>
            </a:r>
            <a:r>
              <a:rPr lang="en-US" dirty="0" smtClean="0"/>
              <a:t>equation</a:t>
            </a:r>
          </a:p>
          <a:p>
            <a:endParaRPr lang="en-IN" dirty="0"/>
          </a:p>
        </p:txBody>
      </p:sp>
      <p:pic>
        <p:nvPicPr>
          <p:cNvPr id="12290" name="Picture 2" descr="https://d2h0cx97tjks2p.cloudfront.net/blogs/wp-content/uploads/sites/2/2017/07/equati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120" y="5861588"/>
            <a:ext cx="7019925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116487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Radial Basis Function Network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fontAlgn="base"/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/>
              <a:t>Radial Basis Function (RBF) network</a:t>
            </a:r>
            <a:r>
              <a:rPr lang="en-US" dirty="0"/>
              <a:t> is a supervised learning </a:t>
            </a:r>
            <a:r>
              <a:rPr lang="en-US" dirty="0" smtClean="0"/>
              <a:t>network</a:t>
            </a:r>
          </a:p>
          <a:p>
            <a:pPr fontAlgn="base"/>
            <a:r>
              <a:rPr lang="en-US" dirty="0" smtClean="0"/>
              <a:t>RBF </a:t>
            </a:r>
            <a:r>
              <a:rPr lang="en-US" dirty="0"/>
              <a:t>network works with only one hidden layer. </a:t>
            </a:r>
            <a:endParaRPr lang="en-US" dirty="0" smtClean="0"/>
          </a:p>
          <a:p>
            <a:pPr fontAlgn="base"/>
            <a:r>
              <a:rPr lang="en-US" dirty="0" smtClean="0"/>
              <a:t>It </a:t>
            </a:r>
            <a:r>
              <a:rPr lang="en-US" dirty="0"/>
              <a:t>accomplishes this by calculating the value of each unit in the hidden layer for an observation. </a:t>
            </a:r>
            <a:endParaRPr lang="en-US" dirty="0" smtClean="0"/>
          </a:p>
          <a:p>
            <a:pPr fontAlgn="base"/>
            <a:r>
              <a:rPr lang="en-US" dirty="0" smtClean="0"/>
              <a:t>It </a:t>
            </a:r>
            <a:r>
              <a:rPr lang="en-US" dirty="0"/>
              <a:t>uses the distance in space between this observation and the center of the unit. </a:t>
            </a:r>
            <a:endParaRPr lang="en-US" dirty="0" smtClean="0"/>
          </a:p>
          <a:p>
            <a:pPr fontAlgn="base"/>
            <a:r>
              <a:rPr lang="en-US" dirty="0" smtClean="0"/>
              <a:t>Instead </a:t>
            </a:r>
            <a:r>
              <a:rPr lang="en-US" dirty="0"/>
              <a:t>of the sum of the weighted values of the units of the preceding level</a:t>
            </a:r>
            <a:r>
              <a:rPr lang="en-US" dirty="0" smtClean="0"/>
              <a:t>.</a:t>
            </a:r>
          </a:p>
          <a:p>
            <a:pPr fontAlgn="base"/>
            <a:r>
              <a:rPr lang="en-US" dirty="0" smtClean="0"/>
              <a:t>The </a:t>
            </a:r>
            <a:r>
              <a:rPr lang="en-US" dirty="0"/>
              <a:t>centers of the hidden layer of an RBF network are not adjusted at each iteration during </a:t>
            </a:r>
            <a:r>
              <a:rPr lang="en-US" dirty="0" smtClean="0"/>
              <a:t>learning.</a:t>
            </a:r>
            <a:endParaRPr lang="en-US" dirty="0"/>
          </a:p>
          <a:p>
            <a:pPr fontAlgn="base"/>
            <a:r>
              <a:rPr lang="en-US" dirty="0" smtClean="0"/>
              <a:t>In </a:t>
            </a:r>
            <a:r>
              <a:rPr lang="en-US" dirty="0"/>
              <a:t>RBF network, hidden neurons share the space and are virtually independent of each other. </a:t>
            </a:r>
            <a:endParaRPr lang="en-US" dirty="0" smtClean="0"/>
          </a:p>
          <a:p>
            <a:pPr fontAlgn="base"/>
            <a:r>
              <a:rPr lang="en-US" dirty="0" smtClean="0"/>
              <a:t>This </a:t>
            </a:r>
            <a:r>
              <a:rPr lang="en-US" dirty="0"/>
              <a:t>makes for faster convergence of RBF networks in the learning </a:t>
            </a:r>
            <a:r>
              <a:rPr lang="en-US" dirty="0" smtClean="0"/>
              <a:t>phase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183615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Dimensionality Reduction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68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1572</Words>
  <Application>Microsoft Office PowerPoint</Application>
  <PresentationFormat>Widescreen</PresentationFormat>
  <Paragraphs>209</Paragraphs>
  <Slides>69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4" baseType="lpstr">
      <vt:lpstr>Arial</vt:lpstr>
      <vt:lpstr>Calibri</vt:lpstr>
      <vt:lpstr>Calibri Light</vt:lpstr>
      <vt:lpstr>roboto</vt:lpstr>
      <vt:lpstr>Office Theme</vt:lpstr>
      <vt:lpstr>Segmentation by clustering</vt:lpstr>
      <vt:lpstr>K-Means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k-medoids Clustering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Gaussian Mixture Model</vt:lpstr>
      <vt:lpstr>PowerPoint Presentation</vt:lpstr>
      <vt:lpstr>PowerPoint Presentation</vt:lpstr>
      <vt:lpstr>PowerPoint Presentation</vt:lpstr>
      <vt:lpstr>PowerPoint Presentation</vt:lpstr>
      <vt:lpstr>Gaussian Distribution</vt:lpstr>
      <vt:lpstr>PowerPoint Presentation</vt:lpstr>
      <vt:lpstr>Probability Density Function</vt:lpstr>
      <vt:lpstr>PowerPoint Presentation</vt:lpstr>
      <vt:lpstr>EM</vt:lpstr>
      <vt:lpstr>PowerPoint Presentation</vt:lpstr>
      <vt:lpstr>PowerPoint Presentation</vt:lpstr>
      <vt:lpstr>PowerPoint Presentation</vt:lpstr>
      <vt:lpstr>PowerPoint Presentation</vt:lpstr>
      <vt:lpstr>Machine Learning</vt:lpstr>
      <vt:lpstr>Classification </vt:lpstr>
      <vt:lpstr>Types of classification</vt:lpstr>
      <vt:lpstr>Learners</vt:lpstr>
      <vt:lpstr>Types of Classification Algorithms: </vt:lpstr>
      <vt:lpstr>K-Nearest Neighbour</vt:lpstr>
      <vt:lpstr>KNN Classifier</vt:lpstr>
      <vt:lpstr>Why K-NN</vt:lpstr>
      <vt:lpstr>PowerPoint Presentation</vt:lpstr>
      <vt:lpstr>PowerPoint Presentation</vt:lpstr>
      <vt:lpstr>PowerPoint Presentation</vt:lpstr>
      <vt:lpstr>PowerPoint Presentation</vt:lpstr>
      <vt:lpstr>Select K value</vt:lpstr>
      <vt:lpstr>PowerPoint Presentation</vt:lpstr>
      <vt:lpstr>Naïve Bayes Classifier</vt:lpstr>
      <vt:lpstr>PowerPoint Presentation</vt:lpstr>
      <vt:lpstr>PowerPoint Presentation</vt:lpstr>
      <vt:lpstr>PowerPoint Presentation</vt:lpstr>
      <vt:lpstr>PowerPoint Presentation</vt:lpstr>
      <vt:lpstr>Problem: If the weather is sunny, then the Player should play or not?</vt:lpstr>
      <vt:lpstr>PowerPoint Presentation</vt:lpstr>
      <vt:lpstr>Applying Bayes'theorem: </vt:lpstr>
      <vt:lpstr>PowerPoint Presentation</vt:lpstr>
      <vt:lpstr>Artificial neural Network model</vt:lpstr>
      <vt:lpstr>PowerPoint Presentation</vt:lpstr>
      <vt:lpstr>Multilayer Perceptron</vt:lpstr>
      <vt:lpstr>Radial Basis Function Network </vt:lpstr>
      <vt:lpstr>Dimensionality Reduction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100255</cp:lastModifiedBy>
  <cp:revision>24</cp:revision>
  <dcterms:created xsi:type="dcterms:W3CDTF">2021-04-28T07:39:32Z</dcterms:created>
  <dcterms:modified xsi:type="dcterms:W3CDTF">2022-04-25T04:14:02Z</dcterms:modified>
</cp:coreProperties>
</file>