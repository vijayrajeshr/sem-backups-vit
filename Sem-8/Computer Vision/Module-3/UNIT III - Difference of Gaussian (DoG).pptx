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56" r:id="rId7"/>
    <p:sldId id="267" r:id="rId8"/>
    <p:sldId id="268" r:id="rId9"/>
    <p:sldId id="258" r:id="rId10"/>
    <p:sldId id="260" r:id="rId11"/>
    <p:sldId id="261" r:id="rId12"/>
    <p:sldId id="262" r:id="rId13"/>
    <p:sldId id="266" r:id="rId14"/>
    <p:sldId id="263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5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8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69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54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8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4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90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75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29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42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23BFA-260F-4AF6-9CAC-0FC575E8FA96}" type="datetimeFigureOut">
              <a:rPr lang="en-IN" smtClean="0"/>
              <a:t>16-03-2021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43594-A27A-484C-8BCB-2CB9B21A5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85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RANSAC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74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RANSAC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</a:t>
            </a:r>
            <a:r>
              <a:rPr lang="en-US" dirty="0"/>
              <a:t>sample </a:t>
            </a:r>
            <a:r>
              <a:rPr lang="en-US" dirty="0" smtClean="0"/>
              <a:t>consensus</a:t>
            </a:r>
          </a:p>
          <a:p>
            <a:r>
              <a:rPr lang="en-US" dirty="0" smtClean="0"/>
              <a:t>It is </a:t>
            </a:r>
            <a:r>
              <a:rPr lang="en-US" dirty="0"/>
              <a:t>an iterative method for estimating a mathematical model from a data set that contains outliers.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RANSAC algorithm works by identifying the outliers in a data </a:t>
            </a:r>
            <a:r>
              <a:rPr lang="en-US" dirty="0" smtClean="0"/>
              <a:t>set</a:t>
            </a:r>
          </a:p>
          <a:p>
            <a:r>
              <a:rPr lang="en-US" dirty="0" smtClean="0"/>
              <a:t>It estimates </a:t>
            </a:r>
            <a:r>
              <a:rPr lang="en-US" dirty="0"/>
              <a:t>the desired model using data that does not contain outliers.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61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Randomly </a:t>
            </a:r>
            <a:r>
              <a:rPr lang="en-US" dirty="0"/>
              <a:t>selecting a subset of the data set</a:t>
            </a:r>
          </a:p>
          <a:p>
            <a:r>
              <a:rPr lang="en-US" dirty="0"/>
              <a:t>Fitting a model to the selected subset</a:t>
            </a:r>
          </a:p>
          <a:p>
            <a:r>
              <a:rPr lang="en-US" dirty="0"/>
              <a:t>Determining the number of outliers</a:t>
            </a:r>
          </a:p>
          <a:p>
            <a:r>
              <a:rPr lang="en-US" dirty="0"/>
              <a:t>Repeating steps 1-3 for a prescribed number of iterations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83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points shown in blue, with the line of form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y </a:t>
            </a:r>
            <a:r>
              <a:rPr lang="en-US" dirty="0"/>
              <a:t>= </a:t>
            </a:r>
            <a:r>
              <a:rPr lang="en-US" dirty="0" err="1"/>
              <a:t>mx+c</a:t>
            </a:r>
            <a:r>
              <a:rPr lang="en-US" dirty="0"/>
              <a:t> estimated using RANSAC indicated in red</a:t>
            </a:r>
            <a:endParaRPr lang="en-IN" dirty="0"/>
          </a:p>
        </p:txBody>
      </p:sp>
      <p:pic>
        <p:nvPicPr>
          <p:cNvPr id="1026" name="Picture 2" descr="RANSAC 0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096294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97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computer vision, RANSAC is used as a robust approach </a:t>
            </a:r>
            <a:r>
              <a:rPr lang="en-US" dirty="0" smtClean="0"/>
              <a:t>to</a:t>
            </a:r>
          </a:p>
          <a:p>
            <a:pPr marL="0" indent="0">
              <a:buNone/>
            </a:pPr>
            <a:r>
              <a:rPr lang="en-US" dirty="0" smtClean="0"/>
              <a:t>1. It estimates </a:t>
            </a:r>
            <a:r>
              <a:rPr lang="en-US" dirty="0"/>
              <a:t>the fundamental matrix in stereo </a:t>
            </a:r>
            <a:r>
              <a:rPr lang="en-US" dirty="0" smtClean="0"/>
              <a:t>vision</a:t>
            </a:r>
          </a:p>
          <a:p>
            <a:pPr marL="0" indent="0">
              <a:buNone/>
            </a:pPr>
            <a:r>
              <a:rPr lang="en-US" dirty="0" smtClean="0"/>
              <a:t>2. It finds the </a:t>
            </a:r>
            <a:r>
              <a:rPr lang="en-US" dirty="0"/>
              <a:t>commonality between two sets of points for feature-based object detection, and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It registers sequential </a:t>
            </a:r>
            <a:r>
              <a:rPr lang="en-US" dirty="0"/>
              <a:t>video frames for video stabilization.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09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Difference of Gaussian (</a:t>
            </a:r>
            <a:r>
              <a:rPr lang="en-US" dirty="0" err="1" smtClean="0"/>
              <a:t>DoG</a:t>
            </a:r>
            <a:r>
              <a:rPr lang="en-US" dirty="0" smtClean="0"/>
              <a:t>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72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</a:t>
            </a:r>
            <a:endParaRPr lang="en-IN" dirty="0"/>
          </a:p>
        </p:txBody>
      </p:sp>
      <p:pic>
        <p:nvPicPr>
          <p:cNvPr id="1026" name="Picture 2" descr="LoG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1896269"/>
            <a:ext cx="59626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2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LoG_plot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2310606"/>
            <a:ext cx="54483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5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 to </a:t>
            </a:r>
            <a:r>
              <a:rPr lang="en-US" dirty="0" err="1" smtClean="0"/>
              <a:t>LoG</a:t>
            </a:r>
            <a:r>
              <a:rPr lang="en-US" dirty="0" smtClean="0"/>
              <a:t>, the image is smoothed by convolution with Gaussian kernel of certain sigma value </a:t>
            </a:r>
            <a:r>
              <a:rPr lang="el-GR" dirty="0" smtClean="0"/>
              <a:t>σ</a:t>
            </a:r>
            <a:r>
              <a:rPr lang="en-US" baseline="-25000" dirty="0" smtClean="0"/>
              <a:t>1</a:t>
            </a:r>
          </a:p>
          <a:p>
            <a:endParaRPr lang="en-IN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/>
          <a:srcRect t="16570" r="79964" b="76149"/>
          <a:stretch/>
        </p:blipFill>
        <p:spPr>
          <a:xfrm>
            <a:off x="2004645" y="2854777"/>
            <a:ext cx="6970543" cy="1682054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3"/>
          <a:srcRect t="27710" r="84035" b="68102"/>
          <a:stretch/>
        </p:blipFill>
        <p:spPr>
          <a:xfrm>
            <a:off x="1023426" y="4550898"/>
            <a:ext cx="9679632" cy="10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1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the image is smoothed by convolution with Gaussian kernel of certain sigma value </a:t>
            </a:r>
            <a:r>
              <a:rPr lang="el-GR" dirty="0" smtClean="0"/>
              <a:t>σ</a:t>
            </a:r>
            <a:r>
              <a:rPr lang="en-US" baseline="-25000" dirty="0" smtClean="0"/>
              <a:t>2</a:t>
            </a:r>
          </a:p>
          <a:p>
            <a:endParaRPr lang="en-IN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/>
          <a:srcRect t="16570" r="79964" b="76149"/>
          <a:stretch/>
        </p:blipFill>
        <p:spPr>
          <a:xfrm>
            <a:off x="2377970" y="2646466"/>
            <a:ext cx="6970543" cy="1682054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3"/>
          <a:srcRect t="27710" r="84035" b="68102"/>
          <a:stretch/>
        </p:blipFill>
        <p:spPr>
          <a:xfrm>
            <a:off x="1096751" y="4543571"/>
            <a:ext cx="9679632" cy="1015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399" y="3566160"/>
            <a:ext cx="154745" cy="260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18627" y="3871168"/>
            <a:ext cx="154745" cy="260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9033" y="3808827"/>
            <a:ext cx="154745" cy="260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01463" y="5149361"/>
            <a:ext cx="235104" cy="37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38996" y="5019235"/>
            <a:ext cx="325902" cy="410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7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9236" r="29242" b="52201"/>
          <a:stretch/>
        </p:blipFill>
        <p:spPr>
          <a:xfrm>
            <a:off x="838200" y="2011680"/>
            <a:ext cx="10732477" cy="13082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04517" y="2820572"/>
            <a:ext cx="386861" cy="4149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Content Placeholder 7"/>
          <p:cNvPicPr>
            <a:picLocks noChangeAspect="1"/>
          </p:cNvPicPr>
          <p:nvPr/>
        </p:nvPicPr>
        <p:blipFill rotWithShape="1">
          <a:blip r:embed="rId2"/>
          <a:srcRect t="47153" r="65458" b="41265"/>
          <a:stretch/>
        </p:blipFill>
        <p:spPr>
          <a:xfrm>
            <a:off x="838200" y="3509889"/>
            <a:ext cx="10078329" cy="15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8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177" r="49425" b="28640"/>
          <a:stretch/>
        </p:blipFill>
        <p:spPr>
          <a:xfrm>
            <a:off x="838200" y="252584"/>
            <a:ext cx="10704342" cy="617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64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DoG_plot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7" y="2296319"/>
            <a:ext cx="5495925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888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Comparing </a:t>
            </a:r>
            <a:r>
              <a:rPr lang="en-US" dirty="0"/>
              <a:t>this plot with the previous one, we see that the </a:t>
            </a:r>
            <a:r>
              <a:rPr lang="en-US" dirty="0" err="1"/>
              <a:t>DoG</a:t>
            </a:r>
            <a:r>
              <a:rPr lang="en-US" dirty="0"/>
              <a:t> curve is very similar to the </a:t>
            </a:r>
            <a:r>
              <a:rPr lang="en-US" dirty="0" err="1"/>
              <a:t>LoG</a:t>
            </a:r>
            <a:r>
              <a:rPr lang="en-US" dirty="0"/>
              <a:t> curve. </a:t>
            </a:r>
            <a:endParaRPr lang="en-US" dirty="0" smtClean="0"/>
          </a:p>
          <a:p>
            <a:r>
              <a:rPr lang="en-US" dirty="0" smtClean="0"/>
              <a:t>Also</a:t>
            </a:r>
            <a:r>
              <a:rPr lang="en-US" dirty="0"/>
              <a:t>, similar to the case of </a:t>
            </a:r>
            <a:r>
              <a:rPr lang="en-US" dirty="0" err="1"/>
              <a:t>LoG</a:t>
            </a:r>
            <a:r>
              <a:rPr lang="en-US" dirty="0"/>
              <a:t>, the edges in the image can be obtained by these steps:</a:t>
            </a:r>
          </a:p>
          <a:p>
            <a:pPr lvl="1"/>
            <a:r>
              <a:rPr lang="en-US" dirty="0"/>
              <a:t>Applying </a:t>
            </a:r>
            <a:r>
              <a:rPr lang="en-US" dirty="0" err="1"/>
              <a:t>DoG</a:t>
            </a:r>
            <a:r>
              <a:rPr lang="en-US" dirty="0"/>
              <a:t> to the image</a:t>
            </a:r>
          </a:p>
          <a:p>
            <a:pPr lvl="1"/>
            <a:r>
              <a:rPr lang="en-US" dirty="0"/>
              <a:t>Detection of zero-crossings in the image</a:t>
            </a:r>
          </a:p>
          <a:p>
            <a:pPr lvl="1"/>
            <a:r>
              <a:rPr lang="en-US" dirty="0"/>
              <a:t>Threshold the zero-crossings to keep only those strong ones (large difference between the positive maximum and the negative minimum)</a:t>
            </a:r>
          </a:p>
          <a:p>
            <a:r>
              <a:rPr lang="en-US" dirty="0"/>
              <a:t>The last step is needed to suppress the weak zero-crossings most likely caused by noise.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61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448"/>
            <a:ext cx="10515600" cy="1325563"/>
          </a:xfrm>
        </p:spPr>
        <p:txBody>
          <a:bodyPr/>
          <a:lstStyle/>
          <a:p>
            <a:r>
              <a:rPr lang="en-US" dirty="0" smtClean="0"/>
              <a:t>Corner Detection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Image segmentation – dividing image in to regions</a:t>
            </a:r>
          </a:p>
          <a:p>
            <a:r>
              <a:rPr lang="en-US" dirty="0" smtClean="0"/>
              <a:t>Done on the similarity principle or on the basis of discontinuities</a:t>
            </a:r>
          </a:p>
          <a:p>
            <a:r>
              <a:rPr lang="en-US" dirty="0" smtClean="0"/>
              <a:t>Corner – important feature</a:t>
            </a:r>
          </a:p>
          <a:p>
            <a:r>
              <a:rPr lang="en-US" dirty="0" smtClean="0"/>
              <a:t>Landmark points</a:t>
            </a:r>
          </a:p>
          <a:p>
            <a:r>
              <a:rPr lang="en-US" dirty="0" smtClean="0"/>
              <a:t>Formed at boundary when two regions meet</a:t>
            </a:r>
          </a:p>
          <a:p>
            <a:r>
              <a:rPr lang="en-US" dirty="0" smtClean="0"/>
              <a:t>Boundary curvature is high</a:t>
            </a:r>
          </a:p>
          <a:p>
            <a:r>
              <a:rPr lang="en-US" dirty="0" smtClean="0"/>
              <a:t>Exhibits large variations in all directions</a:t>
            </a:r>
          </a:p>
          <a:p>
            <a:r>
              <a:rPr lang="en-US" dirty="0" smtClean="0"/>
              <a:t>Edges – variations in only one direction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98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Known as interest points</a:t>
            </a:r>
          </a:p>
          <a:p>
            <a:r>
              <a:rPr lang="en-US" dirty="0" smtClean="0"/>
              <a:t>Human visual system quickly identifies the corner points</a:t>
            </a:r>
          </a:p>
          <a:p>
            <a:r>
              <a:rPr lang="en-US" dirty="0" smtClean="0"/>
              <a:t>Applications: live tracking, measurement systems, stereo imaging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758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Moravec</a:t>
            </a:r>
            <a:r>
              <a:rPr lang="en-US" dirty="0" smtClean="0"/>
              <a:t> Corner detector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Traditional </a:t>
            </a:r>
          </a:p>
          <a:p>
            <a:r>
              <a:rPr lang="en-US" dirty="0" smtClean="0"/>
              <a:t>Calculates edge strength in all directions</a:t>
            </a:r>
          </a:p>
          <a:p>
            <a:r>
              <a:rPr lang="en-US" dirty="0" smtClean="0"/>
              <a:t>Minimum is selected</a:t>
            </a:r>
          </a:p>
          <a:p>
            <a:r>
              <a:rPr lang="en-US" dirty="0" smtClean="0"/>
              <a:t>Compared with the threshold </a:t>
            </a:r>
          </a:p>
          <a:p>
            <a:r>
              <a:rPr lang="en-US" dirty="0" smtClean="0"/>
              <a:t>Non maximal suppression is applied </a:t>
            </a:r>
          </a:p>
          <a:p>
            <a:r>
              <a:rPr lang="en-US" dirty="0" smtClean="0"/>
              <a:t>Extract set of corner 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809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rotationally invariant</a:t>
            </a:r>
          </a:p>
          <a:p>
            <a:r>
              <a:rPr lang="en-US" dirty="0" smtClean="0"/>
              <a:t>Sensitive to small variations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096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Harris corner detector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Popular corner detection algorithm</a:t>
            </a:r>
          </a:p>
          <a:p>
            <a:r>
              <a:rPr lang="en-US" dirty="0" smtClean="0"/>
              <a:t>Uses autocorrelation function – find score with respect to direction</a:t>
            </a:r>
          </a:p>
          <a:p>
            <a:r>
              <a:rPr lang="en-US" dirty="0" smtClean="0"/>
              <a:t>Small square window is placed around each pixel</a:t>
            </a:r>
          </a:p>
          <a:p>
            <a:r>
              <a:rPr lang="en-US" dirty="0" smtClean="0"/>
              <a:t>Window is shifted in all 8 directions</a:t>
            </a:r>
          </a:p>
          <a:p>
            <a:r>
              <a:rPr lang="en-US" dirty="0" smtClean="0"/>
              <a:t>Auto correlation is performed</a:t>
            </a:r>
          </a:p>
          <a:p>
            <a:r>
              <a:rPr lang="en-US" dirty="0" smtClean="0"/>
              <a:t>No variation – region is a patch</a:t>
            </a:r>
          </a:p>
          <a:p>
            <a:r>
              <a:rPr lang="en-US" dirty="0" smtClean="0"/>
              <a:t>Large variation – marked as interest 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209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(</a:t>
            </a:r>
            <a:r>
              <a:rPr lang="en-US" dirty="0" err="1" smtClean="0"/>
              <a:t>x,y</a:t>
            </a:r>
            <a:r>
              <a:rPr lang="en-US" dirty="0" smtClean="0"/>
              <a:t>) as point</a:t>
            </a:r>
          </a:p>
          <a:p>
            <a:r>
              <a:rPr lang="en-US" dirty="0" smtClean="0"/>
              <a:t>Shifting of window (</a:t>
            </a:r>
            <a:r>
              <a:rPr lang="en-US" dirty="0" err="1" smtClean="0"/>
              <a:t>dx,dy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Corner score – c(</a:t>
            </a:r>
            <a:r>
              <a:rPr lang="en-US" dirty="0" err="1" smtClean="0"/>
              <a:t>x,y</a:t>
            </a:r>
            <a:r>
              <a:rPr lang="en-US" dirty="0" smtClean="0"/>
              <a:t>)</a:t>
            </a:r>
          </a:p>
          <a:p>
            <a:r>
              <a:rPr lang="en-US" dirty="0" smtClean="0"/>
              <a:t>C(</a:t>
            </a:r>
            <a:r>
              <a:rPr lang="en-US" dirty="0" err="1" smtClean="0"/>
              <a:t>x,y</a:t>
            </a:r>
            <a:r>
              <a:rPr lang="en-US" dirty="0" smtClean="0"/>
              <a:t>)=Image function – shifted image</a:t>
            </a:r>
          </a:p>
          <a:p>
            <a:r>
              <a:rPr lang="en-US" dirty="0" smtClean="0"/>
              <a:t>Shifted image can be approximated by </a:t>
            </a:r>
            <a:r>
              <a:rPr lang="en-US" dirty="0" err="1" smtClean="0"/>
              <a:t>taylor</a:t>
            </a:r>
            <a:r>
              <a:rPr lang="en-US" dirty="0" smtClean="0"/>
              <a:t> expansion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072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437</Words>
  <Application>Microsoft Office PowerPoint</Application>
  <PresentationFormat>Widescreen</PresentationFormat>
  <Paragraphs>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RANSAC</vt:lpstr>
      <vt:lpstr>RANSAC</vt:lpstr>
      <vt:lpstr>Steps</vt:lpstr>
      <vt:lpstr>Data points shown in blue, with the line of form  y = mx+c estimated using RANSAC indicated in red</vt:lpstr>
      <vt:lpstr>PowerPoint Presentation</vt:lpstr>
      <vt:lpstr>Difference of Gaussian (DoG)</vt:lpstr>
      <vt:lpstr>LoG</vt:lpstr>
      <vt:lpstr>PowerPoint Presentation</vt:lpstr>
      <vt:lpstr>DoG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Corner Detection</vt:lpstr>
      <vt:lpstr>PowerPoint Presentation</vt:lpstr>
      <vt:lpstr>Moravec Corner detector</vt:lpstr>
      <vt:lpstr>Limitations</vt:lpstr>
      <vt:lpstr>Harris corner detector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of Gaussian (DoG)</dc:title>
  <dc:creator>Microsoft account</dc:creator>
  <cp:lastModifiedBy>Microsoft account</cp:lastModifiedBy>
  <cp:revision>12</cp:revision>
  <dcterms:created xsi:type="dcterms:W3CDTF">2021-03-12T06:18:15Z</dcterms:created>
  <dcterms:modified xsi:type="dcterms:W3CDTF">2021-03-16T09:30:10Z</dcterms:modified>
</cp:coreProperties>
</file>