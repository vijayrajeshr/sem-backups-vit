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embeddedFontLst>
    <p:embeddedFont>
      <p:font typeface="Roboto"/>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755">
          <p15:clr>
            <a:srgbClr val="FF0000"/>
          </p15:clr>
        </p15:guide>
        <p15:guide id="2" orient="horz" pos="907">
          <p15:clr>
            <a:srgbClr val="FF0000"/>
          </p15:clr>
        </p15:guide>
        <p15:guide id="3" orient="horz" pos="737">
          <p15:clr>
            <a:srgbClr val="00FF00"/>
          </p15:clr>
        </p15:guide>
        <p15:guide id="4" orient="horz" pos="397">
          <p15:clr>
            <a:srgbClr val="00FF00"/>
          </p15:clr>
        </p15:guide>
        <p15:guide id="5" pos="454">
          <p15:clr>
            <a:srgbClr val="FF00FF"/>
          </p15:clr>
        </p15:guide>
        <p15:guide id="6" pos="5272">
          <p15:clr>
            <a:srgbClr val="FF00FF"/>
          </p15:clr>
        </p15:guide>
      </p15:sldGuideLst>
    </p:ext>
    <p:ext uri="GoogleSlidesCustomDataVersion2">
      <go:slidesCustomData xmlns:go="http://customooxmlschemas.google.com/" r:id="rId49" roundtripDataSignature="AMtx7mgnOzegqP2dsyUEbkbKBLtZ2/lvT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755" orient="horz"/>
        <p:guide pos="907" orient="horz"/>
        <p:guide pos="737" orient="horz"/>
        <p:guide pos="397" orient="horz"/>
        <p:guide pos="454"/>
        <p:guide pos="527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Roboto-bold.fntdata"/><Relationship Id="rId45"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boldItalic.fntdata"/><Relationship Id="rId47" Type="http://schemas.openxmlformats.org/officeDocument/2006/relationships/font" Target="fonts/Roboto-italic.fntdata"/><Relationship Id="rId4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 name="Google Shape;5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2aa435e7b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 name="Google Shape;68;g32aa435e7b8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1ef10be39d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1ef10be39d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1ef10be39d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1ef10be39d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1ef10be39d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1ef10be39d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1b3f087a09_1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1b3f087a09_1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1b3f087a09_1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g31b3f087a09_1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1b3f087a09_1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g31b3f087a09_1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1b3f087a09_1_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g31b3f087a09_1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1b3f087a09_1_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g31b3f087a09_1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1b3f087a09_1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g31b3f087a09_1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1b3f087a09_1_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g31b3f087a09_1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1b3f087a09_1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31b3f087a09_1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1b3f8ab1be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g31b3f8ab1be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1b3f8ab1b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g31b3f8ab1b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4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 name="Google Shape;303;p4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4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4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5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5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23" name="Shape 2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7" name="Shape 27"/>
        <p:cNvGrpSpPr/>
        <p:nvPr/>
      </p:nvGrpSpPr>
      <p:grpSpPr>
        <a:xfrm>
          <a:off x="0" y="0"/>
          <a:ext cx="0" cy="0"/>
          <a:chOff x="0" y="0"/>
          <a:chExt cx="0" cy="0"/>
        </a:xfrm>
      </p:grpSpPr>
      <p:sp>
        <p:nvSpPr>
          <p:cNvPr id="28" name="Google Shape;28;p5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9" name="Google Shape;29;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0" name="Shape 30"/>
        <p:cNvGrpSpPr/>
        <p:nvPr/>
      </p:nvGrpSpPr>
      <p:grpSpPr>
        <a:xfrm>
          <a:off x="0" y="0"/>
          <a:ext cx="0" cy="0"/>
          <a:chOff x="0" y="0"/>
          <a:chExt cx="0" cy="0"/>
        </a:xfrm>
      </p:grpSpPr>
      <p:sp>
        <p:nvSpPr>
          <p:cNvPr id="31" name="Google Shape;31;p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2" name="Google Shape;32;p5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3" name="Google Shape;33;p5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4" name="Google Shape;34;p5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5" name="Google Shape;35;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6" name="Shape 36"/>
        <p:cNvGrpSpPr/>
        <p:nvPr/>
      </p:nvGrpSpPr>
      <p:grpSpPr>
        <a:xfrm>
          <a:off x="0" y="0"/>
          <a:ext cx="0" cy="0"/>
          <a:chOff x="0" y="0"/>
          <a:chExt cx="0" cy="0"/>
        </a:xfrm>
      </p:grpSpPr>
      <p:sp>
        <p:nvSpPr>
          <p:cNvPr id="37" name="Google Shape;37;p5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8" name="Google Shape;38;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9" name="Shape 39"/>
        <p:cNvGrpSpPr/>
        <p:nvPr/>
      </p:nvGrpSpPr>
      <p:grpSpPr>
        <a:xfrm>
          <a:off x="0" y="0"/>
          <a:ext cx="0" cy="0"/>
          <a:chOff x="0" y="0"/>
          <a:chExt cx="0" cy="0"/>
        </a:xfrm>
      </p:grpSpPr>
      <p:sp>
        <p:nvSpPr>
          <p:cNvPr id="40" name="Google Shape;40;p5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1" name="Google Shape;41;p5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2" name="Google Shape;42;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43" name="Shape 43"/>
        <p:cNvGrpSpPr/>
        <p:nvPr/>
      </p:nvGrpSpPr>
      <p:grpSpPr>
        <a:xfrm>
          <a:off x="0" y="0"/>
          <a:ext cx="0" cy="0"/>
          <a:chOff x="0" y="0"/>
          <a:chExt cx="0" cy="0"/>
        </a:xfrm>
      </p:grpSpPr>
      <p:pic>
        <p:nvPicPr>
          <p:cNvPr descr="A close up of a logo&#10;&#10;Description generated with high confidence" id="44" name="Google Shape;44;p56"/>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5" name="Google Shape;45;p56"/>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6" name="Google Shape;46;p56"/>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7" name="Google Shape;47;p56"/>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8" name="Google Shape;48;p56"/>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pic>
        <p:nvPicPr>
          <p:cNvPr id="9" name="Google Shape;9;p46"/>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jpg"/><Relationship Id="rId4" Type="http://schemas.openxmlformats.org/officeDocument/2006/relationships/image" Target="../media/image4.png"/><Relationship Id="rId5"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1.png"/><Relationship Id="rId4" Type="http://schemas.openxmlformats.org/officeDocument/2006/relationships/image" Target="../media/image3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a4academics.com/careers-guidance-jobs/68-placement-preparation/quantitative-aptitude/550-tips-and-tricks-to-solve-quantitative-aptitude-test-questions-on-cyclicity-of-number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a4academics.com/careers-guidance-jobs/68-placement-preparation/quantitative-aptitude/550-tips-and-tricks-to-solve-quantitative-aptitude-test-questions-on-cyclicity-of-number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7.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9.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8.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6.png"/><Relationship Id="rId4" Type="http://schemas.openxmlformats.org/officeDocument/2006/relationships/hyperlink" Target="https://learn.codemithra.com/"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5.jpg"/><Relationship Id="rId4" Type="http://schemas.openxmlformats.org/officeDocument/2006/relationships/image" Target="../media/image32.png"/><Relationship Id="rId5" Type="http://schemas.openxmlformats.org/officeDocument/2006/relationships/image" Target="../media/image29.png"/><Relationship Id="rId6"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4" name="Google Shape;54;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55" name="Google Shape;55;p1"/>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56" name="Google Shape;56;p1"/>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57" name="Google Shape;57;p1"/>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63" name="Google Shape;63;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64" name="Google Shape;64;p2"/>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65" name="Google Shape;65;p2"/>
          <p:cNvSpPr txBox="1"/>
          <p:nvPr/>
        </p:nvSpPr>
        <p:spPr>
          <a:xfrm>
            <a:off x="425864" y="2035735"/>
            <a:ext cx="4690800" cy="600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500"/>
              <a:buFont typeface="Arial"/>
              <a:buNone/>
            </a:pPr>
            <a:r>
              <a:rPr b="1" i="0" lang="en-IN" sz="2700" u="none" cap="none" strike="noStrike">
                <a:solidFill>
                  <a:schemeClr val="lt1"/>
                </a:solidFill>
                <a:latin typeface="Arial"/>
                <a:ea typeface="Arial"/>
                <a:cs typeface="Arial"/>
                <a:sym typeface="Arial"/>
              </a:rPr>
              <a:t>     </a:t>
            </a:r>
            <a:r>
              <a:rPr b="1" lang="en-IN" sz="2700">
                <a:solidFill>
                  <a:schemeClr val="lt1"/>
                </a:solidFill>
              </a:rPr>
              <a:t>POWER CYCLE</a:t>
            </a:r>
            <a:endParaRPr b="1" sz="27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32aa435e7b8_0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IN" sz="1600">
                <a:solidFill>
                  <a:schemeClr val="dk1"/>
                </a:solidFill>
                <a:highlight>
                  <a:srgbClr val="FFFFFF"/>
                </a:highlight>
                <a:latin typeface="Roboto"/>
                <a:ea typeface="Roboto"/>
                <a:cs typeface="Roboto"/>
                <a:sym typeface="Roboto"/>
              </a:rPr>
              <a:t>QR CODE</a:t>
            </a:r>
            <a:r>
              <a:rPr b="1" lang="en-IN"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IN"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71" name="Google Shape;71;g32aa435e7b8_0_0"/>
          <p:cNvSpPr txBox="1"/>
          <p:nvPr/>
        </p:nvSpPr>
        <p:spPr>
          <a:xfrm>
            <a:off x="577325" y="622125"/>
            <a:ext cx="7786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lang="en-IN" sz="1800">
                <a:latin typeface="Roboto"/>
                <a:ea typeface="Roboto"/>
                <a:cs typeface="Roboto"/>
                <a:sym typeface="Roboto"/>
              </a:rPr>
              <a:t>                                    Test time on :</a:t>
            </a:r>
            <a:r>
              <a:rPr b="1" i="0" lang="en-IN" sz="1800" u="none" cap="none" strike="noStrike">
                <a:solidFill>
                  <a:srgbClr val="000000"/>
                </a:solidFill>
                <a:latin typeface="Roboto"/>
                <a:ea typeface="Roboto"/>
                <a:cs typeface="Roboto"/>
                <a:sym typeface="Roboto"/>
              </a:rPr>
              <a:t> SI &amp; CI</a:t>
            </a:r>
            <a:endParaRPr b="1" i="0" sz="1800" u="none" cap="none" strike="noStrike">
              <a:solidFill>
                <a:srgbClr val="000000"/>
              </a:solidFill>
              <a:latin typeface="Roboto"/>
              <a:ea typeface="Roboto"/>
              <a:cs typeface="Roboto"/>
              <a:sym typeface="Roboto"/>
            </a:endParaRPr>
          </a:p>
        </p:txBody>
      </p:sp>
      <p:sp>
        <p:nvSpPr>
          <p:cNvPr id="72" name="Google Shape;72;g32aa435e7b8_0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73" name="Google Shape;73;g32aa435e7b8_0_0"/>
          <p:cNvPicPr preferRelativeResize="0"/>
          <p:nvPr/>
        </p:nvPicPr>
        <p:blipFill>
          <a:blip r:embed="rId3">
            <a:alphaModFix/>
          </a:blip>
          <a:stretch>
            <a:fillRect/>
          </a:stretch>
        </p:blipFill>
        <p:spPr>
          <a:xfrm>
            <a:off x="3179925" y="2014559"/>
            <a:ext cx="1954050" cy="1937475"/>
          </a:xfrm>
          <a:prstGeom prst="rect">
            <a:avLst/>
          </a:prstGeom>
          <a:noFill/>
          <a:ln>
            <a:noFill/>
          </a:ln>
        </p:spPr>
      </p:pic>
      <p:pic>
        <p:nvPicPr>
          <p:cNvPr id="74" name="Google Shape;74;g32aa435e7b8_0_0"/>
          <p:cNvPicPr preferRelativeResize="0"/>
          <p:nvPr/>
        </p:nvPicPr>
        <p:blipFill>
          <a:blip r:embed="rId4">
            <a:alphaModFix/>
          </a:blip>
          <a:stretch>
            <a:fillRect/>
          </a:stretch>
        </p:blipFill>
        <p:spPr>
          <a:xfrm>
            <a:off x="5222650" y="2014550"/>
            <a:ext cx="1787853" cy="1760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g31ef10be39d_1_52"/>
          <p:cNvSpPr txBox="1"/>
          <p:nvPr>
            <p:ph idx="1" type="body"/>
          </p:nvPr>
        </p:nvSpPr>
        <p:spPr>
          <a:xfrm>
            <a:off x="215250" y="557750"/>
            <a:ext cx="8520600" cy="4380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IN" sz="2000">
                <a:solidFill>
                  <a:schemeClr val="dk1"/>
                </a:solidFill>
                <a:highlight>
                  <a:schemeClr val="lt1"/>
                </a:highlight>
              </a:rPr>
              <a:t>CYCLICITY</a:t>
            </a:r>
            <a:endParaRPr b="1" sz="2000">
              <a:solidFill>
                <a:schemeClr val="dk1"/>
              </a:solidFill>
              <a:highlight>
                <a:schemeClr val="lt1"/>
              </a:highlight>
            </a:endParaRPr>
          </a:p>
        </p:txBody>
      </p:sp>
      <p:pic>
        <p:nvPicPr>
          <p:cNvPr id="80" name="Google Shape;80;g31ef10be39d_1_52"/>
          <p:cNvPicPr preferRelativeResize="0"/>
          <p:nvPr/>
        </p:nvPicPr>
        <p:blipFill rotWithShape="1">
          <a:blip r:embed="rId3">
            <a:alphaModFix/>
          </a:blip>
          <a:srcRect b="28670" l="39567" r="25627" t="34750"/>
          <a:stretch/>
        </p:blipFill>
        <p:spPr>
          <a:xfrm>
            <a:off x="1214450" y="1005625"/>
            <a:ext cx="7154848" cy="34360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g31ef10be39d_1_6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IN" sz="2000">
                <a:highlight>
                  <a:schemeClr val="lt1"/>
                </a:highlight>
              </a:rPr>
              <a:t>CYCLICITY</a:t>
            </a:r>
            <a:endParaRPr/>
          </a:p>
        </p:txBody>
      </p:sp>
      <p:sp>
        <p:nvSpPr>
          <p:cNvPr id="86" name="Google Shape;86;g31ef10be39d_1_6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87" name="Google Shape;87;g31ef10be39d_1_69"/>
          <p:cNvPicPr preferRelativeResize="0"/>
          <p:nvPr/>
        </p:nvPicPr>
        <p:blipFill rotWithShape="1">
          <a:blip r:embed="rId3">
            <a:alphaModFix/>
          </a:blip>
          <a:srcRect b="31187" l="42920" r="25828" t="37096"/>
          <a:stretch/>
        </p:blipFill>
        <p:spPr>
          <a:xfrm>
            <a:off x="1228550" y="1278750"/>
            <a:ext cx="6877376" cy="3212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31ef10be39d_1_7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IN" sz="2000">
                <a:highlight>
                  <a:schemeClr val="lt1"/>
                </a:highlight>
              </a:rPr>
              <a:t>CYCLICITY</a:t>
            </a:r>
            <a:endParaRPr/>
          </a:p>
        </p:txBody>
      </p:sp>
      <p:sp>
        <p:nvSpPr>
          <p:cNvPr id="93" name="Google Shape;93;g31ef10be39d_1_7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94" name="Google Shape;94;g31ef10be39d_1_75"/>
          <p:cNvPicPr preferRelativeResize="0"/>
          <p:nvPr/>
        </p:nvPicPr>
        <p:blipFill rotWithShape="1">
          <a:blip r:embed="rId3">
            <a:alphaModFix/>
          </a:blip>
          <a:srcRect b="28987" l="40273" r="26005" t="37725"/>
          <a:stretch/>
        </p:blipFill>
        <p:spPr>
          <a:xfrm>
            <a:off x="1212400" y="1241725"/>
            <a:ext cx="6506074" cy="37662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1b3f087a09_1_43"/>
          <p:cNvSpPr txBox="1"/>
          <p:nvPr>
            <p:ph idx="1" type="body"/>
          </p:nvPr>
        </p:nvSpPr>
        <p:spPr>
          <a:xfrm>
            <a:off x="1888075" y="2193000"/>
            <a:ext cx="5604300" cy="757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800"/>
              <a:buFont typeface="Arial"/>
              <a:buNone/>
            </a:pPr>
            <a:r>
              <a:t/>
            </a:r>
            <a:endParaRPr>
              <a:solidFill>
                <a:schemeClr val="dk1"/>
              </a:solidFill>
              <a:latin typeface="Arial"/>
              <a:ea typeface="Arial"/>
              <a:cs typeface="Arial"/>
              <a:sym typeface="Arial"/>
            </a:endParaRPr>
          </a:p>
        </p:txBody>
      </p:sp>
      <p:sp>
        <p:nvSpPr>
          <p:cNvPr id="100" name="Google Shape;100;g31b3f087a09_1_43"/>
          <p:cNvSpPr txBox="1"/>
          <p:nvPr/>
        </p:nvSpPr>
        <p:spPr>
          <a:xfrm>
            <a:off x="1287375" y="983825"/>
            <a:ext cx="6108000" cy="3600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t/>
            </a:r>
            <a:endParaRPr b="1" sz="3500">
              <a:solidFill>
                <a:srgbClr val="8182E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2000"/>
              <a:buFont typeface="Arial"/>
              <a:buNone/>
            </a:pPr>
            <a:r>
              <a:t/>
            </a:r>
            <a:endParaRPr b="1" sz="3500">
              <a:solidFill>
                <a:srgbClr val="8182E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2000"/>
              <a:buFont typeface="Arial"/>
              <a:buNone/>
            </a:pPr>
            <a:r>
              <a:rPr b="1" lang="en-IN" sz="3500">
                <a:solidFill>
                  <a:srgbClr val="8182EF"/>
                </a:solidFill>
                <a:latin typeface="Roboto"/>
                <a:ea typeface="Roboto"/>
                <a:cs typeface="Roboto"/>
                <a:sym typeface="Roboto"/>
              </a:rPr>
              <a:t>NUMBER PROPERTIES</a:t>
            </a:r>
            <a:endParaRPr b="1" sz="3500">
              <a:solidFill>
                <a:srgbClr val="8182EF"/>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2000"/>
              <a:buFont typeface="Arial"/>
              <a:buNone/>
            </a:pPr>
            <a:r>
              <a:rPr b="1" lang="en-IN" sz="3500">
                <a:solidFill>
                  <a:srgbClr val="8182EF"/>
                </a:solidFill>
                <a:latin typeface="Roboto"/>
                <a:ea typeface="Roboto"/>
                <a:cs typeface="Roboto"/>
                <a:sym typeface="Roboto"/>
              </a:rPr>
              <a:t>POWER CYCLE</a:t>
            </a:r>
            <a:endParaRPr b="1" sz="35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9">
                                            <p:txEl>
                                              <p:pRg end="0" st="0"/>
                                            </p:txEl>
                                          </p:spTgt>
                                        </p:tgtEl>
                                        <p:attrNameLst>
                                          <p:attrName>style.visibility</p:attrName>
                                        </p:attrNameLst>
                                      </p:cBhvr>
                                      <p:to>
                                        <p:strVal val="visible"/>
                                      </p:to>
                                    </p:set>
                                    <p:anim calcmode="lin" valueType="num">
                                      <p:cBhvr additive="base">
                                        <p:cTn dur="500"/>
                                        <p:tgtEl>
                                          <p:spTgt spid="9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nvSpPr>
        <p:spPr>
          <a:xfrm>
            <a:off x="6828333" y="4120750"/>
            <a:ext cx="2511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Roboto"/>
                <a:ea typeface="Roboto"/>
                <a:cs typeface="Roboto"/>
                <a:sym typeface="Roboto"/>
              </a:rPr>
              <a:t>Answer: </a:t>
            </a:r>
            <a:r>
              <a:rPr b="1" lang="en-IN" sz="1800">
                <a:latin typeface="Roboto"/>
                <a:ea typeface="Roboto"/>
                <a:cs typeface="Roboto"/>
                <a:sym typeface="Roboto"/>
              </a:rPr>
              <a:t>A</a:t>
            </a:r>
            <a:endParaRPr b="1" i="0" sz="1800" u="none" cap="none" strike="noStrike">
              <a:solidFill>
                <a:srgbClr val="000000"/>
              </a:solidFill>
              <a:latin typeface="Roboto"/>
              <a:ea typeface="Roboto"/>
              <a:cs typeface="Roboto"/>
              <a:sym typeface="Roboto"/>
            </a:endParaRPr>
          </a:p>
        </p:txBody>
      </p:sp>
      <p:sp>
        <p:nvSpPr>
          <p:cNvPr id="106" name="Google Shape;106;p16"/>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01</a:t>
            </a:r>
            <a:endParaRPr b="1" i="0" sz="2000" u="none" cap="none" strike="noStrike">
              <a:solidFill>
                <a:srgbClr val="8182EF"/>
              </a:solidFill>
              <a:latin typeface="Roboto"/>
              <a:ea typeface="Roboto"/>
              <a:cs typeface="Roboto"/>
              <a:sym typeface="Roboto"/>
            </a:endParaRPr>
          </a:p>
        </p:txBody>
      </p:sp>
      <p:sp>
        <p:nvSpPr>
          <p:cNvPr id="107" name="Google Shape;107;p16"/>
          <p:cNvSpPr txBox="1"/>
          <p:nvPr>
            <p:ph idx="1" type="body"/>
          </p:nvPr>
        </p:nvSpPr>
        <p:spPr>
          <a:xfrm>
            <a:off x="722375" y="12462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Find the units digit of 7</a:t>
            </a:r>
            <a:r>
              <a:rPr baseline="30000" lang="en-IN" sz="3000">
                <a:solidFill>
                  <a:schemeClr val="dk1"/>
                </a:solidFill>
                <a:latin typeface="Arial"/>
                <a:ea typeface="Arial"/>
                <a:cs typeface="Arial"/>
                <a:sym typeface="Arial"/>
              </a:rPr>
              <a:t>157</a:t>
            </a:r>
            <a:r>
              <a:rPr lang="en-IN">
                <a:solidFill>
                  <a:schemeClr val="dk1"/>
                </a:solidFill>
                <a:latin typeface="Arial"/>
                <a:ea typeface="Arial"/>
                <a:cs typeface="Arial"/>
                <a:sym typeface="Arial"/>
              </a:rPr>
              <a:t>?</a:t>
            </a:r>
            <a:endParaRPr>
              <a:solidFill>
                <a:schemeClr val="dk1"/>
              </a:solidFill>
              <a:latin typeface="Arial"/>
              <a:ea typeface="Arial"/>
              <a:cs typeface="Arial"/>
              <a:sym typeface="Aria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A.1</a:t>
            </a:r>
            <a:endParaRPr>
              <a:solidFill>
                <a:schemeClr val="dk1"/>
              </a:solidFill>
              <a:latin typeface="Arial"/>
              <a:ea typeface="Arial"/>
              <a:cs typeface="Arial"/>
              <a:sym typeface="Aria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B.3</a:t>
            </a:r>
            <a:endParaRPr>
              <a:solidFill>
                <a:schemeClr val="dk1"/>
              </a:solidFill>
              <a:latin typeface="Arial"/>
              <a:ea typeface="Arial"/>
              <a:cs typeface="Arial"/>
              <a:sym typeface="Aria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C.4</a:t>
            </a:r>
            <a:endParaRPr>
              <a:solidFill>
                <a:schemeClr val="dk1"/>
              </a:solidFill>
              <a:latin typeface="Arial"/>
              <a:ea typeface="Arial"/>
              <a:cs typeface="Arial"/>
              <a:sym typeface="Aria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D.7</a:t>
            </a:r>
            <a:endParaRPr>
              <a:solidFill>
                <a:schemeClr val="dk1"/>
              </a:solidFill>
              <a:latin typeface="Arial"/>
              <a:ea typeface="Arial"/>
              <a:cs typeface="Arial"/>
              <a:sym typeface="Arial"/>
            </a:endParaRPr>
          </a:p>
          <a:p>
            <a:pPr indent="0" lvl="0" marL="0" rtl="0" algn="l">
              <a:lnSpc>
                <a:spcPct val="137500"/>
              </a:lnSpc>
              <a:spcBef>
                <a:spcPts val="1500"/>
              </a:spcBef>
              <a:spcAft>
                <a:spcPts val="0"/>
              </a:spcAft>
              <a:buClr>
                <a:schemeClr val="dk1"/>
              </a:buClr>
              <a:buSzPts val="1100"/>
              <a:buFont typeface="Arial"/>
              <a:buNone/>
            </a:pPr>
            <a:r>
              <a:t/>
            </a:r>
            <a:endParaRPr sz="1950">
              <a:solidFill>
                <a:schemeClr val="dk1"/>
              </a:solidFill>
              <a:highlight>
                <a:schemeClr val="lt1"/>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anim calcmode="lin" valueType="num">
                                      <p:cBhvr additive="base">
                                        <p:cTn dur="500"/>
                                        <p:tgtEl>
                                          <p:spTgt spid="10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1" name="Shape 111"/>
        <p:cNvGrpSpPr/>
        <p:nvPr/>
      </p:nvGrpSpPr>
      <p:grpSpPr>
        <a:xfrm>
          <a:off x="0" y="0"/>
          <a:ext cx="0" cy="0"/>
          <a:chOff x="0" y="0"/>
          <a:chExt cx="0" cy="0"/>
        </a:xfrm>
      </p:grpSpPr>
      <p:sp>
        <p:nvSpPr>
          <p:cNvPr id="112" name="Google Shape;112;p17"/>
          <p:cNvSpPr txBox="1"/>
          <p:nvPr>
            <p:ph idx="1" type="body"/>
          </p:nvPr>
        </p:nvSpPr>
        <p:spPr>
          <a:xfrm>
            <a:off x="720000" y="1440000"/>
            <a:ext cx="7800600" cy="3281400"/>
          </a:xfrm>
          <a:prstGeom prst="rect">
            <a:avLst/>
          </a:prstGeom>
          <a:noFill/>
          <a:ln>
            <a:noFill/>
          </a:ln>
        </p:spPr>
        <p:txBody>
          <a:bodyPr anchorCtr="0" anchor="t" bIns="91425" lIns="91425" spcFirstLastPara="1" rIns="91425" wrap="square" tIns="91425">
            <a:noAutofit/>
          </a:bodyPr>
          <a:lstStyle/>
          <a:p>
            <a:pPr indent="0" lvl="0" marL="0" rtl="0" algn="l">
              <a:lnSpc>
                <a:spcPct val="137500"/>
              </a:lnSpc>
              <a:spcBef>
                <a:spcPts val="1100"/>
              </a:spcBef>
              <a:spcAft>
                <a:spcPts val="0"/>
              </a:spcAft>
              <a:buClr>
                <a:schemeClr val="dk1"/>
              </a:buClr>
              <a:buSzPts val="1100"/>
              <a:buFont typeface="Arial"/>
              <a:buNone/>
            </a:pPr>
            <a:r>
              <a:t/>
            </a:r>
            <a:endParaRPr b="1" sz="1400">
              <a:solidFill>
                <a:schemeClr val="dk1"/>
              </a:solidFill>
              <a:highlight>
                <a:schemeClr val="lt1"/>
              </a:highlight>
              <a:latin typeface="Arial"/>
              <a:ea typeface="Arial"/>
              <a:cs typeface="Arial"/>
              <a:sym typeface="Arial"/>
            </a:endParaRPr>
          </a:p>
          <a:p>
            <a:pPr indent="0" lvl="0" marL="0" rtl="0" algn="l">
              <a:lnSpc>
                <a:spcPct val="150000"/>
              </a:lnSpc>
              <a:spcBef>
                <a:spcPts val="0"/>
              </a:spcBef>
              <a:spcAft>
                <a:spcPts val="0"/>
              </a:spcAft>
              <a:buClr>
                <a:schemeClr val="dk1"/>
              </a:buClr>
              <a:buSzPts val="1100"/>
              <a:buFont typeface="Arial"/>
              <a:buNone/>
            </a:pPr>
            <a:r>
              <a:rPr lang="en-IN">
                <a:solidFill>
                  <a:schemeClr val="dk1"/>
                </a:solidFill>
              </a:rPr>
              <a:t>Since the exponent 157 is not divisible by 4, from the </a:t>
            </a:r>
            <a:r>
              <a:rPr lang="en-IN" u="sng">
                <a:solidFill>
                  <a:schemeClr val="hlink"/>
                </a:solidFill>
                <a:hlinkClick r:id="rId3"/>
              </a:rPr>
              <a:t>case 2 of general rule of cyclicity of numbers</a:t>
            </a:r>
            <a:r>
              <a:rPr lang="en-IN">
                <a:solidFill>
                  <a:schemeClr val="dk1"/>
                </a:solidFill>
              </a:rPr>
              <a:t>, we need to find the remainder when 157 is divided by 4</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IN">
                <a:solidFill>
                  <a:schemeClr val="dk1"/>
                </a:solidFill>
              </a:rPr>
              <a:t>Remainder of (157/4) is 1.</a:t>
            </a:r>
            <a:endParaRPr>
              <a:solidFill>
                <a:schemeClr val="dk1"/>
              </a:solidFill>
            </a:endParaRPr>
          </a:p>
          <a:p>
            <a:pPr indent="0" lvl="0" marL="0" rtl="0" algn="l">
              <a:lnSpc>
                <a:spcPct val="150000"/>
              </a:lnSpc>
              <a:spcBef>
                <a:spcPts val="0"/>
              </a:spcBef>
              <a:spcAft>
                <a:spcPts val="0"/>
              </a:spcAft>
              <a:buClr>
                <a:schemeClr val="dk1"/>
              </a:buClr>
              <a:buSzPts val="2000"/>
              <a:buFont typeface="Arial"/>
              <a:buNone/>
            </a:pPr>
            <a:r>
              <a:rPr lang="en-IN">
                <a:solidFill>
                  <a:schemeClr val="dk1"/>
                </a:solidFill>
              </a:rPr>
              <a:t>From general rule of cyclicity, units digit of (7</a:t>
            </a:r>
            <a:r>
              <a:rPr baseline="30000" lang="en-IN">
                <a:solidFill>
                  <a:schemeClr val="dk1"/>
                </a:solidFill>
              </a:rPr>
              <a:t>157</a:t>
            </a:r>
            <a:r>
              <a:rPr lang="en-IN">
                <a:solidFill>
                  <a:schemeClr val="dk1"/>
                </a:solidFill>
              </a:rPr>
              <a:t>) = units digit of (7</a:t>
            </a:r>
            <a:r>
              <a:rPr baseline="30000" lang="en-IN">
                <a:solidFill>
                  <a:schemeClr val="dk1"/>
                </a:solidFill>
              </a:rPr>
              <a:t>1</a:t>
            </a:r>
            <a:r>
              <a:rPr lang="en-IN">
                <a:solidFill>
                  <a:schemeClr val="dk1"/>
                </a:solidFill>
              </a:rPr>
              <a:t>) = </a:t>
            </a:r>
            <a:r>
              <a:rPr b="1" lang="en-IN">
                <a:solidFill>
                  <a:schemeClr val="dk1"/>
                </a:solidFill>
              </a:rPr>
              <a:t>7</a:t>
            </a:r>
            <a:endParaRPr>
              <a:solidFill>
                <a:schemeClr val="dk1"/>
              </a:solidFill>
              <a:highlight>
                <a:schemeClr val="lt1"/>
              </a:highlight>
            </a:endParaRPr>
          </a:p>
          <a:p>
            <a:pPr indent="0" lvl="0" marL="0" rtl="0" algn="l">
              <a:lnSpc>
                <a:spcPct val="150000"/>
              </a:lnSpc>
              <a:spcBef>
                <a:spcPts val="0"/>
              </a:spcBef>
              <a:spcAft>
                <a:spcPts val="0"/>
              </a:spcAft>
              <a:buClr>
                <a:schemeClr val="dk1"/>
              </a:buClr>
              <a:buSzPts val="1800"/>
              <a:buFont typeface="Noto Sans Symbols"/>
              <a:buNone/>
            </a:pPr>
            <a:r>
              <a:t/>
            </a:r>
            <a:endParaRPr sz="2000">
              <a:solidFill>
                <a:schemeClr val="dk1"/>
              </a:solidFill>
              <a:latin typeface="Arial"/>
              <a:ea typeface="Arial"/>
              <a:cs typeface="Arial"/>
              <a:sym typeface="Arial"/>
            </a:endParaRPr>
          </a:p>
          <a:p>
            <a:pPr indent="0" lvl="0" marL="0" rtl="0" algn="l">
              <a:lnSpc>
                <a:spcPct val="150000"/>
              </a:lnSpc>
              <a:spcBef>
                <a:spcPts val="0"/>
              </a:spcBef>
              <a:spcAft>
                <a:spcPts val="0"/>
              </a:spcAft>
              <a:buClr>
                <a:schemeClr val="dk1"/>
              </a:buClr>
              <a:buSzPts val="2000"/>
              <a:buFont typeface="Arial"/>
              <a:buNone/>
            </a:pPr>
            <a:br>
              <a:rPr lang="en-IN" sz="2000">
                <a:solidFill>
                  <a:schemeClr val="dk1"/>
                </a:solidFill>
                <a:latin typeface="Arial"/>
                <a:ea typeface="Arial"/>
                <a:cs typeface="Arial"/>
                <a:sym typeface="Arial"/>
              </a:rPr>
            </a:br>
            <a:endParaRPr sz="2000">
              <a:solidFill>
                <a:schemeClr val="dk1"/>
              </a:solidFill>
              <a:latin typeface="Arial"/>
              <a:ea typeface="Arial"/>
              <a:cs typeface="Arial"/>
              <a:sym typeface="Arial"/>
            </a:endParaRPr>
          </a:p>
          <a:p>
            <a:pPr indent="0" lvl="0" marL="0" rtl="0" algn="l">
              <a:lnSpc>
                <a:spcPct val="150000"/>
              </a:lnSpc>
              <a:spcBef>
                <a:spcPts val="0"/>
              </a:spcBef>
              <a:spcAft>
                <a:spcPts val="0"/>
              </a:spcAft>
              <a:buClr>
                <a:schemeClr val="dk1"/>
              </a:buClr>
              <a:buSzPts val="1800"/>
              <a:buFont typeface="Arial"/>
              <a:buNone/>
            </a:pPr>
            <a:r>
              <a:t/>
            </a:r>
            <a:endParaRPr>
              <a:solidFill>
                <a:schemeClr val="dk1"/>
              </a:solidFill>
              <a:latin typeface="Arial"/>
              <a:ea typeface="Arial"/>
              <a:cs typeface="Arial"/>
              <a:sym typeface="Arial"/>
            </a:endParaRPr>
          </a:p>
          <a:p>
            <a:pPr indent="0" lvl="0" marL="457200" rtl="0" algn="just">
              <a:lnSpc>
                <a:spcPct val="150000"/>
              </a:lnSpc>
              <a:spcBef>
                <a:spcPts val="0"/>
              </a:spcBef>
              <a:spcAft>
                <a:spcPts val="0"/>
              </a:spcAft>
              <a:buNone/>
            </a:pPr>
            <a:r>
              <a:t/>
            </a:r>
            <a:endParaRPr>
              <a:solidFill>
                <a:schemeClr val="dk1"/>
              </a:solidFill>
              <a:latin typeface="Arial"/>
              <a:ea typeface="Arial"/>
              <a:cs typeface="Arial"/>
              <a:sym typeface="Arial"/>
            </a:endParaRPr>
          </a:p>
        </p:txBody>
      </p:sp>
      <p:sp>
        <p:nvSpPr>
          <p:cNvPr id="113" name="Google Shape;113;p17"/>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01</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idx="1" type="body"/>
          </p:nvPr>
        </p:nvSpPr>
        <p:spPr>
          <a:xfrm>
            <a:off x="720000" y="12876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IN">
                <a:solidFill>
                  <a:schemeClr val="dk1"/>
                </a:solidFill>
              </a:rPr>
              <a:t>What is the units digit in the product (3</a:t>
            </a:r>
            <a:r>
              <a:rPr baseline="30000" lang="en-IN">
                <a:solidFill>
                  <a:schemeClr val="dk1"/>
                </a:solidFill>
              </a:rPr>
              <a:t>65</a:t>
            </a:r>
            <a:r>
              <a:rPr lang="en-IN">
                <a:solidFill>
                  <a:schemeClr val="dk1"/>
                </a:solidFill>
              </a:rPr>
              <a:t> * 6</a:t>
            </a:r>
            <a:r>
              <a:rPr baseline="30000" lang="en-IN">
                <a:solidFill>
                  <a:schemeClr val="dk1"/>
                </a:solidFill>
              </a:rPr>
              <a:t>59</a:t>
            </a:r>
            <a:r>
              <a:rPr lang="en-IN">
                <a:solidFill>
                  <a:schemeClr val="dk1"/>
                </a:solidFill>
              </a:rPr>
              <a:t> * 7</a:t>
            </a:r>
            <a:r>
              <a:rPr baseline="30000" lang="en-IN">
                <a:solidFill>
                  <a:schemeClr val="dk1"/>
                </a:solidFill>
              </a:rPr>
              <a:t>710</a:t>
            </a:r>
            <a:r>
              <a:rPr lang="en-IN">
                <a:solidFill>
                  <a:schemeClr val="dk1"/>
                </a:solidFill>
              </a:rPr>
              <a:t>)?</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A.1</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B.2</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C.4</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D.6</a:t>
            </a:r>
            <a:endParaRPr>
              <a:solidFill>
                <a:schemeClr val="dk1"/>
              </a:solidFill>
            </a:endParaRPr>
          </a:p>
          <a:p>
            <a:pPr indent="0" lvl="0" marL="0" rtl="0" algn="l">
              <a:lnSpc>
                <a:spcPct val="150000"/>
              </a:lnSpc>
              <a:spcBef>
                <a:spcPts val="0"/>
              </a:spcBef>
              <a:spcAft>
                <a:spcPts val="0"/>
              </a:spcAft>
              <a:buClr>
                <a:schemeClr val="dk1"/>
              </a:buClr>
              <a:buSzPts val="1800"/>
              <a:buNone/>
            </a:pPr>
            <a:r>
              <a:rPr lang="en-IN">
                <a:solidFill>
                  <a:schemeClr val="dk1"/>
                </a:solidFill>
              </a:rPr>
              <a:t>                                                                                                                </a:t>
            </a:r>
            <a:endParaRPr>
              <a:solidFill>
                <a:schemeClr val="dk1"/>
              </a:solidFill>
            </a:endParaRPr>
          </a:p>
          <a:p>
            <a:pPr indent="0" lvl="1" marL="0" rtl="0" algn="l">
              <a:lnSpc>
                <a:spcPct val="150000"/>
              </a:lnSpc>
              <a:spcBef>
                <a:spcPts val="0"/>
              </a:spcBef>
              <a:spcAft>
                <a:spcPts val="0"/>
              </a:spcAft>
              <a:buClr>
                <a:schemeClr val="dk1"/>
              </a:buClr>
              <a:buSzPts val="1800"/>
              <a:buFont typeface="Arial"/>
              <a:buNone/>
            </a:pPr>
            <a:r>
              <a:rPr lang="en-IN" sz="1800">
                <a:solidFill>
                  <a:schemeClr val="dk1"/>
                </a:solidFill>
                <a:latin typeface="Roboto"/>
                <a:ea typeface="Roboto"/>
                <a:cs typeface="Roboto"/>
                <a:sym typeface="Roboto"/>
              </a:rPr>
              <a:t>                                                                                                                  </a:t>
            </a:r>
            <a:endParaRPr b="1" i="1" sz="1800">
              <a:solidFill>
                <a:schemeClr val="dk1"/>
              </a:solidFill>
              <a:latin typeface="Roboto"/>
              <a:ea typeface="Roboto"/>
              <a:cs typeface="Roboto"/>
              <a:sym typeface="Roboto"/>
            </a:endParaRPr>
          </a:p>
          <a:p>
            <a:pPr indent="0" lvl="0" marL="114300" rtl="0" algn="l">
              <a:lnSpc>
                <a:spcPct val="150000"/>
              </a:lnSpc>
              <a:spcBef>
                <a:spcPts val="0"/>
              </a:spcBef>
              <a:spcAft>
                <a:spcPts val="0"/>
              </a:spcAft>
              <a:buClr>
                <a:schemeClr val="dk2"/>
              </a:buClr>
              <a:buSzPts val="1800"/>
              <a:buNone/>
            </a:pPr>
            <a:r>
              <a:t/>
            </a:r>
            <a:endParaRPr>
              <a:solidFill>
                <a:schemeClr val="dk1"/>
              </a:solidFill>
            </a:endParaRPr>
          </a:p>
        </p:txBody>
      </p:sp>
      <p:sp>
        <p:nvSpPr>
          <p:cNvPr id="119" name="Google Shape;119;p18"/>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02</a:t>
            </a:r>
            <a:endParaRPr b="1" i="0" sz="2000" u="none" cap="none" strike="noStrike">
              <a:solidFill>
                <a:srgbClr val="8182EF"/>
              </a:solidFill>
              <a:latin typeface="Roboto"/>
              <a:ea typeface="Roboto"/>
              <a:cs typeface="Roboto"/>
              <a:sym typeface="Roboto"/>
            </a:endParaRPr>
          </a:p>
        </p:txBody>
      </p:sp>
      <p:pic>
        <p:nvPicPr>
          <p:cNvPr id="120" name="Google Shape;120;p18"/>
          <p:cNvPicPr preferRelativeResize="0"/>
          <p:nvPr/>
        </p:nvPicPr>
        <p:blipFill>
          <a:blip r:embed="rId3">
            <a:alphaModFix/>
          </a:blip>
          <a:stretch>
            <a:fillRect/>
          </a:stretch>
        </p:blipFill>
        <p:spPr>
          <a:xfrm>
            <a:off x="6478675" y="4049725"/>
            <a:ext cx="1905242" cy="49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anim calcmode="lin" valueType="num">
                                      <p:cBhvr additive="base">
                                        <p:cTn dur="500"/>
                                        <p:tgtEl>
                                          <p:spTgt spid="11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1" st="1"/>
                                            </p:txEl>
                                          </p:spTgt>
                                        </p:tgtEl>
                                        <p:attrNameLst>
                                          <p:attrName>style.visibility</p:attrName>
                                        </p:attrNameLst>
                                      </p:cBhvr>
                                      <p:to>
                                        <p:strVal val="visible"/>
                                      </p:to>
                                    </p:set>
                                    <p:anim calcmode="lin" valueType="num">
                                      <p:cBhvr additive="base">
                                        <p:cTn dur="500"/>
                                        <p:tgtEl>
                                          <p:spTgt spid="11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2" st="2"/>
                                            </p:txEl>
                                          </p:spTgt>
                                        </p:tgtEl>
                                        <p:attrNameLst>
                                          <p:attrName>style.visibility</p:attrName>
                                        </p:attrNameLst>
                                      </p:cBhvr>
                                      <p:to>
                                        <p:strVal val="visible"/>
                                      </p:to>
                                    </p:set>
                                    <p:anim calcmode="lin" valueType="num">
                                      <p:cBhvr additive="base">
                                        <p:cTn dur="500"/>
                                        <p:tgtEl>
                                          <p:spTgt spid="11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3" st="3"/>
                                            </p:txEl>
                                          </p:spTgt>
                                        </p:tgtEl>
                                        <p:attrNameLst>
                                          <p:attrName>style.visibility</p:attrName>
                                        </p:attrNameLst>
                                      </p:cBhvr>
                                      <p:to>
                                        <p:strVal val="visible"/>
                                      </p:to>
                                    </p:set>
                                    <p:anim calcmode="lin" valueType="num">
                                      <p:cBhvr additive="base">
                                        <p:cTn dur="500"/>
                                        <p:tgtEl>
                                          <p:spTgt spid="11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4" st="4"/>
                                            </p:txEl>
                                          </p:spTgt>
                                        </p:tgtEl>
                                        <p:attrNameLst>
                                          <p:attrName>style.visibility</p:attrName>
                                        </p:attrNameLst>
                                      </p:cBhvr>
                                      <p:to>
                                        <p:strVal val="visible"/>
                                      </p:to>
                                    </p:set>
                                    <p:anim calcmode="lin" valueType="num">
                                      <p:cBhvr additive="base">
                                        <p:cTn dur="500"/>
                                        <p:tgtEl>
                                          <p:spTgt spid="11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5" st="5"/>
                                            </p:txEl>
                                          </p:spTgt>
                                        </p:tgtEl>
                                        <p:attrNameLst>
                                          <p:attrName>style.visibility</p:attrName>
                                        </p:attrNameLst>
                                      </p:cBhvr>
                                      <p:to>
                                        <p:strVal val="visible"/>
                                      </p:to>
                                    </p:set>
                                    <p:anim calcmode="lin" valueType="num">
                                      <p:cBhvr additive="base">
                                        <p:cTn dur="500"/>
                                        <p:tgtEl>
                                          <p:spTgt spid="11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6" st="6"/>
                                            </p:txEl>
                                          </p:spTgt>
                                        </p:tgtEl>
                                        <p:attrNameLst>
                                          <p:attrName>style.visibility</p:attrName>
                                        </p:attrNameLst>
                                      </p:cBhvr>
                                      <p:to>
                                        <p:strVal val="visible"/>
                                      </p:to>
                                    </p:set>
                                    <p:anim calcmode="lin" valueType="num">
                                      <p:cBhvr additive="base">
                                        <p:cTn dur="500"/>
                                        <p:tgtEl>
                                          <p:spTgt spid="118">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
                                            <p:txEl>
                                              <p:pRg end="7" st="7"/>
                                            </p:txEl>
                                          </p:spTgt>
                                        </p:tgtEl>
                                        <p:attrNameLst>
                                          <p:attrName>style.visibility</p:attrName>
                                        </p:attrNameLst>
                                      </p:cBhvr>
                                      <p:to>
                                        <p:strVal val="visible"/>
                                      </p:to>
                                    </p:set>
                                    <p:anim calcmode="lin" valueType="num">
                                      <p:cBhvr additive="base">
                                        <p:cTn dur="500"/>
                                        <p:tgtEl>
                                          <p:spTgt spid="118">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4" name="Shape 124"/>
        <p:cNvGrpSpPr/>
        <p:nvPr/>
      </p:nvGrpSpPr>
      <p:grpSpPr>
        <a:xfrm>
          <a:off x="0" y="0"/>
          <a:ext cx="0" cy="0"/>
          <a:chOff x="0" y="0"/>
          <a:chExt cx="0" cy="0"/>
        </a:xfrm>
      </p:grpSpPr>
      <p:sp>
        <p:nvSpPr>
          <p:cNvPr id="125" name="Google Shape;125;p19"/>
          <p:cNvSpPr txBox="1"/>
          <p:nvPr>
            <p:ph idx="1" type="body"/>
          </p:nvPr>
        </p:nvSpPr>
        <p:spPr>
          <a:xfrm>
            <a:off x="494975" y="1122851"/>
            <a:ext cx="7998000" cy="3558300"/>
          </a:xfrm>
          <a:prstGeom prst="rect">
            <a:avLst/>
          </a:prstGeom>
          <a:noFill/>
          <a:ln>
            <a:noFill/>
          </a:ln>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IN">
                <a:latin typeface="Arial"/>
                <a:ea typeface="Arial"/>
                <a:cs typeface="Arial"/>
                <a:sym typeface="Arial"/>
              </a:rPr>
              <a:t>●</a:t>
            </a:r>
            <a:r>
              <a:rPr lang="en-IN" sz="1600">
                <a:solidFill>
                  <a:schemeClr val="dk1"/>
                </a:solidFill>
              </a:rPr>
              <a:t>We know that units digit of (3</a:t>
            </a:r>
            <a:r>
              <a:rPr baseline="30000" lang="en-IN" sz="1600">
                <a:solidFill>
                  <a:schemeClr val="dk1"/>
                </a:solidFill>
              </a:rPr>
              <a:t>65</a:t>
            </a:r>
            <a:r>
              <a:rPr lang="en-IN" sz="1600">
                <a:solidFill>
                  <a:schemeClr val="dk1"/>
                </a:solidFill>
              </a:rPr>
              <a:t> * 6</a:t>
            </a:r>
            <a:r>
              <a:rPr baseline="30000" lang="en-IN" sz="1600">
                <a:solidFill>
                  <a:schemeClr val="dk1"/>
                </a:solidFill>
              </a:rPr>
              <a:t>59</a:t>
            </a:r>
            <a:r>
              <a:rPr lang="en-IN" sz="1600">
                <a:solidFill>
                  <a:schemeClr val="dk1"/>
                </a:solidFill>
              </a:rPr>
              <a:t> * 7</a:t>
            </a:r>
            <a:r>
              <a:rPr baseline="30000" lang="en-IN" sz="1600">
                <a:solidFill>
                  <a:schemeClr val="dk1"/>
                </a:solidFill>
              </a:rPr>
              <a:t>71</a:t>
            </a:r>
            <a:r>
              <a:rPr lang="en-IN" sz="1600">
                <a:solidFill>
                  <a:schemeClr val="dk1"/>
                </a:solidFill>
              </a:rPr>
              <a:t>) = Units digit of (Units digit of (3</a:t>
            </a:r>
            <a:r>
              <a:rPr baseline="30000" lang="en-IN" sz="1600">
                <a:solidFill>
                  <a:schemeClr val="dk1"/>
                </a:solidFill>
              </a:rPr>
              <a:t>65</a:t>
            </a:r>
            <a:r>
              <a:rPr lang="en-IN" sz="1600">
                <a:solidFill>
                  <a:schemeClr val="dk1"/>
                </a:solidFill>
              </a:rPr>
              <a:t>)  * Units digit of (6</a:t>
            </a:r>
            <a:r>
              <a:rPr baseline="30000" lang="en-IN" sz="1600">
                <a:solidFill>
                  <a:schemeClr val="dk1"/>
                </a:solidFill>
              </a:rPr>
              <a:t>59</a:t>
            </a:r>
            <a:r>
              <a:rPr lang="en-IN" sz="1600">
                <a:solidFill>
                  <a:schemeClr val="dk1"/>
                </a:solidFill>
              </a:rPr>
              <a:t>)  * Units digit of (7</a:t>
            </a:r>
            <a:r>
              <a:rPr baseline="30000" lang="en-IN" sz="1600">
                <a:solidFill>
                  <a:schemeClr val="dk1"/>
                </a:solidFill>
              </a:rPr>
              <a:t>71</a:t>
            </a:r>
            <a:r>
              <a:rPr lang="en-IN" sz="1600">
                <a:solidFill>
                  <a:schemeClr val="dk1"/>
                </a:solidFill>
              </a:rPr>
              <a:t>) )</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t>●</a:t>
            </a:r>
            <a:r>
              <a:rPr b="1" lang="en-IN" sz="1600" u="sng">
                <a:solidFill>
                  <a:schemeClr val="dk1"/>
                </a:solidFill>
              </a:rPr>
              <a:t>Units digit of 3</a:t>
            </a:r>
            <a:r>
              <a:rPr b="1" baseline="30000" lang="en-IN" sz="1600" u="sng">
                <a:solidFill>
                  <a:schemeClr val="dk1"/>
                </a:solidFill>
              </a:rPr>
              <a:t>65</a:t>
            </a:r>
            <a:endParaRPr b="1" baseline="30000" sz="1600" u="sng">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From the general rule of cyclicity of numbers we know that, if exponent of </a:t>
            </a:r>
            <a:r>
              <a:rPr b="1" lang="en-IN" sz="1600">
                <a:solidFill>
                  <a:schemeClr val="dk1"/>
                </a:solidFill>
              </a:rPr>
              <a:t>a</a:t>
            </a:r>
            <a:r>
              <a:rPr b="1" baseline="30000" lang="en-IN" sz="1600">
                <a:solidFill>
                  <a:schemeClr val="dk1"/>
                </a:solidFill>
              </a:rPr>
              <a:t>b</a:t>
            </a:r>
            <a:r>
              <a:rPr lang="en-IN" sz="1600">
                <a:solidFill>
                  <a:schemeClr val="dk1"/>
                </a:solidFill>
              </a:rPr>
              <a:t> is not divisible by 4 then </a:t>
            </a:r>
            <a:r>
              <a:rPr b="1" lang="en-IN" sz="1600">
                <a:solidFill>
                  <a:schemeClr val="dk1"/>
                </a:solidFill>
              </a:rPr>
              <a:t>cyclicity of a</a:t>
            </a:r>
            <a:r>
              <a:rPr b="1" baseline="30000" lang="en-IN" sz="1600">
                <a:solidFill>
                  <a:schemeClr val="dk1"/>
                </a:solidFill>
              </a:rPr>
              <a:t>b</a:t>
            </a:r>
            <a:r>
              <a:rPr b="1" lang="en-IN" sz="1600">
                <a:solidFill>
                  <a:schemeClr val="dk1"/>
                </a:solidFill>
              </a:rPr>
              <a:t> = cyclicity of a</a:t>
            </a:r>
            <a:r>
              <a:rPr b="1" baseline="30000" lang="en-IN" sz="1600">
                <a:solidFill>
                  <a:schemeClr val="dk1"/>
                </a:solidFill>
              </a:rPr>
              <a:t>r</a:t>
            </a:r>
            <a:r>
              <a:rPr lang="en-IN" sz="1600">
                <a:solidFill>
                  <a:schemeClr val="dk1"/>
                </a:solidFill>
              </a:rPr>
              <a:t> where </a:t>
            </a:r>
            <a:r>
              <a:rPr b="1" lang="en-IN" sz="1600">
                <a:solidFill>
                  <a:schemeClr val="dk1"/>
                </a:solidFill>
              </a:rPr>
              <a:t>r</a:t>
            </a:r>
            <a:r>
              <a:rPr lang="en-IN" sz="1600">
                <a:solidFill>
                  <a:schemeClr val="dk1"/>
                </a:solidFill>
              </a:rPr>
              <a:t> is the remainder of </a:t>
            </a:r>
            <a:r>
              <a:rPr b="1" lang="en-IN" sz="1600">
                <a:solidFill>
                  <a:schemeClr val="dk1"/>
                </a:solidFill>
              </a:rPr>
              <a:t>b/4</a:t>
            </a:r>
            <a:endParaRPr b="1"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Remainder of (65/4) = 1</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Units digit of (3</a:t>
            </a:r>
            <a:r>
              <a:rPr baseline="30000" lang="en-IN" sz="1600">
                <a:solidFill>
                  <a:schemeClr val="dk1"/>
                </a:solidFill>
              </a:rPr>
              <a:t>65</a:t>
            </a:r>
            <a:r>
              <a:rPr lang="en-IN" sz="1600">
                <a:solidFill>
                  <a:schemeClr val="dk1"/>
                </a:solidFill>
              </a:rPr>
              <a:t>) = units digit of (3</a:t>
            </a:r>
            <a:r>
              <a:rPr baseline="30000" lang="en-IN" sz="1600">
                <a:solidFill>
                  <a:schemeClr val="dk1"/>
                </a:solidFill>
              </a:rPr>
              <a:t>1</a:t>
            </a:r>
            <a:r>
              <a:rPr lang="en-IN" sz="1600">
                <a:solidFill>
                  <a:schemeClr val="dk1"/>
                </a:solidFill>
              </a:rPr>
              <a:t>) = 3</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t>●</a:t>
            </a:r>
            <a:r>
              <a:rPr b="1" lang="en-IN" sz="1600" u="sng">
                <a:solidFill>
                  <a:schemeClr val="dk1"/>
                </a:solidFill>
              </a:rPr>
              <a:t>Units digit of 6</a:t>
            </a:r>
            <a:r>
              <a:rPr b="1" baseline="30000" lang="en-IN" sz="1600" u="sng">
                <a:solidFill>
                  <a:schemeClr val="dk1"/>
                </a:solidFill>
              </a:rPr>
              <a:t>59</a:t>
            </a:r>
            <a:endParaRPr b="1" baseline="30000" sz="1600" u="sng">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Same as above, remainder of (59/4) = 3 Units digit of(6</a:t>
            </a:r>
            <a:r>
              <a:rPr baseline="30000" lang="en-IN" sz="1600">
                <a:solidFill>
                  <a:schemeClr val="dk1"/>
                </a:solidFill>
              </a:rPr>
              <a:t>59</a:t>
            </a:r>
            <a:r>
              <a:rPr lang="en-IN" sz="1600">
                <a:solidFill>
                  <a:schemeClr val="dk1"/>
                </a:solidFill>
              </a:rPr>
              <a:t>) = units digit of (6</a:t>
            </a:r>
            <a:r>
              <a:rPr baseline="30000" lang="en-IN" sz="1600">
                <a:solidFill>
                  <a:schemeClr val="dk1"/>
                </a:solidFill>
              </a:rPr>
              <a:t>3</a:t>
            </a:r>
            <a:r>
              <a:rPr lang="en-IN" sz="1600">
                <a:solidFill>
                  <a:schemeClr val="dk1"/>
                </a:solidFill>
              </a:rPr>
              <a:t>) = 6</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t>●</a:t>
            </a:r>
            <a:r>
              <a:rPr b="1" lang="en-IN" sz="1600" u="sng">
                <a:solidFill>
                  <a:schemeClr val="dk1"/>
                </a:solidFill>
              </a:rPr>
              <a:t>Units digit of 7</a:t>
            </a:r>
            <a:r>
              <a:rPr b="1" baseline="30000" lang="en-IN" sz="1600" u="sng">
                <a:solidFill>
                  <a:schemeClr val="dk1"/>
                </a:solidFill>
              </a:rPr>
              <a:t>71</a:t>
            </a:r>
            <a:endParaRPr b="1" baseline="30000" sz="1600" u="sng">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Remainder of 71/4 = 3</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Units digit of 7</a:t>
            </a:r>
            <a:r>
              <a:rPr baseline="30000" lang="en-IN" sz="1600">
                <a:solidFill>
                  <a:schemeClr val="dk1"/>
                </a:solidFill>
              </a:rPr>
              <a:t>71</a:t>
            </a:r>
            <a:r>
              <a:rPr lang="en-IN" sz="1600">
                <a:solidFill>
                  <a:schemeClr val="dk1"/>
                </a:solidFill>
              </a:rPr>
              <a:t> = units digit of 7</a:t>
            </a:r>
            <a:r>
              <a:rPr baseline="30000" lang="en-IN" sz="1600">
                <a:solidFill>
                  <a:schemeClr val="dk1"/>
                </a:solidFill>
              </a:rPr>
              <a:t>3</a:t>
            </a:r>
            <a:r>
              <a:rPr lang="en-IN" sz="1600">
                <a:solidFill>
                  <a:schemeClr val="dk1"/>
                </a:solidFill>
              </a:rPr>
              <a:t> = 3</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t>●</a:t>
            </a:r>
            <a:r>
              <a:rPr lang="en-IN" sz="1600">
                <a:solidFill>
                  <a:schemeClr val="dk1"/>
                </a:solidFill>
              </a:rPr>
              <a:t>Units digit of 3</a:t>
            </a:r>
            <a:r>
              <a:rPr baseline="30000" lang="en-IN" sz="1600">
                <a:solidFill>
                  <a:schemeClr val="dk1"/>
                </a:solidFill>
              </a:rPr>
              <a:t>65</a:t>
            </a:r>
            <a:r>
              <a:rPr lang="en-IN" sz="1600">
                <a:solidFill>
                  <a:schemeClr val="dk1"/>
                </a:solidFill>
              </a:rPr>
              <a:t> * 6</a:t>
            </a:r>
            <a:r>
              <a:rPr baseline="30000" lang="en-IN" sz="1600">
                <a:solidFill>
                  <a:schemeClr val="dk1"/>
                </a:solidFill>
              </a:rPr>
              <a:t>59</a:t>
            </a:r>
            <a:r>
              <a:rPr lang="en-IN" sz="1600">
                <a:solidFill>
                  <a:schemeClr val="dk1"/>
                </a:solidFill>
              </a:rPr>
              <a:t> * 7</a:t>
            </a:r>
            <a:r>
              <a:rPr baseline="30000" lang="en-IN" sz="1600">
                <a:solidFill>
                  <a:schemeClr val="dk1"/>
                </a:solidFill>
              </a:rPr>
              <a:t>71</a:t>
            </a:r>
            <a:r>
              <a:rPr lang="en-IN" sz="1600">
                <a:solidFill>
                  <a:schemeClr val="dk1"/>
                </a:solidFill>
              </a:rPr>
              <a:t> = Units digit of ( 3 * 6 * 3) = </a:t>
            </a:r>
            <a:r>
              <a:rPr b="1" lang="en-IN" sz="1600">
                <a:solidFill>
                  <a:schemeClr val="dk1"/>
                </a:solidFill>
              </a:rPr>
              <a:t>4</a:t>
            </a:r>
            <a:endParaRPr b="1" sz="1600">
              <a:solidFill>
                <a:schemeClr val="dk1"/>
              </a:solidFill>
            </a:endParaRPr>
          </a:p>
          <a:p>
            <a:pPr indent="0" lvl="0" marL="0" rtl="0" algn="l">
              <a:lnSpc>
                <a:spcPct val="100000"/>
              </a:lnSpc>
              <a:spcBef>
                <a:spcPts val="0"/>
              </a:spcBef>
              <a:spcAft>
                <a:spcPts val="0"/>
              </a:spcAft>
              <a:buClr>
                <a:schemeClr val="dk1"/>
              </a:buClr>
              <a:buSzPts val="1600"/>
              <a:buFont typeface="Arial"/>
              <a:buNone/>
            </a:pPr>
            <a:br>
              <a:rPr lang="en-IN" sz="1600">
                <a:solidFill>
                  <a:schemeClr val="dk1"/>
                </a:solidFill>
              </a:rPr>
            </a:br>
            <a:endParaRPr sz="1600">
              <a:solidFill>
                <a:schemeClr val="dk1"/>
              </a:solidFill>
            </a:endParaRPr>
          </a:p>
          <a:p>
            <a:pPr indent="0" lvl="0" marL="0" rtl="0" algn="l">
              <a:lnSpc>
                <a:spcPct val="100000"/>
              </a:lnSpc>
              <a:spcBef>
                <a:spcPts val="0"/>
              </a:spcBef>
              <a:spcAft>
                <a:spcPts val="0"/>
              </a:spcAft>
              <a:buClr>
                <a:schemeClr val="dk1"/>
              </a:buClr>
              <a:buSzPts val="1600"/>
              <a:buFont typeface="Arial"/>
              <a:buNone/>
            </a:pPr>
            <a:r>
              <a:t/>
            </a:r>
            <a:endParaRPr sz="1100">
              <a:solidFill>
                <a:schemeClr val="dk1"/>
              </a:solidFill>
            </a:endParaRPr>
          </a:p>
          <a:p>
            <a:pPr indent="0" lvl="0" marL="0" rtl="0" algn="l">
              <a:lnSpc>
                <a:spcPct val="100000"/>
              </a:lnSpc>
              <a:spcBef>
                <a:spcPts val="0"/>
              </a:spcBef>
              <a:spcAft>
                <a:spcPts val="0"/>
              </a:spcAft>
              <a:buClr>
                <a:schemeClr val="dk1"/>
              </a:buClr>
              <a:buSzPts val="1600"/>
              <a:buFont typeface="Arial"/>
              <a:buNone/>
            </a:pPr>
            <a:r>
              <a:t/>
            </a:r>
            <a:endParaRPr sz="1100">
              <a:solidFill>
                <a:schemeClr val="dk1"/>
              </a:solidFill>
            </a:endParaRPr>
          </a:p>
          <a:p>
            <a:pPr indent="0" lvl="0" marL="0" rtl="0" algn="l">
              <a:lnSpc>
                <a:spcPct val="100000"/>
              </a:lnSpc>
              <a:spcBef>
                <a:spcPts val="0"/>
              </a:spcBef>
              <a:spcAft>
                <a:spcPts val="0"/>
              </a:spcAft>
              <a:buClr>
                <a:schemeClr val="dk1"/>
              </a:buClr>
              <a:buSzPts val="1600"/>
              <a:buFont typeface="Arial"/>
              <a:buNone/>
            </a:pPr>
            <a:r>
              <a:t/>
            </a:r>
            <a:endParaRPr sz="1100">
              <a:solidFill>
                <a:schemeClr val="dk1"/>
              </a:solidFill>
            </a:endParaRPr>
          </a:p>
          <a:p>
            <a:pPr indent="0" lvl="0" marL="0" rtl="0" algn="l">
              <a:lnSpc>
                <a:spcPct val="150000"/>
              </a:lnSpc>
              <a:spcBef>
                <a:spcPts val="0"/>
              </a:spcBef>
              <a:spcAft>
                <a:spcPts val="0"/>
              </a:spcAft>
              <a:buClr>
                <a:schemeClr val="dk1"/>
              </a:buClr>
              <a:buSzPts val="1600"/>
              <a:buFont typeface="Arial"/>
              <a:buNone/>
            </a:pPr>
            <a:r>
              <a:t/>
            </a:r>
            <a:endParaRPr sz="1100">
              <a:solidFill>
                <a:schemeClr val="dk1"/>
              </a:solidFill>
            </a:endParaRPr>
          </a:p>
          <a:p>
            <a:pPr indent="0" lvl="0" marL="0" rtl="0" algn="l">
              <a:lnSpc>
                <a:spcPct val="100000"/>
              </a:lnSpc>
              <a:spcBef>
                <a:spcPts val="0"/>
              </a:spcBef>
              <a:spcAft>
                <a:spcPts val="0"/>
              </a:spcAft>
              <a:buClr>
                <a:schemeClr val="dk1"/>
              </a:buClr>
              <a:buSzPts val="1400"/>
              <a:buFont typeface="Arial"/>
              <a:buNone/>
            </a:pPr>
            <a:r>
              <a:t/>
            </a:r>
            <a:endParaRPr sz="900">
              <a:solidFill>
                <a:schemeClr val="dk1"/>
              </a:solidFill>
            </a:endParaRPr>
          </a:p>
          <a:p>
            <a:pPr indent="0" lvl="0" marL="457200" rtl="0" algn="l">
              <a:lnSpc>
                <a:spcPct val="115000"/>
              </a:lnSpc>
              <a:spcBef>
                <a:spcPts val="0"/>
              </a:spcBef>
              <a:spcAft>
                <a:spcPts val="0"/>
              </a:spcAft>
              <a:buSzPts val="1800"/>
              <a:buNone/>
            </a:pPr>
            <a:r>
              <a:t/>
            </a:r>
            <a:endParaRPr sz="1300">
              <a:solidFill>
                <a:schemeClr val="dk1"/>
              </a:solidFill>
            </a:endParaRPr>
          </a:p>
        </p:txBody>
      </p:sp>
      <p:sp>
        <p:nvSpPr>
          <p:cNvPr id="126" name="Google Shape;126;p19"/>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0" st="0"/>
                                            </p:txEl>
                                          </p:spTgt>
                                        </p:tgtEl>
                                        <p:attrNameLst>
                                          <p:attrName>style.visibility</p:attrName>
                                        </p:attrNameLst>
                                      </p:cBhvr>
                                      <p:to>
                                        <p:strVal val="visible"/>
                                      </p:to>
                                    </p:set>
                                    <p:anim calcmode="lin" valueType="num">
                                      <p:cBhvr additive="base">
                                        <p:cTn dur="500"/>
                                        <p:tgtEl>
                                          <p:spTgt spid="12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1" st="1"/>
                                            </p:txEl>
                                          </p:spTgt>
                                        </p:tgtEl>
                                        <p:attrNameLst>
                                          <p:attrName>style.visibility</p:attrName>
                                        </p:attrNameLst>
                                      </p:cBhvr>
                                      <p:to>
                                        <p:strVal val="visible"/>
                                      </p:to>
                                    </p:set>
                                    <p:anim calcmode="lin" valueType="num">
                                      <p:cBhvr additive="base">
                                        <p:cTn dur="500"/>
                                        <p:tgtEl>
                                          <p:spTgt spid="12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2" st="2"/>
                                            </p:txEl>
                                          </p:spTgt>
                                        </p:tgtEl>
                                        <p:attrNameLst>
                                          <p:attrName>style.visibility</p:attrName>
                                        </p:attrNameLst>
                                      </p:cBhvr>
                                      <p:to>
                                        <p:strVal val="visible"/>
                                      </p:to>
                                    </p:set>
                                    <p:anim calcmode="lin" valueType="num">
                                      <p:cBhvr additive="base">
                                        <p:cTn dur="500"/>
                                        <p:tgtEl>
                                          <p:spTgt spid="12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3" st="3"/>
                                            </p:txEl>
                                          </p:spTgt>
                                        </p:tgtEl>
                                        <p:attrNameLst>
                                          <p:attrName>style.visibility</p:attrName>
                                        </p:attrNameLst>
                                      </p:cBhvr>
                                      <p:to>
                                        <p:strVal val="visible"/>
                                      </p:to>
                                    </p:set>
                                    <p:anim calcmode="lin" valueType="num">
                                      <p:cBhvr additive="base">
                                        <p:cTn dur="500"/>
                                        <p:tgtEl>
                                          <p:spTgt spid="12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4" st="4"/>
                                            </p:txEl>
                                          </p:spTgt>
                                        </p:tgtEl>
                                        <p:attrNameLst>
                                          <p:attrName>style.visibility</p:attrName>
                                        </p:attrNameLst>
                                      </p:cBhvr>
                                      <p:to>
                                        <p:strVal val="visible"/>
                                      </p:to>
                                    </p:set>
                                    <p:anim calcmode="lin" valueType="num">
                                      <p:cBhvr additive="base">
                                        <p:cTn dur="500"/>
                                        <p:tgtEl>
                                          <p:spTgt spid="12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5" st="5"/>
                                            </p:txEl>
                                          </p:spTgt>
                                        </p:tgtEl>
                                        <p:attrNameLst>
                                          <p:attrName>style.visibility</p:attrName>
                                        </p:attrNameLst>
                                      </p:cBhvr>
                                      <p:to>
                                        <p:strVal val="visible"/>
                                      </p:to>
                                    </p:set>
                                    <p:anim calcmode="lin" valueType="num">
                                      <p:cBhvr additive="base">
                                        <p:cTn dur="500"/>
                                        <p:tgtEl>
                                          <p:spTgt spid="12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6" st="6"/>
                                            </p:txEl>
                                          </p:spTgt>
                                        </p:tgtEl>
                                        <p:attrNameLst>
                                          <p:attrName>style.visibility</p:attrName>
                                        </p:attrNameLst>
                                      </p:cBhvr>
                                      <p:to>
                                        <p:strVal val="visible"/>
                                      </p:to>
                                    </p:set>
                                    <p:anim calcmode="lin" valueType="num">
                                      <p:cBhvr additive="base">
                                        <p:cTn dur="500"/>
                                        <p:tgtEl>
                                          <p:spTgt spid="12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7" st="7"/>
                                            </p:txEl>
                                          </p:spTgt>
                                        </p:tgtEl>
                                        <p:attrNameLst>
                                          <p:attrName>style.visibility</p:attrName>
                                        </p:attrNameLst>
                                      </p:cBhvr>
                                      <p:to>
                                        <p:strVal val="visible"/>
                                      </p:to>
                                    </p:set>
                                    <p:anim calcmode="lin" valueType="num">
                                      <p:cBhvr additive="base">
                                        <p:cTn dur="500"/>
                                        <p:tgtEl>
                                          <p:spTgt spid="125">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8" st="8"/>
                                            </p:txEl>
                                          </p:spTgt>
                                        </p:tgtEl>
                                        <p:attrNameLst>
                                          <p:attrName>style.visibility</p:attrName>
                                        </p:attrNameLst>
                                      </p:cBhvr>
                                      <p:to>
                                        <p:strVal val="visible"/>
                                      </p:to>
                                    </p:set>
                                    <p:anim calcmode="lin" valueType="num">
                                      <p:cBhvr additive="base">
                                        <p:cTn dur="500"/>
                                        <p:tgtEl>
                                          <p:spTgt spid="125">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9" st="9"/>
                                            </p:txEl>
                                          </p:spTgt>
                                        </p:tgtEl>
                                        <p:attrNameLst>
                                          <p:attrName>style.visibility</p:attrName>
                                        </p:attrNameLst>
                                      </p:cBhvr>
                                      <p:to>
                                        <p:strVal val="visible"/>
                                      </p:to>
                                    </p:set>
                                    <p:anim calcmode="lin" valueType="num">
                                      <p:cBhvr additive="base">
                                        <p:cTn dur="500"/>
                                        <p:tgtEl>
                                          <p:spTgt spid="125">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10" st="10"/>
                                            </p:txEl>
                                          </p:spTgt>
                                        </p:tgtEl>
                                        <p:attrNameLst>
                                          <p:attrName>style.visibility</p:attrName>
                                        </p:attrNameLst>
                                      </p:cBhvr>
                                      <p:to>
                                        <p:strVal val="visible"/>
                                      </p:to>
                                    </p:set>
                                    <p:anim calcmode="lin" valueType="num">
                                      <p:cBhvr additive="base">
                                        <p:cTn dur="500"/>
                                        <p:tgtEl>
                                          <p:spTgt spid="125">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11" st="11"/>
                                            </p:txEl>
                                          </p:spTgt>
                                        </p:tgtEl>
                                        <p:attrNameLst>
                                          <p:attrName>style.visibility</p:attrName>
                                        </p:attrNameLst>
                                      </p:cBhvr>
                                      <p:to>
                                        <p:strVal val="visible"/>
                                      </p:to>
                                    </p:set>
                                    <p:anim calcmode="lin" valueType="num">
                                      <p:cBhvr additive="base">
                                        <p:cTn dur="500"/>
                                        <p:tgtEl>
                                          <p:spTgt spid="125">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12" st="12"/>
                                            </p:txEl>
                                          </p:spTgt>
                                        </p:tgtEl>
                                        <p:attrNameLst>
                                          <p:attrName>style.visibility</p:attrName>
                                        </p:attrNameLst>
                                      </p:cBhvr>
                                      <p:to>
                                        <p:strVal val="visible"/>
                                      </p:to>
                                    </p:set>
                                    <p:anim calcmode="lin" valueType="num">
                                      <p:cBhvr additive="base">
                                        <p:cTn dur="500"/>
                                        <p:tgtEl>
                                          <p:spTgt spid="125">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13" st="13"/>
                                            </p:txEl>
                                          </p:spTgt>
                                        </p:tgtEl>
                                        <p:attrNameLst>
                                          <p:attrName>style.visibility</p:attrName>
                                        </p:attrNameLst>
                                      </p:cBhvr>
                                      <p:to>
                                        <p:strVal val="visible"/>
                                      </p:to>
                                    </p:set>
                                    <p:anim calcmode="lin" valueType="num">
                                      <p:cBhvr additive="base">
                                        <p:cTn dur="500"/>
                                        <p:tgtEl>
                                          <p:spTgt spid="125">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14" st="14"/>
                                            </p:txEl>
                                          </p:spTgt>
                                        </p:tgtEl>
                                        <p:attrNameLst>
                                          <p:attrName>style.visibility</p:attrName>
                                        </p:attrNameLst>
                                      </p:cBhvr>
                                      <p:to>
                                        <p:strVal val="visible"/>
                                      </p:to>
                                    </p:set>
                                    <p:anim calcmode="lin" valueType="num">
                                      <p:cBhvr additive="base">
                                        <p:cTn dur="500"/>
                                        <p:tgtEl>
                                          <p:spTgt spid="125">
                                            <p:txEl>
                                              <p:pRg end="14" st="1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15" st="15"/>
                                            </p:txEl>
                                          </p:spTgt>
                                        </p:tgtEl>
                                        <p:attrNameLst>
                                          <p:attrName>style.visibility</p:attrName>
                                        </p:attrNameLst>
                                      </p:cBhvr>
                                      <p:to>
                                        <p:strVal val="visible"/>
                                      </p:to>
                                    </p:set>
                                    <p:anim calcmode="lin" valueType="num">
                                      <p:cBhvr additive="base">
                                        <p:cTn dur="500"/>
                                        <p:tgtEl>
                                          <p:spTgt spid="125">
                                            <p:txEl>
                                              <p:pRg end="15" st="1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16" st="16"/>
                                            </p:txEl>
                                          </p:spTgt>
                                        </p:tgtEl>
                                        <p:attrNameLst>
                                          <p:attrName>style.visibility</p:attrName>
                                        </p:attrNameLst>
                                      </p:cBhvr>
                                      <p:to>
                                        <p:strVal val="visible"/>
                                      </p:to>
                                    </p:set>
                                    <p:anim calcmode="lin" valueType="num">
                                      <p:cBhvr additive="base">
                                        <p:cTn dur="500"/>
                                        <p:tgtEl>
                                          <p:spTgt spid="125">
                                            <p:txEl>
                                              <p:pRg end="16" st="1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5">
                                            <p:txEl>
                                              <p:pRg end="17" st="17"/>
                                            </p:txEl>
                                          </p:spTgt>
                                        </p:tgtEl>
                                        <p:attrNameLst>
                                          <p:attrName>style.visibility</p:attrName>
                                        </p:attrNameLst>
                                      </p:cBhvr>
                                      <p:to>
                                        <p:strVal val="visible"/>
                                      </p:to>
                                    </p:set>
                                    <p:anim calcmode="lin" valueType="num">
                                      <p:cBhvr additive="base">
                                        <p:cTn dur="500"/>
                                        <p:tgtEl>
                                          <p:spTgt spid="125">
                                            <p:txEl>
                                              <p:pRg end="17" st="1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IN">
                <a:solidFill>
                  <a:schemeClr val="dk1"/>
                </a:solidFill>
              </a:rPr>
              <a:t>What is the units digit in(7</a:t>
            </a:r>
            <a:r>
              <a:rPr baseline="30000" lang="en-IN">
                <a:solidFill>
                  <a:schemeClr val="dk1"/>
                </a:solidFill>
              </a:rPr>
              <a:t>95</a:t>
            </a:r>
            <a:r>
              <a:rPr lang="en-IN">
                <a:solidFill>
                  <a:schemeClr val="dk1"/>
                </a:solidFill>
              </a:rPr>
              <a:t> - 3</a:t>
            </a:r>
            <a:r>
              <a:rPr baseline="30000" lang="en-IN">
                <a:solidFill>
                  <a:schemeClr val="dk1"/>
                </a:solidFill>
              </a:rPr>
              <a:t>58</a:t>
            </a:r>
            <a:r>
              <a:rPr lang="en-IN">
                <a:solidFill>
                  <a:schemeClr val="dk1"/>
                </a:solidFill>
              </a:rPr>
              <a:t>) ?</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IN">
                <a:solidFill>
                  <a:schemeClr val="dk1"/>
                </a:solidFill>
              </a:rPr>
              <a:t>A.0</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B.4</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C.6</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D.7</a:t>
            </a:r>
            <a:endParaRPr>
              <a:solidFill>
                <a:schemeClr val="dk1"/>
              </a:solidFill>
            </a:endParaRPr>
          </a:p>
          <a:p>
            <a:pPr indent="0" lvl="0" marL="0" rtl="0" algn="l">
              <a:lnSpc>
                <a:spcPct val="150000"/>
              </a:lnSpc>
              <a:spcBef>
                <a:spcPts val="0"/>
              </a:spcBef>
              <a:spcAft>
                <a:spcPts val="0"/>
              </a:spcAft>
              <a:buSzPts val="1800"/>
              <a:buNone/>
            </a:pPr>
            <a:r>
              <a:t/>
            </a:r>
            <a:endParaRPr>
              <a:solidFill>
                <a:schemeClr val="dk1"/>
              </a:solidFill>
            </a:endParaRPr>
          </a:p>
        </p:txBody>
      </p:sp>
      <p:sp>
        <p:nvSpPr>
          <p:cNvPr id="132" name="Google Shape;132;p20"/>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03</a:t>
            </a:r>
            <a:endParaRPr b="1" i="0" sz="2000" u="none" cap="none" strike="noStrike">
              <a:solidFill>
                <a:srgbClr val="8182EF"/>
              </a:solidFill>
              <a:latin typeface="Roboto"/>
              <a:ea typeface="Roboto"/>
              <a:cs typeface="Roboto"/>
              <a:sym typeface="Roboto"/>
            </a:endParaRPr>
          </a:p>
        </p:txBody>
      </p:sp>
      <p:pic>
        <p:nvPicPr>
          <p:cNvPr id="133" name="Google Shape;133;p20"/>
          <p:cNvPicPr preferRelativeResize="0"/>
          <p:nvPr/>
        </p:nvPicPr>
        <p:blipFill>
          <a:blip r:embed="rId3">
            <a:alphaModFix/>
          </a:blip>
          <a:stretch>
            <a:fillRect/>
          </a:stretch>
        </p:blipFill>
        <p:spPr>
          <a:xfrm>
            <a:off x="6692275" y="4202900"/>
            <a:ext cx="1905203" cy="49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anim calcmode="lin" valueType="num">
                                      <p:cBhvr additive="base">
                                        <p:cTn dur="500"/>
                                        <p:tgtEl>
                                          <p:spTgt spid="13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anim calcmode="lin" valueType="num">
                                      <p:cBhvr additive="base">
                                        <p:cTn dur="500"/>
                                        <p:tgtEl>
                                          <p:spTgt spid="13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anim calcmode="lin" valueType="num">
                                      <p:cBhvr additive="base">
                                        <p:cTn dur="500"/>
                                        <p:tgtEl>
                                          <p:spTgt spid="13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anim calcmode="lin" valueType="num">
                                      <p:cBhvr additive="base">
                                        <p:cTn dur="500"/>
                                        <p:tgtEl>
                                          <p:spTgt spid="13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4" st="4"/>
                                            </p:txEl>
                                          </p:spTgt>
                                        </p:tgtEl>
                                        <p:attrNameLst>
                                          <p:attrName>style.visibility</p:attrName>
                                        </p:attrNameLst>
                                      </p:cBhvr>
                                      <p:to>
                                        <p:strVal val="visible"/>
                                      </p:to>
                                    </p:set>
                                    <p:anim calcmode="lin" valueType="num">
                                      <p:cBhvr additive="base">
                                        <p:cTn dur="500"/>
                                        <p:tgtEl>
                                          <p:spTgt spid="13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xEl>
                                              <p:pRg end="5" st="5"/>
                                            </p:txEl>
                                          </p:spTgt>
                                        </p:tgtEl>
                                        <p:attrNameLst>
                                          <p:attrName>style.visibility</p:attrName>
                                        </p:attrNameLst>
                                      </p:cBhvr>
                                      <p:to>
                                        <p:strVal val="visible"/>
                                      </p:to>
                                    </p:set>
                                    <p:anim calcmode="lin" valueType="num">
                                      <p:cBhvr additive="base">
                                        <p:cTn dur="500"/>
                                        <p:tgtEl>
                                          <p:spTgt spid="13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7" name="Shape 137"/>
        <p:cNvGrpSpPr/>
        <p:nvPr/>
      </p:nvGrpSpPr>
      <p:grpSpPr>
        <a:xfrm>
          <a:off x="0" y="0"/>
          <a:ext cx="0" cy="0"/>
          <a:chOff x="0" y="0"/>
          <a:chExt cx="0" cy="0"/>
        </a:xfrm>
      </p:grpSpPr>
      <p:sp>
        <p:nvSpPr>
          <p:cNvPr id="138" name="Google Shape;138;p21"/>
          <p:cNvSpPr txBox="1"/>
          <p:nvPr>
            <p:ph idx="1" type="body"/>
          </p:nvPr>
        </p:nvSpPr>
        <p:spPr>
          <a:xfrm>
            <a:off x="720725" y="1170000"/>
            <a:ext cx="8017800" cy="3240600"/>
          </a:xfrm>
          <a:prstGeom prst="rect">
            <a:avLst/>
          </a:prstGeom>
          <a:noFill/>
          <a:ln>
            <a:noFill/>
          </a:ln>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IN">
                <a:latin typeface="Arial"/>
                <a:ea typeface="Arial"/>
                <a:cs typeface="Arial"/>
                <a:sym typeface="Arial"/>
              </a:rPr>
              <a:t>●</a:t>
            </a:r>
            <a:r>
              <a:rPr lang="en-IN" sz="1600">
                <a:solidFill>
                  <a:schemeClr val="dk1"/>
                </a:solidFill>
              </a:rPr>
              <a:t>We need to find the units digit of 7</a:t>
            </a:r>
            <a:r>
              <a:rPr baseline="30000" lang="en-IN" sz="2700">
                <a:solidFill>
                  <a:schemeClr val="dk1"/>
                </a:solidFill>
              </a:rPr>
              <a:t>95 </a:t>
            </a:r>
            <a:r>
              <a:rPr lang="en-IN" sz="1600">
                <a:solidFill>
                  <a:schemeClr val="dk1"/>
                </a:solidFill>
              </a:rPr>
              <a:t>and 3</a:t>
            </a:r>
            <a:r>
              <a:rPr baseline="30000" lang="en-IN" sz="2700">
                <a:solidFill>
                  <a:schemeClr val="dk1"/>
                </a:solidFill>
              </a:rPr>
              <a:t>58</a:t>
            </a:r>
            <a:r>
              <a:rPr lang="en-IN" sz="1600">
                <a:solidFill>
                  <a:schemeClr val="dk1"/>
                </a:solidFill>
              </a:rPr>
              <a:t> separately. Let’s use the general rule of cyclicity to find these.</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a:t>●</a:t>
            </a:r>
            <a:r>
              <a:rPr b="1" lang="en-IN" sz="1600" u="sng">
                <a:solidFill>
                  <a:schemeClr val="dk1"/>
                </a:solidFill>
              </a:rPr>
              <a:t>Units digit of 7</a:t>
            </a:r>
            <a:r>
              <a:rPr b="1" baseline="30000" lang="en-IN" sz="2700" u="sng">
                <a:solidFill>
                  <a:schemeClr val="dk1"/>
                </a:solidFill>
              </a:rPr>
              <a:t>95</a:t>
            </a:r>
            <a:endParaRPr b="1" baseline="30000" sz="2700" u="sng">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Remainder of 95/4 = 3</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Units digit of 7</a:t>
            </a:r>
            <a:r>
              <a:rPr baseline="30000" lang="en-IN" sz="2700">
                <a:solidFill>
                  <a:schemeClr val="dk1"/>
                </a:solidFill>
              </a:rPr>
              <a:t>95</a:t>
            </a:r>
            <a:r>
              <a:rPr lang="en-IN" sz="1600">
                <a:solidFill>
                  <a:schemeClr val="dk1"/>
                </a:solidFill>
              </a:rPr>
              <a:t> = Units digit of (7</a:t>
            </a:r>
            <a:r>
              <a:rPr baseline="30000" lang="en-IN" sz="2700">
                <a:solidFill>
                  <a:schemeClr val="dk1"/>
                </a:solidFill>
              </a:rPr>
              <a:t>3</a:t>
            </a:r>
            <a:r>
              <a:rPr lang="en-IN" sz="1600">
                <a:solidFill>
                  <a:schemeClr val="dk1"/>
                </a:solidFill>
              </a:rPr>
              <a:t>) = 3</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a:t>●</a:t>
            </a:r>
            <a:r>
              <a:rPr b="1" lang="en-IN" sz="1600" u="sng">
                <a:solidFill>
                  <a:schemeClr val="dk1"/>
                </a:solidFill>
              </a:rPr>
              <a:t>Units digit of 3</a:t>
            </a:r>
            <a:r>
              <a:rPr b="1" baseline="30000" lang="en-IN" sz="2700" u="sng">
                <a:solidFill>
                  <a:schemeClr val="dk1"/>
                </a:solidFill>
              </a:rPr>
              <a:t>58</a:t>
            </a:r>
            <a:endParaRPr b="1" baseline="30000" sz="2700" u="sng">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Remainder of 58/4 = 2</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Units digit of 3</a:t>
            </a:r>
            <a:r>
              <a:rPr baseline="30000" lang="en-IN" sz="2700">
                <a:solidFill>
                  <a:schemeClr val="dk1"/>
                </a:solidFill>
              </a:rPr>
              <a:t>58</a:t>
            </a:r>
            <a:r>
              <a:rPr lang="en-IN" sz="1600">
                <a:solidFill>
                  <a:schemeClr val="dk1"/>
                </a:solidFill>
              </a:rPr>
              <a:t> = Units digit of (3</a:t>
            </a:r>
            <a:r>
              <a:rPr baseline="30000" lang="en-IN" sz="2700">
                <a:solidFill>
                  <a:schemeClr val="dk1"/>
                </a:solidFill>
              </a:rPr>
              <a:t>2</a:t>
            </a:r>
            <a:r>
              <a:rPr lang="en-IN" sz="1600">
                <a:solidFill>
                  <a:schemeClr val="dk1"/>
                </a:solidFill>
              </a:rPr>
              <a:t>) = 9</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Unit digit in (7</a:t>
            </a:r>
            <a:r>
              <a:rPr baseline="30000" lang="en-IN" sz="2700">
                <a:solidFill>
                  <a:schemeClr val="dk1"/>
                </a:solidFill>
              </a:rPr>
              <a:t>95</a:t>
            </a:r>
            <a:r>
              <a:rPr lang="en-IN" sz="1600">
                <a:solidFill>
                  <a:schemeClr val="dk1"/>
                </a:solidFill>
              </a:rPr>
              <a:t> - 3</a:t>
            </a:r>
            <a:r>
              <a:rPr baseline="30000" lang="en-IN" sz="2700">
                <a:solidFill>
                  <a:schemeClr val="dk1"/>
                </a:solidFill>
              </a:rPr>
              <a:t>58</a:t>
            </a:r>
            <a:r>
              <a:rPr lang="en-IN" sz="1600">
                <a:solidFill>
                  <a:schemeClr val="dk1"/>
                </a:solidFill>
              </a:rPr>
              <a:t>) = Unit digit in (7</a:t>
            </a:r>
            <a:r>
              <a:rPr baseline="30000" lang="en-IN" sz="2700">
                <a:solidFill>
                  <a:schemeClr val="dk1"/>
                </a:solidFill>
              </a:rPr>
              <a:t>95</a:t>
            </a:r>
            <a:r>
              <a:rPr lang="en-IN" sz="1600">
                <a:solidFill>
                  <a:schemeClr val="dk1"/>
                </a:solidFill>
              </a:rPr>
              <a:t>) - Unit digit in (3</a:t>
            </a:r>
            <a:r>
              <a:rPr baseline="30000" lang="en-IN" sz="2700">
                <a:solidFill>
                  <a:schemeClr val="dk1"/>
                </a:solidFill>
              </a:rPr>
              <a:t>58</a:t>
            </a:r>
            <a:r>
              <a:rPr lang="en-IN" sz="1600">
                <a:solidFill>
                  <a:schemeClr val="dk1"/>
                </a:solidFill>
              </a:rPr>
              <a:t>) = 13 – 9 = </a:t>
            </a:r>
            <a:r>
              <a:rPr b="1" lang="en-IN" sz="1600">
                <a:solidFill>
                  <a:schemeClr val="dk1"/>
                </a:solidFill>
              </a:rPr>
              <a:t>4</a:t>
            </a:r>
            <a:endParaRPr b="1" sz="1600">
              <a:solidFill>
                <a:schemeClr val="dk1"/>
              </a:solidFill>
            </a:endParaRPr>
          </a:p>
          <a:p>
            <a:pPr indent="0" lvl="0" marL="114300" rtl="0" algn="l">
              <a:lnSpc>
                <a:spcPct val="115000"/>
              </a:lnSpc>
              <a:spcBef>
                <a:spcPts val="0"/>
              </a:spcBef>
              <a:spcAft>
                <a:spcPts val="0"/>
              </a:spcAft>
              <a:buSzPts val="1800"/>
              <a:buNone/>
            </a:pPr>
            <a:r>
              <a:t/>
            </a:r>
            <a:endParaRPr sz="1400">
              <a:solidFill>
                <a:schemeClr val="dk1"/>
              </a:solidFill>
            </a:endParaRPr>
          </a:p>
        </p:txBody>
      </p:sp>
      <p:sp>
        <p:nvSpPr>
          <p:cNvPr id="139" name="Google Shape;139;p21"/>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03</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IN">
                <a:solidFill>
                  <a:schemeClr val="dk1"/>
                </a:solidFill>
              </a:rPr>
              <a:t>What is the units digit of (6374)</a:t>
            </a:r>
            <a:r>
              <a:rPr baseline="30000" lang="en-IN">
                <a:solidFill>
                  <a:schemeClr val="dk1"/>
                </a:solidFill>
              </a:rPr>
              <a:t>1793</a:t>
            </a:r>
            <a:r>
              <a:rPr lang="en-IN">
                <a:solidFill>
                  <a:schemeClr val="dk1"/>
                </a:solidFill>
              </a:rPr>
              <a:t> x (625)</a:t>
            </a:r>
            <a:r>
              <a:rPr baseline="30000" lang="en-IN">
                <a:solidFill>
                  <a:schemeClr val="dk1"/>
                </a:solidFill>
              </a:rPr>
              <a:t>317</a:t>
            </a:r>
            <a:r>
              <a:rPr lang="en-IN">
                <a:solidFill>
                  <a:schemeClr val="dk1"/>
                </a:solidFill>
              </a:rPr>
              <a:t> x (341)</a:t>
            </a:r>
            <a:r>
              <a:rPr baseline="30000" lang="en-IN">
                <a:solidFill>
                  <a:schemeClr val="dk1"/>
                </a:solidFill>
              </a:rPr>
              <a:t>491 	</a:t>
            </a:r>
            <a:r>
              <a:rPr lang="en-IN">
                <a:solidFill>
                  <a:schemeClr val="dk1"/>
                </a:solidFill>
              </a:rPr>
              <a:t> ?</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IN">
                <a:solidFill>
                  <a:schemeClr val="dk1"/>
                </a:solidFill>
              </a:rPr>
              <a:t>A.0</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B.2</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C.3</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D.5</a:t>
            </a:r>
            <a:endParaRPr>
              <a:solidFill>
                <a:schemeClr val="dk1"/>
              </a:solidFill>
            </a:endParaRPr>
          </a:p>
          <a:p>
            <a:pPr indent="0" lvl="0" marL="0" rtl="0" algn="l">
              <a:lnSpc>
                <a:spcPct val="137500"/>
              </a:lnSpc>
              <a:spcBef>
                <a:spcPts val="1100"/>
              </a:spcBef>
              <a:spcAft>
                <a:spcPts val="0"/>
              </a:spcAft>
              <a:buClr>
                <a:schemeClr val="dk1"/>
              </a:buClr>
              <a:buSzPts val="1100"/>
              <a:buFont typeface="Arial"/>
              <a:buNone/>
            </a:pPr>
            <a:r>
              <a:t/>
            </a:r>
            <a:endParaRPr sz="1600">
              <a:solidFill>
                <a:schemeClr val="dk1"/>
              </a:solidFill>
              <a:highlight>
                <a:schemeClr val="lt1"/>
              </a:highlight>
              <a:latin typeface="Arial"/>
              <a:ea typeface="Arial"/>
              <a:cs typeface="Arial"/>
              <a:sym typeface="Arial"/>
            </a:endParaRPr>
          </a:p>
        </p:txBody>
      </p:sp>
      <p:sp>
        <p:nvSpPr>
          <p:cNvPr id="145" name="Google Shape;145;p22"/>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04</a:t>
            </a:r>
            <a:endParaRPr b="1" i="0" sz="2000" u="none" cap="none" strike="noStrike">
              <a:solidFill>
                <a:srgbClr val="8182EF"/>
              </a:solidFill>
              <a:latin typeface="Roboto"/>
              <a:ea typeface="Roboto"/>
              <a:cs typeface="Roboto"/>
              <a:sym typeface="Roboto"/>
            </a:endParaRPr>
          </a:p>
        </p:txBody>
      </p:sp>
      <p:pic>
        <p:nvPicPr>
          <p:cNvPr id="146" name="Google Shape;146;p22"/>
          <p:cNvPicPr preferRelativeResize="0"/>
          <p:nvPr/>
        </p:nvPicPr>
        <p:blipFill>
          <a:blip r:embed="rId3">
            <a:alphaModFix/>
          </a:blip>
          <a:stretch>
            <a:fillRect/>
          </a:stretch>
        </p:blipFill>
        <p:spPr>
          <a:xfrm>
            <a:off x="6906400" y="4258700"/>
            <a:ext cx="1905203" cy="49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xEl>
                                              <p:pRg end="0" st="0"/>
                                            </p:txEl>
                                          </p:spTgt>
                                        </p:tgtEl>
                                        <p:attrNameLst>
                                          <p:attrName>style.visibility</p:attrName>
                                        </p:attrNameLst>
                                      </p:cBhvr>
                                      <p:to>
                                        <p:strVal val="visible"/>
                                      </p:to>
                                    </p:set>
                                    <p:anim calcmode="lin" valueType="num">
                                      <p:cBhvr additive="base">
                                        <p:cTn dur="500"/>
                                        <p:tgtEl>
                                          <p:spTgt spid="14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xEl>
                                              <p:pRg end="1" st="1"/>
                                            </p:txEl>
                                          </p:spTgt>
                                        </p:tgtEl>
                                        <p:attrNameLst>
                                          <p:attrName>style.visibility</p:attrName>
                                        </p:attrNameLst>
                                      </p:cBhvr>
                                      <p:to>
                                        <p:strVal val="visible"/>
                                      </p:to>
                                    </p:set>
                                    <p:anim calcmode="lin" valueType="num">
                                      <p:cBhvr additive="base">
                                        <p:cTn dur="500"/>
                                        <p:tgtEl>
                                          <p:spTgt spid="14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xEl>
                                              <p:pRg end="2" st="2"/>
                                            </p:txEl>
                                          </p:spTgt>
                                        </p:tgtEl>
                                        <p:attrNameLst>
                                          <p:attrName>style.visibility</p:attrName>
                                        </p:attrNameLst>
                                      </p:cBhvr>
                                      <p:to>
                                        <p:strVal val="visible"/>
                                      </p:to>
                                    </p:set>
                                    <p:anim calcmode="lin" valueType="num">
                                      <p:cBhvr additive="base">
                                        <p:cTn dur="500"/>
                                        <p:tgtEl>
                                          <p:spTgt spid="14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xEl>
                                              <p:pRg end="3" st="3"/>
                                            </p:txEl>
                                          </p:spTgt>
                                        </p:tgtEl>
                                        <p:attrNameLst>
                                          <p:attrName>style.visibility</p:attrName>
                                        </p:attrNameLst>
                                      </p:cBhvr>
                                      <p:to>
                                        <p:strVal val="visible"/>
                                      </p:to>
                                    </p:set>
                                    <p:anim calcmode="lin" valueType="num">
                                      <p:cBhvr additive="base">
                                        <p:cTn dur="500"/>
                                        <p:tgtEl>
                                          <p:spTgt spid="14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xEl>
                                              <p:pRg end="4" st="4"/>
                                            </p:txEl>
                                          </p:spTgt>
                                        </p:tgtEl>
                                        <p:attrNameLst>
                                          <p:attrName>style.visibility</p:attrName>
                                        </p:attrNameLst>
                                      </p:cBhvr>
                                      <p:to>
                                        <p:strVal val="visible"/>
                                      </p:to>
                                    </p:set>
                                    <p:anim calcmode="lin" valueType="num">
                                      <p:cBhvr additive="base">
                                        <p:cTn dur="500"/>
                                        <p:tgtEl>
                                          <p:spTgt spid="14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
                                            <p:txEl>
                                              <p:pRg end="5" st="5"/>
                                            </p:txEl>
                                          </p:spTgt>
                                        </p:tgtEl>
                                        <p:attrNameLst>
                                          <p:attrName>style.visibility</p:attrName>
                                        </p:attrNameLst>
                                      </p:cBhvr>
                                      <p:to>
                                        <p:strVal val="visible"/>
                                      </p:to>
                                    </p:set>
                                    <p:anim calcmode="lin" valueType="num">
                                      <p:cBhvr additive="base">
                                        <p:cTn dur="500"/>
                                        <p:tgtEl>
                                          <p:spTgt spid="14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0" name="Shape 150"/>
        <p:cNvGrpSpPr/>
        <p:nvPr/>
      </p:nvGrpSpPr>
      <p:grpSpPr>
        <a:xfrm>
          <a:off x="0" y="0"/>
          <a:ext cx="0" cy="0"/>
          <a:chOff x="0" y="0"/>
          <a:chExt cx="0" cy="0"/>
        </a:xfrm>
      </p:grpSpPr>
      <p:sp>
        <p:nvSpPr>
          <p:cNvPr id="151" name="Google Shape;151;p23"/>
          <p:cNvSpPr txBox="1"/>
          <p:nvPr>
            <p:ph idx="1" type="body"/>
          </p:nvPr>
        </p:nvSpPr>
        <p:spPr>
          <a:xfrm>
            <a:off x="720725" y="1170000"/>
            <a:ext cx="7998000" cy="3312300"/>
          </a:xfrm>
          <a:prstGeom prst="rect">
            <a:avLst/>
          </a:prstGeom>
          <a:noFill/>
          <a:ln>
            <a:noFill/>
          </a:ln>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IN">
                <a:latin typeface="Arial"/>
                <a:ea typeface="Arial"/>
                <a:cs typeface="Arial"/>
                <a:sym typeface="Arial"/>
              </a:rPr>
              <a:t>●</a:t>
            </a:r>
            <a:r>
              <a:rPr lang="en-IN" sz="1600">
                <a:solidFill>
                  <a:schemeClr val="dk1"/>
                </a:solidFill>
                <a:latin typeface="Arial"/>
                <a:ea typeface="Arial"/>
                <a:cs typeface="Arial"/>
                <a:sym typeface="Arial"/>
              </a:rPr>
              <a:t>We need to find the unit place digit of each term separately.</a:t>
            </a:r>
            <a:endParaRPr sz="1600">
              <a:solidFill>
                <a:schemeClr val="dk1"/>
              </a:solidFill>
              <a:latin typeface="Arial"/>
              <a:ea typeface="Arial"/>
              <a:cs typeface="Arial"/>
              <a:sym typeface="Arial"/>
            </a:endParaRPr>
          </a:p>
          <a:p>
            <a:pPr indent="0" lvl="0" marL="12700" rtl="0" algn="l">
              <a:lnSpc>
                <a:spcPct val="115000"/>
              </a:lnSpc>
              <a:spcBef>
                <a:spcPts val="0"/>
              </a:spcBef>
              <a:spcAft>
                <a:spcPts val="0"/>
              </a:spcAft>
              <a:buClr>
                <a:schemeClr val="dk1"/>
              </a:buClr>
              <a:buSzPts val="1100"/>
              <a:buFont typeface="Arial"/>
              <a:buNone/>
            </a:pPr>
            <a:r>
              <a:rPr lang="en-IN" sz="1600">
                <a:latin typeface="Arial"/>
                <a:ea typeface="Arial"/>
                <a:cs typeface="Arial"/>
                <a:sym typeface="Arial"/>
              </a:rPr>
              <a:t>●</a:t>
            </a:r>
            <a:r>
              <a:rPr b="1" lang="en-IN" sz="1600" u="sng">
                <a:solidFill>
                  <a:schemeClr val="dk1"/>
                </a:solidFill>
                <a:latin typeface="Arial"/>
                <a:ea typeface="Arial"/>
                <a:cs typeface="Arial"/>
                <a:sym typeface="Arial"/>
              </a:rPr>
              <a:t>Units digit in (6374</a:t>
            </a:r>
            <a:r>
              <a:rPr b="1" baseline="30000" lang="en-IN" sz="1600" u="sng">
                <a:solidFill>
                  <a:schemeClr val="dk1"/>
                </a:solidFill>
                <a:latin typeface="Arial"/>
                <a:ea typeface="Arial"/>
                <a:cs typeface="Arial"/>
                <a:sym typeface="Arial"/>
              </a:rPr>
              <a:t>1793</a:t>
            </a:r>
            <a:r>
              <a:rPr b="1" lang="en-IN" sz="1600" u="sng">
                <a:solidFill>
                  <a:schemeClr val="dk1"/>
                </a:solidFill>
                <a:latin typeface="Arial"/>
                <a:ea typeface="Arial"/>
                <a:cs typeface="Arial"/>
                <a:sym typeface="Arial"/>
              </a:rPr>
              <a:t>)</a:t>
            </a:r>
            <a:endParaRPr b="1" sz="1600" u="sng">
              <a:solidFill>
                <a:schemeClr val="dk1"/>
              </a:solidFill>
              <a:latin typeface="Arial"/>
              <a:ea typeface="Arial"/>
              <a:cs typeface="Arial"/>
              <a:sym typeface="Aria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latin typeface="Arial"/>
                <a:ea typeface="Arial"/>
                <a:cs typeface="Arial"/>
                <a:sym typeface="Arial"/>
              </a:rPr>
              <a:t>We know that units digit of (6374</a:t>
            </a:r>
            <a:r>
              <a:rPr baseline="30000" lang="en-IN" sz="1600">
                <a:solidFill>
                  <a:schemeClr val="dk1"/>
                </a:solidFill>
                <a:latin typeface="Arial"/>
                <a:ea typeface="Arial"/>
                <a:cs typeface="Arial"/>
                <a:sym typeface="Arial"/>
              </a:rPr>
              <a:t>1793</a:t>
            </a:r>
            <a:r>
              <a:rPr lang="en-IN" sz="1600">
                <a:solidFill>
                  <a:schemeClr val="dk1"/>
                </a:solidFill>
                <a:latin typeface="Arial"/>
                <a:ea typeface="Arial"/>
                <a:cs typeface="Arial"/>
                <a:sym typeface="Arial"/>
              </a:rPr>
              <a:t>) = units digit of 4</a:t>
            </a:r>
            <a:r>
              <a:rPr baseline="30000" lang="en-IN" sz="1600">
                <a:solidFill>
                  <a:schemeClr val="dk1"/>
                </a:solidFill>
                <a:latin typeface="Arial"/>
                <a:ea typeface="Arial"/>
                <a:cs typeface="Arial"/>
                <a:sym typeface="Arial"/>
              </a:rPr>
              <a:t>1793</a:t>
            </a:r>
            <a:endParaRPr baseline="30000" sz="1600">
              <a:solidFill>
                <a:schemeClr val="dk1"/>
              </a:solidFill>
              <a:latin typeface="Arial"/>
              <a:ea typeface="Arial"/>
              <a:cs typeface="Arial"/>
              <a:sym typeface="Aria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latin typeface="Arial"/>
                <a:ea typeface="Arial"/>
                <a:cs typeface="Arial"/>
                <a:sym typeface="Arial"/>
              </a:rPr>
              <a:t>Since 1793 is odd, we know that reminder of 1793/4 will be an odd number</a:t>
            </a:r>
            <a:endParaRPr sz="1600">
              <a:solidFill>
                <a:schemeClr val="dk1"/>
              </a:solidFill>
              <a:latin typeface="Arial"/>
              <a:ea typeface="Arial"/>
              <a:cs typeface="Arial"/>
              <a:sym typeface="Aria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latin typeface="Arial"/>
                <a:ea typeface="Arial"/>
                <a:cs typeface="Arial"/>
                <a:sym typeface="Arial"/>
              </a:rPr>
              <a:t>Since cyclicity of 4 is 2, and the units digit at odd positions are 4.</a:t>
            </a:r>
            <a:endParaRPr sz="1600">
              <a:solidFill>
                <a:schemeClr val="dk1"/>
              </a:solidFill>
              <a:latin typeface="Arial"/>
              <a:ea typeface="Arial"/>
              <a:cs typeface="Arial"/>
              <a:sym typeface="Aria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latin typeface="Arial"/>
                <a:ea typeface="Arial"/>
                <a:cs typeface="Arial"/>
                <a:sym typeface="Arial"/>
              </a:rPr>
              <a:t>Hence units place digit of (6374</a:t>
            </a:r>
            <a:r>
              <a:rPr baseline="30000" lang="en-IN" sz="1600">
                <a:solidFill>
                  <a:schemeClr val="dk1"/>
                </a:solidFill>
                <a:latin typeface="Arial"/>
                <a:ea typeface="Arial"/>
                <a:cs typeface="Arial"/>
                <a:sym typeface="Arial"/>
              </a:rPr>
              <a:t>1793</a:t>
            </a:r>
            <a:r>
              <a:rPr lang="en-IN" sz="1600">
                <a:solidFill>
                  <a:schemeClr val="dk1"/>
                </a:solidFill>
                <a:latin typeface="Arial"/>
                <a:ea typeface="Arial"/>
                <a:cs typeface="Arial"/>
                <a:sym typeface="Arial"/>
              </a:rPr>
              <a:t>) = 4</a:t>
            </a:r>
            <a:endParaRPr sz="1600">
              <a:solidFill>
                <a:schemeClr val="dk1"/>
              </a:solidFill>
              <a:latin typeface="Arial"/>
              <a:ea typeface="Arial"/>
              <a:cs typeface="Arial"/>
              <a:sym typeface="Arial"/>
            </a:endParaRPr>
          </a:p>
          <a:p>
            <a:pPr indent="0" lvl="0" marL="12700" rtl="0" algn="l">
              <a:lnSpc>
                <a:spcPct val="115000"/>
              </a:lnSpc>
              <a:spcBef>
                <a:spcPts val="0"/>
              </a:spcBef>
              <a:spcAft>
                <a:spcPts val="0"/>
              </a:spcAft>
              <a:buClr>
                <a:schemeClr val="dk1"/>
              </a:buClr>
              <a:buSzPts val="1100"/>
              <a:buFont typeface="Arial"/>
              <a:buNone/>
            </a:pPr>
            <a:r>
              <a:rPr lang="en-IN" sz="1600">
                <a:latin typeface="Arial"/>
                <a:ea typeface="Arial"/>
                <a:cs typeface="Arial"/>
                <a:sym typeface="Arial"/>
              </a:rPr>
              <a:t>●</a:t>
            </a:r>
            <a:r>
              <a:rPr b="1" lang="en-IN" sz="1600" u="sng">
                <a:solidFill>
                  <a:schemeClr val="dk1"/>
                </a:solidFill>
                <a:latin typeface="Arial"/>
                <a:ea typeface="Arial"/>
                <a:cs typeface="Arial"/>
                <a:sym typeface="Arial"/>
              </a:rPr>
              <a:t>Units digit in (625</a:t>
            </a:r>
            <a:r>
              <a:rPr b="1" baseline="30000" lang="en-IN" sz="1600" u="sng">
                <a:solidFill>
                  <a:schemeClr val="dk1"/>
                </a:solidFill>
                <a:latin typeface="Arial"/>
                <a:ea typeface="Arial"/>
                <a:cs typeface="Arial"/>
                <a:sym typeface="Arial"/>
              </a:rPr>
              <a:t>317</a:t>
            </a:r>
            <a:r>
              <a:rPr b="1" lang="en-IN" sz="1600" u="sng">
                <a:solidFill>
                  <a:schemeClr val="dk1"/>
                </a:solidFill>
                <a:latin typeface="Arial"/>
                <a:ea typeface="Arial"/>
                <a:cs typeface="Arial"/>
                <a:sym typeface="Arial"/>
              </a:rPr>
              <a:t>)</a:t>
            </a:r>
            <a:endParaRPr b="1" sz="1600" u="sng">
              <a:solidFill>
                <a:schemeClr val="dk1"/>
              </a:solidFill>
              <a:latin typeface="Arial"/>
              <a:ea typeface="Arial"/>
              <a:cs typeface="Arial"/>
              <a:sym typeface="Aria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latin typeface="Arial"/>
                <a:ea typeface="Arial"/>
                <a:cs typeface="Arial"/>
                <a:sym typeface="Arial"/>
              </a:rPr>
              <a:t>From the table of cyclicity of numbers we know that 5 has cyclicity 1 and value is 5</a:t>
            </a:r>
            <a:endParaRPr sz="1600">
              <a:solidFill>
                <a:schemeClr val="dk1"/>
              </a:solidFill>
              <a:latin typeface="Arial"/>
              <a:ea typeface="Arial"/>
              <a:cs typeface="Arial"/>
              <a:sym typeface="Arial"/>
            </a:endParaRPr>
          </a:p>
          <a:p>
            <a:pPr indent="0" lvl="0" marL="12700" rtl="0" algn="l">
              <a:lnSpc>
                <a:spcPct val="115000"/>
              </a:lnSpc>
              <a:spcBef>
                <a:spcPts val="0"/>
              </a:spcBef>
              <a:spcAft>
                <a:spcPts val="0"/>
              </a:spcAft>
              <a:buClr>
                <a:schemeClr val="dk1"/>
              </a:buClr>
              <a:buSzPts val="1100"/>
              <a:buFont typeface="Arial"/>
              <a:buNone/>
            </a:pPr>
            <a:r>
              <a:rPr lang="en-IN" sz="1600">
                <a:latin typeface="Arial"/>
                <a:ea typeface="Arial"/>
                <a:cs typeface="Arial"/>
                <a:sym typeface="Arial"/>
              </a:rPr>
              <a:t>●</a:t>
            </a:r>
            <a:r>
              <a:rPr b="1" lang="en-IN" sz="1600" u="sng">
                <a:solidFill>
                  <a:schemeClr val="dk1"/>
                </a:solidFill>
                <a:latin typeface="Arial"/>
                <a:ea typeface="Arial"/>
                <a:cs typeface="Arial"/>
                <a:sym typeface="Arial"/>
              </a:rPr>
              <a:t>Units digit in (341</a:t>
            </a:r>
            <a:r>
              <a:rPr b="1" baseline="30000" lang="en-IN" sz="1600" u="sng">
                <a:solidFill>
                  <a:schemeClr val="dk1"/>
                </a:solidFill>
                <a:latin typeface="Arial"/>
                <a:ea typeface="Arial"/>
                <a:cs typeface="Arial"/>
                <a:sym typeface="Arial"/>
              </a:rPr>
              <a:t>491</a:t>
            </a:r>
            <a:r>
              <a:rPr b="1" lang="en-IN" sz="1600" u="sng">
                <a:solidFill>
                  <a:schemeClr val="dk1"/>
                </a:solidFill>
                <a:latin typeface="Arial"/>
                <a:ea typeface="Arial"/>
                <a:cs typeface="Arial"/>
                <a:sym typeface="Arial"/>
              </a:rPr>
              <a:t>)</a:t>
            </a:r>
            <a:endParaRPr b="1" sz="1600" u="sng">
              <a:solidFill>
                <a:schemeClr val="dk1"/>
              </a:solidFill>
              <a:latin typeface="Arial"/>
              <a:ea typeface="Arial"/>
              <a:cs typeface="Arial"/>
              <a:sym typeface="Aria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latin typeface="Arial"/>
                <a:ea typeface="Arial"/>
                <a:cs typeface="Arial"/>
                <a:sym typeface="Arial"/>
              </a:rPr>
              <a:t>From the table of cyclicity of numbers we know that 1 has cyclicity 1 and value is 1</a:t>
            </a:r>
            <a:endParaRPr sz="1600">
              <a:solidFill>
                <a:schemeClr val="dk1"/>
              </a:solidFill>
              <a:latin typeface="Arial"/>
              <a:ea typeface="Arial"/>
              <a:cs typeface="Arial"/>
              <a:sym typeface="Arial"/>
            </a:endParaRPr>
          </a:p>
          <a:p>
            <a:pPr indent="0" lvl="0" marL="12700" rtl="0" algn="l">
              <a:lnSpc>
                <a:spcPct val="115000"/>
              </a:lnSpc>
              <a:spcBef>
                <a:spcPts val="0"/>
              </a:spcBef>
              <a:spcAft>
                <a:spcPts val="0"/>
              </a:spcAft>
              <a:buClr>
                <a:schemeClr val="dk1"/>
              </a:buClr>
              <a:buSzPts val="1100"/>
              <a:buFont typeface="Arial"/>
              <a:buNone/>
            </a:pPr>
            <a:r>
              <a:rPr lang="en-IN" sz="1600">
                <a:latin typeface="Arial"/>
                <a:ea typeface="Arial"/>
                <a:cs typeface="Arial"/>
                <a:sym typeface="Arial"/>
              </a:rPr>
              <a:t>●</a:t>
            </a:r>
            <a:r>
              <a:rPr lang="en-IN" sz="1600">
                <a:solidFill>
                  <a:schemeClr val="dk1"/>
                </a:solidFill>
                <a:latin typeface="Arial"/>
                <a:ea typeface="Arial"/>
                <a:cs typeface="Arial"/>
                <a:sym typeface="Arial"/>
              </a:rPr>
              <a:t>Hence units digit of (6374)</a:t>
            </a:r>
            <a:r>
              <a:rPr baseline="30000" lang="en-IN" sz="1600">
                <a:solidFill>
                  <a:schemeClr val="dk1"/>
                </a:solidFill>
                <a:latin typeface="Arial"/>
                <a:ea typeface="Arial"/>
                <a:cs typeface="Arial"/>
                <a:sym typeface="Arial"/>
              </a:rPr>
              <a:t>1793</a:t>
            </a:r>
            <a:r>
              <a:rPr lang="en-IN" sz="1600">
                <a:solidFill>
                  <a:schemeClr val="dk1"/>
                </a:solidFill>
                <a:latin typeface="Arial"/>
                <a:ea typeface="Arial"/>
                <a:cs typeface="Arial"/>
                <a:sym typeface="Arial"/>
              </a:rPr>
              <a:t> x (625)</a:t>
            </a:r>
            <a:r>
              <a:rPr baseline="30000" lang="en-IN" sz="1600">
                <a:solidFill>
                  <a:schemeClr val="dk1"/>
                </a:solidFill>
                <a:latin typeface="Arial"/>
                <a:ea typeface="Arial"/>
                <a:cs typeface="Arial"/>
                <a:sym typeface="Arial"/>
              </a:rPr>
              <a:t>317</a:t>
            </a:r>
            <a:r>
              <a:rPr lang="en-IN" sz="1600">
                <a:solidFill>
                  <a:schemeClr val="dk1"/>
                </a:solidFill>
                <a:latin typeface="Arial"/>
                <a:ea typeface="Arial"/>
                <a:cs typeface="Arial"/>
                <a:sym typeface="Arial"/>
              </a:rPr>
              <a:t> x (341)</a:t>
            </a:r>
            <a:r>
              <a:rPr baseline="30000" lang="en-IN" sz="1600">
                <a:solidFill>
                  <a:schemeClr val="dk1"/>
                </a:solidFill>
                <a:latin typeface="Arial"/>
                <a:ea typeface="Arial"/>
                <a:cs typeface="Arial"/>
                <a:sym typeface="Arial"/>
              </a:rPr>
              <a:t>491</a:t>
            </a:r>
            <a:r>
              <a:rPr lang="en-IN" sz="1600">
                <a:solidFill>
                  <a:schemeClr val="dk1"/>
                </a:solidFill>
                <a:latin typeface="Arial"/>
                <a:ea typeface="Arial"/>
                <a:cs typeface="Arial"/>
                <a:sym typeface="Arial"/>
              </a:rPr>
              <a:t> = Units digit of (4 * 5 * 1) = 0</a:t>
            </a:r>
            <a:endParaRPr sz="1600">
              <a:solidFill>
                <a:schemeClr val="dk1"/>
              </a:solidFill>
              <a:latin typeface="Arial"/>
              <a:ea typeface="Arial"/>
              <a:cs typeface="Arial"/>
              <a:sym typeface="Arial"/>
            </a:endParaRPr>
          </a:p>
          <a:p>
            <a:pPr indent="0" lvl="0" marL="0" rtl="0" algn="l">
              <a:spcBef>
                <a:spcPts val="0"/>
              </a:spcBef>
              <a:spcAft>
                <a:spcPts val="0"/>
              </a:spcAft>
              <a:buClr>
                <a:schemeClr val="dk1"/>
              </a:buClr>
              <a:buSzPts val="1800"/>
              <a:buFont typeface="Arial"/>
              <a:buNone/>
            </a:pPr>
            <a:r>
              <a:t/>
            </a:r>
            <a:endParaRPr sz="1600">
              <a:solidFill>
                <a:schemeClr val="dk1"/>
              </a:solidFill>
              <a:highlight>
                <a:schemeClr val="lt1"/>
              </a:highlight>
              <a:latin typeface="Arial"/>
              <a:ea typeface="Arial"/>
              <a:cs typeface="Arial"/>
              <a:sym typeface="Arial"/>
            </a:endParaRPr>
          </a:p>
        </p:txBody>
      </p:sp>
      <p:sp>
        <p:nvSpPr>
          <p:cNvPr id="152" name="Google Shape;152;p23"/>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0" st="0"/>
                                            </p:txEl>
                                          </p:spTgt>
                                        </p:tgtEl>
                                        <p:attrNameLst>
                                          <p:attrName>style.visibility</p:attrName>
                                        </p:attrNameLst>
                                      </p:cBhvr>
                                      <p:to>
                                        <p:strVal val="visible"/>
                                      </p:to>
                                    </p:set>
                                    <p:animEffect filter="fade" transition="in">
                                      <p:cBhvr>
                                        <p:cTn dur="500"/>
                                        <p:tgtEl>
                                          <p:spTgt spid="1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 st="1"/>
                                            </p:txEl>
                                          </p:spTgt>
                                        </p:tgtEl>
                                        <p:attrNameLst>
                                          <p:attrName>style.visibility</p:attrName>
                                        </p:attrNameLst>
                                      </p:cBhvr>
                                      <p:to>
                                        <p:strVal val="visible"/>
                                      </p:to>
                                    </p:set>
                                    <p:animEffect filter="fade" transition="in">
                                      <p:cBhvr>
                                        <p:cTn dur="500"/>
                                        <p:tgtEl>
                                          <p:spTgt spid="1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2" st="2"/>
                                            </p:txEl>
                                          </p:spTgt>
                                        </p:tgtEl>
                                        <p:attrNameLst>
                                          <p:attrName>style.visibility</p:attrName>
                                        </p:attrNameLst>
                                      </p:cBhvr>
                                      <p:to>
                                        <p:strVal val="visible"/>
                                      </p:to>
                                    </p:set>
                                    <p:animEffect filter="fade" transition="in">
                                      <p:cBhvr>
                                        <p:cTn dur="500"/>
                                        <p:tgtEl>
                                          <p:spTgt spid="1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3" st="3"/>
                                            </p:txEl>
                                          </p:spTgt>
                                        </p:tgtEl>
                                        <p:attrNameLst>
                                          <p:attrName>style.visibility</p:attrName>
                                        </p:attrNameLst>
                                      </p:cBhvr>
                                      <p:to>
                                        <p:strVal val="visible"/>
                                      </p:to>
                                    </p:set>
                                    <p:animEffect filter="fade" transition="in">
                                      <p:cBhvr>
                                        <p:cTn dur="500"/>
                                        <p:tgtEl>
                                          <p:spTgt spid="1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4" st="4"/>
                                            </p:txEl>
                                          </p:spTgt>
                                        </p:tgtEl>
                                        <p:attrNameLst>
                                          <p:attrName>style.visibility</p:attrName>
                                        </p:attrNameLst>
                                      </p:cBhvr>
                                      <p:to>
                                        <p:strVal val="visible"/>
                                      </p:to>
                                    </p:set>
                                    <p:animEffect filter="fade" transition="in">
                                      <p:cBhvr>
                                        <p:cTn dur="500"/>
                                        <p:tgtEl>
                                          <p:spTgt spid="1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5" st="5"/>
                                            </p:txEl>
                                          </p:spTgt>
                                        </p:tgtEl>
                                        <p:attrNameLst>
                                          <p:attrName>style.visibility</p:attrName>
                                        </p:attrNameLst>
                                      </p:cBhvr>
                                      <p:to>
                                        <p:strVal val="visible"/>
                                      </p:to>
                                    </p:set>
                                    <p:animEffect filter="fade" transition="in">
                                      <p:cBhvr>
                                        <p:cTn dur="500"/>
                                        <p:tgtEl>
                                          <p:spTgt spid="15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6" st="6"/>
                                            </p:txEl>
                                          </p:spTgt>
                                        </p:tgtEl>
                                        <p:attrNameLst>
                                          <p:attrName>style.visibility</p:attrName>
                                        </p:attrNameLst>
                                      </p:cBhvr>
                                      <p:to>
                                        <p:strVal val="visible"/>
                                      </p:to>
                                    </p:set>
                                    <p:animEffect filter="fade" transition="in">
                                      <p:cBhvr>
                                        <p:cTn dur="500"/>
                                        <p:tgtEl>
                                          <p:spTgt spid="15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7" st="7"/>
                                            </p:txEl>
                                          </p:spTgt>
                                        </p:tgtEl>
                                        <p:attrNameLst>
                                          <p:attrName>style.visibility</p:attrName>
                                        </p:attrNameLst>
                                      </p:cBhvr>
                                      <p:to>
                                        <p:strVal val="visible"/>
                                      </p:to>
                                    </p:set>
                                    <p:animEffect filter="fade" transition="in">
                                      <p:cBhvr>
                                        <p:cTn dur="500"/>
                                        <p:tgtEl>
                                          <p:spTgt spid="15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8" st="8"/>
                                            </p:txEl>
                                          </p:spTgt>
                                        </p:tgtEl>
                                        <p:attrNameLst>
                                          <p:attrName>style.visibility</p:attrName>
                                        </p:attrNameLst>
                                      </p:cBhvr>
                                      <p:to>
                                        <p:strVal val="visible"/>
                                      </p:to>
                                    </p:set>
                                    <p:animEffect filter="fade" transition="in">
                                      <p:cBhvr>
                                        <p:cTn dur="500"/>
                                        <p:tgtEl>
                                          <p:spTgt spid="15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9" st="9"/>
                                            </p:txEl>
                                          </p:spTgt>
                                        </p:tgtEl>
                                        <p:attrNameLst>
                                          <p:attrName>style.visibility</p:attrName>
                                        </p:attrNameLst>
                                      </p:cBhvr>
                                      <p:to>
                                        <p:strVal val="visible"/>
                                      </p:to>
                                    </p:set>
                                    <p:animEffect filter="fade" transition="in">
                                      <p:cBhvr>
                                        <p:cTn dur="500"/>
                                        <p:tgtEl>
                                          <p:spTgt spid="15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0" st="10"/>
                                            </p:txEl>
                                          </p:spTgt>
                                        </p:tgtEl>
                                        <p:attrNameLst>
                                          <p:attrName>style.visibility</p:attrName>
                                        </p:attrNameLst>
                                      </p:cBhvr>
                                      <p:to>
                                        <p:strVal val="visible"/>
                                      </p:to>
                                    </p:set>
                                    <p:animEffect filter="fade" transition="in">
                                      <p:cBhvr>
                                        <p:cTn dur="500"/>
                                        <p:tgtEl>
                                          <p:spTgt spid="15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11" st="11"/>
                                            </p:txEl>
                                          </p:spTgt>
                                        </p:tgtEl>
                                        <p:attrNameLst>
                                          <p:attrName>style.visibility</p:attrName>
                                        </p:attrNameLst>
                                      </p:cBhvr>
                                      <p:to>
                                        <p:strVal val="visible"/>
                                      </p:to>
                                    </p:set>
                                    <p:animEffect filter="fade" transition="in">
                                      <p:cBhvr>
                                        <p:cTn dur="500"/>
                                        <p:tgtEl>
                                          <p:spTgt spid="151">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4"/>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IN">
                <a:solidFill>
                  <a:schemeClr val="dk1"/>
                </a:solidFill>
              </a:rPr>
              <a:t>Find the units digit of 33</a:t>
            </a:r>
            <a:r>
              <a:rPr baseline="30000" lang="en-IN">
                <a:solidFill>
                  <a:schemeClr val="dk1"/>
                </a:solidFill>
              </a:rPr>
              <a:t>43</a:t>
            </a:r>
            <a:r>
              <a:rPr lang="en-IN">
                <a:solidFill>
                  <a:schemeClr val="dk1"/>
                </a:solidFill>
              </a:rPr>
              <a:t> + 43</a:t>
            </a:r>
            <a:r>
              <a:rPr baseline="30000" lang="en-IN">
                <a:solidFill>
                  <a:schemeClr val="dk1"/>
                </a:solidFill>
              </a:rPr>
              <a:t>33    </a:t>
            </a:r>
            <a:r>
              <a:rPr lang="en-IN">
                <a:solidFill>
                  <a:schemeClr val="dk1"/>
                </a:solidFill>
              </a:rPr>
              <a:t>  ?</a:t>
            </a:r>
            <a:endParaRPr>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IN">
                <a:solidFill>
                  <a:schemeClr val="dk1"/>
                </a:solidFill>
              </a:rPr>
              <a:t>A.0</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B.3</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C.7</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D.9</a:t>
            </a:r>
            <a:endParaRPr>
              <a:solidFill>
                <a:schemeClr val="dk1"/>
              </a:solidFill>
            </a:endParaRPr>
          </a:p>
          <a:p>
            <a:pPr indent="0" lvl="0" marL="0" rtl="0" algn="l">
              <a:lnSpc>
                <a:spcPct val="150000"/>
              </a:lnSpc>
              <a:spcBef>
                <a:spcPts val="0"/>
              </a:spcBef>
              <a:spcAft>
                <a:spcPts val="0"/>
              </a:spcAft>
              <a:buNone/>
            </a:pPr>
            <a:r>
              <a:t/>
            </a:r>
            <a:endParaRPr>
              <a:solidFill>
                <a:schemeClr val="dk1"/>
              </a:solidFill>
              <a:latin typeface="Arial"/>
              <a:ea typeface="Arial"/>
              <a:cs typeface="Arial"/>
              <a:sym typeface="Arial"/>
            </a:endParaRPr>
          </a:p>
        </p:txBody>
      </p:sp>
      <p:sp>
        <p:nvSpPr>
          <p:cNvPr id="158" name="Google Shape;158;p24"/>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05</a:t>
            </a:r>
            <a:endParaRPr b="1" i="0" sz="2000" u="none" cap="none" strike="noStrike">
              <a:solidFill>
                <a:srgbClr val="8182EF"/>
              </a:solidFill>
              <a:latin typeface="Roboto"/>
              <a:ea typeface="Roboto"/>
              <a:cs typeface="Roboto"/>
              <a:sym typeface="Roboto"/>
            </a:endParaRPr>
          </a:p>
        </p:txBody>
      </p:sp>
      <p:pic>
        <p:nvPicPr>
          <p:cNvPr id="159" name="Google Shape;159;p24"/>
          <p:cNvPicPr preferRelativeResize="0"/>
          <p:nvPr/>
        </p:nvPicPr>
        <p:blipFill rotWithShape="1">
          <a:blip r:embed="rId3">
            <a:alphaModFix/>
          </a:blip>
          <a:srcRect b="-10" l="-4217" r="-20564" t="0"/>
          <a:stretch/>
        </p:blipFill>
        <p:spPr>
          <a:xfrm>
            <a:off x="6033225" y="4127275"/>
            <a:ext cx="2778375" cy="49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
                                            <p:txEl>
                                              <p:pRg end="0" st="0"/>
                                            </p:txEl>
                                          </p:spTgt>
                                        </p:tgtEl>
                                        <p:attrNameLst>
                                          <p:attrName>style.visibility</p:attrName>
                                        </p:attrNameLst>
                                      </p:cBhvr>
                                      <p:to>
                                        <p:strVal val="visible"/>
                                      </p:to>
                                    </p:set>
                                    <p:anim calcmode="lin" valueType="num">
                                      <p:cBhvr additive="base">
                                        <p:cTn dur="500"/>
                                        <p:tgtEl>
                                          <p:spTgt spid="15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
                                            <p:txEl>
                                              <p:pRg end="1" st="1"/>
                                            </p:txEl>
                                          </p:spTgt>
                                        </p:tgtEl>
                                        <p:attrNameLst>
                                          <p:attrName>style.visibility</p:attrName>
                                        </p:attrNameLst>
                                      </p:cBhvr>
                                      <p:to>
                                        <p:strVal val="visible"/>
                                      </p:to>
                                    </p:set>
                                    <p:anim calcmode="lin" valueType="num">
                                      <p:cBhvr additive="base">
                                        <p:cTn dur="500"/>
                                        <p:tgtEl>
                                          <p:spTgt spid="15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
                                            <p:txEl>
                                              <p:pRg end="2" st="2"/>
                                            </p:txEl>
                                          </p:spTgt>
                                        </p:tgtEl>
                                        <p:attrNameLst>
                                          <p:attrName>style.visibility</p:attrName>
                                        </p:attrNameLst>
                                      </p:cBhvr>
                                      <p:to>
                                        <p:strVal val="visible"/>
                                      </p:to>
                                    </p:set>
                                    <p:anim calcmode="lin" valueType="num">
                                      <p:cBhvr additive="base">
                                        <p:cTn dur="500"/>
                                        <p:tgtEl>
                                          <p:spTgt spid="15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
                                            <p:txEl>
                                              <p:pRg end="3" st="3"/>
                                            </p:txEl>
                                          </p:spTgt>
                                        </p:tgtEl>
                                        <p:attrNameLst>
                                          <p:attrName>style.visibility</p:attrName>
                                        </p:attrNameLst>
                                      </p:cBhvr>
                                      <p:to>
                                        <p:strVal val="visible"/>
                                      </p:to>
                                    </p:set>
                                    <p:anim calcmode="lin" valueType="num">
                                      <p:cBhvr additive="base">
                                        <p:cTn dur="500"/>
                                        <p:tgtEl>
                                          <p:spTgt spid="15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
                                            <p:txEl>
                                              <p:pRg end="4" st="4"/>
                                            </p:txEl>
                                          </p:spTgt>
                                        </p:tgtEl>
                                        <p:attrNameLst>
                                          <p:attrName>style.visibility</p:attrName>
                                        </p:attrNameLst>
                                      </p:cBhvr>
                                      <p:to>
                                        <p:strVal val="visible"/>
                                      </p:to>
                                    </p:set>
                                    <p:anim calcmode="lin" valueType="num">
                                      <p:cBhvr additive="base">
                                        <p:cTn dur="500"/>
                                        <p:tgtEl>
                                          <p:spTgt spid="15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
                                            <p:txEl>
                                              <p:pRg end="5" st="5"/>
                                            </p:txEl>
                                          </p:spTgt>
                                        </p:tgtEl>
                                        <p:attrNameLst>
                                          <p:attrName>style.visibility</p:attrName>
                                        </p:attrNameLst>
                                      </p:cBhvr>
                                      <p:to>
                                        <p:strVal val="visible"/>
                                      </p:to>
                                    </p:set>
                                    <p:anim calcmode="lin" valueType="num">
                                      <p:cBhvr additive="base">
                                        <p:cTn dur="500"/>
                                        <p:tgtEl>
                                          <p:spTgt spid="15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3" name="Shape 163"/>
        <p:cNvGrpSpPr/>
        <p:nvPr/>
      </p:nvGrpSpPr>
      <p:grpSpPr>
        <a:xfrm>
          <a:off x="0" y="0"/>
          <a:ext cx="0" cy="0"/>
          <a:chOff x="0" y="0"/>
          <a:chExt cx="0" cy="0"/>
        </a:xfrm>
      </p:grpSpPr>
      <p:sp>
        <p:nvSpPr>
          <p:cNvPr id="164" name="Google Shape;164;p25"/>
          <p:cNvSpPr txBox="1"/>
          <p:nvPr>
            <p:ph idx="1" type="body"/>
          </p:nvPr>
        </p:nvSpPr>
        <p:spPr>
          <a:xfrm>
            <a:off x="720725" y="1187848"/>
            <a:ext cx="7998000" cy="2767800"/>
          </a:xfrm>
          <a:prstGeom prst="rect">
            <a:avLst/>
          </a:prstGeom>
          <a:noFill/>
          <a:ln>
            <a:noFill/>
          </a:ln>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IN">
                <a:latin typeface="Arial"/>
                <a:ea typeface="Arial"/>
                <a:cs typeface="Arial"/>
                <a:sym typeface="Arial"/>
              </a:rPr>
              <a:t>●</a:t>
            </a:r>
            <a:r>
              <a:rPr lang="en-IN" sz="1600">
                <a:solidFill>
                  <a:schemeClr val="dk1"/>
                </a:solidFill>
              </a:rPr>
              <a:t>We know that units digit of (33</a:t>
            </a:r>
            <a:r>
              <a:rPr baseline="30000" lang="en-IN" sz="1600">
                <a:solidFill>
                  <a:schemeClr val="dk1"/>
                </a:solidFill>
              </a:rPr>
              <a:t>43</a:t>
            </a:r>
            <a:r>
              <a:rPr lang="en-IN" sz="1600">
                <a:solidFill>
                  <a:schemeClr val="dk1"/>
                </a:solidFill>
              </a:rPr>
              <a:t> + 43</a:t>
            </a:r>
            <a:r>
              <a:rPr baseline="30000" lang="en-IN" sz="1600">
                <a:solidFill>
                  <a:schemeClr val="dk1"/>
                </a:solidFill>
              </a:rPr>
              <a:t>33</a:t>
            </a:r>
            <a:r>
              <a:rPr lang="en-IN" sz="1600">
                <a:solidFill>
                  <a:schemeClr val="dk1"/>
                </a:solidFill>
              </a:rPr>
              <a:t> ) = units digit of (units digit of 33</a:t>
            </a:r>
            <a:r>
              <a:rPr baseline="30000" lang="en-IN" sz="1600">
                <a:solidFill>
                  <a:schemeClr val="dk1"/>
                </a:solidFill>
              </a:rPr>
              <a:t>43</a:t>
            </a:r>
            <a:r>
              <a:rPr lang="en-IN" sz="1600">
                <a:solidFill>
                  <a:schemeClr val="dk1"/>
                </a:solidFill>
              </a:rPr>
              <a:t> + units digit of 43</a:t>
            </a:r>
            <a:r>
              <a:rPr baseline="30000" lang="en-IN" sz="1600">
                <a:solidFill>
                  <a:schemeClr val="dk1"/>
                </a:solidFill>
              </a:rPr>
              <a:t>33</a:t>
            </a:r>
            <a:r>
              <a:rPr lang="en-IN" sz="1600">
                <a:solidFill>
                  <a:schemeClr val="dk1"/>
                </a:solidFill>
              </a:rPr>
              <a:t>)</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Now let's find units digit of each term separately.</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t>●</a:t>
            </a:r>
            <a:r>
              <a:rPr b="1" lang="en-IN" sz="1600" u="sng">
                <a:solidFill>
                  <a:schemeClr val="dk1"/>
                </a:solidFill>
              </a:rPr>
              <a:t>Units digit of 33</a:t>
            </a:r>
            <a:r>
              <a:rPr b="1" baseline="30000" lang="en-IN" sz="1600" u="sng">
                <a:solidFill>
                  <a:schemeClr val="dk1"/>
                </a:solidFill>
              </a:rPr>
              <a:t>43</a:t>
            </a:r>
            <a:endParaRPr b="1" baseline="30000" sz="1600" u="sng">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Since exponent 43 is not divisible by 4, from the general rule of cyclicity of numbers, we know that</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Units digit of 3</a:t>
            </a:r>
            <a:r>
              <a:rPr baseline="30000" lang="en-IN" sz="1600">
                <a:solidFill>
                  <a:schemeClr val="dk1"/>
                </a:solidFill>
              </a:rPr>
              <a:t>43</a:t>
            </a:r>
            <a:r>
              <a:rPr lang="en-IN" sz="1600">
                <a:solidFill>
                  <a:schemeClr val="dk1"/>
                </a:solidFill>
              </a:rPr>
              <a:t> = Units digit of 3</a:t>
            </a:r>
            <a:r>
              <a:rPr baseline="30000" lang="en-IN" sz="1600">
                <a:solidFill>
                  <a:schemeClr val="dk1"/>
                </a:solidFill>
              </a:rPr>
              <a:t>3</a:t>
            </a:r>
            <a:r>
              <a:rPr lang="en-IN" sz="1600">
                <a:solidFill>
                  <a:schemeClr val="dk1"/>
                </a:solidFill>
              </a:rPr>
              <a:t>   	[3</a:t>
            </a:r>
            <a:r>
              <a:rPr baseline="30000" lang="en-IN" sz="1600">
                <a:solidFill>
                  <a:schemeClr val="dk1"/>
                </a:solidFill>
              </a:rPr>
              <a:t>reminder of 43/4</a:t>
            </a:r>
            <a:r>
              <a:rPr lang="en-IN" sz="1600">
                <a:solidFill>
                  <a:schemeClr val="dk1"/>
                </a:solidFill>
              </a:rPr>
              <a:t>]</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 7</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t>●</a:t>
            </a:r>
            <a:r>
              <a:rPr b="1" lang="en-IN" sz="1600" u="sng">
                <a:solidFill>
                  <a:schemeClr val="dk1"/>
                </a:solidFill>
              </a:rPr>
              <a:t>Units digit of 43</a:t>
            </a:r>
            <a:r>
              <a:rPr b="1" baseline="30000" lang="en-IN" sz="1600" u="sng">
                <a:solidFill>
                  <a:schemeClr val="dk1"/>
                </a:solidFill>
              </a:rPr>
              <a:t>33</a:t>
            </a:r>
            <a:endParaRPr b="1" baseline="30000" sz="1600" u="sng">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Similar to above scenario</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Units digit of 3</a:t>
            </a:r>
            <a:r>
              <a:rPr baseline="30000" lang="en-IN" sz="1600">
                <a:solidFill>
                  <a:schemeClr val="dk1"/>
                </a:solidFill>
              </a:rPr>
              <a:t>33</a:t>
            </a:r>
            <a:r>
              <a:rPr lang="en-IN" sz="1600">
                <a:solidFill>
                  <a:schemeClr val="dk1"/>
                </a:solidFill>
              </a:rPr>
              <a:t> = Units digit of 3</a:t>
            </a:r>
            <a:r>
              <a:rPr baseline="30000" lang="en-IN" sz="1600">
                <a:solidFill>
                  <a:schemeClr val="dk1"/>
                </a:solidFill>
              </a:rPr>
              <a:t>1</a:t>
            </a:r>
            <a:r>
              <a:rPr lang="en-IN" sz="1600">
                <a:solidFill>
                  <a:schemeClr val="dk1"/>
                </a:solidFill>
              </a:rPr>
              <a:t> 	 [3</a:t>
            </a:r>
            <a:r>
              <a:rPr baseline="30000" lang="en-IN" sz="1600">
                <a:solidFill>
                  <a:schemeClr val="dk1"/>
                </a:solidFill>
              </a:rPr>
              <a:t>(reminder of 33/4)</a:t>
            </a:r>
            <a:r>
              <a:rPr lang="en-IN" sz="1600">
                <a:solidFill>
                  <a:schemeClr val="dk1"/>
                </a:solidFill>
              </a:rPr>
              <a:t>]</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 3</a:t>
            </a:r>
            <a:endParaRPr sz="1600">
              <a:solidFill>
                <a:schemeClr val="dk1"/>
              </a:solidFill>
            </a:endParaRPr>
          </a:p>
          <a:p>
            <a:pPr indent="0" lvl="0" marL="114300" rtl="0" algn="l">
              <a:lnSpc>
                <a:spcPct val="150000"/>
              </a:lnSpc>
              <a:spcBef>
                <a:spcPts val="0"/>
              </a:spcBef>
              <a:spcAft>
                <a:spcPts val="0"/>
              </a:spcAft>
              <a:buClr>
                <a:schemeClr val="dk1"/>
              </a:buClr>
              <a:buSzPts val="1800"/>
              <a:buFont typeface="Arial"/>
              <a:buNone/>
            </a:pPr>
            <a:r>
              <a:rPr lang="en-IN" sz="1600">
                <a:solidFill>
                  <a:schemeClr val="dk1"/>
                </a:solidFill>
              </a:rPr>
              <a:t>Hence units digit of 33</a:t>
            </a:r>
            <a:r>
              <a:rPr baseline="30000" lang="en-IN" sz="1600">
                <a:solidFill>
                  <a:schemeClr val="dk1"/>
                </a:solidFill>
              </a:rPr>
              <a:t>43</a:t>
            </a:r>
            <a:r>
              <a:rPr lang="en-IN" sz="1600">
                <a:solidFill>
                  <a:schemeClr val="dk1"/>
                </a:solidFill>
              </a:rPr>
              <a:t> + 43</a:t>
            </a:r>
            <a:r>
              <a:rPr baseline="30000" lang="en-IN" sz="1600">
                <a:solidFill>
                  <a:schemeClr val="dk1"/>
                </a:solidFill>
              </a:rPr>
              <a:t>33</a:t>
            </a:r>
            <a:r>
              <a:rPr lang="en-IN" sz="1600">
                <a:solidFill>
                  <a:schemeClr val="dk1"/>
                </a:solidFill>
              </a:rPr>
              <a:t> = Units digit of (7 + 3) = 0</a:t>
            </a:r>
            <a:endParaRPr sz="1600">
              <a:solidFill>
                <a:schemeClr val="dk1"/>
              </a:solidFill>
            </a:endParaRPr>
          </a:p>
          <a:p>
            <a:pPr indent="0" lvl="0" marL="114300" rtl="0" algn="l">
              <a:lnSpc>
                <a:spcPct val="150000"/>
              </a:lnSpc>
              <a:spcBef>
                <a:spcPts val="0"/>
              </a:spcBef>
              <a:spcAft>
                <a:spcPts val="0"/>
              </a:spcAft>
              <a:buClr>
                <a:schemeClr val="dk1"/>
              </a:buClr>
              <a:buSzPts val="1800"/>
              <a:buFont typeface="Arial"/>
              <a:buNone/>
            </a:pPr>
            <a:r>
              <a:t/>
            </a:r>
            <a:endParaRPr sz="1600">
              <a:solidFill>
                <a:schemeClr val="dk1"/>
              </a:solidFill>
            </a:endParaRPr>
          </a:p>
          <a:p>
            <a:pPr indent="0" lvl="0" marL="457200" rtl="0" algn="l">
              <a:lnSpc>
                <a:spcPct val="115000"/>
              </a:lnSpc>
              <a:spcBef>
                <a:spcPts val="0"/>
              </a:spcBef>
              <a:spcAft>
                <a:spcPts val="0"/>
              </a:spcAft>
              <a:buSzPts val="1800"/>
              <a:buNone/>
            </a:pPr>
            <a:r>
              <a:t/>
            </a:r>
            <a:endParaRPr sz="1600">
              <a:solidFill>
                <a:schemeClr val="dk1"/>
              </a:solidFill>
            </a:endParaRPr>
          </a:p>
        </p:txBody>
      </p:sp>
      <p:sp>
        <p:nvSpPr>
          <p:cNvPr id="165" name="Google Shape;165;p25"/>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anim calcmode="lin" valueType="num">
                                      <p:cBhvr additive="base">
                                        <p:cTn dur="500"/>
                                        <p:tgtEl>
                                          <p:spTgt spid="16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anim calcmode="lin" valueType="num">
                                      <p:cBhvr additive="base">
                                        <p:cTn dur="500"/>
                                        <p:tgtEl>
                                          <p:spTgt spid="16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2" st="2"/>
                                            </p:txEl>
                                          </p:spTgt>
                                        </p:tgtEl>
                                        <p:attrNameLst>
                                          <p:attrName>style.visibility</p:attrName>
                                        </p:attrNameLst>
                                      </p:cBhvr>
                                      <p:to>
                                        <p:strVal val="visible"/>
                                      </p:to>
                                    </p:set>
                                    <p:anim calcmode="lin" valueType="num">
                                      <p:cBhvr additive="base">
                                        <p:cTn dur="500"/>
                                        <p:tgtEl>
                                          <p:spTgt spid="16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3" st="3"/>
                                            </p:txEl>
                                          </p:spTgt>
                                        </p:tgtEl>
                                        <p:attrNameLst>
                                          <p:attrName>style.visibility</p:attrName>
                                        </p:attrNameLst>
                                      </p:cBhvr>
                                      <p:to>
                                        <p:strVal val="visible"/>
                                      </p:to>
                                    </p:set>
                                    <p:anim calcmode="lin" valueType="num">
                                      <p:cBhvr additive="base">
                                        <p:cTn dur="500"/>
                                        <p:tgtEl>
                                          <p:spTgt spid="16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4" st="4"/>
                                            </p:txEl>
                                          </p:spTgt>
                                        </p:tgtEl>
                                        <p:attrNameLst>
                                          <p:attrName>style.visibility</p:attrName>
                                        </p:attrNameLst>
                                      </p:cBhvr>
                                      <p:to>
                                        <p:strVal val="visible"/>
                                      </p:to>
                                    </p:set>
                                    <p:anim calcmode="lin" valueType="num">
                                      <p:cBhvr additive="base">
                                        <p:cTn dur="500"/>
                                        <p:tgtEl>
                                          <p:spTgt spid="16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5" st="5"/>
                                            </p:txEl>
                                          </p:spTgt>
                                        </p:tgtEl>
                                        <p:attrNameLst>
                                          <p:attrName>style.visibility</p:attrName>
                                        </p:attrNameLst>
                                      </p:cBhvr>
                                      <p:to>
                                        <p:strVal val="visible"/>
                                      </p:to>
                                    </p:set>
                                    <p:anim calcmode="lin" valueType="num">
                                      <p:cBhvr additive="base">
                                        <p:cTn dur="500"/>
                                        <p:tgtEl>
                                          <p:spTgt spid="16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6" st="6"/>
                                            </p:txEl>
                                          </p:spTgt>
                                        </p:tgtEl>
                                        <p:attrNameLst>
                                          <p:attrName>style.visibility</p:attrName>
                                        </p:attrNameLst>
                                      </p:cBhvr>
                                      <p:to>
                                        <p:strVal val="visible"/>
                                      </p:to>
                                    </p:set>
                                    <p:anim calcmode="lin" valueType="num">
                                      <p:cBhvr additive="base">
                                        <p:cTn dur="500"/>
                                        <p:tgtEl>
                                          <p:spTgt spid="16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7" st="7"/>
                                            </p:txEl>
                                          </p:spTgt>
                                        </p:tgtEl>
                                        <p:attrNameLst>
                                          <p:attrName>style.visibility</p:attrName>
                                        </p:attrNameLst>
                                      </p:cBhvr>
                                      <p:to>
                                        <p:strVal val="visible"/>
                                      </p:to>
                                    </p:set>
                                    <p:anim calcmode="lin" valueType="num">
                                      <p:cBhvr additive="base">
                                        <p:cTn dur="500"/>
                                        <p:tgtEl>
                                          <p:spTgt spid="164">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8" st="8"/>
                                            </p:txEl>
                                          </p:spTgt>
                                        </p:tgtEl>
                                        <p:attrNameLst>
                                          <p:attrName>style.visibility</p:attrName>
                                        </p:attrNameLst>
                                      </p:cBhvr>
                                      <p:to>
                                        <p:strVal val="visible"/>
                                      </p:to>
                                    </p:set>
                                    <p:anim calcmode="lin" valueType="num">
                                      <p:cBhvr additive="base">
                                        <p:cTn dur="500"/>
                                        <p:tgtEl>
                                          <p:spTgt spid="164">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9" st="9"/>
                                            </p:txEl>
                                          </p:spTgt>
                                        </p:tgtEl>
                                        <p:attrNameLst>
                                          <p:attrName>style.visibility</p:attrName>
                                        </p:attrNameLst>
                                      </p:cBhvr>
                                      <p:to>
                                        <p:strVal val="visible"/>
                                      </p:to>
                                    </p:set>
                                    <p:anim calcmode="lin" valueType="num">
                                      <p:cBhvr additive="base">
                                        <p:cTn dur="500"/>
                                        <p:tgtEl>
                                          <p:spTgt spid="164">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10" st="10"/>
                                            </p:txEl>
                                          </p:spTgt>
                                        </p:tgtEl>
                                        <p:attrNameLst>
                                          <p:attrName>style.visibility</p:attrName>
                                        </p:attrNameLst>
                                      </p:cBhvr>
                                      <p:to>
                                        <p:strVal val="visible"/>
                                      </p:to>
                                    </p:set>
                                    <p:anim calcmode="lin" valueType="num">
                                      <p:cBhvr additive="base">
                                        <p:cTn dur="500"/>
                                        <p:tgtEl>
                                          <p:spTgt spid="164">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11" st="11"/>
                                            </p:txEl>
                                          </p:spTgt>
                                        </p:tgtEl>
                                        <p:attrNameLst>
                                          <p:attrName>style.visibility</p:attrName>
                                        </p:attrNameLst>
                                      </p:cBhvr>
                                      <p:to>
                                        <p:strVal val="visible"/>
                                      </p:to>
                                    </p:set>
                                    <p:anim calcmode="lin" valueType="num">
                                      <p:cBhvr additive="base">
                                        <p:cTn dur="500"/>
                                        <p:tgtEl>
                                          <p:spTgt spid="164">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
                                            <p:txEl>
                                              <p:pRg end="12" st="12"/>
                                            </p:txEl>
                                          </p:spTgt>
                                        </p:tgtEl>
                                        <p:attrNameLst>
                                          <p:attrName>style.visibility</p:attrName>
                                        </p:attrNameLst>
                                      </p:cBhvr>
                                      <p:to>
                                        <p:strVal val="visible"/>
                                      </p:to>
                                    </p:set>
                                    <p:anim calcmode="lin" valueType="num">
                                      <p:cBhvr additive="base">
                                        <p:cTn dur="500"/>
                                        <p:tgtEl>
                                          <p:spTgt spid="164">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idx="1" type="body"/>
          </p:nvPr>
        </p:nvSpPr>
        <p:spPr>
          <a:xfrm>
            <a:off x="720725" y="117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What is the digit expected at units place of following mathematical operation:</a:t>
            </a:r>
            <a:endParaRPr>
              <a:solidFill>
                <a:schemeClr val="dk1"/>
              </a:solidFill>
              <a:latin typeface="Arial"/>
              <a:ea typeface="Arial"/>
              <a:cs typeface="Arial"/>
              <a:sym typeface="Arial"/>
            </a:endParaRPr>
          </a:p>
          <a:p>
            <a:pPr indent="0" lvl="0" marL="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( 6</a:t>
            </a:r>
            <a:r>
              <a:rPr baseline="30000" lang="en-IN" sz="3000">
                <a:solidFill>
                  <a:schemeClr val="dk1"/>
                </a:solidFill>
                <a:latin typeface="Arial"/>
                <a:ea typeface="Arial"/>
                <a:cs typeface="Arial"/>
                <a:sym typeface="Arial"/>
              </a:rPr>
              <a:t>15</a:t>
            </a:r>
            <a:r>
              <a:rPr lang="en-IN">
                <a:solidFill>
                  <a:schemeClr val="dk1"/>
                </a:solidFill>
                <a:latin typeface="Arial"/>
                <a:ea typeface="Arial"/>
                <a:cs typeface="Arial"/>
                <a:sym typeface="Arial"/>
              </a:rPr>
              <a:t> - 7</a:t>
            </a:r>
            <a:r>
              <a:rPr baseline="30000" lang="en-IN" sz="3000">
                <a:solidFill>
                  <a:schemeClr val="dk1"/>
                </a:solidFill>
                <a:latin typeface="Arial"/>
                <a:ea typeface="Arial"/>
                <a:cs typeface="Arial"/>
                <a:sym typeface="Arial"/>
              </a:rPr>
              <a:t>4</a:t>
            </a:r>
            <a:r>
              <a:rPr lang="en-IN">
                <a:solidFill>
                  <a:schemeClr val="dk1"/>
                </a:solidFill>
                <a:latin typeface="Arial"/>
                <a:ea typeface="Arial"/>
                <a:cs typeface="Arial"/>
                <a:sym typeface="Arial"/>
              </a:rPr>
              <a:t> - 9</a:t>
            </a:r>
            <a:r>
              <a:rPr baseline="30000" lang="en-IN" sz="3000">
                <a:solidFill>
                  <a:schemeClr val="dk1"/>
                </a:solidFill>
                <a:latin typeface="Arial"/>
                <a:ea typeface="Arial"/>
                <a:cs typeface="Arial"/>
                <a:sym typeface="Arial"/>
              </a:rPr>
              <a:t>13</a:t>
            </a:r>
            <a:r>
              <a:rPr lang="en-IN">
                <a:solidFill>
                  <a:schemeClr val="dk1"/>
                </a:solidFill>
                <a:latin typeface="Arial"/>
                <a:ea typeface="Arial"/>
                <a:cs typeface="Arial"/>
                <a:sym typeface="Arial"/>
              </a:rPr>
              <a:t> )?</a:t>
            </a:r>
            <a:endParaRPr>
              <a:solidFill>
                <a:schemeClr val="dk1"/>
              </a:solidFill>
              <a:latin typeface="Arial"/>
              <a:ea typeface="Arial"/>
              <a:cs typeface="Arial"/>
              <a:sym typeface="Arial"/>
            </a:endParaRPr>
          </a:p>
          <a:p>
            <a:pPr indent="0" lvl="0" marL="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A.</a:t>
            </a:r>
            <a:r>
              <a:rPr lang="en-IN">
                <a:solidFill>
                  <a:schemeClr val="dk1"/>
                </a:solidFill>
              </a:rPr>
              <a:t>0</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B.</a:t>
            </a:r>
            <a:r>
              <a:rPr lang="en-IN">
                <a:solidFill>
                  <a:schemeClr val="dk1"/>
                </a:solidFill>
              </a:rPr>
              <a:t>2</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C.</a:t>
            </a:r>
            <a:r>
              <a:rPr lang="en-IN">
                <a:solidFill>
                  <a:schemeClr val="dk1"/>
                </a:solidFill>
              </a:rPr>
              <a:t>4</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D.</a:t>
            </a:r>
            <a:r>
              <a:rPr lang="en-IN">
                <a:solidFill>
                  <a:schemeClr val="dk1"/>
                </a:solidFill>
              </a:rPr>
              <a:t>6</a:t>
            </a:r>
            <a:endParaRPr>
              <a:solidFill>
                <a:schemeClr val="dk1"/>
              </a:solidFill>
            </a:endParaRPr>
          </a:p>
          <a:p>
            <a:pPr indent="0" lvl="0" marL="0" rtl="0" algn="l">
              <a:lnSpc>
                <a:spcPct val="150000"/>
              </a:lnSpc>
              <a:spcBef>
                <a:spcPts val="0"/>
              </a:spcBef>
              <a:spcAft>
                <a:spcPts val="0"/>
              </a:spcAft>
              <a:buSzPts val="1800"/>
              <a:buNone/>
            </a:pPr>
            <a:r>
              <a:t/>
            </a:r>
            <a:endParaRPr sz="1600">
              <a:solidFill>
                <a:schemeClr val="dk1"/>
              </a:solidFill>
            </a:endParaRPr>
          </a:p>
        </p:txBody>
      </p:sp>
      <p:sp>
        <p:nvSpPr>
          <p:cNvPr id="171" name="Google Shape;171;p26"/>
          <p:cNvSpPr txBox="1"/>
          <p:nvPr/>
        </p:nvSpPr>
        <p:spPr>
          <a:xfrm>
            <a:off x="72072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06</a:t>
            </a:r>
            <a:endParaRPr b="1" i="0" sz="2000" u="none" cap="none" strike="noStrike">
              <a:solidFill>
                <a:srgbClr val="8182EF"/>
              </a:solidFill>
              <a:latin typeface="Roboto"/>
              <a:ea typeface="Roboto"/>
              <a:cs typeface="Roboto"/>
              <a:sym typeface="Roboto"/>
            </a:endParaRPr>
          </a:p>
        </p:txBody>
      </p:sp>
      <p:pic>
        <p:nvPicPr>
          <p:cNvPr id="172" name="Google Shape;172;p26"/>
          <p:cNvPicPr preferRelativeResize="0"/>
          <p:nvPr/>
        </p:nvPicPr>
        <p:blipFill rotWithShape="1">
          <a:blip r:embed="rId3">
            <a:alphaModFix/>
          </a:blip>
          <a:srcRect b="0" l="0" r="8366" t="0"/>
          <a:stretch/>
        </p:blipFill>
        <p:spPr>
          <a:xfrm>
            <a:off x="6414400" y="4325850"/>
            <a:ext cx="2033025" cy="49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
                                            <p:txEl>
                                              <p:pRg end="0" st="0"/>
                                            </p:txEl>
                                          </p:spTgt>
                                        </p:tgtEl>
                                        <p:attrNameLst>
                                          <p:attrName>style.visibility</p:attrName>
                                        </p:attrNameLst>
                                      </p:cBhvr>
                                      <p:to>
                                        <p:strVal val="visible"/>
                                      </p:to>
                                    </p:set>
                                    <p:anim calcmode="lin" valueType="num">
                                      <p:cBhvr additive="base">
                                        <p:cTn dur="500"/>
                                        <p:tgtEl>
                                          <p:spTgt spid="17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
                                            <p:txEl>
                                              <p:pRg end="1" st="1"/>
                                            </p:txEl>
                                          </p:spTgt>
                                        </p:tgtEl>
                                        <p:attrNameLst>
                                          <p:attrName>style.visibility</p:attrName>
                                        </p:attrNameLst>
                                      </p:cBhvr>
                                      <p:to>
                                        <p:strVal val="visible"/>
                                      </p:to>
                                    </p:set>
                                    <p:anim calcmode="lin" valueType="num">
                                      <p:cBhvr additive="base">
                                        <p:cTn dur="500"/>
                                        <p:tgtEl>
                                          <p:spTgt spid="17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
                                            <p:txEl>
                                              <p:pRg end="2" st="2"/>
                                            </p:txEl>
                                          </p:spTgt>
                                        </p:tgtEl>
                                        <p:attrNameLst>
                                          <p:attrName>style.visibility</p:attrName>
                                        </p:attrNameLst>
                                      </p:cBhvr>
                                      <p:to>
                                        <p:strVal val="visible"/>
                                      </p:to>
                                    </p:set>
                                    <p:anim calcmode="lin" valueType="num">
                                      <p:cBhvr additive="base">
                                        <p:cTn dur="500"/>
                                        <p:tgtEl>
                                          <p:spTgt spid="17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
                                            <p:txEl>
                                              <p:pRg end="3" st="3"/>
                                            </p:txEl>
                                          </p:spTgt>
                                        </p:tgtEl>
                                        <p:attrNameLst>
                                          <p:attrName>style.visibility</p:attrName>
                                        </p:attrNameLst>
                                      </p:cBhvr>
                                      <p:to>
                                        <p:strVal val="visible"/>
                                      </p:to>
                                    </p:set>
                                    <p:anim calcmode="lin" valueType="num">
                                      <p:cBhvr additive="base">
                                        <p:cTn dur="500"/>
                                        <p:tgtEl>
                                          <p:spTgt spid="17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
                                            <p:txEl>
                                              <p:pRg end="4" st="4"/>
                                            </p:txEl>
                                          </p:spTgt>
                                        </p:tgtEl>
                                        <p:attrNameLst>
                                          <p:attrName>style.visibility</p:attrName>
                                        </p:attrNameLst>
                                      </p:cBhvr>
                                      <p:to>
                                        <p:strVal val="visible"/>
                                      </p:to>
                                    </p:set>
                                    <p:anim calcmode="lin" valueType="num">
                                      <p:cBhvr additive="base">
                                        <p:cTn dur="500"/>
                                        <p:tgtEl>
                                          <p:spTgt spid="17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
                                            <p:txEl>
                                              <p:pRg end="5" st="5"/>
                                            </p:txEl>
                                          </p:spTgt>
                                        </p:tgtEl>
                                        <p:attrNameLst>
                                          <p:attrName>style.visibility</p:attrName>
                                        </p:attrNameLst>
                                      </p:cBhvr>
                                      <p:to>
                                        <p:strVal val="visible"/>
                                      </p:to>
                                    </p:set>
                                    <p:anim calcmode="lin" valueType="num">
                                      <p:cBhvr additive="base">
                                        <p:cTn dur="500"/>
                                        <p:tgtEl>
                                          <p:spTgt spid="17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
                                            <p:txEl>
                                              <p:pRg end="6" st="6"/>
                                            </p:txEl>
                                          </p:spTgt>
                                        </p:tgtEl>
                                        <p:attrNameLst>
                                          <p:attrName>style.visibility</p:attrName>
                                        </p:attrNameLst>
                                      </p:cBhvr>
                                      <p:to>
                                        <p:strVal val="visible"/>
                                      </p:to>
                                    </p:set>
                                    <p:anim calcmode="lin" valueType="num">
                                      <p:cBhvr additive="base">
                                        <p:cTn dur="500"/>
                                        <p:tgtEl>
                                          <p:spTgt spid="17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6" name="Shape 176"/>
        <p:cNvGrpSpPr/>
        <p:nvPr/>
      </p:nvGrpSpPr>
      <p:grpSpPr>
        <a:xfrm>
          <a:off x="0" y="0"/>
          <a:ext cx="0" cy="0"/>
          <a:chOff x="0" y="0"/>
          <a:chExt cx="0" cy="0"/>
        </a:xfrm>
      </p:grpSpPr>
      <p:sp>
        <p:nvSpPr>
          <p:cNvPr id="177" name="Google Shape;177;p27"/>
          <p:cNvSpPr txBox="1"/>
          <p:nvPr>
            <p:ph idx="1" type="body"/>
          </p:nvPr>
        </p:nvSpPr>
        <p:spPr>
          <a:xfrm>
            <a:off x="720725" y="1122850"/>
            <a:ext cx="7880100" cy="2574900"/>
          </a:xfrm>
          <a:prstGeom prst="rect">
            <a:avLst/>
          </a:prstGeom>
          <a:noFill/>
          <a:ln>
            <a:noFill/>
          </a:ln>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IN">
                <a:latin typeface="Arial"/>
                <a:ea typeface="Arial"/>
                <a:cs typeface="Arial"/>
                <a:sym typeface="Arial"/>
              </a:rPr>
              <a:t>●</a:t>
            </a:r>
            <a:r>
              <a:rPr b="1" lang="en-IN" sz="1600" u="sng">
                <a:solidFill>
                  <a:schemeClr val="dk1"/>
                </a:solidFill>
              </a:rPr>
              <a:t>Last digit of 6</a:t>
            </a:r>
            <a:r>
              <a:rPr b="1" baseline="30000" lang="en-IN" sz="1600" u="sng">
                <a:solidFill>
                  <a:schemeClr val="dk1"/>
                </a:solidFill>
              </a:rPr>
              <a:t>15</a:t>
            </a:r>
            <a:endParaRPr b="1" baseline="30000" sz="1600" u="sng">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6 has cyclicity 1, hence last digit of 6</a:t>
            </a:r>
            <a:r>
              <a:rPr baseline="30000" lang="en-IN" sz="1600">
                <a:solidFill>
                  <a:schemeClr val="dk1"/>
                </a:solidFill>
              </a:rPr>
              <a:t>15</a:t>
            </a:r>
            <a:r>
              <a:rPr lang="en-IN" sz="1600">
                <a:solidFill>
                  <a:schemeClr val="dk1"/>
                </a:solidFill>
              </a:rPr>
              <a:t> = 6</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t>●</a:t>
            </a:r>
            <a:r>
              <a:rPr b="1" lang="en-IN" sz="1600" u="sng">
                <a:solidFill>
                  <a:schemeClr val="dk1"/>
                </a:solidFill>
              </a:rPr>
              <a:t>Last digit of 7</a:t>
            </a:r>
            <a:r>
              <a:rPr b="1" baseline="30000" lang="en-IN" sz="1600" u="sng">
                <a:solidFill>
                  <a:schemeClr val="dk1"/>
                </a:solidFill>
              </a:rPr>
              <a:t>4</a:t>
            </a:r>
            <a:endParaRPr b="1" baseline="30000" sz="1600" u="sng">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Since the exponent is divisible by 4, from the table of cyclicity of numbers, we get last digit of 7</a:t>
            </a:r>
            <a:r>
              <a:rPr baseline="30000" lang="en-IN" sz="1600">
                <a:solidFill>
                  <a:schemeClr val="dk1"/>
                </a:solidFill>
              </a:rPr>
              <a:t>4</a:t>
            </a:r>
            <a:r>
              <a:rPr lang="en-IN" sz="1600">
                <a:solidFill>
                  <a:schemeClr val="dk1"/>
                </a:solidFill>
              </a:rPr>
              <a:t> = 1</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t>●</a:t>
            </a:r>
            <a:r>
              <a:rPr b="1" lang="en-IN" sz="1600" u="sng">
                <a:solidFill>
                  <a:schemeClr val="dk1"/>
                </a:solidFill>
              </a:rPr>
              <a:t>Last digit of 9</a:t>
            </a:r>
            <a:r>
              <a:rPr b="1" baseline="30000" lang="en-IN" sz="1600" u="sng">
                <a:solidFill>
                  <a:schemeClr val="dk1"/>
                </a:solidFill>
              </a:rPr>
              <a:t>13</a:t>
            </a:r>
            <a:endParaRPr b="1" baseline="30000" sz="1600" u="sng">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As we know, 13 is odd number and so the the remainder of 13/4 is also odd.</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From the table of cyclicty of numbers, we know 9 has a cyclicity of 2 athe the element at odd positions of cyclicity is 9.</a:t>
            </a:r>
            <a:endParaRPr sz="1600">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sz="1600">
                <a:solidFill>
                  <a:schemeClr val="dk1"/>
                </a:solidFill>
              </a:rPr>
              <a:t>Hence unit's last digit of 9</a:t>
            </a:r>
            <a:r>
              <a:rPr baseline="30000" lang="en-IN" sz="1600">
                <a:solidFill>
                  <a:schemeClr val="dk1"/>
                </a:solidFill>
              </a:rPr>
              <a:t>13</a:t>
            </a:r>
            <a:r>
              <a:rPr lang="en-IN" sz="1600">
                <a:solidFill>
                  <a:schemeClr val="dk1"/>
                </a:solidFill>
              </a:rPr>
              <a:t> = 9</a:t>
            </a:r>
            <a:endParaRPr sz="1600">
              <a:solidFill>
                <a:schemeClr val="dk1"/>
              </a:solidFill>
            </a:endParaRPr>
          </a:p>
          <a:p>
            <a:pPr indent="0" lvl="0" marL="0" rtl="0" algn="l">
              <a:spcBef>
                <a:spcPts val="0"/>
              </a:spcBef>
              <a:spcAft>
                <a:spcPts val="0"/>
              </a:spcAft>
              <a:buClr>
                <a:schemeClr val="dk1"/>
              </a:buClr>
              <a:buSzPts val="1100"/>
              <a:buFont typeface="Arial"/>
              <a:buNone/>
            </a:pPr>
            <a:r>
              <a:rPr lang="en-IN" sz="1600">
                <a:solidFill>
                  <a:schemeClr val="dk1"/>
                </a:solidFill>
              </a:rPr>
              <a:t>Hence, last digit of 6</a:t>
            </a:r>
            <a:r>
              <a:rPr baseline="30000" lang="en-IN" sz="1600">
                <a:solidFill>
                  <a:schemeClr val="dk1"/>
                </a:solidFill>
              </a:rPr>
              <a:t>15</a:t>
            </a:r>
            <a:r>
              <a:rPr lang="en-IN" sz="1600">
                <a:solidFill>
                  <a:schemeClr val="dk1"/>
                </a:solidFill>
              </a:rPr>
              <a:t> - 7</a:t>
            </a:r>
            <a:r>
              <a:rPr baseline="30000" lang="en-IN" sz="1600">
                <a:solidFill>
                  <a:schemeClr val="dk1"/>
                </a:solidFill>
              </a:rPr>
              <a:t>4</a:t>
            </a:r>
            <a:r>
              <a:rPr lang="en-IN" sz="1600">
                <a:solidFill>
                  <a:schemeClr val="dk1"/>
                </a:solidFill>
              </a:rPr>
              <a:t> - 9</a:t>
            </a:r>
            <a:r>
              <a:rPr baseline="30000" lang="en-IN" sz="1600">
                <a:solidFill>
                  <a:schemeClr val="dk1"/>
                </a:solidFill>
              </a:rPr>
              <a:t>13</a:t>
            </a:r>
            <a:r>
              <a:rPr lang="en-IN" sz="1600">
                <a:solidFill>
                  <a:schemeClr val="dk1"/>
                </a:solidFill>
              </a:rPr>
              <a:t> = Last digit of ( last digit of ( 6</a:t>
            </a:r>
            <a:r>
              <a:rPr baseline="30000" lang="en-IN" sz="1600">
                <a:solidFill>
                  <a:schemeClr val="dk1"/>
                </a:solidFill>
              </a:rPr>
              <a:t>15</a:t>
            </a:r>
            <a:r>
              <a:rPr lang="en-IN" sz="1600">
                <a:solidFill>
                  <a:schemeClr val="dk1"/>
                </a:solidFill>
              </a:rPr>
              <a:t>) - last digit of ( 7</a:t>
            </a:r>
            <a:r>
              <a:rPr baseline="30000" lang="en-IN" sz="1600">
                <a:solidFill>
                  <a:schemeClr val="dk1"/>
                </a:solidFill>
              </a:rPr>
              <a:t>4</a:t>
            </a:r>
            <a:r>
              <a:rPr lang="en-IN" sz="1600">
                <a:solidFill>
                  <a:schemeClr val="dk1"/>
                </a:solidFill>
              </a:rPr>
              <a:t> ) - last digit of ( 9</a:t>
            </a:r>
            <a:r>
              <a:rPr baseline="30000" lang="en-IN" sz="1600">
                <a:solidFill>
                  <a:schemeClr val="dk1"/>
                </a:solidFill>
              </a:rPr>
              <a:t>13</a:t>
            </a:r>
            <a:r>
              <a:rPr lang="en-IN" sz="1600">
                <a:solidFill>
                  <a:schemeClr val="dk1"/>
                </a:solidFill>
              </a:rPr>
              <a:t> ))</a:t>
            </a:r>
            <a:endParaRPr sz="1600">
              <a:solidFill>
                <a:schemeClr val="dk1"/>
              </a:solidFill>
            </a:endParaRPr>
          </a:p>
          <a:p>
            <a:pPr indent="0" lvl="0" marL="0" rtl="0" algn="l">
              <a:lnSpc>
                <a:spcPct val="115000"/>
              </a:lnSpc>
              <a:spcBef>
                <a:spcPts val="0"/>
              </a:spcBef>
              <a:spcAft>
                <a:spcPts val="0"/>
              </a:spcAft>
              <a:buSzPts val="1800"/>
              <a:buNone/>
            </a:pPr>
            <a:r>
              <a:rPr lang="en-IN" sz="1600">
                <a:solidFill>
                  <a:schemeClr val="dk1"/>
                </a:solidFill>
              </a:rPr>
              <a:t>= Last digit of (16 - 1 - 9) = </a:t>
            </a:r>
            <a:r>
              <a:rPr b="1" lang="en-IN" sz="1600">
                <a:solidFill>
                  <a:schemeClr val="dk1"/>
                </a:solidFill>
              </a:rPr>
              <a:t>6</a:t>
            </a:r>
            <a:endParaRPr sz="1600">
              <a:solidFill>
                <a:schemeClr val="dk1"/>
              </a:solidFill>
            </a:endParaRPr>
          </a:p>
        </p:txBody>
      </p:sp>
      <p:sp>
        <p:nvSpPr>
          <p:cNvPr id="178" name="Google Shape;178;p27"/>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06</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0" st="0"/>
                                            </p:txEl>
                                          </p:spTgt>
                                        </p:tgtEl>
                                        <p:attrNameLst>
                                          <p:attrName>style.visibility</p:attrName>
                                        </p:attrNameLst>
                                      </p:cBhvr>
                                      <p:to>
                                        <p:strVal val="visible"/>
                                      </p:to>
                                    </p:set>
                                    <p:anim calcmode="lin" valueType="num">
                                      <p:cBhvr additive="base">
                                        <p:cTn dur="500"/>
                                        <p:tgtEl>
                                          <p:spTgt spid="17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1" st="1"/>
                                            </p:txEl>
                                          </p:spTgt>
                                        </p:tgtEl>
                                        <p:attrNameLst>
                                          <p:attrName>style.visibility</p:attrName>
                                        </p:attrNameLst>
                                      </p:cBhvr>
                                      <p:to>
                                        <p:strVal val="visible"/>
                                      </p:to>
                                    </p:set>
                                    <p:anim calcmode="lin" valueType="num">
                                      <p:cBhvr additive="base">
                                        <p:cTn dur="500"/>
                                        <p:tgtEl>
                                          <p:spTgt spid="17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2" st="2"/>
                                            </p:txEl>
                                          </p:spTgt>
                                        </p:tgtEl>
                                        <p:attrNameLst>
                                          <p:attrName>style.visibility</p:attrName>
                                        </p:attrNameLst>
                                      </p:cBhvr>
                                      <p:to>
                                        <p:strVal val="visible"/>
                                      </p:to>
                                    </p:set>
                                    <p:anim calcmode="lin" valueType="num">
                                      <p:cBhvr additive="base">
                                        <p:cTn dur="500"/>
                                        <p:tgtEl>
                                          <p:spTgt spid="17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3" st="3"/>
                                            </p:txEl>
                                          </p:spTgt>
                                        </p:tgtEl>
                                        <p:attrNameLst>
                                          <p:attrName>style.visibility</p:attrName>
                                        </p:attrNameLst>
                                      </p:cBhvr>
                                      <p:to>
                                        <p:strVal val="visible"/>
                                      </p:to>
                                    </p:set>
                                    <p:anim calcmode="lin" valueType="num">
                                      <p:cBhvr additive="base">
                                        <p:cTn dur="500"/>
                                        <p:tgtEl>
                                          <p:spTgt spid="17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4" st="4"/>
                                            </p:txEl>
                                          </p:spTgt>
                                        </p:tgtEl>
                                        <p:attrNameLst>
                                          <p:attrName>style.visibility</p:attrName>
                                        </p:attrNameLst>
                                      </p:cBhvr>
                                      <p:to>
                                        <p:strVal val="visible"/>
                                      </p:to>
                                    </p:set>
                                    <p:anim calcmode="lin" valueType="num">
                                      <p:cBhvr additive="base">
                                        <p:cTn dur="500"/>
                                        <p:tgtEl>
                                          <p:spTgt spid="17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5" st="5"/>
                                            </p:txEl>
                                          </p:spTgt>
                                        </p:tgtEl>
                                        <p:attrNameLst>
                                          <p:attrName>style.visibility</p:attrName>
                                        </p:attrNameLst>
                                      </p:cBhvr>
                                      <p:to>
                                        <p:strVal val="visible"/>
                                      </p:to>
                                    </p:set>
                                    <p:anim calcmode="lin" valueType="num">
                                      <p:cBhvr additive="base">
                                        <p:cTn dur="500"/>
                                        <p:tgtEl>
                                          <p:spTgt spid="17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6" st="6"/>
                                            </p:txEl>
                                          </p:spTgt>
                                        </p:tgtEl>
                                        <p:attrNameLst>
                                          <p:attrName>style.visibility</p:attrName>
                                        </p:attrNameLst>
                                      </p:cBhvr>
                                      <p:to>
                                        <p:strVal val="visible"/>
                                      </p:to>
                                    </p:set>
                                    <p:anim calcmode="lin" valueType="num">
                                      <p:cBhvr additive="base">
                                        <p:cTn dur="500"/>
                                        <p:tgtEl>
                                          <p:spTgt spid="17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7" st="7"/>
                                            </p:txEl>
                                          </p:spTgt>
                                        </p:tgtEl>
                                        <p:attrNameLst>
                                          <p:attrName>style.visibility</p:attrName>
                                        </p:attrNameLst>
                                      </p:cBhvr>
                                      <p:to>
                                        <p:strVal val="visible"/>
                                      </p:to>
                                    </p:set>
                                    <p:anim calcmode="lin" valueType="num">
                                      <p:cBhvr additive="base">
                                        <p:cTn dur="500"/>
                                        <p:tgtEl>
                                          <p:spTgt spid="177">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8" st="8"/>
                                            </p:txEl>
                                          </p:spTgt>
                                        </p:tgtEl>
                                        <p:attrNameLst>
                                          <p:attrName>style.visibility</p:attrName>
                                        </p:attrNameLst>
                                      </p:cBhvr>
                                      <p:to>
                                        <p:strVal val="visible"/>
                                      </p:to>
                                    </p:set>
                                    <p:anim calcmode="lin" valueType="num">
                                      <p:cBhvr additive="base">
                                        <p:cTn dur="500"/>
                                        <p:tgtEl>
                                          <p:spTgt spid="177">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9" st="9"/>
                                            </p:txEl>
                                          </p:spTgt>
                                        </p:tgtEl>
                                        <p:attrNameLst>
                                          <p:attrName>style.visibility</p:attrName>
                                        </p:attrNameLst>
                                      </p:cBhvr>
                                      <p:to>
                                        <p:strVal val="visible"/>
                                      </p:to>
                                    </p:set>
                                    <p:anim calcmode="lin" valueType="num">
                                      <p:cBhvr additive="base">
                                        <p:cTn dur="500"/>
                                        <p:tgtEl>
                                          <p:spTgt spid="177">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1b3f087a09_1_51"/>
          <p:cNvSpPr txBox="1"/>
          <p:nvPr>
            <p:ph idx="1" type="body"/>
          </p:nvPr>
        </p:nvSpPr>
        <p:spPr>
          <a:xfrm>
            <a:off x="655700" y="112285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t/>
            </a:r>
            <a:endParaRPr>
              <a:solidFill>
                <a:schemeClr val="dk1"/>
              </a:solidFill>
              <a:latin typeface="Arial"/>
              <a:ea typeface="Arial"/>
              <a:cs typeface="Arial"/>
              <a:sym typeface="Arial"/>
            </a:endParaRPr>
          </a:p>
        </p:txBody>
      </p:sp>
      <p:sp>
        <p:nvSpPr>
          <p:cNvPr id="184" name="Google Shape;184;g31b3f087a09_1_51"/>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07</a:t>
            </a:r>
            <a:endParaRPr b="1" i="0" sz="2000" u="none" cap="none" strike="noStrike">
              <a:solidFill>
                <a:srgbClr val="8182EF"/>
              </a:solidFill>
              <a:latin typeface="Roboto"/>
              <a:ea typeface="Roboto"/>
              <a:cs typeface="Roboto"/>
              <a:sym typeface="Roboto"/>
            </a:endParaRPr>
          </a:p>
        </p:txBody>
      </p:sp>
      <p:pic>
        <p:nvPicPr>
          <p:cNvPr id="185" name="Google Shape;185;g31b3f087a09_1_51"/>
          <p:cNvPicPr preferRelativeResize="0"/>
          <p:nvPr/>
        </p:nvPicPr>
        <p:blipFill>
          <a:blip r:embed="rId3">
            <a:alphaModFix/>
          </a:blip>
          <a:stretch>
            <a:fillRect/>
          </a:stretch>
        </p:blipFill>
        <p:spPr>
          <a:xfrm>
            <a:off x="558825" y="1122848"/>
            <a:ext cx="9144001" cy="4353354"/>
          </a:xfrm>
          <a:prstGeom prst="rect">
            <a:avLst/>
          </a:prstGeom>
          <a:noFill/>
          <a:ln>
            <a:noFill/>
          </a:ln>
        </p:spPr>
      </p:pic>
      <p:pic>
        <p:nvPicPr>
          <p:cNvPr id="186" name="Google Shape;186;g31b3f087a09_1_51"/>
          <p:cNvPicPr preferRelativeResize="0"/>
          <p:nvPr/>
        </p:nvPicPr>
        <p:blipFill>
          <a:blip r:embed="rId4">
            <a:alphaModFix/>
          </a:blip>
          <a:stretch>
            <a:fillRect/>
          </a:stretch>
        </p:blipFill>
        <p:spPr>
          <a:xfrm>
            <a:off x="6623325" y="4033650"/>
            <a:ext cx="1905203" cy="49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anim calcmode="lin" valueType="num">
                                      <p:cBhvr additive="base">
                                        <p:cTn dur="500"/>
                                        <p:tgtEl>
                                          <p:spTgt spid="18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0" name="Shape 190"/>
        <p:cNvGrpSpPr/>
        <p:nvPr/>
      </p:nvGrpSpPr>
      <p:grpSpPr>
        <a:xfrm>
          <a:off x="0" y="0"/>
          <a:ext cx="0" cy="0"/>
          <a:chOff x="0" y="0"/>
          <a:chExt cx="0" cy="0"/>
        </a:xfrm>
      </p:grpSpPr>
      <p:sp>
        <p:nvSpPr>
          <p:cNvPr id="191" name="Google Shape;191;p30"/>
          <p:cNvSpPr txBox="1"/>
          <p:nvPr>
            <p:ph idx="1" type="body"/>
          </p:nvPr>
        </p:nvSpPr>
        <p:spPr>
          <a:xfrm>
            <a:off x="747000" y="1170000"/>
            <a:ext cx="7650000" cy="3369600"/>
          </a:xfrm>
          <a:prstGeom prst="rect">
            <a:avLst/>
          </a:prstGeom>
          <a:noFill/>
          <a:ln>
            <a:noFill/>
          </a:ln>
        </p:spPr>
        <p:txBody>
          <a:bodyPr anchorCtr="0" anchor="t" bIns="91425" lIns="91425" spcFirstLastPara="1" rIns="91425" wrap="square" tIns="91425">
            <a:noAutofit/>
          </a:bodyPr>
          <a:lstStyle/>
          <a:p>
            <a:pPr indent="0" lvl="0" marL="114300" rtl="0" algn="l">
              <a:lnSpc>
                <a:spcPct val="150000"/>
              </a:lnSpc>
              <a:spcBef>
                <a:spcPts val="0"/>
              </a:spcBef>
              <a:spcAft>
                <a:spcPts val="0"/>
              </a:spcAft>
              <a:buClr>
                <a:schemeClr val="dk1"/>
              </a:buClr>
              <a:buSzPts val="1100"/>
              <a:buFont typeface="Arial"/>
              <a:buNone/>
            </a:pPr>
            <a:r>
              <a:rPr lang="en-IN" sz="1600">
                <a:solidFill>
                  <a:schemeClr val="dk1"/>
                </a:solidFill>
                <a:latin typeface="Arial"/>
                <a:ea typeface="Arial"/>
                <a:cs typeface="Arial"/>
                <a:sym typeface="Arial"/>
              </a:rPr>
              <a:t>A</a:t>
            </a:r>
            <a:r>
              <a:rPr lang="en-IN" sz="1600">
                <a:solidFill>
                  <a:schemeClr val="dk1"/>
                </a:solidFill>
              </a:rPr>
              <a:t>s in the other problems, here also we need to find the remainder when the exponent is divided by 4</a:t>
            </a:r>
            <a:br>
              <a:rPr lang="en-IN" sz="1600">
                <a:solidFill>
                  <a:schemeClr val="dk1"/>
                </a:solidFill>
              </a:rPr>
            </a:br>
            <a:r>
              <a:rPr lang="en-IN" sz="1600">
                <a:solidFill>
                  <a:schemeClr val="dk1"/>
                </a:solidFill>
              </a:rPr>
              <a:t> That is, remainder of 3</a:t>
            </a:r>
            <a:r>
              <a:rPr baseline="30000" lang="en-IN" sz="1600">
                <a:solidFill>
                  <a:schemeClr val="dk1"/>
                </a:solidFill>
              </a:rPr>
              <a:t>4^5</a:t>
            </a:r>
            <a:r>
              <a:rPr lang="en-IN" sz="1600">
                <a:solidFill>
                  <a:schemeClr val="dk1"/>
                </a:solidFill>
              </a:rPr>
              <a:t>/4</a:t>
            </a:r>
            <a:br>
              <a:rPr lang="en-IN" sz="1600">
                <a:solidFill>
                  <a:schemeClr val="dk1"/>
                </a:solidFill>
              </a:rPr>
            </a:br>
            <a:r>
              <a:rPr lang="en-IN" sz="1600">
                <a:solidFill>
                  <a:schemeClr val="dk1"/>
                </a:solidFill>
              </a:rPr>
              <a:t> We can re write it as remainder of (4 - 1)</a:t>
            </a:r>
            <a:r>
              <a:rPr baseline="30000" lang="en-IN" sz="1600">
                <a:solidFill>
                  <a:schemeClr val="dk1"/>
                </a:solidFill>
              </a:rPr>
              <a:t>4^5</a:t>
            </a:r>
            <a:r>
              <a:rPr lang="en-IN" sz="1600">
                <a:solidFill>
                  <a:schemeClr val="dk1"/>
                </a:solidFill>
              </a:rPr>
              <a:t>/4</a:t>
            </a:r>
            <a:br>
              <a:rPr lang="en-IN" sz="1600">
                <a:solidFill>
                  <a:schemeClr val="dk1"/>
                </a:solidFill>
              </a:rPr>
            </a:br>
            <a:r>
              <a:rPr lang="en-IN" sz="1600">
                <a:solidFill>
                  <a:schemeClr val="dk1"/>
                </a:solidFill>
              </a:rPr>
              <a:t> As explained the </a:t>
            </a:r>
            <a:r>
              <a:rPr lang="en-IN" sz="1600" u="sng">
                <a:solidFill>
                  <a:schemeClr val="hlink"/>
                </a:solidFill>
                <a:hlinkClick r:id="rId3"/>
              </a:rPr>
              <a:t>number cyclicity tutorial</a:t>
            </a:r>
            <a:r>
              <a:rPr lang="en-IN" sz="1600">
                <a:solidFill>
                  <a:schemeClr val="dk1"/>
                </a:solidFill>
              </a:rPr>
              <a:t> (using binomial theorem), we can see that remainder of (4 - 1)</a:t>
            </a:r>
            <a:r>
              <a:rPr baseline="30000" lang="en-IN" sz="1600">
                <a:solidFill>
                  <a:schemeClr val="dk1"/>
                </a:solidFill>
              </a:rPr>
              <a:t>4^5</a:t>
            </a:r>
            <a:r>
              <a:rPr lang="en-IN" sz="1600">
                <a:solidFill>
                  <a:schemeClr val="dk1"/>
                </a:solidFill>
              </a:rPr>
              <a:t>/4 = 1</a:t>
            </a:r>
            <a:br>
              <a:rPr lang="en-IN" sz="1600">
                <a:solidFill>
                  <a:schemeClr val="dk1"/>
                </a:solidFill>
              </a:rPr>
            </a:br>
            <a:r>
              <a:rPr lang="en-IN" sz="1600">
                <a:solidFill>
                  <a:schemeClr val="dk1"/>
                </a:solidFill>
              </a:rPr>
              <a:t> The 1st digit in the cyclicity of 2 is 2, hence the </a:t>
            </a:r>
            <a:r>
              <a:rPr b="1" lang="en-IN" sz="1600">
                <a:solidFill>
                  <a:schemeClr val="dk1"/>
                </a:solidFill>
              </a:rPr>
              <a:t>unit digit of 2</a:t>
            </a:r>
            <a:r>
              <a:rPr b="1" baseline="30000" lang="en-IN" sz="1600">
                <a:solidFill>
                  <a:schemeClr val="dk1"/>
                </a:solidFill>
              </a:rPr>
              <a:t>3^4^5</a:t>
            </a:r>
            <a:r>
              <a:rPr b="1" lang="en-IN" sz="1600">
                <a:solidFill>
                  <a:schemeClr val="dk1"/>
                </a:solidFill>
              </a:rPr>
              <a:t> = 2</a:t>
            </a:r>
            <a:endParaRPr b="1" sz="1600">
              <a:solidFill>
                <a:schemeClr val="dk1"/>
              </a:solidFill>
            </a:endParaRPr>
          </a:p>
          <a:p>
            <a:pPr indent="0" lvl="0" marL="0" rtl="0" algn="l">
              <a:lnSpc>
                <a:spcPct val="115000"/>
              </a:lnSpc>
              <a:spcBef>
                <a:spcPts val="0"/>
              </a:spcBef>
              <a:spcAft>
                <a:spcPts val="0"/>
              </a:spcAft>
              <a:buSzPts val="1800"/>
              <a:buNone/>
            </a:pPr>
            <a:r>
              <a:t/>
            </a:r>
            <a:endParaRPr sz="1600">
              <a:solidFill>
                <a:schemeClr val="dk1"/>
              </a:solidFill>
            </a:endParaRPr>
          </a:p>
        </p:txBody>
      </p:sp>
      <p:sp>
        <p:nvSpPr>
          <p:cNvPr id="192" name="Google Shape;192;p30"/>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07</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1b3f087a09_1_59"/>
          <p:cNvSpPr txBox="1"/>
          <p:nvPr>
            <p:ph idx="1" type="body"/>
          </p:nvPr>
        </p:nvSpPr>
        <p:spPr>
          <a:xfrm>
            <a:off x="720725" y="117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800"/>
              <a:buFont typeface="Arial"/>
              <a:buNone/>
            </a:pPr>
            <a:r>
              <a:t/>
            </a:r>
            <a:endParaRPr>
              <a:solidFill>
                <a:schemeClr val="dk1"/>
              </a:solidFill>
              <a:latin typeface="Arial"/>
              <a:ea typeface="Arial"/>
              <a:cs typeface="Arial"/>
              <a:sym typeface="Arial"/>
            </a:endParaRPr>
          </a:p>
        </p:txBody>
      </p:sp>
      <p:sp>
        <p:nvSpPr>
          <p:cNvPr id="198" name="Google Shape;198;g31b3f087a09_1_59"/>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08</a:t>
            </a:r>
            <a:endParaRPr b="1" i="0" sz="2000" u="none" cap="none" strike="noStrike">
              <a:solidFill>
                <a:srgbClr val="8182EF"/>
              </a:solidFill>
              <a:latin typeface="Roboto"/>
              <a:ea typeface="Roboto"/>
              <a:cs typeface="Roboto"/>
              <a:sym typeface="Roboto"/>
            </a:endParaRPr>
          </a:p>
        </p:txBody>
      </p:sp>
      <p:pic>
        <p:nvPicPr>
          <p:cNvPr id="199" name="Google Shape;199;g31b3f087a09_1_59"/>
          <p:cNvPicPr preferRelativeResize="0"/>
          <p:nvPr/>
        </p:nvPicPr>
        <p:blipFill>
          <a:blip r:embed="rId3">
            <a:alphaModFix/>
          </a:blip>
          <a:stretch>
            <a:fillRect/>
          </a:stretch>
        </p:blipFill>
        <p:spPr>
          <a:xfrm>
            <a:off x="581975" y="960848"/>
            <a:ext cx="9144001" cy="4451255"/>
          </a:xfrm>
          <a:prstGeom prst="rect">
            <a:avLst/>
          </a:prstGeom>
          <a:noFill/>
          <a:ln>
            <a:noFill/>
          </a:ln>
        </p:spPr>
      </p:pic>
      <p:pic>
        <p:nvPicPr>
          <p:cNvPr id="200" name="Google Shape;200;g31b3f087a09_1_59"/>
          <p:cNvPicPr preferRelativeResize="0"/>
          <p:nvPr/>
        </p:nvPicPr>
        <p:blipFill>
          <a:blip r:embed="rId4">
            <a:alphaModFix/>
          </a:blip>
          <a:stretch>
            <a:fillRect/>
          </a:stretch>
        </p:blipFill>
        <p:spPr>
          <a:xfrm>
            <a:off x="6518775" y="4210450"/>
            <a:ext cx="2293550" cy="593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 calcmode="lin" valueType="num">
                                      <p:cBhvr additive="base">
                                        <p:cTn dur="500"/>
                                        <p:tgtEl>
                                          <p:spTgt spid="19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4" name="Shape 204"/>
        <p:cNvGrpSpPr/>
        <p:nvPr/>
      </p:nvGrpSpPr>
      <p:grpSpPr>
        <a:xfrm>
          <a:off x="0" y="0"/>
          <a:ext cx="0" cy="0"/>
          <a:chOff x="0" y="0"/>
          <a:chExt cx="0" cy="0"/>
        </a:xfrm>
      </p:grpSpPr>
      <p:sp>
        <p:nvSpPr>
          <p:cNvPr id="205" name="Google Shape;205;p32"/>
          <p:cNvSpPr txBox="1"/>
          <p:nvPr>
            <p:ph idx="1" type="body"/>
          </p:nvPr>
        </p:nvSpPr>
        <p:spPr>
          <a:xfrm>
            <a:off x="720000" y="1440000"/>
            <a:ext cx="7650000" cy="36684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Clr>
                <a:schemeClr val="dk1"/>
              </a:buClr>
              <a:buSzPts val="1100"/>
              <a:buFont typeface="Arial"/>
              <a:buNone/>
            </a:pPr>
            <a:r>
              <a:rPr lang="en-IN">
                <a:solidFill>
                  <a:schemeClr val="dk1"/>
                </a:solidFill>
                <a:latin typeface="Arial"/>
                <a:ea typeface="Arial"/>
                <a:cs typeface="Arial"/>
                <a:sym typeface="Arial"/>
              </a:rPr>
              <a:t>S</a:t>
            </a:r>
            <a:r>
              <a:rPr lang="en-IN">
                <a:solidFill>
                  <a:schemeClr val="dk1"/>
                </a:solidFill>
              </a:rPr>
              <a:t>ince 5 has cyclicity 1 and the value is 5, we don't need to any calculations to find it's answer. Unit's digit of 225</a:t>
            </a:r>
            <a:r>
              <a:rPr baseline="30000" lang="en-IN">
                <a:solidFill>
                  <a:schemeClr val="dk1"/>
                </a:solidFill>
              </a:rPr>
              <a:t>66^33</a:t>
            </a:r>
            <a:r>
              <a:rPr lang="en-IN">
                <a:solidFill>
                  <a:schemeClr val="dk1"/>
                </a:solidFill>
              </a:rPr>
              <a:t> is </a:t>
            </a:r>
            <a:r>
              <a:rPr b="1" lang="en-IN">
                <a:solidFill>
                  <a:schemeClr val="dk1"/>
                </a:solidFill>
              </a:rPr>
              <a:t>5</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800"/>
              <a:buFont typeface="Noto Sans Symbols"/>
              <a:buNone/>
            </a:pPr>
            <a:r>
              <a:t/>
            </a:r>
            <a:endParaRPr>
              <a:solidFill>
                <a:schemeClr val="dk1"/>
              </a:solidFill>
              <a:latin typeface="Arial"/>
              <a:ea typeface="Arial"/>
              <a:cs typeface="Arial"/>
              <a:sym typeface="Arial"/>
            </a:endParaRPr>
          </a:p>
          <a:p>
            <a:pPr indent="-228600" lvl="0" marL="457200" rtl="0" algn="l">
              <a:spcBef>
                <a:spcPts val="0"/>
              </a:spcBef>
              <a:spcAft>
                <a:spcPts val="0"/>
              </a:spcAft>
              <a:buClr>
                <a:schemeClr val="dk1"/>
              </a:buClr>
              <a:buSzPts val="1800"/>
              <a:buFont typeface="Noto Sans Symbols"/>
              <a:buNone/>
            </a:pPr>
            <a:r>
              <a:t/>
            </a:r>
            <a:endParaRPr>
              <a:solidFill>
                <a:schemeClr val="dk1"/>
              </a:solidFill>
              <a:latin typeface="Arial"/>
              <a:ea typeface="Arial"/>
              <a:cs typeface="Arial"/>
              <a:sym typeface="Arial"/>
            </a:endParaRPr>
          </a:p>
          <a:p>
            <a:pPr indent="-228600" lvl="0" marL="457200" rtl="0" algn="l">
              <a:spcBef>
                <a:spcPts val="0"/>
              </a:spcBef>
              <a:spcAft>
                <a:spcPts val="0"/>
              </a:spcAft>
              <a:buClr>
                <a:schemeClr val="dk1"/>
              </a:buClr>
              <a:buSzPts val="1800"/>
              <a:buFont typeface="Noto Sans Symbols"/>
              <a:buNone/>
            </a:pPr>
            <a:r>
              <a:t/>
            </a:r>
            <a:endParaRPr>
              <a:solidFill>
                <a:schemeClr val="dk1"/>
              </a:solidFill>
              <a:latin typeface="Arial"/>
              <a:ea typeface="Arial"/>
              <a:cs typeface="Arial"/>
              <a:sym typeface="Arial"/>
            </a:endParaRPr>
          </a:p>
          <a:p>
            <a:pPr indent="-228600" lvl="0" marL="457200" rtl="0" algn="l">
              <a:spcBef>
                <a:spcPts val="0"/>
              </a:spcBef>
              <a:spcAft>
                <a:spcPts val="0"/>
              </a:spcAft>
              <a:buClr>
                <a:schemeClr val="dk1"/>
              </a:buClr>
              <a:buSzPts val="1800"/>
              <a:buFont typeface="Arial"/>
              <a:buNone/>
            </a:pPr>
            <a:r>
              <a:t/>
            </a:r>
            <a:endParaRPr sz="1600">
              <a:solidFill>
                <a:schemeClr val="dk1"/>
              </a:solidFill>
              <a:latin typeface="Arial"/>
              <a:ea typeface="Arial"/>
              <a:cs typeface="Arial"/>
              <a:sym typeface="Arial"/>
            </a:endParaRPr>
          </a:p>
          <a:p>
            <a:pPr indent="0" lvl="0" marL="0" rtl="0" algn="l">
              <a:lnSpc>
                <a:spcPct val="115000"/>
              </a:lnSpc>
              <a:spcBef>
                <a:spcPts val="0"/>
              </a:spcBef>
              <a:spcAft>
                <a:spcPts val="0"/>
              </a:spcAft>
              <a:buSzPts val="1800"/>
              <a:buNone/>
            </a:pPr>
            <a:r>
              <a:t/>
            </a:r>
            <a:endParaRPr>
              <a:solidFill>
                <a:schemeClr val="dk1"/>
              </a:solidFill>
              <a:latin typeface="Arial"/>
              <a:ea typeface="Arial"/>
              <a:cs typeface="Arial"/>
              <a:sym typeface="Arial"/>
            </a:endParaRPr>
          </a:p>
        </p:txBody>
      </p:sp>
      <p:sp>
        <p:nvSpPr>
          <p:cNvPr id="206" name="Google Shape;206;p32"/>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08</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5">
                                            <p:txEl>
                                              <p:pRg end="0" st="0"/>
                                            </p:txEl>
                                          </p:spTgt>
                                        </p:tgtEl>
                                        <p:attrNameLst>
                                          <p:attrName>style.visibility</p:attrName>
                                        </p:attrNameLst>
                                      </p:cBhvr>
                                      <p:to>
                                        <p:strVal val="visible"/>
                                      </p:to>
                                    </p:set>
                                    <p:anim calcmode="lin" valueType="num">
                                      <p:cBhvr additive="base">
                                        <p:cTn dur="500"/>
                                        <p:tgtEl>
                                          <p:spTgt spid="20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5">
                                            <p:txEl>
                                              <p:pRg end="1" st="1"/>
                                            </p:txEl>
                                          </p:spTgt>
                                        </p:tgtEl>
                                        <p:attrNameLst>
                                          <p:attrName>style.visibility</p:attrName>
                                        </p:attrNameLst>
                                      </p:cBhvr>
                                      <p:to>
                                        <p:strVal val="visible"/>
                                      </p:to>
                                    </p:set>
                                    <p:anim calcmode="lin" valueType="num">
                                      <p:cBhvr additive="base">
                                        <p:cTn dur="500"/>
                                        <p:tgtEl>
                                          <p:spTgt spid="20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5">
                                            <p:txEl>
                                              <p:pRg end="2" st="2"/>
                                            </p:txEl>
                                          </p:spTgt>
                                        </p:tgtEl>
                                        <p:attrNameLst>
                                          <p:attrName>style.visibility</p:attrName>
                                        </p:attrNameLst>
                                      </p:cBhvr>
                                      <p:to>
                                        <p:strVal val="visible"/>
                                      </p:to>
                                    </p:set>
                                    <p:anim calcmode="lin" valueType="num">
                                      <p:cBhvr additive="base">
                                        <p:cTn dur="500"/>
                                        <p:tgtEl>
                                          <p:spTgt spid="20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5">
                                            <p:txEl>
                                              <p:pRg end="3" st="3"/>
                                            </p:txEl>
                                          </p:spTgt>
                                        </p:tgtEl>
                                        <p:attrNameLst>
                                          <p:attrName>style.visibility</p:attrName>
                                        </p:attrNameLst>
                                      </p:cBhvr>
                                      <p:to>
                                        <p:strVal val="visible"/>
                                      </p:to>
                                    </p:set>
                                    <p:anim calcmode="lin" valueType="num">
                                      <p:cBhvr additive="base">
                                        <p:cTn dur="500"/>
                                        <p:tgtEl>
                                          <p:spTgt spid="20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5">
                                            <p:txEl>
                                              <p:pRg end="4" st="4"/>
                                            </p:txEl>
                                          </p:spTgt>
                                        </p:tgtEl>
                                        <p:attrNameLst>
                                          <p:attrName>style.visibility</p:attrName>
                                        </p:attrNameLst>
                                      </p:cBhvr>
                                      <p:to>
                                        <p:strVal val="visible"/>
                                      </p:to>
                                    </p:set>
                                    <p:anim calcmode="lin" valueType="num">
                                      <p:cBhvr additive="base">
                                        <p:cTn dur="500"/>
                                        <p:tgtEl>
                                          <p:spTgt spid="20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5">
                                            <p:txEl>
                                              <p:pRg end="5" st="5"/>
                                            </p:txEl>
                                          </p:spTgt>
                                        </p:tgtEl>
                                        <p:attrNameLst>
                                          <p:attrName>style.visibility</p:attrName>
                                        </p:attrNameLst>
                                      </p:cBhvr>
                                      <p:to>
                                        <p:strVal val="visible"/>
                                      </p:to>
                                    </p:set>
                                    <p:anim calcmode="lin" valueType="num">
                                      <p:cBhvr additive="base">
                                        <p:cTn dur="500"/>
                                        <p:tgtEl>
                                          <p:spTgt spid="20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5">
                                            <p:txEl>
                                              <p:pRg end="6" st="6"/>
                                            </p:txEl>
                                          </p:spTgt>
                                        </p:tgtEl>
                                        <p:attrNameLst>
                                          <p:attrName>style.visibility</p:attrName>
                                        </p:attrNameLst>
                                      </p:cBhvr>
                                      <p:to>
                                        <p:strVal val="visible"/>
                                      </p:to>
                                    </p:set>
                                    <p:anim calcmode="lin" valueType="num">
                                      <p:cBhvr additive="base">
                                        <p:cTn dur="500"/>
                                        <p:tgtEl>
                                          <p:spTgt spid="20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1b3f087a09_1_65"/>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t/>
            </a:r>
            <a:endParaRPr>
              <a:solidFill>
                <a:schemeClr val="dk1"/>
              </a:solidFill>
              <a:latin typeface="Arial"/>
              <a:ea typeface="Arial"/>
              <a:cs typeface="Arial"/>
              <a:sym typeface="Arial"/>
            </a:endParaRPr>
          </a:p>
        </p:txBody>
      </p:sp>
      <p:sp>
        <p:nvSpPr>
          <p:cNvPr id="212" name="Google Shape;212;g31b3f087a09_1_65"/>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09</a:t>
            </a:r>
            <a:endParaRPr b="1" i="0" sz="2000" u="none" cap="none" strike="noStrike">
              <a:solidFill>
                <a:srgbClr val="8182EF"/>
              </a:solidFill>
              <a:latin typeface="Roboto"/>
              <a:ea typeface="Roboto"/>
              <a:cs typeface="Roboto"/>
              <a:sym typeface="Roboto"/>
            </a:endParaRPr>
          </a:p>
        </p:txBody>
      </p:sp>
      <p:pic>
        <p:nvPicPr>
          <p:cNvPr id="213" name="Google Shape;213;g31b3f087a09_1_65"/>
          <p:cNvPicPr preferRelativeResize="0"/>
          <p:nvPr/>
        </p:nvPicPr>
        <p:blipFill>
          <a:blip r:embed="rId3">
            <a:alphaModFix/>
          </a:blip>
          <a:stretch>
            <a:fillRect/>
          </a:stretch>
        </p:blipFill>
        <p:spPr>
          <a:xfrm>
            <a:off x="590850" y="1041622"/>
            <a:ext cx="9144002" cy="4500258"/>
          </a:xfrm>
          <a:prstGeom prst="rect">
            <a:avLst/>
          </a:prstGeom>
          <a:noFill/>
          <a:ln>
            <a:noFill/>
          </a:ln>
        </p:spPr>
      </p:pic>
      <p:pic>
        <p:nvPicPr>
          <p:cNvPr id="214" name="Google Shape;214;g31b3f087a09_1_65"/>
          <p:cNvPicPr preferRelativeResize="0"/>
          <p:nvPr/>
        </p:nvPicPr>
        <p:blipFill>
          <a:blip r:embed="rId4">
            <a:alphaModFix/>
          </a:blip>
          <a:stretch>
            <a:fillRect/>
          </a:stretch>
        </p:blipFill>
        <p:spPr>
          <a:xfrm>
            <a:off x="6645925" y="4210450"/>
            <a:ext cx="2165675" cy="559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0" st="0"/>
                                            </p:txEl>
                                          </p:spTgt>
                                        </p:tgtEl>
                                        <p:attrNameLst>
                                          <p:attrName>style.visibility</p:attrName>
                                        </p:attrNameLst>
                                      </p:cBhvr>
                                      <p:to>
                                        <p:strVal val="visible"/>
                                      </p:to>
                                    </p:set>
                                    <p:anim calcmode="lin" valueType="num">
                                      <p:cBhvr additive="base">
                                        <p:cTn dur="500"/>
                                        <p:tgtEl>
                                          <p:spTgt spid="21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8" name="Shape 218"/>
        <p:cNvGrpSpPr/>
        <p:nvPr/>
      </p:nvGrpSpPr>
      <p:grpSpPr>
        <a:xfrm>
          <a:off x="0" y="0"/>
          <a:ext cx="0" cy="0"/>
          <a:chOff x="0" y="0"/>
          <a:chExt cx="0" cy="0"/>
        </a:xfrm>
      </p:grpSpPr>
      <p:sp>
        <p:nvSpPr>
          <p:cNvPr id="219" name="Google Shape;219;p37"/>
          <p:cNvSpPr txBox="1"/>
          <p:nvPr>
            <p:ph idx="1" type="body"/>
          </p:nvPr>
        </p:nvSpPr>
        <p:spPr>
          <a:xfrm>
            <a:off x="720000" y="1440000"/>
            <a:ext cx="7650000" cy="300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IN">
                <a:solidFill>
                  <a:schemeClr val="dk1"/>
                </a:solidFill>
              </a:rPr>
              <a:t>It's similar to the previous problem. Since 4 has cyclicity 2, we only need to find if the exponent 22</a:t>
            </a:r>
            <a:r>
              <a:rPr baseline="30000" lang="en-IN">
                <a:solidFill>
                  <a:schemeClr val="dk1"/>
                </a:solidFill>
              </a:rPr>
              <a:t>45</a:t>
            </a:r>
            <a:r>
              <a:rPr lang="en-IN">
                <a:solidFill>
                  <a:schemeClr val="dk1"/>
                </a:solidFill>
              </a:rPr>
              <a:t> is even or odd. We know when an even is raised to any power result will be an even number. So the unit digit number will be the one occurring at the even positions of cyclicity of 4 which is</a:t>
            </a:r>
            <a:r>
              <a:rPr b="1" lang="en-IN">
                <a:solidFill>
                  <a:schemeClr val="dk1"/>
                </a:solidFill>
              </a:rPr>
              <a:t> 6</a:t>
            </a:r>
            <a:endParaRPr>
              <a:solidFill>
                <a:schemeClr val="dk1"/>
              </a:solidFill>
            </a:endParaRPr>
          </a:p>
        </p:txBody>
      </p:sp>
      <p:sp>
        <p:nvSpPr>
          <p:cNvPr id="220" name="Google Shape;220;p37"/>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09</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8"/>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t/>
            </a:r>
            <a:endParaRPr sz="1600">
              <a:solidFill>
                <a:schemeClr val="dk1"/>
              </a:solidFill>
            </a:endParaRPr>
          </a:p>
        </p:txBody>
      </p:sp>
      <p:sp>
        <p:nvSpPr>
          <p:cNvPr id="226" name="Google Shape;226;p38"/>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10</a:t>
            </a:r>
            <a:endParaRPr b="1" i="0" sz="2000" u="none" cap="none" strike="noStrike">
              <a:solidFill>
                <a:srgbClr val="8182EF"/>
              </a:solidFill>
              <a:latin typeface="Roboto"/>
              <a:ea typeface="Roboto"/>
              <a:cs typeface="Roboto"/>
              <a:sym typeface="Roboto"/>
            </a:endParaRPr>
          </a:p>
        </p:txBody>
      </p:sp>
      <p:pic>
        <p:nvPicPr>
          <p:cNvPr id="227" name="Google Shape;227;p38"/>
          <p:cNvPicPr preferRelativeResize="0"/>
          <p:nvPr/>
        </p:nvPicPr>
        <p:blipFill>
          <a:blip r:embed="rId3">
            <a:alphaModFix/>
          </a:blip>
          <a:stretch>
            <a:fillRect/>
          </a:stretch>
        </p:blipFill>
        <p:spPr>
          <a:xfrm>
            <a:off x="595425" y="1115073"/>
            <a:ext cx="9144001" cy="4353354"/>
          </a:xfrm>
          <a:prstGeom prst="rect">
            <a:avLst/>
          </a:prstGeom>
          <a:noFill/>
          <a:ln>
            <a:noFill/>
          </a:ln>
        </p:spPr>
      </p:pic>
      <p:pic>
        <p:nvPicPr>
          <p:cNvPr id="228" name="Google Shape;228;p38"/>
          <p:cNvPicPr preferRelativeResize="0"/>
          <p:nvPr/>
        </p:nvPicPr>
        <p:blipFill>
          <a:blip r:embed="rId4">
            <a:alphaModFix/>
          </a:blip>
          <a:stretch>
            <a:fillRect/>
          </a:stretch>
        </p:blipFill>
        <p:spPr>
          <a:xfrm>
            <a:off x="6906400" y="4235050"/>
            <a:ext cx="1905203" cy="49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5">
                                            <p:txEl>
                                              <p:pRg end="0" st="0"/>
                                            </p:txEl>
                                          </p:spTgt>
                                        </p:tgtEl>
                                        <p:attrNameLst>
                                          <p:attrName>style.visibility</p:attrName>
                                        </p:attrNameLst>
                                      </p:cBhvr>
                                      <p:to>
                                        <p:strVal val="visible"/>
                                      </p:to>
                                    </p:set>
                                    <p:anim calcmode="lin" valueType="num">
                                      <p:cBhvr additive="base">
                                        <p:cTn dur="500"/>
                                        <p:tgtEl>
                                          <p:spTgt spid="22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2" name="Shape 232"/>
        <p:cNvGrpSpPr/>
        <p:nvPr/>
      </p:nvGrpSpPr>
      <p:grpSpPr>
        <a:xfrm>
          <a:off x="0" y="0"/>
          <a:ext cx="0" cy="0"/>
          <a:chOff x="0" y="0"/>
          <a:chExt cx="0" cy="0"/>
        </a:xfrm>
      </p:grpSpPr>
      <p:sp>
        <p:nvSpPr>
          <p:cNvPr id="233" name="Google Shape;233;p39"/>
          <p:cNvSpPr txBox="1"/>
          <p:nvPr>
            <p:ph idx="1" type="body"/>
          </p:nvPr>
        </p:nvSpPr>
        <p:spPr>
          <a:xfrm>
            <a:off x="720000" y="1440000"/>
            <a:ext cx="8112300" cy="3129000"/>
          </a:xfrm>
          <a:prstGeom prst="rect">
            <a:avLst/>
          </a:prstGeom>
          <a:noFill/>
          <a:ln>
            <a:noFill/>
          </a:ln>
        </p:spPr>
        <p:txBody>
          <a:bodyPr anchorCtr="0" anchor="t" bIns="91425" lIns="91425" spcFirstLastPara="1" rIns="91425" wrap="square" tIns="91425">
            <a:noAutofit/>
          </a:bodyPr>
          <a:lstStyle/>
          <a:p>
            <a:pPr indent="0" lvl="0" marL="114300" rtl="0" algn="l">
              <a:lnSpc>
                <a:spcPct val="115000"/>
              </a:lnSpc>
              <a:spcBef>
                <a:spcPts val="0"/>
              </a:spcBef>
              <a:spcAft>
                <a:spcPts val="0"/>
              </a:spcAft>
              <a:buClr>
                <a:schemeClr val="dk1"/>
              </a:buClr>
              <a:buSzPts val="1100"/>
              <a:buFont typeface="Arial"/>
              <a:buNone/>
            </a:pPr>
            <a:r>
              <a:rPr lang="en-IN" sz="1600">
                <a:solidFill>
                  <a:schemeClr val="dk1"/>
                </a:solidFill>
              </a:rPr>
              <a:t>We know that cyclicity if 9 is 2 and the values are 9 and 1. In this problem as explained the tutorial, we only need to find if the exponent 53</a:t>
            </a:r>
            <a:r>
              <a:rPr baseline="30000" lang="en-IN" sz="1600">
                <a:solidFill>
                  <a:schemeClr val="dk1"/>
                </a:solidFill>
              </a:rPr>
              <a:t>5</a:t>
            </a:r>
            <a:r>
              <a:rPr lang="en-IN" sz="1600">
                <a:solidFill>
                  <a:schemeClr val="dk1"/>
                </a:solidFill>
              </a:rPr>
              <a:t> is even or odd because the last digit is same for even and odd positions of the cyclicity. We know that an odd number raised to any power be an odd number. Hence the units digit number will be the cyclicity that occurs at odd positions, which is </a:t>
            </a:r>
            <a:r>
              <a:rPr b="1" lang="en-IN" sz="1600">
                <a:solidFill>
                  <a:schemeClr val="dk1"/>
                </a:solidFill>
              </a:rPr>
              <a:t>9</a:t>
            </a:r>
            <a:endParaRPr b="1"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114300" rtl="0" algn="l">
              <a:lnSpc>
                <a:spcPct val="150000"/>
              </a:lnSpc>
              <a:spcBef>
                <a:spcPts val="0"/>
              </a:spcBef>
              <a:spcAft>
                <a:spcPts val="0"/>
              </a:spcAft>
              <a:buClr>
                <a:schemeClr val="dk1"/>
              </a:buClr>
              <a:buSzPts val="1800"/>
              <a:buFont typeface="Arial"/>
              <a:buNone/>
            </a:pPr>
            <a:r>
              <a:t/>
            </a:r>
            <a:endParaRPr>
              <a:solidFill>
                <a:schemeClr val="dk1"/>
              </a:solidFill>
              <a:latin typeface="Arial"/>
              <a:ea typeface="Arial"/>
              <a:cs typeface="Arial"/>
              <a:sym typeface="Arial"/>
            </a:endParaRPr>
          </a:p>
        </p:txBody>
      </p:sp>
      <p:sp>
        <p:nvSpPr>
          <p:cNvPr id="234" name="Google Shape;234;p39"/>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10</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0"/>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800"/>
              <a:buNone/>
            </a:pPr>
            <a:r>
              <a:t/>
            </a:r>
            <a:endParaRPr>
              <a:solidFill>
                <a:schemeClr val="dk1"/>
              </a:solidFill>
              <a:latin typeface="Arial"/>
              <a:ea typeface="Arial"/>
              <a:cs typeface="Arial"/>
              <a:sym typeface="Arial"/>
            </a:endParaRPr>
          </a:p>
        </p:txBody>
      </p:sp>
      <p:sp>
        <p:nvSpPr>
          <p:cNvPr id="240" name="Google Shape;240;p40"/>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11</a:t>
            </a:r>
            <a:endParaRPr b="1" i="0" sz="2000" u="none" cap="none" strike="noStrike">
              <a:solidFill>
                <a:srgbClr val="8182EF"/>
              </a:solidFill>
              <a:latin typeface="Roboto"/>
              <a:ea typeface="Roboto"/>
              <a:cs typeface="Roboto"/>
              <a:sym typeface="Roboto"/>
            </a:endParaRPr>
          </a:p>
        </p:txBody>
      </p:sp>
      <p:pic>
        <p:nvPicPr>
          <p:cNvPr id="241" name="Google Shape;241;p40"/>
          <p:cNvPicPr preferRelativeResize="0"/>
          <p:nvPr/>
        </p:nvPicPr>
        <p:blipFill>
          <a:blip r:embed="rId3">
            <a:alphaModFix/>
          </a:blip>
          <a:stretch>
            <a:fillRect/>
          </a:stretch>
        </p:blipFill>
        <p:spPr>
          <a:xfrm>
            <a:off x="644575" y="1031498"/>
            <a:ext cx="9144001" cy="4353354"/>
          </a:xfrm>
          <a:prstGeom prst="rect">
            <a:avLst/>
          </a:prstGeom>
          <a:noFill/>
          <a:ln>
            <a:noFill/>
          </a:ln>
        </p:spPr>
      </p:pic>
      <p:pic>
        <p:nvPicPr>
          <p:cNvPr id="242" name="Google Shape;242;p40"/>
          <p:cNvPicPr preferRelativeResize="0"/>
          <p:nvPr/>
        </p:nvPicPr>
        <p:blipFill>
          <a:blip r:embed="rId4">
            <a:alphaModFix/>
          </a:blip>
          <a:stretch>
            <a:fillRect/>
          </a:stretch>
        </p:blipFill>
        <p:spPr>
          <a:xfrm>
            <a:off x="6832300" y="4251125"/>
            <a:ext cx="1905203" cy="49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anim calcmode="lin" valueType="num">
                                      <p:cBhvr additive="base">
                                        <p:cTn dur="500"/>
                                        <p:tgtEl>
                                          <p:spTgt spid="23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6" name="Shape 246"/>
        <p:cNvGrpSpPr/>
        <p:nvPr/>
      </p:nvGrpSpPr>
      <p:grpSpPr>
        <a:xfrm>
          <a:off x="0" y="0"/>
          <a:ext cx="0" cy="0"/>
          <a:chOff x="0" y="0"/>
          <a:chExt cx="0" cy="0"/>
        </a:xfrm>
      </p:grpSpPr>
      <p:sp>
        <p:nvSpPr>
          <p:cNvPr id="247" name="Google Shape;247;p41"/>
          <p:cNvSpPr txBox="1"/>
          <p:nvPr>
            <p:ph idx="1" type="body"/>
          </p:nvPr>
        </p:nvSpPr>
        <p:spPr>
          <a:xfrm>
            <a:off x="719999" y="1439999"/>
            <a:ext cx="8642400" cy="3009300"/>
          </a:xfrm>
          <a:prstGeom prst="rect">
            <a:avLst/>
          </a:prstGeom>
          <a:noFill/>
          <a:ln>
            <a:noFill/>
          </a:ln>
        </p:spPr>
        <p:txBody>
          <a:bodyPr anchorCtr="0" anchor="t" bIns="91425" lIns="91425" spcFirstLastPara="1" rIns="91425" wrap="square" tIns="91425">
            <a:noAutofit/>
          </a:bodyPr>
          <a:lstStyle/>
          <a:p>
            <a:pPr indent="0" lvl="0" marL="114300" rtl="0" algn="l">
              <a:lnSpc>
                <a:spcPct val="150000"/>
              </a:lnSpc>
              <a:spcBef>
                <a:spcPts val="0"/>
              </a:spcBef>
              <a:spcAft>
                <a:spcPts val="0"/>
              </a:spcAft>
              <a:buClr>
                <a:schemeClr val="dk1"/>
              </a:buClr>
              <a:buSzPts val="1100"/>
              <a:buFont typeface="Arial"/>
              <a:buNone/>
            </a:pPr>
            <a:r>
              <a:rPr lang="en-IN" sz="1600">
                <a:solidFill>
                  <a:schemeClr val="dk1"/>
                </a:solidFill>
              </a:rPr>
              <a:t>As we know the last digit depends upon the unit digit of the multiplier numbers so the unit digit of 13</a:t>
            </a:r>
            <a:r>
              <a:rPr baseline="30000" lang="en-IN" sz="1600">
                <a:solidFill>
                  <a:schemeClr val="dk1"/>
                </a:solidFill>
              </a:rPr>
              <a:t>41</a:t>
            </a:r>
            <a:endParaRPr baseline="30000" sz="1600">
              <a:solidFill>
                <a:schemeClr val="dk1"/>
              </a:solidFill>
            </a:endParaRPr>
          </a:p>
          <a:p>
            <a:pPr indent="0" lvl="0" marL="114300" rtl="0" algn="l">
              <a:lnSpc>
                <a:spcPct val="150000"/>
              </a:lnSpc>
              <a:spcBef>
                <a:spcPts val="0"/>
              </a:spcBef>
              <a:spcAft>
                <a:spcPts val="0"/>
              </a:spcAft>
              <a:buClr>
                <a:schemeClr val="dk1"/>
              </a:buClr>
              <a:buSzPts val="1100"/>
              <a:buFont typeface="Arial"/>
              <a:buNone/>
            </a:pPr>
            <a:r>
              <a:rPr lang="en-IN" sz="1600">
                <a:solidFill>
                  <a:schemeClr val="dk1"/>
                </a:solidFill>
              </a:rPr>
              <a:t>is same as the last digit of 3</a:t>
            </a:r>
            <a:r>
              <a:rPr baseline="30000" lang="en-IN" sz="1600">
                <a:solidFill>
                  <a:schemeClr val="dk1"/>
                </a:solidFill>
              </a:rPr>
              <a:t>41</a:t>
            </a:r>
            <a:r>
              <a:rPr lang="en-IN" sz="1600">
                <a:solidFill>
                  <a:schemeClr val="dk1"/>
                </a:solidFill>
              </a:rPr>
              <a:t> and we know that the cyclicity of 3 is 4</a:t>
            </a:r>
            <a:endParaRPr sz="1600">
              <a:solidFill>
                <a:schemeClr val="dk1"/>
              </a:solidFill>
            </a:endParaRPr>
          </a:p>
          <a:p>
            <a:pPr indent="0" lvl="0" marL="114300" rtl="0" algn="l">
              <a:lnSpc>
                <a:spcPct val="150000"/>
              </a:lnSpc>
              <a:spcBef>
                <a:spcPts val="0"/>
              </a:spcBef>
              <a:spcAft>
                <a:spcPts val="0"/>
              </a:spcAft>
              <a:buClr>
                <a:schemeClr val="dk1"/>
              </a:buClr>
              <a:buSzPts val="1800"/>
              <a:buFont typeface="Arial"/>
              <a:buNone/>
            </a:pPr>
            <a:r>
              <a:rPr lang="en-IN" sz="1600">
                <a:solidFill>
                  <a:schemeClr val="dk1"/>
                </a:solidFill>
              </a:rPr>
              <a:t>On dividing the number 41 with 4 and we will   get the remainder as 1 and the last digit will be 3</a:t>
            </a:r>
            <a:r>
              <a:rPr baseline="30000" lang="en-IN" sz="1600">
                <a:solidFill>
                  <a:schemeClr val="dk1"/>
                </a:solidFill>
              </a:rPr>
              <a:t>1</a:t>
            </a:r>
            <a:r>
              <a:rPr lang="en-IN" sz="1600">
                <a:solidFill>
                  <a:schemeClr val="dk1"/>
                </a:solidFill>
              </a:rPr>
              <a:t> = 3</a:t>
            </a:r>
            <a:endParaRPr sz="1600">
              <a:solidFill>
                <a:schemeClr val="dk1"/>
              </a:solidFill>
            </a:endParaRPr>
          </a:p>
          <a:p>
            <a:pPr indent="0" lvl="0" marL="114300" rtl="0" algn="l">
              <a:lnSpc>
                <a:spcPct val="150000"/>
              </a:lnSpc>
              <a:spcBef>
                <a:spcPts val="0"/>
              </a:spcBef>
              <a:spcAft>
                <a:spcPts val="0"/>
              </a:spcAft>
              <a:buClr>
                <a:schemeClr val="dk1"/>
              </a:buClr>
              <a:buSzPts val="1800"/>
              <a:buFont typeface="Arial"/>
              <a:buNone/>
            </a:pPr>
            <a:r>
              <a:t/>
            </a:r>
            <a:endParaRPr>
              <a:solidFill>
                <a:schemeClr val="dk1"/>
              </a:solidFill>
              <a:latin typeface="Arial"/>
              <a:ea typeface="Arial"/>
              <a:cs typeface="Arial"/>
              <a:sym typeface="Arial"/>
            </a:endParaRPr>
          </a:p>
          <a:p>
            <a:pPr indent="0" lvl="0" marL="457200" rtl="0" algn="l">
              <a:lnSpc>
                <a:spcPct val="115000"/>
              </a:lnSpc>
              <a:spcBef>
                <a:spcPts val="0"/>
              </a:spcBef>
              <a:spcAft>
                <a:spcPts val="0"/>
              </a:spcAft>
              <a:buSzPts val="1800"/>
              <a:buNone/>
            </a:pPr>
            <a:r>
              <a:t/>
            </a:r>
            <a:endParaRPr>
              <a:solidFill>
                <a:schemeClr val="dk1"/>
              </a:solidFill>
              <a:latin typeface="Arial"/>
              <a:ea typeface="Arial"/>
              <a:cs typeface="Arial"/>
              <a:sym typeface="Arial"/>
            </a:endParaRPr>
          </a:p>
        </p:txBody>
      </p:sp>
      <p:sp>
        <p:nvSpPr>
          <p:cNvPr id="248" name="Google Shape;248;p41"/>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11</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2"/>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12</a:t>
            </a:r>
            <a:endParaRPr b="1" i="0" sz="2000" u="none" cap="none" strike="noStrike">
              <a:solidFill>
                <a:srgbClr val="8182EF"/>
              </a:solidFill>
              <a:latin typeface="Roboto"/>
              <a:ea typeface="Roboto"/>
              <a:cs typeface="Roboto"/>
              <a:sym typeface="Roboto"/>
            </a:endParaRPr>
          </a:p>
        </p:txBody>
      </p:sp>
      <p:pic>
        <p:nvPicPr>
          <p:cNvPr id="254" name="Google Shape;254;p42"/>
          <p:cNvPicPr preferRelativeResize="0"/>
          <p:nvPr/>
        </p:nvPicPr>
        <p:blipFill>
          <a:blip r:embed="rId3">
            <a:alphaModFix/>
          </a:blip>
          <a:stretch>
            <a:fillRect/>
          </a:stretch>
        </p:blipFill>
        <p:spPr>
          <a:xfrm>
            <a:off x="582350" y="1169995"/>
            <a:ext cx="9144001" cy="4744960"/>
          </a:xfrm>
          <a:prstGeom prst="rect">
            <a:avLst/>
          </a:prstGeom>
          <a:noFill/>
          <a:ln>
            <a:noFill/>
          </a:ln>
        </p:spPr>
      </p:pic>
      <p:pic>
        <p:nvPicPr>
          <p:cNvPr id="255" name="Google Shape;255;p42"/>
          <p:cNvPicPr preferRelativeResize="0"/>
          <p:nvPr/>
        </p:nvPicPr>
        <p:blipFill>
          <a:blip r:embed="rId4">
            <a:alphaModFix/>
          </a:blip>
          <a:stretch>
            <a:fillRect/>
          </a:stretch>
        </p:blipFill>
        <p:spPr>
          <a:xfrm>
            <a:off x="6906400" y="4210450"/>
            <a:ext cx="1905203" cy="4926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9" name="Shape 259"/>
        <p:cNvGrpSpPr/>
        <p:nvPr/>
      </p:nvGrpSpPr>
      <p:grpSpPr>
        <a:xfrm>
          <a:off x="0" y="0"/>
          <a:ext cx="0" cy="0"/>
          <a:chOff x="0" y="0"/>
          <a:chExt cx="0" cy="0"/>
        </a:xfrm>
      </p:grpSpPr>
      <p:sp>
        <p:nvSpPr>
          <p:cNvPr id="260" name="Google Shape;260;p43"/>
          <p:cNvSpPr txBox="1"/>
          <p:nvPr>
            <p:ph idx="1" type="body"/>
          </p:nvPr>
        </p:nvSpPr>
        <p:spPr>
          <a:xfrm>
            <a:off x="719999" y="1439999"/>
            <a:ext cx="8642400" cy="3009300"/>
          </a:xfrm>
          <a:prstGeom prst="rect">
            <a:avLst/>
          </a:prstGeom>
          <a:noFill/>
          <a:ln>
            <a:noFill/>
          </a:ln>
        </p:spPr>
        <p:txBody>
          <a:bodyPr anchorCtr="0" anchor="t" bIns="91425" lIns="91425" spcFirstLastPara="1" rIns="91425" wrap="square" tIns="91425">
            <a:noAutofit/>
          </a:bodyPr>
          <a:lstStyle/>
          <a:p>
            <a:pPr indent="0" lvl="0" marL="114300" rtl="0" algn="l">
              <a:lnSpc>
                <a:spcPct val="150000"/>
              </a:lnSpc>
              <a:spcBef>
                <a:spcPts val="0"/>
              </a:spcBef>
              <a:spcAft>
                <a:spcPts val="0"/>
              </a:spcAft>
              <a:buClr>
                <a:schemeClr val="dk1"/>
              </a:buClr>
              <a:buSzPts val="1100"/>
              <a:buFont typeface="Arial"/>
              <a:buNone/>
            </a:pPr>
            <a:r>
              <a:rPr lang="en-IN">
                <a:solidFill>
                  <a:schemeClr val="dk1"/>
                </a:solidFill>
              </a:rPr>
              <a:t>As we know the last digit depends upon the unit digit of the multiplier numbers so the unit digit of 13</a:t>
            </a:r>
            <a:r>
              <a:rPr baseline="30000" lang="en-IN">
                <a:solidFill>
                  <a:schemeClr val="dk1"/>
                </a:solidFill>
              </a:rPr>
              <a:t>41</a:t>
            </a:r>
            <a:br>
              <a:rPr baseline="30000" lang="en-IN">
                <a:solidFill>
                  <a:schemeClr val="dk1"/>
                </a:solidFill>
              </a:rPr>
            </a:br>
            <a:r>
              <a:rPr lang="en-IN">
                <a:solidFill>
                  <a:schemeClr val="dk1"/>
                </a:solidFill>
              </a:rPr>
              <a:t> is same as the last digit of 3</a:t>
            </a:r>
            <a:r>
              <a:rPr baseline="30000" lang="en-IN">
                <a:solidFill>
                  <a:schemeClr val="dk1"/>
                </a:solidFill>
              </a:rPr>
              <a:t>41</a:t>
            </a:r>
            <a:r>
              <a:rPr lang="en-IN">
                <a:solidFill>
                  <a:schemeClr val="dk1"/>
                </a:solidFill>
              </a:rPr>
              <a:t> and we know that the cyclicity of 3 is 4</a:t>
            </a:r>
            <a:br>
              <a:rPr lang="en-IN">
                <a:solidFill>
                  <a:schemeClr val="dk1"/>
                </a:solidFill>
              </a:rPr>
            </a:br>
            <a:r>
              <a:rPr lang="en-IN">
                <a:solidFill>
                  <a:schemeClr val="dk1"/>
                </a:solidFill>
              </a:rPr>
              <a:t> On dividing the number 41 with 4 and we will   get the remainder as 1 and the last digit will be 3</a:t>
            </a:r>
            <a:r>
              <a:rPr baseline="30000" lang="en-IN">
                <a:solidFill>
                  <a:schemeClr val="dk1"/>
                </a:solidFill>
              </a:rPr>
              <a:t>1</a:t>
            </a:r>
            <a:r>
              <a:rPr lang="en-IN">
                <a:solidFill>
                  <a:schemeClr val="dk1"/>
                </a:solidFill>
              </a:rPr>
              <a:t> = 3</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114300" rtl="0" algn="l">
              <a:lnSpc>
                <a:spcPct val="150000"/>
              </a:lnSpc>
              <a:spcBef>
                <a:spcPts val="0"/>
              </a:spcBef>
              <a:spcAft>
                <a:spcPts val="0"/>
              </a:spcAft>
              <a:buClr>
                <a:schemeClr val="dk1"/>
              </a:buClr>
              <a:buSzPts val="1800"/>
              <a:buFont typeface="Arial"/>
              <a:buNone/>
            </a:pPr>
            <a:r>
              <a:t/>
            </a:r>
            <a:endParaRPr>
              <a:solidFill>
                <a:schemeClr val="dk1"/>
              </a:solidFill>
              <a:latin typeface="Arial"/>
              <a:ea typeface="Arial"/>
              <a:cs typeface="Arial"/>
              <a:sym typeface="Arial"/>
            </a:endParaRPr>
          </a:p>
          <a:p>
            <a:pPr indent="0" lvl="0" marL="114300" rtl="0" algn="l">
              <a:lnSpc>
                <a:spcPct val="115000"/>
              </a:lnSpc>
              <a:spcBef>
                <a:spcPts val="0"/>
              </a:spcBef>
              <a:spcAft>
                <a:spcPts val="0"/>
              </a:spcAft>
              <a:buSzPts val="1800"/>
              <a:buNone/>
            </a:pPr>
            <a:r>
              <a:t/>
            </a:r>
            <a:endParaRPr>
              <a:solidFill>
                <a:schemeClr val="dk1"/>
              </a:solidFill>
              <a:latin typeface="Arial"/>
              <a:ea typeface="Arial"/>
              <a:cs typeface="Arial"/>
              <a:sym typeface="Arial"/>
            </a:endParaRPr>
          </a:p>
        </p:txBody>
      </p:sp>
      <p:sp>
        <p:nvSpPr>
          <p:cNvPr id="261" name="Google Shape;261;p43"/>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12</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1b3f087a09_1_71"/>
          <p:cNvSpPr txBox="1"/>
          <p:nvPr>
            <p:ph idx="1" type="body"/>
          </p:nvPr>
        </p:nvSpPr>
        <p:spPr>
          <a:xfrm>
            <a:off x="719999"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IN">
                <a:solidFill>
                  <a:schemeClr val="dk1"/>
                </a:solidFill>
              </a:rPr>
              <a:t>What will be the unit digit of 45</a:t>
            </a:r>
            <a:r>
              <a:rPr baseline="30000" lang="en-IN">
                <a:solidFill>
                  <a:schemeClr val="dk1"/>
                </a:solidFill>
              </a:rPr>
              <a:t>45</a:t>
            </a:r>
            <a:r>
              <a:rPr lang="en-IN">
                <a:solidFill>
                  <a:schemeClr val="dk1"/>
                </a:solidFill>
              </a:rPr>
              <a:t> ?</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A.5</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B.0</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C.1</a:t>
            </a:r>
            <a:endParaRPr>
              <a:solidFill>
                <a:schemeClr val="dk1"/>
              </a:solidFill>
            </a:endParaRPr>
          </a:p>
          <a:p>
            <a:pPr indent="0" lvl="0" marL="0" rtl="0" algn="l">
              <a:lnSpc>
                <a:spcPct val="150000"/>
              </a:lnSpc>
              <a:spcBef>
                <a:spcPts val="0"/>
              </a:spcBef>
              <a:spcAft>
                <a:spcPts val="0"/>
              </a:spcAft>
              <a:buSzPts val="1800"/>
              <a:buNone/>
            </a:pPr>
            <a:r>
              <a:rPr lang="en-IN">
                <a:solidFill>
                  <a:schemeClr val="dk1"/>
                </a:solidFill>
              </a:rPr>
              <a:t>D. 9</a:t>
            </a:r>
            <a:endParaRPr>
              <a:solidFill>
                <a:schemeClr val="dk1"/>
              </a:solidFill>
            </a:endParaRPr>
          </a:p>
        </p:txBody>
      </p:sp>
      <p:sp>
        <p:nvSpPr>
          <p:cNvPr id="267" name="Google Shape;267;g31b3f087a09_1_71"/>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13</a:t>
            </a:r>
            <a:endParaRPr b="1" i="0" sz="2000" u="none" cap="none" strike="noStrike">
              <a:solidFill>
                <a:srgbClr val="8182EF"/>
              </a:solidFill>
              <a:latin typeface="Roboto"/>
              <a:ea typeface="Roboto"/>
              <a:cs typeface="Roboto"/>
              <a:sym typeface="Roboto"/>
            </a:endParaRPr>
          </a:p>
        </p:txBody>
      </p:sp>
      <p:pic>
        <p:nvPicPr>
          <p:cNvPr id="268" name="Google Shape;268;g31b3f087a09_1_71"/>
          <p:cNvPicPr preferRelativeResize="0"/>
          <p:nvPr/>
        </p:nvPicPr>
        <p:blipFill>
          <a:blip r:embed="rId3">
            <a:alphaModFix/>
          </a:blip>
          <a:stretch>
            <a:fillRect/>
          </a:stretch>
        </p:blipFill>
        <p:spPr>
          <a:xfrm>
            <a:off x="6906400" y="4127275"/>
            <a:ext cx="1905203" cy="49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6">
                                            <p:txEl>
                                              <p:pRg end="0" st="0"/>
                                            </p:txEl>
                                          </p:spTgt>
                                        </p:tgtEl>
                                        <p:attrNameLst>
                                          <p:attrName>style.visibility</p:attrName>
                                        </p:attrNameLst>
                                      </p:cBhvr>
                                      <p:to>
                                        <p:strVal val="visible"/>
                                      </p:to>
                                    </p:set>
                                    <p:anim calcmode="lin" valueType="num">
                                      <p:cBhvr additive="base">
                                        <p:cTn dur="500"/>
                                        <p:tgtEl>
                                          <p:spTgt spid="26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6">
                                            <p:txEl>
                                              <p:pRg end="1" st="1"/>
                                            </p:txEl>
                                          </p:spTgt>
                                        </p:tgtEl>
                                        <p:attrNameLst>
                                          <p:attrName>style.visibility</p:attrName>
                                        </p:attrNameLst>
                                      </p:cBhvr>
                                      <p:to>
                                        <p:strVal val="visible"/>
                                      </p:to>
                                    </p:set>
                                    <p:anim calcmode="lin" valueType="num">
                                      <p:cBhvr additive="base">
                                        <p:cTn dur="500"/>
                                        <p:tgtEl>
                                          <p:spTgt spid="26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6">
                                            <p:txEl>
                                              <p:pRg end="2" st="2"/>
                                            </p:txEl>
                                          </p:spTgt>
                                        </p:tgtEl>
                                        <p:attrNameLst>
                                          <p:attrName>style.visibility</p:attrName>
                                        </p:attrNameLst>
                                      </p:cBhvr>
                                      <p:to>
                                        <p:strVal val="visible"/>
                                      </p:to>
                                    </p:set>
                                    <p:anim calcmode="lin" valueType="num">
                                      <p:cBhvr additive="base">
                                        <p:cTn dur="500"/>
                                        <p:tgtEl>
                                          <p:spTgt spid="26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6">
                                            <p:txEl>
                                              <p:pRg end="3" st="3"/>
                                            </p:txEl>
                                          </p:spTgt>
                                        </p:tgtEl>
                                        <p:attrNameLst>
                                          <p:attrName>style.visibility</p:attrName>
                                        </p:attrNameLst>
                                      </p:cBhvr>
                                      <p:to>
                                        <p:strVal val="visible"/>
                                      </p:to>
                                    </p:set>
                                    <p:anim calcmode="lin" valueType="num">
                                      <p:cBhvr additive="base">
                                        <p:cTn dur="500"/>
                                        <p:tgtEl>
                                          <p:spTgt spid="26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6">
                                            <p:txEl>
                                              <p:pRg end="4" st="4"/>
                                            </p:txEl>
                                          </p:spTgt>
                                        </p:tgtEl>
                                        <p:attrNameLst>
                                          <p:attrName>style.visibility</p:attrName>
                                        </p:attrNameLst>
                                      </p:cBhvr>
                                      <p:to>
                                        <p:strVal val="visible"/>
                                      </p:to>
                                    </p:set>
                                    <p:anim calcmode="lin" valueType="num">
                                      <p:cBhvr additive="base">
                                        <p:cTn dur="500"/>
                                        <p:tgtEl>
                                          <p:spTgt spid="26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2" name="Shape 272"/>
        <p:cNvGrpSpPr/>
        <p:nvPr/>
      </p:nvGrpSpPr>
      <p:grpSpPr>
        <a:xfrm>
          <a:off x="0" y="0"/>
          <a:ext cx="0" cy="0"/>
          <a:chOff x="0" y="0"/>
          <a:chExt cx="0" cy="0"/>
        </a:xfrm>
      </p:grpSpPr>
      <p:sp>
        <p:nvSpPr>
          <p:cNvPr id="273" name="Google Shape;273;g31b3f087a09_1_77"/>
          <p:cNvSpPr txBox="1"/>
          <p:nvPr>
            <p:ph idx="1" type="body"/>
          </p:nvPr>
        </p:nvSpPr>
        <p:spPr>
          <a:xfrm>
            <a:off x="719999" y="1439999"/>
            <a:ext cx="8642400" cy="3009300"/>
          </a:xfrm>
          <a:prstGeom prst="rect">
            <a:avLst/>
          </a:prstGeom>
          <a:noFill/>
          <a:ln>
            <a:noFill/>
          </a:ln>
        </p:spPr>
        <p:txBody>
          <a:bodyPr anchorCtr="0" anchor="t" bIns="91425" lIns="91425" spcFirstLastPara="1" rIns="91425" wrap="square" tIns="91425">
            <a:noAutofit/>
          </a:bodyPr>
          <a:lstStyle/>
          <a:p>
            <a:pPr indent="0" lvl="0" marL="114300" rtl="0" algn="l">
              <a:lnSpc>
                <a:spcPct val="150000"/>
              </a:lnSpc>
              <a:spcBef>
                <a:spcPts val="0"/>
              </a:spcBef>
              <a:spcAft>
                <a:spcPts val="0"/>
              </a:spcAft>
              <a:buClr>
                <a:schemeClr val="dk1"/>
              </a:buClr>
              <a:buSzPts val="1100"/>
              <a:buFont typeface="Arial"/>
              <a:buNone/>
            </a:pPr>
            <a:r>
              <a:rPr lang="en-IN">
                <a:solidFill>
                  <a:schemeClr val="dk1"/>
                </a:solidFill>
              </a:rPr>
              <a:t>Here the last digit is depend upon the 5</a:t>
            </a:r>
            <a:br>
              <a:rPr lang="en-IN">
                <a:solidFill>
                  <a:schemeClr val="dk1"/>
                </a:solidFill>
              </a:rPr>
            </a:br>
            <a:r>
              <a:rPr lang="en-IN">
                <a:solidFill>
                  <a:schemeClr val="dk1"/>
                </a:solidFill>
              </a:rPr>
              <a:t> The cyclicity of 5 is 1 so there is no need to divide the power with 1</a:t>
            </a:r>
            <a:br>
              <a:rPr lang="en-IN">
                <a:solidFill>
                  <a:schemeClr val="dk1"/>
                </a:solidFill>
              </a:rPr>
            </a:br>
            <a:r>
              <a:rPr lang="en-IN">
                <a:solidFill>
                  <a:schemeClr val="dk1"/>
                </a:solidFill>
              </a:rPr>
              <a:t> because whatever is the power of 5 the last digit will remains 5 so the last</a:t>
            </a:r>
            <a:br>
              <a:rPr lang="en-IN">
                <a:solidFill>
                  <a:schemeClr val="dk1"/>
                </a:solidFill>
              </a:rPr>
            </a:br>
            <a:r>
              <a:rPr lang="en-IN">
                <a:solidFill>
                  <a:schemeClr val="dk1"/>
                </a:solidFill>
              </a:rPr>
              <a:t> digit of 45</a:t>
            </a:r>
            <a:r>
              <a:rPr baseline="30000" lang="en-IN">
                <a:solidFill>
                  <a:schemeClr val="dk1"/>
                </a:solidFill>
              </a:rPr>
              <a:t>45</a:t>
            </a:r>
            <a:r>
              <a:rPr lang="en-IN">
                <a:solidFill>
                  <a:schemeClr val="dk1"/>
                </a:solidFill>
              </a:rPr>
              <a:t> will be 5 .</a:t>
            </a:r>
            <a:br>
              <a:rPr lang="en-IN">
                <a:solidFill>
                  <a:schemeClr val="dk1"/>
                </a:solidFill>
              </a:rPr>
            </a:br>
            <a:r>
              <a:rPr lang="en-IN">
                <a:solidFill>
                  <a:schemeClr val="dk1"/>
                </a:solidFill>
              </a:rPr>
              <a:t> 5</a:t>
            </a:r>
            <a:r>
              <a:rPr baseline="30000" lang="en-IN">
                <a:solidFill>
                  <a:schemeClr val="dk1"/>
                </a:solidFill>
              </a:rPr>
              <a:t>1</a:t>
            </a:r>
            <a:r>
              <a:rPr lang="en-IN">
                <a:solidFill>
                  <a:schemeClr val="dk1"/>
                </a:solidFill>
              </a:rPr>
              <a:t> = 5</a:t>
            </a:r>
            <a:br>
              <a:rPr lang="en-IN">
                <a:solidFill>
                  <a:schemeClr val="dk1"/>
                </a:solidFill>
              </a:rPr>
            </a:br>
            <a:r>
              <a:rPr lang="en-IN">
                <a:solidFill>
                  <a:schemeClr val="dk1"/>
                </a:solidFill>
              </a:rPr>
              <a:t> 5</a:t>
            </a:r>
            <a:r>
              <a:rPr baseline="30000" lang="en-IN">
                <a:solidFill>
                  <a:schemeClr val="dk1"/>
                </a:solidFill>
              </a:rPr>
              <a:t>2</a:t>
            </a:r>
            <a:r>
              <a:rPr lang="en-IN">
                <a:solidFill>
                  <a:schemeClr val="dk1"/>
                </a:solidFill>
              </a:rPr>
              <a:t> = 25</a:t>
            </a:r>
            <a:br>
              <a:rPr lang="en-IN">
                <a:solidFill>
                  <a:schemeClr val="dk1"/>
                </a:solidFill>
              </a:rPr>
            </a:br>
            <a:r>
              <a:rPr lang="en-IN">
                <a:solidFill>
                  <a:schemeClr val="dk1"/>
                </a:solidFill>
              </a:rPr>
              <a:t> 5</a:t>
            </a:r>
            <a:endParaRPr>
              <a:solidFill>
                <a:schemeClr val="dk1"/>
              </a:solidFill>
            </a:endParaRPr>
          </a:p>
          <a:p>
            <a:pPr indent="0" lvl="0" marL="114300" rtl="0" algn="l">
              <a:lnSpc>
                <a:spcPct val="115000"/>
              </a:lnSpc>
              <a:spcBef>
                <a:spcPts val="0"/>
              </a:spcBef>
              <a:spcAft>
                <a:spcPts val="0"/>
              </a:spcAft>
              <a:buSzPts val="1800"/>
              <a:buNone/>
            </a:pPr>
            <a:r>
              <a:t/>
            </a:r>
            <a:endParaRPr sz="1600">
              <a:solidFill>
                <a:schemeClr val="dk1"/>
              </a:solidFill>
              <a:highlight>
                <a:schemeClr val="lt1"/>
              </a:highlight>
              <a:latin typeface="Arial"/>
              <a:ea typeface="Arial"/>
              <a:cs typeface="Arial"/>
              <a:sym typeface="Arial"/>
            </a:endParaRPr>
          </a:p>
        </p:txBody>
      </p:sp>
      <p:sp>
        <p:nvSpPr>
          <p:cNvPr id="274" name="Google Shape;274;g31b3f087a09_1_77"/>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13</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1b3f087a09_1_82"/>
          <p:cNvSpPr txBox="1"/>
          <p:nvPr>
            <p:ph idx="1" type="body"/>
          </p:nvPr>
        </p:nvSpPr>
        <p:spPr>
          <a:xfrm>
            <a:off x="719999"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IN">
                <a:solidFill>
                  <a:schemeClr val="dk1"/>
                </a:solidFill>
              </a:rPr>
              <a:t>What will be the last digit of 3</a:t>
            </a:r>
            <a:r>
              <a:rPr baseline="30000" lang="en-IN">
                <a:solidFill>
                  <a:schemeClr val="dk1"/>
                </a:solidFill>
              </a:rPr>
              <a:t>4 </a:t>
            </a:r>
            <a:r>
              <a:rPr lang="en-IN">
                <a:solidFill>
                  <a:schemeClr val="dk1"/>
                </a:solidFill>
              </a:rPr>
              <a:t>x 4</a:t>
            </a:r>
            <a:r>
              <a:rPr baseline="30000" lang="en-IN">
                <a:solidFill>
                  <a:schemeClr val="dk1"/>
                </a:solidFill>
              </a:rPr>
              <a:t>5</a:t>
            </a:r>
            <a:r>
              <a:rPr lang="en-IN">
                <a:solidFill>
                  <a:schemeClr val="dk1"/>
                </a:solidFill>
              </a:rPr>
              <a:t> x 5</a:t>
            </a:r>
            <a:r>
              <a:rPr baseline="30000" lang="en-IN">
                <a:solidFill>
                  <a:schemeClr val="dk1"/>
                </a:solidFill>
              </a:rPr>
              <a:t>6</a:t>
            </a:r>
            <a:r>
              <a:rPr lang="en-IN">
                <a:solidFill>
                  <a:schemeClr val="dk1"/>
                </a:solidFill>
              </a:rPr>
              <a:t>	?</a:t>
            </a:r>
            <a:r>
              <a:rPr baseline="30000" lang="en-IN">
                <a:solidFill>
                  <a:schemeClr val="dk1"/>
                </a:solidFill>
              </a:rPr>
              <a:t>  </a:t>
            </a:r>
            <a:endParaRPr baseline="30000">
              <a:solidFill>
                <a:schemeClr val="dk1"/>
              </a:solidFill>
            </a:endParaRPr>
          </a:p>
          <a:p>
            <a:pPr indent="0" lvl="0" marL="12700" rtl="0" algn="l">
              <a:lnSpc>
                <a:spcPct val="150000"/>
              </a:lnSpc>
              <a:spcBef>
                <a:spcPts val="0"/>
              </a:spcBef>
              <a:spcAft>
                <a:spcPts val="0"/>
              </a:spcAft>
              <a:buSzPts val="1100"/>
              <a:buNone/>
            </a:pPr>
            <a:r>
              <a:rPr lang="en-IN">
                <a:solidFill>
                  <a:schemeClr val="dk1"/>
                </a:solidFill>
              </a:rPr>
              <a:t>A.0</a:t>
            </a:r>
            <a:endParaRPr>
              <a:solidFill>
                <a:schemeClr val="dk1"/>
              </a:solidFill>
            </a:endParaRPr>
          </a:p>
          <a:p>
            <a:pPr indent="0" lvl="0" marL="12700" rtl="0" algn="l">
              <a:lnSpc>
                <a:spcPct val="150000"/>
              </a:lnSpc>
              <a:spcBef>
                <a:spcPts val="0"/>
              </a:spcBef>
              <a:spcAft>
                <a:spcPts val="0"/>
              </a:spcAft>
              <a:buSzPts val="1100"/>
              <a:buNone/>
            </a:pPr>
            <a:r>
              <a:rPr lang="en-IN">
                <a:solidFill>
                  <a:schemeClr val="dk1"/>
                </a:solidFill>
              </a:rPr>
              <a:t>B.9</a:t>
            </a:r>
            <a:endParaRPr>
              <a:solidFill>
                <a:schemeClr val="dk1"/>
              </a:solidFill>
            </a:endParaRPr>
          </a:p>
          <a:p>
            <a:pPr indent="0" lvl="0" marL="12700" rtl="0" algn="l">
              <a:lnSpc>
                <a:spcPct val="150000"/>
              </a:lnSpc>
              <a:spcBef>
                <a:spcPts val="0"/>
              </a:spcBef>
              <a:spcAft>
                <a:spcPts val="0"/>
              </a:spcAft>
              <a:buSzPts val="1100"/>
              <a:buNone/>
            </a:pPr>
            <a:r>
              <a:rPr lang="en-IN">
                <a:solidFill>
                  <a:schemeClr val="dk1"/>
                </a:solidFill>
              </a:rPr>
              <a:t>C.3</a:t>
            </a:r>
            <a:endParaRPr>
              <a:solidFill>
                <a:schemeClr val="dk1"/>
              </a:solidFill>
            </a:endParaRPr>
          </a:p>
          <a:p>
            <a:pPr indent="0" lvl="0" marL="12700" rtl="0" algn="l">
              <a:lnSpc>
                <a:spcPct val="150000"/>
              </a:lnSpc>
              <a:spcBef>
                <a:spcPts val="0"/>
              </a:spcBef>
              <a:spcAft>
                <a:spcPts val="0"/>
              </a:spcAft>
              <a:buSzPts val="1100"/>
              <a:buNone/>
            </a:pPr>
            <a:r>
              <a:rPr lang="en-IN">
                <a:solidFill>
                  <a:schemeClr val="dk1"/>
                </a:solidFill>
              </a:rPr>
              <a:t>D.7</a:t>
            </a:r>
            <a:endParaRPr>
              <a:solidFill>
                <a:schemeClr val="dk1"/>
              </a:solidFill>
            </a:endParaRPr>
          </a:p>
          <a:p>
            <a:pPr indent="0" lvl="0" marL="0" rtl="0" algn="l">
              <a:lnSpc>
                <a:spcPct val="150000"/>
              </a:lnSpc>
              <a:spcBef>
                <a:spcPts val="0"/>
              </a:spcBef>
              <a:spcAft>
                <a:spcPts val="0"/>
              </a:spcAft>
              <a:buSzPts val="1800"/>
              <a:buNone/>
            </a:pPr>
            <a:r>
              <a:t/>
            </a:r>
            <a:endParaRPr>
              <a:solidFill>
                <a:schemeClr val="dk1"/>
              </a:solidFill>
            </a:endParaRPr>
          </a:p>
        </p:txBody>
      </p:sp>
      <p:sp>
        <p:nvSpPr>
          <p:cNvPr id="280" name="Google Shape;280;g31b3f087a09_1_82"/>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14</a:t>
            </a:r>
            <a:endParaRPr b="1" i="0" sz="2000" u="none" cap="none" strike="noStrike">
              <a:solidFill>
                <a:srgbClr val="8182EF"/>
              </a:solidFill>
              <a:latin typeface="Roboto"/>
              <a:ea typeface="Roboto"/>
              <a:cs typeface="Roboto"/>
              <a:sym typeface="Roboto"/>
            </a:endParaRPr>
          </a:p>
        </p:txBody>
      </p:sp>
      <p:pic>
        <p:nvPicPr>
          <p:cNvPr id="281" name="Google Shape;281;g31b3f087a09_1_82"/>
          <p:cNvPicPr preferRelativeResize="0"/>
          <p:nvPr/>
        </p:nvPicPr>
        <p:blipFill>
          <a:blip r:embed="rId3">
            <a:alphaModFix/>
          </a:blip>
          <a:stretch>
            <a:fillRect/>
          </a:stretch>
        </p:blipFill>
        <p:spPr>
          <a:xfrm>
            <a:off x="6906400" y="4299375"/>
            <a:ext cx="1905203" cy="492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9">
                                            <p:txEl>
                                              <p:pRg end="0" st="0"/>
                                            </p:txEl>
                                          </p:spTgt>
                                        </p:tgtEl>
                                        <p:attrNameLst>
                                          <p:attrName>style.visibility</p:attrName>
                                        </p:attrNameLst>
                                      </p:cBhvr>
                                      <p:to>
                                        <p:strVal val="visible"/>
                                      </p:to>
                                    </p:set>
                                    <p:anim calcmode="lin" valueType="num">
                                      <p:cBhvr additive="base">
                                        <p:cTn dur="500"/>
                                        <p:tgtEl>
                                          <p:spTgt spid="27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9">
                                            <p:txEl>
                                              <p:pRg end="1" st="1"/>
                                            </p:txEl>
                                          </p:spTgt>
                                        </p:tgtEl>
                                        <p:attrNameLst>
                                          <p:attrName>style.visibility</p:attrName>
                                        </p:attrNameLst>
                                      </p:cBhvr>
                                      <p:to>
                                        <p:strVal val="visible"/>
                                      </p:to>
                                    </p:set>
                                    <p:anim calcmode="lin" valueType="num">
                                      <p:cBhvr additive="base">
                                        <p:cTn dur="500"/>
                                        <p:tgtEl>
                                          <p:spTgt spid="27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9">
                                            <p:txEl>
                                              <p:pRg end="2" st="2"/>
                                            </p:txEl>
                                          </p:spTgt>
                                        </p:tgtEl>
                                        <p:attrNameLst>
                                          <p:attrName>style.visibility</p:attrName>
                                        </p:attrNameLst>
                                      </p:cBhvr>
                                      <p:to>
                                        <p:strVal val="visible"/>
                                      </p:to>
                                    </p:set>
                                    <p:anim calcmode="lin" valueType="num">
                                      <p:cBhvr additive="base">
                                        <p:cTn dur="500"/>
                                        <p:tgtEl>
                                          <p:spTgt spid="27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9">
                                            <p:txEl>
                                              <p:pRg end="3" st="3"/>
                                            </p:txEl>
                                          </p:spTgt>
                                        </p:tgtEl>
                                        <p:attrNameLst>
                                          <p:attrName>style.visibility</p:attrName>
                                        </p:attrNameLst>
                                      </p:cBhvr>
                                      <p:to>
                                        <p:strVal val="visible"/>
                                      </p:to>
                                    </p:set>
                                    <p:anim calcmode="lin" valueType="num">
                                      <p:cBhvr additive="base">
                                        <p:cTn dur="500"/>
                                        <p:tgtEl>
                                          <p:spTgt spid="27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9">
                                            <p:txEl>
                                              <p:pRg end="4" st="4"/>
                                            </p:txEl>
                                          </p:spTgt>
                                        </p:tgtEl>
                                        <p:attrNameLst>
                                          <p:attrName>style.visibility</p:attrName>
                                        </p:attrNameLst>
                                      </p:cBhvr>
                                      <p:to>
                                        <p:strVal val="visible"/>
                                      </p:to>
                                    </p:set>
                                    <p:anim calcmode="lin" valueType="num">
                                      <p:cBhvr additive="base">
                                        <p:cTn dur="500"/>
                                        <p:tgtEl>
                                          <p:spTgt spid="27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9">
                                            <p:txEl>
                                              <p:pRg end="5" st="5"/>
                                            </p:txEl>
                                          </p:spTgt>
                                        </p:tgtEl>
                                        <p:attrNameLst>
                                          <p:attrName>style.visibility</p:attrName>
                                        </p:attrNameLst>
                                      </p:cBhvr>
                                      <p:to>
                                        <p:strVal val="visible"/>
                                      </p:to>
                                    </p:set>
                                    <p:anim calcmode="lin" valueType="num">
                                      <p:cBhvr additive="base">
                                        <p:cTn dur="500"/>
                                        <p:tgtEl>
                                          <p:spTgt spid="27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5" name="Shape 285"/>
        <p:cNvGrpSpPr/>
        <p:nvPr/>
      </p:nvGrpSpPr>
      <p:grpSpPr>
        <a:xfrm>
          <a:off x="0" y="0"/>
          <a:ext cx="0" cy="0"/>
          <a:chOff x="0" y="0"/>
          <a:chExt cx="0" cy="0"/>
        </a:xfrm>
      </p:grpSpPr>
      <p:sp>
        <p:nvSpPr>
          <p:cNvPr id="286" name="Google Shape;286;g31b3f087a09_1_88"/>
          <p:cNvSpPr txBox="1"/>
          <p:nvPr>
            <p:ph idx="1" type="body"/>
          </p:nvPr>
        </p:nvSpPr>
        <p:spPr>
          <a:xfrm>
            <a:off x="639624" y="1067099"/>
            <a:ext cx="8642400" cy="3009300"/>
          </a:xfrm>
          <a:prstGeom prst="rect">
            <a:avLst/>
          </a:prstGeom>
          <a:noFill/>
          <a:ln>
            <a:noFill/>
          </a:ln>
        </p:spPr>
        <p:txBody>
          <a:bodyPr anchorCtr="0" anchor="t" bIns="91425" lIns="91425" spcFirstLastPara="1" rIns="91425" wrap="square" tIns="91425">
            <a:noAutofit/>
          </a:bodyPr>
          <a:lstStyle/>
          <a:p>
            <a:pPr indent="0" lvl="0" marL="114300" rtl="0" algn="l">
              <a:lnSpc>
                <a:spcPct val="150000"/>
              </a:lnSpc>
              <a:spcBef>
                <a:spcPts val="0"/>
              </a:spcBef>
              <a:spcAft>
                <a:spcPts val="0"/>
              </a:spcAft>
              <a:buClr>
                <a:schemeClr val="dk1"/>
              </a:buClr>
              <a:buSzPts val="1100"/>
              <a:buFont typeface="Arial"/>
              <a:buNone/>
            </a:pPr>
            <a:r>
              <a:rPr lang="en-IN">
                <a:solidFill>
                  <a:schemeClr val="dk1"/>
                </a:solidFill>
              </a:rPr>
              <a:t>Last digit of 3</a:t>
            </a:r>
            <a:r>
              <a:rPr baseline="30000" lang="en-IN">
                <a:solidFill>
                  <a:schemeClr val="dk1"/>
                </a:solidFill>
              </a:rPr>
              <a:t>4 </a:t>
            </a:r>
            <a:r>
              <a:rPr lang="en-IN">
                <a:solidFill>
                  <a:schemeClr val="dk1"/>
                </a:solidFill>
              </a:rPr>
              <a:t>= 1</a:t>
            </a:r>
            <a:br>
              <a:rPr lang="en-IN">
                <a:solidFill>
                  <a:schemeClr val="dk1"/>
                </a:solidFill>
              </a:rPr>
            </a:br>
            <a:r>
              <a:rPr lang="en-IN">
                <a:solidFill>
                  <a:schemeClr val="dk1"/>
                </a:solidFill>
              </a:rPr>
              <a:t> Last digit of 4</a:t>
            </a:r>
            <a:r>
              <a:rPr baseline="30000" lang="en-IN">
                <a:solidFill>
                  <a:schemeClr val="dk1"/>
                </a:solidFill>
              </a:rPr>
              <a:t>5</a:t>
            </a:r>
            <a:r>
              <a:rPr lang="en-IN">
                <a:solidFill>
                  <a:schemeClr val="dk1"/>
                </a:solidFill>
              </a:rPr>
              <a:t> = 4</a:t>
            </a:r>
            <a:br>
              <a:rPr lang="en-IN">
                <a:solidFill>
                  <a:schemeClr val="dk1"/>
                </a:solidFill>
              </a:rPr>
            </a:br>
            <a:r>
              <a:rPr lang="en-IN">
                <a:solidFill>
                  <a:schemeClr val="dk1"/>
                </a:solidFill>
              </a:rPr>
              <a:t> Last digit of 5</a:t>
            </a:r>
            <a:r>
              <a:rPr baseline="30000" lang="en-IN">
                <a:solidFill>
                  <a:schemeClr val="dk1"/>
                </a:solidFill>
              </a:rPr>
              <a:t>6 </a:t>
            </a:r>
            <a:r>
              <a:rPr lang="en-IN">
                <a:solidFill>
                  <a:schemeClr val="dk1"/>
                </a:solidFill>
              </a:rPr>
              <a:t>= 5</a:t>
            </a:r>
            <a:br>
              <a:rPr lang="en-IN">
                <a:solidFill>
                  <a:schemeClr val="dk1"/>
                </a:solidFill>
              </a:rPr>
            </a:br>
            <a:r>
              <a:rPr lang="en-IN">
                <a:solidFill>
                  <a:schemeClr val="dk1"/>
                </a:solidFill>
              </a:rPr>
              <a:t> So as we discussed earlier that the last digit depends upon the last digits</a:t>
            </a:r>
            <a:br>
              <a:rPr lang="en-IN">
                <a:solidFill>
                  <a:schemeClr val="dk1"/>
                </a:solidFill>
              </a:rPr>
            </a:br>
            <a:r>
              <a:rPr lang="en-IN">
                <a:solidFill>
                  <a:schemeClr val="dk1"/>
                </a:solidFill>
              </a:rPr>
              <a:t> So 1 x 4 x 5 = 20 so the last digit is 0; also whenever 5 is multiplied by even</a:t>
            </a:r>
            <a:br>
              <a:rPr lang="en-IN">
                <a:solidFill>
                  <a:schemeClr val="dk1"/>
                </a:solidFill>
              </a:rPr>
            </a:br>
            <a:r>
              <a:rPr lang="en-IN">
                <a:solidFill>
                  <a:schemeClr val="dk1"/>
                </a:solidFill>
              </a:rPr>
              <a:t> number then last digit will be 0</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50000"/>
              </a:lnSpc>
              <a:spcBef>
                <a:spcPts val="0"/>
              </a:spcBef>
              <a:spcAft>
                <a:spcPts val="0"/>
              </a:spcAft>
              <a:buClr>
                <a:schemeClr val="dk1"/>
              </a:buClr>
              <a:buSzPts val="1800"/>
              <a:buFont typeface="Arial"/>
              <a:buNone/>
            </a:pPr>
            <a:r>
              <a:t/>
            </a:r>
            <a:endParaRPr>
              <a:solidFill>
                <a:schemeClr val="dk1"/>
              </a:solidFill>
              <a:latin typeface="Arial"/>
              <a:ea typeface="Arial"/>
              <a:cs typeface="Arial"/>
              <a:sym typeface="Arial"/>
            </a:endParaRPr>
          </a:p>
          <a:p>
            <a:pPr indent="0" lvl="0" marL="114300" rtl="0" algn="l">
              <a:lnSpc>
                <a:spcPct val="115000"/>
              </a:lnSpc>
              <a:spcBef>
                <a:spcPts val="0"/>
              </a:spcBef>
              <a:spcAft>
                <a:spcPts val="0"/>
              </a:spcAft>
              <a:buSzPts val="1800"/>
              <a:buNone/>
            </a:pPr>
            <a:r>
              <a:t/>
            </a:r>
            <a:endParaRPr>
              <a:solidFill>
                <a:schemeClr val="dk1"/>
              </a:solidFill>
              <a:latin typeface="Arial"/>
              <a:ea typeface="Arial"/>
              <a:cs typeface="Arial"/>
              <a:sym typeface="Arial"/>
            </a:endParaRPr>
          </a:p>
        </p:txBody>
      </p:sp>
      <p:sp>
        <p:nvSpPr>
          <p:cNvPr id="287" name="Google Shape;287;g31b3f087a09_1_88"/>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14</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31b3f8ab1be_0_5"/>
          <p:cNvSpPr txBox="1"/>
          <p:nvPr>
            <p:ph idx="1" type="body"/>
          </p:nvPr>
        </p:nvSpPr>
        <p:spPr>
          <a:xfrm>
            <a:off x="719999"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IN">
                <a:solidFill>
                  <a:schemeClr val="dk1"/>
                </a:solidFill>
              </a:rPr>
              <a:t>Identify the last digit of (79</a:t>
            </a:r>
            <a:r>
              <a:rPr baseline="30000" lang="en-IN">
                <a:solidFill>
                  <a:schemeClr val="dk1"/>
                </a:solidFill>
              </a:rPr>
              <a:t>4 </a:t>
            </a:r>
            <a:r>
              <a:rPr lang="en-IN">
                <a:solidFill>
                  <a:schemeClr val="dk1"/>
                </a:solidFill>
              </a:rPr>
              <a:t>+ 87</a:t>
            </a:r>
            <a:r>
              <a:rPr baseline="30000" lang="en-IN">
                <a:solidFill>
                  <a:schemeClr val="dk1"/>
                </a:solidFill>
              </a:rPr>
              <a:t>5</a:t>
            </a:r>
            <a:r>
              <a:rPr lang="en-IN">
                <a:solidFill>
                  <a:schemeClr val="dk1"/>
                </a:solidFill>
              </a:rPr>
              <a:t>)?</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A.8</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B.0</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C.7</a:t>
            </a:r>
            <a:endParaRPr>
              <a:solidFill>
                <a:schemeClr val="dk1"/>
              </a:solidFill>
            </a:endParaRPr>
          </a:p>
          <a:p>
            <a:pPr indent="0" lvl="0" marL="12700" rtl="0" algn="l">
              <a:lnSpc>
                <a:spcPct val="150000"/>
              </a:lnSpc>
              <a:spcBef>
                <a:spcPts val="0"/>
              </a:spcBef>
              <a:spcAft>
                <a:spcPts val="0"/>
              </a:spcAft>
              <a:buClr>
                <a:schemeClr val="dk1"/>
              </a:buClr>
              <a:buSzPts val="1100"/>
              <a:buFont typeface="Arial"/>
              <a:buNone/>
            </a:pPr>
            <a:r>
              <a:rPr lang="en-IN">
                <a:solidFill>
                  <a:schemeClr val="dk1"/>
                </a:solidFill>
              </a:rPr>
              <a:t>D.4</a:t>
            </a:r>
            <a:endParaRPr>
              <a:solidFill>
                <a:schemeClr val="dk1"/>
              </a:solidFill>
            </a:endParaRPr>
          </a:p>
          <a:p>
            <a:pPr indent="0" lvl="0" marL="0" rtl="0" algn="l">
              <a:lnSpc>
                <a:spcPct val="150000"/>
              </a:lnSpc>
              <a:spcBef>
                <a:spcPts val="0"/>
              </a:spcBef>
              <a:spcAft>
                <a:spcPts val="0"/>
              </a:spcAft>
              <a:buSzPts val="1800"/>
              <a:buNone/>
            </a:pPr>
            <a:r>
              <a:t/>
            </a:r>
            <a:endParaRPr>
              <a:solidFill>
                <a:schemeClr val="dk1"/>
              </a:solidFill>
              <a:latin typeface="Arial"/>
              <a:ea typeface="Arial"/>
              <a:cs typeface="Arial"/>
              <a:sym typeface="Arial"/>
            </a:endParaRPr>
          </a:p>
        </p:txBody>
      </p:sp>
      <p:sp>
        <p:nvSpPr>
          <p:cNvPr id="293" name="Google Shape;293;g31b3f8ab1be_0_5"/>
          <p:cNvSpPr txBox="1"/>
          <p:nvPr/>
        </p:nvSpPr>
        <p:spPr>
          <a:xfrm>
            <a:off x="6828313" y="4120738"/>
            <a:ext cx="1543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Roboto"/>
                <a:ea typeface="Roboto"/>
                <a:cs typeface="Roboto"/>
                <a:sym typeface="Roboto"/>
              </a:rPr>
              <a:t>Answer: </a:t>
            </a:r>
            <a:r>
              <a:rPr b="1" lang="en-IN" sz="1800">
                <a:latin typeface="Roboto"/>
                <a:ea typeface="Roboto"/>
                <a:cs typeface="Roboto"/>
                <a:sym typeface="Roboto"/>
              </a:rPr>
              <a:t>A</a:t>
            </a:r>
            <a:endParaRPr b="1" i="0" sz="1800" u="none" cap="none" strike="noStrike">
              <a:solidFill>
                <a:srgbClr val="000000"/>
              </a:solidFill>
              <a:latin typeface="Roboto"/>
              <a:ea typeface="Roboto"/>
              <a:cs typeface="Roboto"/>
              <a:sym typeface="Roboto"/>
            </a:endParaRPr>
          </a:p>
        </p:txBody>
      </p:sp>
      <p:sp>
        <p:nvSpPr>
          <p:cNvPr id="294" name="Google Shape;294;g31b3f8ab1be_0_5"/>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a:t>
            </a:r>
            <a:r>
              <a:rPr b="1" lang="en-IN" sz="2000">
                <a:solidFill>
                  <a:srgbClr val="8182EF"/>
                </a:solidFill>
                <a:latin typeface="Roboto"/>
                <a:ea typeface="Roboto"/>
                <a:cs typeface="Roboto"/>
                <a:sym typeface="Roboto"/>
              </a:rPr>
              <a:t>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2">
                                            <p:txEl>
                                              <p:pRg end="0" st="0"/>
                                            </p:txEl>
                                          </p:spTgt>
                                        </p:tgtEl>
                                        <p:attrNameLst>
                                          <p:attrName>style.visibility</p:attrName>
                                        </p:attrNameLst>
                                      </p:cBhvr>
                                      <p:to>
                                        <p:strVal val="visible"/>
                                      </p:to>
                                    </p:set>
                                    <p:anim calcmode="lin" valueType="num">
                                      <p:cBhvr additive="base">
                                        <p:cTn dur="500"/>
                                        <p:tgtEl>
                                          <p:spTgt spid="29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2">
                                            <p:txEl>
                                              <p:pRg end="1" st="1"/>
                                            </p:txEl>
                                          </p:spTgt>
                                        </p:tgtEl>
                                        <p:attrNameLst>
                                          <p:attrName>style.visibility</p:attrName>
                                        </p:attrNameLst>
                                      </p:cBhvr>
                                      <p:to>
                                        <p:strVal val="visible"/>
                                      </p:to>
                                    </p:set>
                                    <p:anim calcmode="lin" valueType="num">
                                      <p:cBhvr additive="base">
                                        <p:cTn dur="500"/>
                                        <p:tgtEl>
                                          <p:spTgt spid="29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2">
                                            <p:txEl>
                                              <p:pRg end="2" st="2"/>
                                            </p:txEl>
                                          </p:spTgt>
                                        </p:tgtEl>
                                        <p:attrNameLst>
                                          <p:attrName>style.visibility</p:attrName>
                                        </p:attrNameLst>
                                      </p:cBhvr>
                                      <p:to>
                                        <p:strVal val="visible"/>
                                      </p:to>
                                    </p:set>
                                    <p:anim calcmode="lin" valueType="num">
                                      <p:cBhvr additive="base">
                                        <p:cTn dur="500"/>
                                        <p:tgtEl>
                                          <p:spTgt spid="29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2">
                                            <p:txEl>
                                              <p:pRg end="3" st="3"/>
                                            </p:txEl>
                                          </p:spTgt>
                                        </p:tgtEl>
                                        <p:attrNameLst>
                                          <p:attrName>style.visibility</p:attrName>
                                        </p:attrNameLst>
                                      </p:cBhvr>
                                      <p:to>
                                        <p:strVal val="visible"/>
                                      </p:to>
                                    </p:set>
                                    <p:anim calcmode="lin" valueType="num">
                                      <p:cBhvr additive="base">
                                        <p:cTn dur="500"/>
                                        <p:tgtEl>
                                          <p:spTgt spid="29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2">
                                            <p:txEl>
                                              <p:pRg end="4" st="4"/>
                                            </p:txEl>
                                          </p:spTgt>
                                        </p:tgtEl>
                                        <p:attrNameLst>
                                          <p:attrName>style.visibility</p:attrName>
                                        </p:attrNameLst>
                                      </p:cBhvr>
                                      <p:to>
                                        <p:strVal val="visible"/>
                                      </p:to>
                                    </p:set>
                                    <p:anim calcmode="lin" valueType="num">
                                      <p:cBhvr additive="base">
                                        <p:cTn dur="500"/>
                                        <p:tgtEl>
                                          <p:spTgt spid="29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2">
                                            <p:txEl>
                                              <p:pRg end="5" st="5"/>
                                            </p:txEl>
                                          </p:spTgt>
                                        </p:tgtEl>
                                        <p:attrNameLst>
                                          <p:attrName>style.visibility</p:attrName>
                                        </p:attrNameLst>
                                      </p:cBhvr>
                                      <p:to>
                                        <p:strVal val="visible"/>
                                      </p:to>
                                    </p:set>
                                    <p:anim calcmode="lin" valueType="num">
                                      <p:cBhvr additive="base">
                                        <p:cTn dur="500"/>
                                        <p:tgtEl>
                                          <p:spTgt spid="29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3">
                                            <p:txEl>
                                              <p:pRg end="0" st="0"/>
                                            </p:txEl>
                                          </p:spTgt>
                                        </p:tgtEl>
                                        <p:attrNameLst>
                                          <p:attrName>style.visibility</p:attrName>
                                        </p:attrNameLst>
                                      </p:cBhvr>
                                      <p:to>
                                        <p:strVal val="visible"/>
                                      </p:to>
                                    </p:set>
                                    <p:anim calcmode="lin" valueType="num">
                                      <p:cBhvr additive="base">
                                        <p:cTn dur="500"/>
                                        <p:tgtEl>
                                          <p:spTgt spid="29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8" name="Shape 298"/>
        <p:cNvGrpSpPr/>
        <p:nvPr/>
      </p:nvGrpSpPr>
      <p:grpSpPr>
        <a:xfrm>
          <a:off x="0" y="0"/>
          <a:ext cx="0" cy="0"/>
          <a:chOff x="0" y="0"/>
          <a:chExt cx="0" cy="0"/>
        </a:xfrm>
      </p:grpSpPr>
      <p:sp>
        <p:nvSpPr>
          <p:cNvPr id="299" name="Google Shape;299;g31b3f8ab1be_0_0"/>
          <p:cNvSpPr txBox="1"/>
          <p:nvPr>
            <p:ph idx="1" type="body"/>
          </p:nvPr>
        </p:nvSpPr>
        <p:spPr>
          <a:xfrm>
            <a:off x="719999" y="1439999"/>
            <a:ext cx="8642400" cy="3009300"/>
          </a:xfrm>
          <a:prstGeom prst="rect">
            <a:avLst/>
          </a:prstGeom>
          <a:noFill/>
          <a:ln>
            <a:noFill/>
          </a:ln>
        </p:spPr>
        <p:txBody>
          <a:bodyPr anchorCtr="0" anchor="t" bIns="91425" lIns="91425" spcFirstLastPara="1" rIns="91425" wrap="square" tIns="91425">
            <a:noAutofit/>
          </a:bodyPr>
          <a:lstStyle/>
          <a:p>
            <a:pPr indent="0" lvl="0" marL="12700" rtl="0" algn="l">
              <a:lnSpc>
                <a:spcPct val="115000"/>
              </a:lnSpc>
              <a:spcBef>
                <a:spcPts val="0"/>
              </a:spcBef>
              <a:spcAft>
                <a:spcPts val="0"/>
              </a:spcAft>
              <a:buClr>
                <a:schemeClr val="dk1"/>
              </a:buClr>
              <a:buSzPts val="1100"/>
              <a:buFont typeface="Arial"/>
              <a:buNone/>
            </a:pPr>
            <a:r>
              <a:rPr lang="en-IN">
                <a:latin typeface="Arial"/>
                <a:ea typeface="Arial"/>
                <a:cs typeface="Arial"/>
                <a:sym typeface="Arial"/>
              </a:rPr>
              <a:t>●</a:t>
            </a:r>
            <a:r>
              <a:rPr lang="en-IN">
                <a:solidFill>
                  <a:schemeClr val="dk1"/>
                </a:solidFill>
              </a:rPr>
              <a:t>Last digit of 79</a:t>
            </a:r>
            <a:r>
              <a:rPr baseline="30000" lang="en-IN">
                <a:solidFill>
                  <a:schemeClr val="dk1"/>
                </a:solidFill>
              </a:rPr>
              <a:t>4</a:t>
            </a:r>
            <a:r>
              <a:rPr lang="en-IN">
                <a:solidFill>
                  <a:schemeClr val="dk1"/>
                </a:solidFill>
              </a:rPr>
              <a:t> is depends upon the the 9</a:t>
            </a:r>
            <a:r>
              <a:rPr baseline="30000" lang="en-IN">
                <a:solidFill>
                  <a:schemeClr val="dk1"/>
                </a:solidFill>
              </a:rPr>
              <a:t>4</a:t>
            </a:r>
            <a:r>
              <a:rPr lang="en-IN">
                <a:solidFill>
                  <a:schemeClr val="dk1"/>
                </a:solidFill>
              </a:rPr>
              <a:t> i.e 1</a:t>
            </a:r>
            <a:endParaRPr>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a:solidFill>
                  <a:schemeClr val="dk1"/>
                </a:solidFill>
              </a:rPr>
              <a:t>Last digit of 87</a:t>
            </a:r>
            <a:r>
              <a:rPr baseline="30000" lang="en-IN">
                <a:solidFill>
                  <a:schemeClr val="dk1"/>
                </a:solidFill>
              </a:rPr>
              <a:t>5</a:t>
            </a:r>
            <a:r>
              <a:rPr lang="en-IN">
                <a:solidFill>
                  <a:schemeClr val="dk1"/>
                </a:solidFill>
              </a:rPr>
              <a:t> is depends upon the the 7</a:t>
            </a:r>
            <a:r>
              <a:rPr baseline="30000" lang="en-IN">
                <a:solidFill>
                  <a:schemeClr val="dk1"/>
                </a:solidFill>
              </a:rPr>
              <a:t>5</a:t>
            </a:r>
            <a:r>
              <a:rPr lang="en-IN">
                <a:solidFill>
                  <a:schemeClr val="dk1"/>
                </a:solidFill>
              </a:rPr>
              <a:t>i.e 7</a:t>
            </a:r>
            <a:endParaRPr>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a:solidFill>
                  <a:schemeClr val="dk1"/>
                </a:solidFill>
              </a:rPr>
              <a:t>So the last digit of the whole expression will be 1 +7 = 8</a:t>
            </a:r>
            <a:endParaRPr>
              <a:solidFill>
                <a:schemeClr val="dk1"/>
              </a:solidFill>
            </a:endParaRPr>
          </a:p>
          <a:p>
            <a:pPr indent="0" lvl="0" marL="12700" rtl="0" algn="l">
              <a:lnSpc>
                <a:spcPct val="115000"/>
              </a:lnSpc>
              <a:spcBef>
                <a:spcPts val="0"/>
              </a:spcBef>
              <a:spcAft>
                <a:spcPts val="0"/>
              </a:spcAft>
              <a:buClr>
                <a:schemeClr val="dk1"/>
              </a:buClr>
              <a:buSzPts val="1100"/>
              <a:buFont typeface="Arial"/>
              <a:buNone/>
            </a:pPr>
            <a:r>
              <a:rPr lang="en-IN">
                <a:solidFill>
                  <a:schemeClr val="dk1"/>
                </a:solidFill>
              </a:rPr>
              <a:t>So the last digit will be 8</a:t>
            </a:r>
            <a:endParaRPr>
              <a:solidFill>
                <a:schemeClr val="dk1"/>
              </a:solidFill>
            </a:endParaRPr>
          </a:p>
          <a:p>
            <a:pPr indent="-342900" lvl="0" marL="457200" rtl="0" algn="l">
              <a:lnSpc>
                <a:spcPct val="150000"/>
              </a:lnSpc>
              <a:spcBef>
                <a:spcPts val="0"/>
              </a:spcBef>
              <a:spcAft>
                <a:spcPts val="0"/>
              </a:spcAft>
              <a:buClr>
                <a:schemeClr val="dk1"/>
              </a:buClr>
              <a:buSzPts val="1800"/>
              <a:buFont typeface="Arial"/>
              <a:buNone/>
            </a:pPr>
            <a:r>
              <a:t/>
            </a:r>
            <a:endParaRPr>
              <a:solidFill>
                <a:schemeClr val="dk1"/>
              </a:solidFill>
            </a:endParaRPr>
          </a:p>
          <a:p>
            <a:pPr indent="0" lvl="0" marL="114300" rtl="0" algn="l">
              <a:lnSpc>
                <a:spcPct val="115000"/>
              </a:lnSpc>
              <a:spcBef>
                <a:spcPts val="0"/>
              </a:spcBef>
              <a:spcAft>
                <a:spcPts val="0"/>
              </a:spcAft>
              <a:buSzPts val="1800"/>
              <a:buNone/>
            </a:pPr>
            <a:r>
              <a:t/>
            </a:r>
            <a:endParaRPr>
              <a:solidFill>
                <a:schemeClr val="dk1"/>
              </a:solidFill>
              <a:latin typeface="Arial"/>
              <a:ea typeface="Arial"/>
              <a:cs typeface="Arial"/>
              <a:sym typeface="Arial"/>
            </a:endParaRPr>
          </a:p>
        </p:txBody>
      </p:sp>
      <p:sp>
        <p:nvSpPr>
          <p:cNvPr id="300" name="Google Shape;300;g31b3f8ab1be_0_0"/>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a:t>
            </a:r>
            <a:r>
              <a:rPr b="1" lang="en-IN" sz="2000">
                <a:solidFill>
                  <a:srgbClr val="8182EF"/>
                </a:solidFill>
                <a:latin typeface="Roboto"/>
                <a:ea typeface="Roboto"/>
                <a:cs typeface="Roboto"/>
                <a:sym typeface="Roboto"/>
              </a:rPr>
              <a:t>15</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4"/>
          <p:cNvSpPr/>
          <p:nvPr/>
        </p:nvSpPr>
        <p:spPr>
          <a:xfrm>
            <a:off x="555120" y="915840"/>
            <a:ext cx="754488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306" name="Google Shape;306;p44"/>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307" name="Google Shape;307;p44"/>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313" name="Google Shape;313;p4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314" name="Google Shape;314;p4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15" name="Google Shape;315;p45"/>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IN"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316" name="Google Shape;316;p4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17" name="Google Shape;317;p4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18" name="Google Shape;318;p45"/>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319" name="Google Shape;319;p4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20" name="Google Shape;320;p45"/>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321" name="Google Shape;321;p4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22" name="Google Shape;322;p45"/>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323" name="Google Shape;323;p4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pooja ram</dc:creator>
</cp:coreProperties>
</file>