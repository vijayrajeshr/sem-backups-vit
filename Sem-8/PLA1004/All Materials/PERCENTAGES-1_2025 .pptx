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Black"/>
      <p:bold r:id="rId44"/>
      <p:boldItalic r:id="rId45"/>
    </p:embeddedFont>
    <p:embeddedFont>
      <p:font typeface="Roboto"/>
      <p:regular r:id="rId46"/>
      <p:bold r:id="rId47"/>
      <p:italic r:id="rId48"/>
      <p:boldItalic r:id="rId49"/>
    </p:embeddedFont>
    <p:embeddedFont>
      <p:font typeface="Roboto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3061">
          <p15:clr>
            <a:srgbClr val="FF0000"/>
          </p15:clr>
        </p15:guide>
        <p15:guide id="3" pos="5206">
          <p15:clr>
            <a:srgbClr val="FF00FF"/>
          </p15:clr>
        </p15:guide>
        <p15:guide id="4" orient="horz" pos="1077">
          <p15:clr>
            <a:srgbClr val="FF0000"/>
          </p15:clr>
        </p15:guide>
        <p15:guide id="5" orient="horz" pos="90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4529">
          <p15:clr>
            <a:srgbClr val="747775"/>
          </p15:clr>
        </p15:guide>
        <p15:guide id="8" orient="horz" pos="1474">
          <p15:clr>
            <a:srgbClr val="747775"/>
          </p15:clr>
        </p15:guide>
        <p15:guide id="9" pos="397">
          <p15:clr>
            <a:srgbClr val="747775"/>
          </p15:clr>
        </p15:guide>
        <p15:guide id="10" pos="4365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hABCWBs7jcq3+O7QH1miuzSz2R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061" orient="horz"/>
        <p:guide pos="5206"/>
        <p:guide pos="1077" orient="horz"/>
        <p:guide pos="907" orient="horz"/>
        <p:guide pos="397" orient="horz"/>
        <p:guide pos="4529"/>
        <p:guide pos="1474" orient="horz"/>
        <p:guide pos="397"/>
        <p:guide pos="43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Black-bold.fntdata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font" Target="fonts/Roboto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edium-bold.fntdata"/><Relationship Id="rId50" Type="http://schemas.openxmlformats.org/officeDocument/2006/relationships/font" Target="fonts/RobotoMedium-regular.fntdata"/><Relationship Id="rId53" Type="http://schemas.openxmlformats.org/officeDocument/2006/relationships/font" Target="fonts/RobotoMedium-boldItalic.fntdata"/><Relationship Id="rId52" Type="http://schemas.openxmlformats.org/officeDocument/2006/relationships/font" Target="fonts/Roboto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b9bf173ee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1b9bf173e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e15abed17_3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2ee15abed17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aa3e4e9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2aa3e4e9a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cf37506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cf37506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cf37506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cf37506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cf37506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cf37506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e15abed17_3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ee15abed17_3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e15abed17_3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ee15abed17_3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e15abed17_3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ee15abed17_3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e15abed17_3_2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ee15abed17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e15abed17_3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ee15abed17_3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e15abed17_3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ee15abed17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b9bf173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1b9bf173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e15abed17_3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ee15abed17_3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e15abed17_3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ee15abed17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e15abed17_3_3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ee15abed17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e15abed17_3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ee15abed17_3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e15abed17_3_3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ee15abed17_3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e15abed17_3_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ee15abed17_3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e15abed17_3_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ee15abed17_3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e15abed17_3_3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ee15abed17_3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e15abed17_3_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ee15abed17_3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e15abed17_3_3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ee15abed17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e15abed17_3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ee15abed17_3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cf3750678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1cf37506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e15abed17_3_3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ee15abed17_3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e15abed17_3_3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ee15abed17_3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e15abed17_3_3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2ee15abed17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e15abed17_3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ee15abed17_3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e15abed17_3_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2ee15abed17_3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e15abed17_3_4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ee15abed17_3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e15abed17_3_4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ee15abed17_3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e15abed17_3_4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ee15abed17_3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e15abed17_3_4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ee15abed17_3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e15abed17_3_4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ee15abed17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e15abed17_3_4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2ee15abed17_3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e15abed17_3_4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2ee15abed17_3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ee15abed17_3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2ee15abed17_3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1b9bf173ee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1b9bf173ee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1b9bf173ee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2ee15abed17_3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2ee15abed17_3_278"/>
          <p:cNvSpPr txBox="1"/>
          <p:nvPr/>
        </p:nvSpPr>
        <p:spPr>
          <a:xfrm>
            <a:off x="178001" y="2109682"/>
            <a:ext cx="46908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lang="en-GB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ERCENTAGES-1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aa3e4e9af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g32aa3e4e9af_0_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                                    Test time on :</a:t>
            </a:r>
            <a:r>
              <a:rPr b="1" i="0" lang="en-GB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Problem on ages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3e4e9af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g32aa3e4e9a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275" y="2285775"/>
            <a:ext cx="1721200" cy="17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cf3750678_0_0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31cf3750678_0_0"/>
          <p:cNvSpPr txBox="1"/>
          <p:nvPr/>
        </p:nvSpPr>
        <p:spPr>
          <a:xfrm>
            <a:off x="720725" y="1250950"/>
            <a:ext cx="7623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Percentage is a fraction whose denominator is always 100. x percentage is represented by x%.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express x% as a fraction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x% = x/100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 10% = 10/100 (means 10 parts out of 100 parts) = 1/10 (means 1 part out of 10 parts)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express x/y as a percentage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x/y = (x/y× 100 )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 1/4 = ( 1/4 ×100 )% = 25% and 0.8 = ( 8/10 ×100 )% = 80%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cf3750678_0_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g31cf3750678_0_6"/>
          <p:cNvSpPr txBox="1"/>
          <p:nvPr/>
        </p:nvSpPr>
        <p:spPr>
          <a:xfrm>
            <a:off x="720725" y="1250950"/>
            <a:ext cx="7623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price of a commodity increases by R%, then reduction in consumption as not to increase the expenditure is: [ R/(100+R)×100 ] %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price of a commodity decreases by R%, then the increase in consumption as not to decrease the expenditure is: [ R/(100-R)×100 ] %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 on Population: 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the population of a town be P now and suppose increases the rate of R% per annum, then: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1.Population after n years = P ( 1+ R/100 )^n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2.Population n years ago = P /( 1+ R/100 )^n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cf3750678_0_11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g31cf3750678_0_11"/>
          <p:cNvSpPr txBox="1"/>
          <p:nvPr/>
        </p:nvSpPr>
        <p:spPr>
          <a:xfrm>
            <a:off x="720725" y="1250950"/>
            <a:ext cx="7623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 on Depreciation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Let the present value of a machine be P. Suppose depreciates at the rate of R% per annum Then: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1. Value of the machine after n Years = P ( 1- R/100 )^n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2. Value of the machine n years ago = P /( 1- R/100 )^n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If A is R% more than B, then B is less than A by [ R/(100+R)×100 ]% If A is  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R% less than B, then B is more than A by [ R/(100-R)×100 ]%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Net % change = x + y + xy/100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e15abed17_3_283"/>
          <p:cNvSpPr txBox="1"/>
          <p:nvPr/>
        </p:nvSpPr>
        <p:spPr>
          <a:xfrm>
            <a:off x="747000" y="1446350"/>
            <a:ext cx="7650000" cy="2704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540000" spcFirstLastPara="1" rIns="15420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Two students appeared at an examination. One of them secured 9 marks more than the other and his marks was 56% of the sum of their marks. The marks obtained by them are: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39, 30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41, 32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C.42, 33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D.43, 34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ee15abed17_3_283"/>
          <p:cNvSpPr txBox="1"/>
          <p:nvPr/>
        </p:nvSpPr>
        <p:spPr>
          <a:xfrm>
            <a:off x="720000" y="579950"/>
            <a:ext cx="235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7" name="Google Shape;97;g2ee15abed17_3_28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g2ee15abed17_3_283"/>
          <p:cNvSpPr txBox="1"/>
          <p:nvPr/>
        </p:nvSpPr>
        <p:spPr>
          <a:xfrm>
            <a:off x="7157600" y="4324350"/>
            <a:ext cx="1211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e15abed17_3_288"/>
          <p:cNvSpPr txBox="1"/>
          <p:nvPr/>
        </p:nvSpPr>
        <p:spPr>
          <a:xfrm>
            <a:off x="-34425" y="50220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CLOCKS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2ee15abed17_3_288"/>
          <p:cNvSpPr txBox="1"/>
          <p:nvPr/>
        </p:nvSpPr>
        <p:spPr>
          <a:xfrm>
            <a:off x="711775" y="1439875"/>
            <a:ext cx="7657500" cy="247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Let their marks be (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+ 9) and 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Then, </a:t>
            </a:r>
            <a:r>
              <a:rPr i="1" lang="en-GB" sz="1800">
                <a:solidFill>
                  <a:schemeClr val="dk1"/>
                </a:solidFill>
              </a:rPr>
              <a:t>x</a:t>
            </a:r>
            <a:r>
              <a:rPr lang="en-GB" sz="1800">
                <a:solidFill>
                  <a:schemeClr val="dk1"/>
                </a:solidFill>
              </a:rPr>
              <a:t> + 9 =56/100(</a:t>
            </a:r>
            <a:r>
              <a:rPr i="1" lang="en-GB" sz="1800">
                <a:solidFill>
                  <a:schemeClr val="dk1"/>
                </a:solidFill>
              </a:rPr>
              <a:t>x</a:t>
            </a:r>
            <a:r>
              <a:rPr lang="en-GB" sz="1800">
                <a:solidFill>
                  <a:schemeClr val="dk1"/>
                </a:solidFill>
              </a:rPr>
              <a:t> + 9 + </a:t>
            </a:r>
            <a:r>
              <a:rPr i="1" lang="en-GB" sz="1800">
                <a:solidFill>
                  <a:schemeClr val="dk1"/>
                </a:solidFill>
              </a:rPr>
              <a:t>x</a:t>
            </a:r>
            <a:r>
              <a:rPr lang="en-GB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25(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+ 9) = 14(2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+ 9)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3</a:t>
            </a: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= 99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 = 33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</a:rPr>
              <a:t>So, their marks are 42 and 33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2ee15abed17_3_288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e15abed17_3_293"/>
          <p:cNvSpPr txBox="1"/>
          <p:nvPr/>
        </p:nvSpPr>
        <p:spPr>
          <a:xfrm>
            <a:off x="720000" y="1439875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Three candidates, Ajay, Bijoy &amp; Chandu contested an election and received 1800, 3300 and votes 3900 respectively. What percent of the total votes did A get?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40%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45%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70%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2ee15abed17_3_293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ee15abed17_3_293"/>
          <p:cNvSpPr txBox="1"/>
          <p:nvPr/>
        </p:nvSpPr>
        <p:spPr>
          <a:xfrm>
            <a:off x="7139600" y="4324350"/>
            <a:ext cx="1229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e15abed17_3_29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g2ee15abed17_3_297"/>
          <p:cNvSpPr txBox="1"/>
          <p:nvPr/>
        </p:nvSpPr>
        <p:spPr>
          <a:xfrm>
            <a:off x="630000" y="1309175"/>
            <a:ext cx="76671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no. of votes polled = (1800 + 3300 + 3900) = 9000.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percentage = (1800/9000 * 100)% = 20%.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ee15abed17_3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ee15abed17_3_301"/>
          <p:cNvSpPr txBox="1"/>
          <p:nvPr/>
        </p:nvSpPr>
        <p:spPr>
          <a:xfrm>
            <a:off x="720000" y="1439875"/>
            <a:ext cx="7649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5" name="Google Shape;125;g2ee15abed17_3_301"/>
          <p:cNvSpPr txBox="1"/>
          <p:nvPr/>
        </p:nvSpPr>
        <p:spPr>
          <a:xfrm>
            <a:off x="720000" y="1439875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total population of a village increased from 1,80,00 to 22, 500 in a decade. The average percentage increase of population per year of that village is: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2.37%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2.5%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3. 6%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6.75%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2ee15abed17_3_301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2ee15abed17_3_301"/>
          <p:cNvSpPr txBox="1"/>
          <p:nvPr/>
        </p:nvSpPr>
        <p:spPr>
          <a:xfrm>
            <a:off x="7189450" y="4324350"/>
            <a:ext cx="11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e15abed17_3_306"/>
          <p:cNvSpPr txBox="1"/>
          <p:nvPr/>
        </p:nvSpPr>
        <p:spPr>
          <a:xfrm>
            <a:off x="327600" y="338142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2ee15abed17_3_306"/>
          <p:cNvSpPr txBox="1"/>
          <p:nvPr/>
        </p:nvSpPr>
        <p:spPr>
          <a:xfrm>
            <a:off x="720000" y="1440000"/>
            <a:ext cx="7384200" cy="326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Population increase in 10 years = (22500- 18000) = 4500.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Increase% = (4500/18000 x 100)% = 25%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average = (25/10)% = 2. 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2ee15abed17_3_30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b9bf173ee_0_17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g31b9bf173ee_0_17"/>
          <p:cNvSpPr txBox="1"/>
          <p:nvPr/>
        </p:nvSpPr>
        <p:spPr>
          <a:xfrm>
            <a:off x="630000" y="1354400"/>
            <a:ext cx="7739400" cy="25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percentage of numbers from 1 to 30 has 1 or 9 in the unit's digit?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12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15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20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22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1b9bf173ee_0_17"/>
          <p:cNvSpPr txBox="1"/>
          <p:nvPr/>
        </p:nvSpPr>
        <p:spPr>
          <a:xfrm>
            <a:off x="7189500" y="4230000"/>
            <a:ext cx="11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e15abed17_3_313"/>
          <p:cNvSpPr txBox="1"/>
          <p:nvPr/>
        </p:nvSpPr>
        <p:spPr>
          <a:xfrm>
            <a:off x="747300" y="1354400"/>
            <a:ext cx="7649400" cy="3245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Such numbers from 1 to 30 are 1, 9, 11, 19, 21, 29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such numbers =6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percentage is (6/20 * 100) % = 20%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47" name="Google Shape;147;g2ee15abed17_3_313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e15abed17_3_318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16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2ee15abed17_3_318"/>
          <p:cNvSpPr txBox="1"/>
          <p:nvPr/>
        </p:nvSpPr>
        <p:spPr>
          <a:xfrm>
            <a:off x="720000" y="1440000"/>
            <a:ext cx="76494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ABC College, 63% of students are less than 20 years of age. The number of students more than 20 years of age is 2/3 of number of students of 20 years of age which is 42. What is the total number of students in the ABC College?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75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90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130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200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2ee15abed17_3_3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D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2ee15abed17_3_318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e15abed17_3_325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2ee15abed17_3_325"/>
          <p:cNvSpPr txBox="1"/>
          <p:nvPr/>
        </p:nvSpPr>
        <p:spPr>
          <a:xfrm>
            <a:off x="720725" y="1354400"/>
            <a:ext cx="7359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the total number of students be x.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Number of students more than 20 years of age = (100 - 63)% of x = 37% of x.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37% of x = 42 + 2/3 of 48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37/100 x = 74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 = 200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2ee15abed17_3_3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2ee15abed17_3_325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e15abed17_3_332"/>
          <p:cNvSpPr txBox="1"/>
          <p:nvPr/>
        </p:nvSpPr>
        <p:spPr>
          <a:xfrm>
            <a:off x="327600" y="386576"/>
            <a:ext cx="282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2ee15abed17_3_332"/>
          <p:cNvSpPr txBox="1"/>
          <p:nvPr/>
        </p:nvSpPr>
        <p:spPr>
          <a:xfrm>
            <a:off x="720000" y="14242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tax on an article is increased by 20 %. As a result of which the consumption decreases by 25 %. What is the % change in the tax revenue received by the government from this article?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10 % decrease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15 % increase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10 % increase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None of these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2ee15abed17_3_33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2ee15abed17_3_332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e15abed17_3_339"/>
          <p:cNvSpPr txBox="1"/>
          <p:nvPr/>
        </p:nvSpPr>
        <p:spPr>
          <a:xfrm>
            <a:off x="720000" y="1440000"/>
            <a:ext cx="7028100" cy="305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% Change in Tax revenue = 1.2 * 0.75 = 0.9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⇒ Net decrease of 10 %.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2ee15abed17_3_33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e15abed17_3_344"/>
          <p:cNvSpPr txBox="1"/>
          <p:nvPr/>
        </p:nvSpPr>
        <p:spPr>
          <a:xfrm>
            <a:off x="720000" y="1439875"/>
            <a:ext cx="7470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 the barber shaved 40 % of his customers and gave a haircut to 80 % of his customers. He charged Rs. 7 for a shave and Rs. 5 for a haircut. If 20 % of customers who opted for a shave also had a haircut, what were Khan’s earnings if he had 75 customers (in Rs.)?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410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1,020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510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None of these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2ee15abed17_3_34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2ee15abed17_3_344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e15abed17_3_350"/>
          <p:cNvSpPr txBox="1"/>
          <p:nvPr/>
        </p:nvSpPr>
        <p:spPr>
          <a:xfrm>
            <a:off x="720000" y="1439875"/>
            <a:ext cx="7470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 Total customers = 75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Numbers of customers shaved = 75 * 40/100 = 30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customers who got hair cut = 75 * 80/100 = 60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His total income= (30 * 7) + (60 * 5) = 210 + 300 = 510.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2ee15abed17_3_350"/>
          <p:cNvSpPr txBox="1"/>
          <p:nvPr/>
        </p:nvSpPr>
        <p:spPr>
          <a:xfrm>
            <a:off x="630000" y="630250"/>
            <a:ext cx="309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e15abed17_3_356"/>
          <p:cNvSpPr txBox="1"/>
          <p:nvPr/>
        </p:nvSpPr>
        <p:spPr>
          <a:xfrm>
            <a:off x="327600" y="402400"/>
            <a:ext cx="282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2ee15abed17_3_356"/>
          <p:cNvSpPr txBox="1"/>
          <p:nvPr/>
        </p:nvSpPr>
        <p:spPr>
          <a:xfrm>
            <a:off x="720725" y="1439875"/>
            <a:ext cx="75441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Alroy gave his sister 40 % of his pocket money and was left with Rs. 8. What is his pocket money (in Rs.)?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20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13.33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11.20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12.80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2ee15abed17_3_356"/>
          <p:cNvSpPr txBox="1"/>
          <p:nvPr/>
        </p:nvSpPr>
        <p:spPr>
          <a:xfrm>
            <a:off x="7189500" y="4171350"/>
            <a:ext cx="16254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2ee15abed17_3_35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e15abed17_3_363"/>
          <p:cNvSpPr txBox="1"/>
          <p:nvPr/>
        </p:nvSpPr>
        <p:spPr>
          <a:xfrm>
            <a:off x="720000" y="1439875"/>
            <a:ext cx="7265400" cy="279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 gave his sister 40 % i.e. he is left with 60 % of the total money which is Rs. 8.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 60x/100 = 8 ⇒ x = 13.33.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2ee15abed17_3_36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e15abed17_3_369"/>
          <p:cNvSpPr txBox="1"/>
          <p:nvPr/>
        </p:nvSpPr>
        <p:spPr>
          <a:xfrm>
            <a:off x="327600" y="396716"/>
            <a:ext cx="2827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ee15abed17_3_369"/>
          <p:cNvSpPr txBox="1"/>
          <p:nvPr/>
        </p:nvSpPr>
        <p:spPr>
          <a:xfrm>
            <a:off x="746400" y="1439875"/>
            <a:ext cx="7862400" cy="357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B has 50% more students than class A. Number of girls in class A is equal to number of boys in class B. The percentage of girls is the same in both classes. What percentage of the student group are boys?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33.33%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40%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25%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60%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2ee15abed17_3_36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2ee15abed17_3_36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e15abed17_3_376"/>
          <p:cNvSpPr txBox="1"/>
          <p:nvPr/>
        </p:nvSpPr>
        <p:spPr>
          <a:xfrm>
            <a:off x="327600" y="7781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2ee15abed17_3_376"/>
          <p:cNvSpPr txBox="1"/>
          <p:nvPr/>
        </p:nvSpPr>
        <p:spPr>
          <a:xfrm>
            <a:off x="1066875" y="1640550"/>
            <a:ext cx="7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2ee15abed17_3_376"/>
          <p:cNvSpPr txBox="1"/>
          <p:nvPr/>
        </p:nvSpPr>
        <p:spPr>
          <a:xfrm>
            <a:off x="630000" y="1354400"/>
            <a:ext cx="74742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50% more than x is 1.5x. Simple, but very useful idea that might help you in solving these kinds of problems.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number of girls in class A = 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number of boys in class A = 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students = x + 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Proportion of girls = x/x+y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boys in class B = 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students in class B = 1.5(x + y)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2ee15abed17_3_37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cf3750678_0_16"/>
          <p:cNvSpPr txBox="1"/>
          <p:nvPr/>
        </p:nvSpPr>
        <p:spPr>
          <a:xfrm>
            <a:off x="327600" y="7019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1cf3750678_0_16"/>
          <p:cNvSpPr txBox="1"/>
          <p:nvPr/>
        </p:nvSpPr>
        <p:spPr>
          <a:xfrm>
            <a:off x="1066875" y="1640550"/>
            <a:ext cx="7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1cf3750678_0_16"/>
          <p:cNvSpPr txBox="1"/>
          <p:nvPr/>
        </p:nvSpPr>
        <p:spPr>
          <a:xfrm>
            <a:off x="630000" y="1354400"/>
            <a:ext cx="7474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1cf3750678_0_1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1cf3750678_0_16"/>
          <p:cNvSpPr txBox="1"/>
          <p:nvPr/>
        </p:nvSpPr>
        <p:spPr>
          <a:xfrm>
            <a:off x="630000" y="1354400"/>
            <a:ext cx="76233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Proportion of girls = 1 - x/1.5(x + y)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Percentage of boys in the overall student community = x+y/2.5 * (x + y) * 100 = 40%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question is " What percentage of the student group are boys? "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40% of the student group are boys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Hence, the answer is 40%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e15abed17_3_383"/>
          <p:cNvSpPr txBox="1"/>
          <p:nvPr/>
        </p:nvSpPr>
        <p:spPr>
          <a:xfrm>
            <a:off x="760050" y="1439875"/>
            <a:ext cx="7623900" cy="333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an examination, 35% of students failed in quants and 42% of students failed in verbal while 14% failed in both the topics. If 222 students passed in both the topics, how many students appeared to write the examination?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500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600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700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800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2ee15abed17_3_38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2ee15abed17_3_38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2ee15abed17_3_389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ee15abed17_3_389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2ee15abed17_3_389"/>
          <p:cNvSpPr txBox="1"/>
          <p:nvPr/>
        </p:nvSpPr>
        <p:spPr>
          <a:xfrm>
            <a:off x="327600" y="8427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2ee15abed17_3_389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ee15abed17_3_389"/>
          <p:cNvSpPr txBox="1"/>
          <p:nvPr/>
        </p:nvSpPr>
        <p:spPr>
          <a:xfrm>
            <a:off x="630000" y="1250950"/>
            <a:ext cx="77139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out percent of students failing either one would help.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quants = 35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verbal = 42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 = 35 + 42 = 77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Percent of students failing both = 14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Percent of students failing either one = 77 – 14 = 63. Thus, 37% students passed in both the topics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37% of x = 222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=&gt; x = 600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e15abed17_3_39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g2ee15abed17_3_39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g2ee15abed17_3_397"/>
          <p:cNvSpPr txBox="1"/>
          <p:nvPr/>
        </p:nvSpPr>
        <p:spPr>
          <a:xfrm>
            <a:off x="672450" y="1316450"/>
            <a:ext cx="7799100" cy="4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 electric iron is offered at a discount of 10%. It is sold during clearance sale at 6% discount over the already discounted price at Rs. 1692/- . The original marked price of the electric iron is: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Rs. 2000/-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Rs. 1896/-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Rs. 1900/-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D.Rs. 1946/-                                                                                               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2ee15abed17_3_403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ee15abed17_3_403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g2ee15abed17_3_403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g2ee15abed17_3_403"/>
          <p:cNvSpPr txBox="1"/>
          <p:nvPr/>
        </p:nvSpPr>
        <p:spPr>
          <a:xfrm>
            <a:off x="630000" y="1250500"/>
            <a:ext cx="69954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 before 6% discount = 1692 * 100/94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original MP = 1692 x 100/94 * 100/90 = 2000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g2ee15abed17_3_40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ee15abed17_3_411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2ee15abed17_3_411"/>
          <p:cNvSpPr txBox="1"/>
          <p:nvPr/>
        </p:nvSpPr>
        <p:spPr>
          <a:xfrm>
            <a:off x="747000" y="1439875"/>
            <a:ext cx="7650000" cy="3130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student took five papers in an examination, where the full marks were the same for each paper. His marks in these papers were in the proportion of 3: 4: 9: 11: 13. In all papers together, the candidate obtained 60% of the total marks. Then, the number of papers in which he got less than 70% marks is: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1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3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4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5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ee15abed17_3_4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B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g2ee15abed17_3_411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2ee15abed17_3_418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ee15abed17_3_418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g2ee15abed17_3_418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2ee15abed17_3_418"/>
          <p:cNvSpPr txBox="1"/>
          <p:nvPr/>
        </p:nvSpPr>
        <p:spPr>
          <a:xfrm>
            <a:off x="630000" y="1250950"/>
            <a:ext cx="77139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marks scored in five subjects be 3x, 4x, 9x, 11x and 13x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Total marks in all the five subjects = 40x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Max marks of the five subjects = 40x/0.6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(∵ 40x is 60% of total marks)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Max marks in each subject = 40x/(0.6 × 5) = 13.3x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percentage in each subject = 3x/13.33x × 100,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4x/13.33 × 100, 9x/13.33x × 100, (11x × 100)/13.33x and (16x × 100)/13.33x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Or 22.50%, 30 %, 67.51%, 82.52% and 97.52%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Number of papers in which he got less than 70% marks is 3.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2ee15abed17_3_418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e15abed17_3_426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g2ee15abed17_3_426"/>
          <p:cNvSpPr txBox="1"/>
          <p:nvPr/>
        </p:nvSpPr>
        <p:spPr>
          <a:xfrm>
            <a:off x="720725" y="1250950"/>
            <a:ext cx="7663500" cy="35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2/5 of the voters promise to vote for A and the rest promised to vote for B. Of these, on the last day 15% of the voters went back their promise to vote for A and 25% of voters went back of their promise to vote for B, and A lost by 4 votes. Then, the total number of voters is: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200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210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190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195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2ee15abed17_3_4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A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g2ee15abed17_3_426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e15abed17_3_433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g2ee15abed17_3_433"/>
          <p:cNvSpPr txBox="1"/>
          <p:nvPr/>
        </p:nvSpPr>
        <p:spPr>
          <a:xfrm>
            <a:off x="720725" y="1250950"/>
            <a:ext cx="762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total number of votes polled by 100%, then votes polled in favour of P = 40 - 6 + 15 = 49%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Voters polled in favour of Q = 60 -15 + 6 = 51%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Difference = 51 - 49 = 2%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is already given that a lost by 4 votes, hence total number of votes polled = 200.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2ee15abed17_3_433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e15abed17_3_440"/>
          <p:cNvSpPr txBox="1"/>
          <p:nvPr/>
        </p:nvSpPr>
        <p:spPr>
          <a:xfrm>
            <a:off x="720000" y="1250950"/>
            <a:ext cx="7623900" cy="278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man bought two books for Rs. 250 each. If he sells one at a profit of 5%, then how much should he sell the other so that he makes a profit of 20% on the whole?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32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29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35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24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g2ee15abed17_3_44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2ee15abed17_3_440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g2ee15abed17_3_447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ee15abed17_3_447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g2ee15abed17_3_447"/>
          <p:cNvSpPr txBox="1"/>
          <p:nvPr/>
        </p:nvSpPr>
        <p:spPr>
          <a:xfrm>
            <a:off x="327600" y="10713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2ee15abed17_3_447"/>
          <p:cNvSpPr txBox="1"/>
          <p:nvPr/>
        </p:nvSpPr>
        <p:spPr>
          <a:xfrm>
            <a:off x="720725" y="1250950"/>
            <a:ext cx="7623300" cy="4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Before we start, it’s important to note here that it is not 15% to be added to 5% to make it a total of 20%.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other profit percent be x.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Then, our equation looks like this.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105/100 * 250 + [(100+x)/100] * 250 = 120/100 * 500 → x= 35.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Hence, if he makes a profit of 35% on the second, it comes to a total of 20% profit on the whole.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2ee15abed17_3_447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e15abed17_3_455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2ee15abed17_3_455"/>
          <p:cNvSpPr txBox="1"/>
          <p:nvPr/>
        </p:nvSpPr>
        <p:spPr>
          <a:xfrm>
            <a:off x="720725" y="1250950"/>
            <a:ext cx="762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an examination it is required to get 40% of the aggregate marks to pass. A student gets 522 marks and is declared failed by 4% marks. What are the maximum aggregate marks a student can get?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1700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1730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1450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1765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g2ee15abed17_3_45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C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g2ee15abed17_3_455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e15abed17_3_462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g2ee15abed17_3_462"/>
          <p:cNvSpPr txBox="1"/>
          <p:nvPr/>
        </p:nvSpPr>
        <p:spPr>
          <a:xfrm>
            <a:off x="720725" y="1250950"/>
            <a:ext cx="7623300" cy="35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the total marks be x.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4% less than 40% is 522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So, 36% of the total marks = 522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36/100 × x = 522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x = 522 × 100/36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x = 1450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g2ee15abed17_3_46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g2ee15abed17_3_462"/>
          <p:cNvSpPr txBox="1"/>
          <p:nvPr/>
        </p:nvSpPr>
        <p:spPr>
          <a:xfrm>
            <a:off x="630000" y="630250"/>
            <a:ext cx="29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2ee15abed17_3_5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2ee15abed17_3_531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32" name="Google Shape;332;g2ee15abed17_3_5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2ee15abed17_3_5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ee15abed17_3_531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35" name="Google Shape;335;g2ee15abed17_3_531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g2ee15abed17_3_531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37" name="Google Shape;337;g2ee15abed17_3_5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2ee15abed17_3_531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39" name="Google Shape;339;g2ee15abed17_3_531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