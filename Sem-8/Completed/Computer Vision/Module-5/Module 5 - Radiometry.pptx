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78" r:id="rId6"/>
    <p:sldId id="260" r:id="rId7"/>
    <p:sldId id="279" r:id="rId8"/>
    <p:sldId id="261" r:id="rId9"/>
    <p:sldId id="262" r:id="rId10"/>
    <p:sldId id="263" r:id="rId11"/>
    <p:sldId id="264" r:id="rId12"/>
    <p:sldId id="265" r:id="rId13"/>
    <p:sldId id="266" r:id="rId14"/>
    <p:sldId id="267" r:id="rId15"/>
    <p:sldId id="268" r:id="rId16"/>
    <p:sldId id="269" r:id="rId17"/>
    <p:sldId id="270" r:id="rId18"/>
    <p:sldId id="280" r:id="rId19"/>
    <p:sldId id="271" r:id="rId20"/>
    <p:sldId id="272" r:id="rId21"/>
    <p:sldId id="273" r:id="rId22"/>
    <p:sldId id="274" r:id="rId23"/>
    <p:sldId id="275" r:id="rId24"/>
    <p:sldId id="276" r:id="rId25"/>
    <p:sldId id="277"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2" autoAdjust="0"/>
    <p:restoredTop sz="94660"/>
  </p:normalViewPr>
  <p:slideViewPr>
    <p:cSldViewPr snapToGrid="0">
      <p:cViewPr varScale="1">
        <p:scale>
          <a:sx n="90" d="100"/>
          <a:sy n="90" d="100"/>
        </p:scale>
        <p:origin x="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2/26/2021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2/26/2021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2/26/2021</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2/26/2021</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2/26/2021</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2/26/2021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2/26/2021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2/26/2021</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Radiometry for </a:t>
            </a:r>
            <a:r>
              <a:rPr lang="en-US" dirty="0" err="1"/>
              <a:t>Coloured</a:t>
            </a:r>
            <a:r>
              <a:rPr lang="en-US" dirty="0"/>
              <a:t> </a:t>
            </a:r>
            <a:r>
              <a:rPr lang="en-US" dirty="0" smtClean="0"/>
              <a:t>Lights</a:t>
            </a:r>
            <a:endParaRPr lang="en-IN" dirty="0"/>
          </a:p>
        </p:txBody>
      </p:sp>
      <p:sp>
        <p:nvSpPr>
          <p:cNvPr id="3" name="Subtitle 2"/>
          <p:cNvSpPr>
            <a:spLocks noGrp="1"/>
          </p:cNvSpPr>
          <p:nvPr>
            <p:ph type="subTitle" idx="1"/>
          </p:nvPr>
        </p:nvSpPr>
        <p:spPr/>
        <p:txBody>
          <a:bodyPr/>
          <a:lstStyle/>
          <a:p>
            <a:r>
              <a:rPr lang="en-US" dirty="0"/>
              <a:t>Spectral Quantities</a:t>
            </a:r>
            <a:endParaRPr lang="en-IN" dirty="0"/>
          </a:p>
        </p:txBody>
      </p:sp>
    </p:spTree>
    <p:extLst>
      <p:ext uri="{BB962C8B-B14F-4D97-AF65-F5344CB8AC3E}">
        <p14:creationId xmlns:p14="http://schemas.microsoft.com/office/powerpoint/2010/main" val="3646671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Spectral Quantities</a:t>
            </a:r>
            <a:endParaRPr lang="en-IN" dirty="0"/>
          </a:p>
        </p:txBody>
      </p:sp>
      <p:sp>
        <p:nvSpPr>
          <p:cNvPr id="3" name="Content Placeholder 2"/>
          <p:cNvSpPr>
            <a:spLocks noGrp="1"/>
          </p:cNvSpPr>
          <p:nvPr>
            <p:ph idx="1"/>
          </p:nvPr>
        </p:nvSpPr>
        <p:spPr/>
        <p:txBody>
          <a:bodyPr>
            <a:normAutofit lnSpcReduction="10000"/>
          </a:bodyPr>
          <a:lstStyle/>
          <a:p>
            <a:r>
              <a:rPr lang="en-US" dirty="0" smtClean="0"/>
              <a:t>Spectral quantities depends on optical frequency and wavelength</a:t>
            </a:r>
          </a:p>
          <a:p>
            <a:r>
              <a:rPr lang="en-US" dirty="0" smtClean="0"/>
              <a:t>Optical frequency –</a:t>
            </a:r>
          </a:p>
          <a:p>
            <a:r>
              <a:rPr lang="en-US" dirty="0"/>
              <a:t>the oscillation frequency of the corresponding electromagnetic wave. </a:t>
            </a:r>
            <a:endParaRPr lang="en-US" dirty="0" smtClean="0"/>
          </a:p>
          <a:p>
            <a:r>
              <a:rPr lang="en-US" dirty="0" smtClean="0"/>
              <a:t>For visible light, optical </a:t>
            </a:r>
            <a:r>
              <a:rPr lang="en-US" dirty="0"/>
              <a:t>frequencies are roughly between 400 THz (terahertz = 10</a:t>
            </a:r>
            <a:r>
              <a:rPr lang="en-US" baseline="30000" dirty="0"/>
              <a:t>12</a:t>
            </a:r>
            <a:r>
              <a:rPr lang="en-US" dirty="0"/>
              <a:t> Hz = 1 trillion hertz) and 700 </a:t>
            </a:r>
            <a:r>
              <a:rPr lang="en-US" dirty="0" smtClean="0"/>
              <a:t>THz</a:t>
            </a:r>
          </a:p>
          <a:p>
            <a:r>
              <a:rPr lang="en-US" b="1" dirty="0" smtClean="0"/>
              <a:t>Infrared </a:t>
            </a:r>
            <a:r>
              <a:rPr lang="en-US" b="1" dirty="0"/>
              <a:t>light</a:t>
            </a:r>
            <a:r>
              <a:rPr lang="en-US" dirty="0"/>
              <a:t> </a:t>
            </a:r>
            <a:r>
              <a:rPr lang="en-US" dirty="0" smtClean="0"/>
              <a:t>has </a:t>
            </a:r>
            <a:r>
              <a:rPr lang="en-US" dirty="0"/>
              <a:t>lower optical frequencies, while </a:t>
            </a:r>
            <a:r>
              <a:rPr lang="en-US" b="1" dirty="0"/>
              <a:t>ultraviolet light</a:t>
            </a:r>
            <a:r>
              <a:rPr lang="en-US" dirty="0"/>
              <a:t> has higher </a:t>
            </a:r>
            <a:r>
              <a:rPr lang="en-US" dirty="0" smtClean="0"/>
              <a:t>frequencies</a:t>
            </a:r>
          </a:p>
          <a:p>
            <a:r>
              <a:rPr lang="en-US" dirty="0" smtClean="0"/>
              <a:t>Wavelength</a:t>
            </a:r>
          </a:p>
          <a:p>
            <a:r>
              <a:rPr lang="en-US" dirty="0"/>
              <a:t>the distance between successive crests of a wave, especially points in a sound wave or electromagnetic wave.</a:t>
            </a:r>
            <a:endParaRPr lang="en-IN" dirty="0"/>
          </a:p>
        </p:txBody>
      </p:sp>
    </p:spTree>
    <p:extLst>
      <p:ext uri="{BB962C8B-B14F-4D97-AF65-F5344CB8AC3E}">
        <p14:creationId xmlns:p14="http://schemas.microsoft.com/office/powerpoint/2010/main" val="3165455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Radiance and Spectral radiance</a:t>
            </a:r>
            <a:endParaRPr lang="en-IN" dirty="0"/>
          </a:p>
        </p:txBody>
      </p:sp>
      <p:sp>
        <p:nvSpPr>
          <p:cNvPr id="3" name="Content Placeholder 2"/>
          <p:cNvSpPr>
            <a:spLocks noGrp="1"/>
          </p:cNvSpPr>
          <p:nvPr>
            <p:ph idx="1"/>
          </p:nvPr>
        </p:nvSpPr>
        <p:spPr>
          <a:xfrm>
            <a:off x="1103312" y="2052918"/>
            <a:ext cx="9925759" cy="4195481"/>
          </a:xfrm>
        </p:spPr>
        <p:txBody>
          <a:bodyPr>
            <a:normAutofit/>
          </a:bodyPr>
          <a:lstStyle/>
          <a:p>
            <a:r>
              <a:rPr lang="en-US" dirty="0" smtClean="0"/>
              <a:t>In </a:t>
            </a:r>
            <a:r>
              <a:rPr lang="en-US" dirty="0"/>
              <a:t>radiometry, radiance is the radiant flux emitted, reflected, transmitted or received by a given surface, per unit solid angle per unit projected area. </a:t>
            </a:r>
            <a:endParaRPr lang="en-US" dirty="0" smtClean="0"/>
          </a:p>
          <a:p>
            <a:r>
              <a:rPr lang="en-US" dirty="0" smtClean="0"/>
              <a:t>Spectral </a:t>
            </a:r>
            <a:r>
              <a:rPr lang="en-US" dirty="0"/>
              <a:t>radiance is the radiance of a surface per unit </a:t>
            </a:r>
            <a:r>
              <a:rPr lang="en-US" dirty="0" smtClean="0"/>
              <a:t>wavelength.</a:t>
            </a:r>
          </a:p>
          <a:p>
            <a:r>
              <a:rPr lang="en-US" dirty="0" smtClean="0"/>
              <a:t>Radiance </a:t>
            </a:r>
            <a:r>
              <a:rPr lang="en-US" dirty="0"/>
              <a:t>emitted in the range of wavelengths [λ, λ + </a:t>
            </a:r>
            <a:r>
              <a:rPr lang="en-US" dirty="0" err="1"/>
              <a:t>dλ</a:t>
            </a:r>
            <a:r>
              <a:rPr lang="en-US" dirty="0" smtClean="0"/>
              <a:t>]</a:t>
            </a:r>
          </a:p>
          <a:p>
            <a:r>
              <a:rPr lang="en-US" dirty="0"/>
              <a:t>Spectral radiance is usually written as </a:t>
            </a:r>
            <a:r>
              <a:rPr lang="en-US" dirty="0" err="1"/>
              <a:t>L</a:t>
            </a:r>
            <a:r>
              <a:rPr lang="en-US" baseline="30000" dirty="0" err="1"/>
              <a:t>λ</a:t>
            </a:r>
            <a:r>
              <a:rPr lang="en-US" dirty="0"/>
              <a:t>(x, θ, φ</a:t>
            </a:r>
            <a:r>
              <a:rPr lang="en-US" dirty="0" smtClean="0"/>
              <a:t>) So it can be written as </a:t>
            </a:r>
            <a:r>
              <a:rPr lang="en-US" dirty="0" err="1" smtClean="0"/>
              <a:t>L</a:t>
            </a:r>
            <a:r>
              <a:rPr lang="en-US" baseline="30000" dirty="0" err="1" smtClean="0"/>
              <a:t>λ</a:t>
            </a:r>
            <a:r>
              <a:rPr lang="en-US" dirty="0" smtClean="0"/>
              <a:t>(x</a:t>
            </a:r>
            <a:r>
              <a:rPr lang="en-US" dirty="0"/>
              <a:t>, θ, φ)</a:t>
            </a:r>
            <a:r>
              <a:rPr lang="en-US" dirty="0" err="1"/>
              <a:t>dλ</a:t>
            </a:r>
            <a:r>
              <a:rPr lang="en-US" dirty="0"/>
              <a:t>. </a:t>
            </a:r>
          </a:p>
          <a:p>
            <a:r>
              <a:rPr lang="en-US" dirty="0" smtClean="0"/>
              <a:t>These </a:t>
            </a:r>
            <a:r>
              <a:rPr lang="en-US" dirty="0"/>
              <a:t>are directional quantities. </a:t>
            </a:r>
            <a:endParaRPr lang="en-US" dirty="0" smtClean="0"/>
          </a:p>
          <a:p>
            <a:r>
              <a:rPr lang="en-US" dirty="0" smtClean="0"/>
              <a:t>The </a:t>
            </a:r>
            <a:r>
              <a:rPr lang="en-US" dirty="0"/>
              <a:t>SI unit of radiance is the watt per </a:t>
            </a:r>
            <a:r>
              <a:rPr lang="en-US" dirty="0" err="1"/>
              <a:t>steradian</a:t>
            </a:r>
            <a:r>
              <a:rPr lang="en-US" dirty="0"/>
              <a:t> per square </a:t>
            </a:r>
            <a:r>
              <a:rPr lang="en-US" dirty="0" err="1"/>
              <a:t>metre</a:t>
            </a:r>
            <a:r>
              <a:rPr lang="en-US" dirty="0"/>
              <a:t> (</a:t>
            </a:r>
            <a:r>
              <a:rPr lang="en-US" dirty="0" smtClean="0"/>
              <a:t>W sr</a:t>
            </a:r>
            <a:r>
              <a:rPr lang="en-US" dirty="0"/>
              <a:t>⁻</a:t>
            </a:r>
            <a:r>
              <a:rPr lang="en-US" dirty="0" smtClean="0"/>
              <a:t>¹ m</a:t>
            </a:r>
            <a:r>
              <a:rPr lang="en-US" dirty="0"/>
              <a:t>⁻</a:t>
            </a:r>
            <a:r>
              <a:rPr lang="en-US" dirty="0" smtClean="0"/>
              <a:t>²)</a:t>
            </a:r>
          </a:p>
          <a:p>
            <a:r>
              <a:rPr lang="en-US" dirty="0" smtClean="0"/>
              <a:t>Spectral </a:t>
            </a:r>
            <a:r>
              <a:rPr lang="en-US" dirty="0"/>
              <a:t>radiance in wavelength is the watt per </a:t>
            </a:r>
            <a:r>
              <a:rPr lang="en-US" dirty="0" err="1"/>
              <a:t>steradian</a:t>
            </a:r>
            <a:r>
              <a:rPr lang="en-US" dirty="0"/>
              <a:t> per square </a:t>
            </a:r>
            <a:r>
              <a:rPr lang="en-US" dirty="0" err="1"/>
              <a:t>metre</a:t>
            </a:r>
            <a:r>
              <a:rPr lang="en-US" dirty="0"/>
              <a:t> per </a:t>
            </a:r>
            <a:r>
              <a:rPr lang="en-US" dirty="0" err="1"/>
              <a:t>metre</a:t>
            </a:r>
            <a:r>
              <a:rPr lang="en-US" dirty="0"/>
              <a:t> (W·sr⁻¹·m⁻³</a:t>
            </a:r>
            <a:r>
              <a:rPr lang="en-US" dirty="0" smtClean="0"/>
              <a:t>)—</a:t>
            </a:r>
            <a:r>
              <a:rPr lang="en-IN" dirty="0"/>
              <a:t>Watts per cubic meter per </a:t>
            </a:r>
            <a:r>
              <a:rPr lang="en-IN" dirty="0" err="1"/>
              <a:t>steradian</a:t>
            </a:r>
            <a:endParaRPr lang="en-IN" dirty="0"/>
          </a:p>
        </p:txBody>
      </p:sp>
    </p:spTree>
    <p:extLst>
      <p:ext uri="{BB962C8B-B14F-4D97-AF65-F5344CB8AC3E}">
        <p14:creationId xmlns:p14="http://schemas.microsoft.com/office/powerpoint/2010/main" val="1480331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Exitance</a:t>
            </a:r>
            <a:r>
              <a:rPr lang="en-US" dirty="0" smtClean="0"/>
              <a:t> and Spectral </a:t>
            </a:r>
            <a:r>
              <a:rPr lang="en-US" dirty="0" err="1" smtClean="0"/>
              <a:t>Exitance</a:t>
            </a: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Angular </a:t>
            </a:r>
            <a:r>
              <a:rPr lang="en-US" dirty="0"/>
              <a:t>distribution of the source is unimportant, </a:t>
            </a:r>
            <a:r>
              <a:rPr lang="en-US" dirty="0" smtClean="0"/>
              <a:t>then consider spectral </a:t>
            </a:r>
            <a:r>
              <a:rPr lang="en-US" dirty="0" err="1"/>
              <a:t>exitance</a:t>
            </a:r>
            <a:r>
              <a:rPr lang="en-US" dirty="0"/>
              <a:t> </a:t>
            </a:r>
            <a:endParaRPr lang="en-US" dirty="0" smtClean="0"/>
          </a:p>
          <a:p>
            <a:r>
              <a:rPr lang="en-US" dirty="0"/>
              <a:t>In radiometry, radiant </a:t>
            </a:r>
            <a:r>
              <a:rPr lang="en-US" dirty="0" err="1"/>
              <a:t>exitance</a:t>
            </a:r>
            <a:r>
              <a:rPr lang="en-US" dirty="0"/>
              <a:t> or radiant </a:t>
            </a:r>
            <a:r>
              <a:rPr lang="en-US" dirty="0" err="1"/>
              <a:t>emittance</a:t>
            </a:r>
            <a:r>
              <a:rPr lang="en-US" dirty="0"/>
              <a:t> is the radiant flux emitted by a surface per unit area, </a:t>
            </a:r>
            <a:endParaRPr lang="en-US" dirty="0" smtClean="0"/>
          </a:p>
          <a:p>
            <a:r>
              <a:rPr lang="en-US" dirty="0" smtClean="0"/>
              <a:t>Spectral </a:t>
            </a:r>
            <a:r>
              <a:rPr lang="en-US" dirty="0" err="1"/>
              <a:t>exitance</a:t>
            </a:r>
            <a:r>
              <a:rPr lang="en-US" dirty="0"/>
              <a:t> or spectral </a:t>
            </a:r>
            <a:r>
              <a:rPr lang="en-US" dirty="0" err="1"/>
              <a:t>emittance</a:t>
            </a:r>
            <a:r>
              <a:rPr lang="en-US" dirty="0"/>
              <a:t> is the radiant </a:t>
            </a:r>
            <a:r>
              <a:rPr lang="en-US" dirty="0" err="1"/>
              <a:t>exitance</a:t>
            </a:r>
            <a:r>
              <a:rPr lang="en-US" dirty="0"/>
              <a:t> of a surface per unit frequency or wavelength, depending on whether the spectrum is taken as a function of frequency or of wavelength</a:t>
            </a:r>
            <a:r>
              <a:rPr lang="en-US" dirty="0" smtClean="0"/>
              <a:t>.</a:t>
            </a:r>
          </a:p>
          <a:p>
            <a:r>
              <a:rPr lang="en-US" dirty="0"/>
              <a:t>The SI unit of radiant </a:t>
            </a:r>
            <a:r>
              <a:rPr lang="en-US" dirty="0" err="1"/>
              <a:t>exitance</a:t>
            </a:r>
            <a:r>
              <a:rPr lang="en-US" dirty="0"/>
              <a:t> is the watt per square </a:t>
            </a:r>
            <a:r>
              <a:rPr lang="en-US" dirty="0" err="1"/>
              <a:t>metre</a:t>
            </a:r>
            <a:r>
              <a:rPr lang="en-US" dirty="0"/>
              <a:t> (W/m</a:t>
            </a:r>
            <a:r>
              <a:rPr lang="en-US" baseline="30000" dirty="0"/>
              <a:t>2</a:t>
            </a:r>
            <a:r>
              <a:rPr lang="en-US" dirty="0"/>
              <a:t>), </a:t>
            </a:r>
            <a:endParaRPr lang="en-US" dirty="0" smtClean="0"/>
          </a:p>
          <a:p>
            <a:r>
              <a:rPr lang="en-US" dirty="0" smtClean="0"/>
              <a:t>Spectral </a:t>
            </a:r>
            <a:r>
              <a:rPr lang="en-US" dirty="0" err="1"/>
              <a:t>exitance</a:t>
            </a:r>
            <a:r>
              <a:rPr lang="en-US" dirty="0"/>
              <a:t> in frequency is the </a:t>
            </a:r>
            <a:r>
              <a:rPr lang="en-US" b="1" dirty="0"/>
              <a:t>watt per square </a:t>
            </a:r>
            <a:r>
              <a:rPr lang="en-US" b="1" dirty="0" err="1"/>
              <a:t>metre</a:t>
            </a:r>
            <a:r>
              <a:rPr lang="en-US" b="1" dirty="0"/>
              <a:t> per hertz (</a:t>
            </a:r>
            <a:r>
              <a:rPr lang="en-US" b="1" dirty="0" smtClean="0"/>
              <a:t>W m</a:t>
            </a:r>
            <a:r>
              <a:rPr lang="en-US" b="1" baseline="30000" dirty="0" smtClean="0"/>
              <a:t>−2</a:t>
            </a:r>
            <a:r>
              <a:rPr lang="en-US" b="1" dirty="0"/>
              <a:t> </a:t>
            </a:r>
            <a:r>
              <a:rPr lang="en-US" b="1" dirty="0" smtClean="0"/>
              <a:t>Hz</a:t>
            </a:r>
            <a:r>
              <a:rPr lang="en-US" b="1" baseline="30000" dirty="0" smtClean="0"/>
              <a:t>−</a:t>
            </a:r>
            <a:r>
              <a:rPr lang="en-US" b="1" baseline="30000" dirty="0"/>
              <a:t>1</a:t>
            </a:r>
            <a:r>
              <a:rPr lang="en-US" b="1" dirty="0"/>
              <a:t>)</a:t>
            </a:r>
            <a:r>
              <a:rPr lang="en-US" dirty="0"/>
              <a:t> </a:t>
            </a:r>
            <a:endParaRPr lang="en-US" dirty="0" smtClean="0"/>
          </a:p>
          <a:p>
            <a:r>
              <a:rPr lang="en-US" dirty="0" smtClean="0"/>
              <a:t>spectral </a:t>
            </a:r>
            <a:r>
              <a:rPr lang="en-US" dirty="0" err="1"/>
              <a:t>exitance</a:t>
            </a:r>
            <a:r>
              <a:rPr lang="en-US" dirty="0"/>
              <a:t> in wavelength is the watt per square </a:t>
            </a:r>
            <a:r>
              <a:rPr lang="en-US" dirty="0" err="1"/>
              <a:t>metre</a:t>
            </a:r>
            <a:r>
              <a:rPr lang="en-US" dirty="0"/>
              <a:t> per </a:t>
            </a:r>
            <a:r>
              <a:rPr lang="en-US" dirty="0" err="1"/>
              <a:t>metre</a:t>
            </a:r>
            <a:r>
              <a:rPr lang="en-US" dirty="0"/>
              <a:t> (</a:t>
            </a:r>
            <a:r>
              <a:rPr lang="en-US" dirty="0" smtClean="0"/>
              <a:t>W m</a:t>
            </a:r>
            <a:r>
              <a:rPr lang="en-US" baseline="30000" dirty="0"/>
              <a:t>−3</a:t>
            </a:r>
            <a:r>
              <a:rPr lang="en-US" dirty="0" smtClean="0"/>
              <a:t>)</a:t>
            </a:r>
          </a:p>
        </p:txBody>
      </p:sp>
    </p:spTree>
    <p:extLst>
      <p:ext uri="{BB962C8B-B14F-4D97-AF65-F5344CB8AC3E}">
        <p14:creationId xmlns:p14="http://schemas.microsoft.com/office/powerpoint/2010/main" val="4007038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BRDF and Spectral BRDF</a:t>
            </a:r>
            <a:endParaRPr lang="en-IN" dirty="0"/>
          </a:p>
        </p:txBody>
      </p:sp>
      <p:sp>
        <p:nvSpPr>
          <p:cNvPr id="3" name="Content Placeholder 2"/>
          <p:cNvSpPr>
            <a:spLocks noGrp="1"/>
          </p:cNvSpPr>
          <p:nvPr>
            <p:ph idx="1"/>
          </p:nvPr>
        </p:nvSpPr>
        <p:spPr>
          <a:xfrm>
            <a:off x="1103312" y="1195754"/>
            <a:ext cx="10446263" cy="5052645"/>
          </a:xfrm>
        </p:spPr>
        <p:txBody>
          <a:bodyPr>
            <a:normAutofit fontScale="92500" lnSpcReduction="10000"/>
          </a:bodyPr>
          <a:lstStyle/>
          <a:p>
            <a:r>
              <a:rPr lang="en-US" dirty="0"/>
              <a:t>A function which defines the spectral and spatial reflection characteristic of a surface. </a:t>
            </a:r>
          </a:p>
          <a:p>
            <a:r>
              <a:rPr lang="en-US" dirty="0"/>
              <a:t>The </a:t>
            </a:r>
            <a:r>
              <a:rPr lang="en-US" b="1" dirty="0"/>
              <a:t>BRDF</a:t>
            </a:r>
            <a:r>
              <a:rPr lang="en-US" dirty="0"/>
              <a:t> of a surface is the ratio of reflected radiance to incident irradiance at a particular </a:t>
            </a:r>
            <a:r>
              <a:rPr lang="en-US" dirty="0" smtClean="0"/>
              <a:t>wavelength</a:t>
            </a:r>
          </a:p>
          <a:p>
            <a:endParaRPr lang="en-US" dirty="0"/>
          </a:p>
          <a:p>
            <a:endParaRPr lang="en-US" dirty="0" smtClean="0"/>
          </a:p>
          <a:p>
            <a:r>
              <a:rPr lang="en-US" dirty="0"/>
              <a:t>In radiometry, irradiance is the radiant flux (power) received by a surface per unit area. </a:t>
            </a:r>
            <a:endParaRPr lang="en-US" dirty="0" smtClean="0"/>
          </a:p>
          <a:p>
            <a:r>
              <a:rPr lang="en-US" dirty="0" smtClean="0"/>
              <a:t>The </a:t>
            </a:r>
            <a:r>
              <a:rPr lang="en-US" dirty="0"/>
              <a:t>SI unit of irradiance is the watt per square </a:t>
            </a:r>
            <a:r>
              <a:rPr lang="en-US" dirty="0" err="1"/>
              <a:t>metre</a:t>
            </a:r>
            <a:r>
              <a:rPr lang="en-US" dirty="0"/>
              <a:t> (</a:t>
            </a:r>
            <a:r>
              <a:rPr lang="en-US" dirty="0" smtClean="0"/>
              <a:t>W m</a:t>
            </a:r>
            <a:r>
              <a:rPr lang="en-US" dirty="0"/>
              <a:t>⁻²</a:t>
            </a:r>
            <a:r>
              <a:rPr lang="en-US" dirty="0" smtClean="0"/>
              <a:t>).</a:t>
            </a:r>
          </a:p>
          <a:p>
            <a:r>
              <a:rPr lang="en-US" dirty="0"/>
              <a:t>Spectral irradiance is the </a:t>
            </a:r>
            <a:r>
              <a:rPr lang="en-US" b="1" dirty="0"/>
              <a:t>irradiance of a surface per unit frequency or wavelength</a:t>
            </a:r>
            <a:r>
              <a:rPr lang="en-US" dirty="0"/>
              <a:t>, depending on whether the spectrum is taken as a function of frequency or of wavelength.</a:t>
            </a:r>
            <a:endParaRPr lang="en-US" dirty="0" smtClean="0"/>
          </a:p>
          <a:p>
            <a:r>
              <a:rPr lang="en-US" dirty="0" smtClean="0"/>
              <a:t>spectral </a:t>
            </a:r>
            <a:r>
              <a:rPr lang="en-US" dirty="0"/>
              <a:t>BRDF is obtained by considering the ratio of the spectral radiance in the outgoing direction to the spectral irradiance in the incident direction. </a:t>
            </a:r>
          </a:p>
          <a:p>
            <a:r>
              <a:rPr lang="en-US" dirty="0"/>
              <a:t>Because the BRDF is defined by a ratio, the spectral BRDF will again have units sr</a:t>
            </a:r>
            <a:r>
              <a:rPr lang="en-US" baseline="30000" dirty="0"/>
              <a:t>−1</a:t>
            </a:r>
            <a:r>
              <a:rPr lang="en-US" dirty="0"/>
              <a:t>.  </a:t>
            </a:r>
            <a:endParaRPr lang="en-IN" baseline="30000" dirty="0"/>
          </a:p>
          <a:p>
            <a:endParaRPr lang="en-IN" dirty="0"/>
          </a:p>
        </p:txBody>
      </p:sp>
      <p:pic>
        <p:nvPicPr>
          <p:cNvPr id="1026" name="Picture 2" descr="\rho(\Theta_{i}; \Theta_{r}; \lambda) = \frac{dL_{r}(\Theta_{i}; \Theta_{r};\lambda)}{dE_{i}(\Theta_{i}; \lamb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667" y="2596284"/>
            <a:ext cx="2700167" cy="661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4557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Colour of Surfaces</a:t>
            </a:r>
          </a:p>
        </p:txBody>
      </p:sp>
      <p:sp>
        <p:nvSpPr>
          <p:cNvPr id="3" name="Content Placeholder 2"/>
          <p:cNvSpPr>
            <a:spLocks noGrp="1"/>
          </p:cNvSpPr>
          <p:nvPr>
            <p:ph idx="1"/>
          </p:nvPr>
        </p:nvSpPr>
        <p:spPr>
          <a:xfrm>
            <a:off x="1103312" y="2052918"/>
            <a:ext cx="10136774" cy="4195481"/>
          </a:xfrm>
        </p:spPr>
        <p:txBody>
          <a:bodyPr>
            <a:normAutofit/>
          </a:bodyPr>
          <a:lstStyle/>
          <a:p>
            <a:r>
              <a:rPr lang="en-US" dirty="0" smtClean="0"/>
              <a:t>Refraction </a:t>
            </a:r>
            <a:r>
              <a:rPr lang="en-US" dirty="0"/>
              <a:t>is the change in direction of a wave passing from one medium to another </a:t>
            </a:r>
            <a:endParaRPr lang="en-US" dirty="0" smtClean="0"/>
          </a:p>
          <a:p>
            <a:r>
              <a:rPr lang="en-US" dirty="0" smtClean="0"/>
              <a:t>Diffraction - the </a:t>
            </a:r>
            <a:r>
              <a:rPr lang="en-US" dirty="0"/>
              <a:t>process by which a beam of light </a:t>
            </a:r>
            <a:r>
              <a:rPr lang="en-US" dirty="0" smtClean="0"/>
              <a:t>is </a:t>
            </a:r>
            <a:r>
              <a:rPr lang="en-US" dirty="0"/>
              <a:t>spread out as a result of passing through a narrow aperture or across an </a:t>
            </a:r>
            <a:r>
              <a:rPr lang="en-US" dirty="0" smtClean="0"/>
              <a:t>edge</a:t>
            </a:r>
          </a:p>
          <a:p>
            <a:r>
              <a:rPr lang="en-US" b="1" dirty="0"/>
              <a:t>Diffraction is bending or spreading of waves around an obstacle, while refraction</a:t>
            </a:r>
            <a:r>
              <a:rPr lang="en-US" dirty="0"/>
              <a:t> is bending of waves due to change of speed. </a:t>
            </a:r>
            <a:endParaRPr lang="en-US" dirty="0" smtClean="0"/>
          </a:p>
          <a:p>
            <a:r>
              <a:rPr lang="en-US" dirty="0" smtClean="0"/>
              <a:t>Both </a:t>
            </a:r>
            <a:r>
              <a:rPr lang="en-US" dirty="0"/>
              <a:t>diffraction and refraction are wavelength </a:t>
            </a:r>
            <a:r>
              <a:rPr lang="en-US" dirty="0" err="1"/>
              <a:t>dependant</a:t>
            </a:r>
            <a:r>
              <a:rPr lang="en-US" dirty="0"/>
              <a:t>. </a:t>
            </a:r>
            <a:endParaRPr lang="en-US" dirty="0" smtClean="0"/>
          </a:p>
          <a:p>
            <a:r>
              <a:rPr lang="en-US" dirty="0" smtClean="0"/>
              <a:t>Hence</a:t>
            </a:r>
            <a:r>
              <a:rPr lang="en-US" dirty="0"/>
              <a:t>, both can split white light in to its component wavelengths.</a:t>
            </a:r>
            <a:endParaRPr lang="en-US" dirty="0" smtClean="0"/>
          </a:p>
          <a:p>
            <a:r>
              <a:rPr lang="en-US" dirty="0"/>
              <a:t>We are able to see the color of the </a:t>
            </a:r>
            <a:r>
              <a:rPr lang="en-US" dirty="0" err="1"/>
              <a:t>coloured</a:t>
            </a:r>
            <a:r>
              <a:rPr lang="en-US" dirty="0"/>
              <a:t> surfaces due to </a:t>
            </a:r>
            <a:r>
              <a:rPr lang="en-US" dirty="0" smtClean="0"/>
              <a:t>differential </a:t>
            </a:r>
            <a:r>
              <a:rPr lang="en-US" dirty="0" err="1"/>
              <a:t>absorbtion</a:t>
            </a:r>
            <a:r>
              <a:rPr lang="en-US" dirty="0"/>
              <a:t> at different wavelengths, refraction, diffraction and bulk scattering</a:t>
            </a:r>
          </a:p>
          <a:p>
            <a:endParaRPr lang="en-US" dirty="0" smtClean="0"/>
          </a:p>
        </p:txBody>
      </p:sp>
    </p:spTree>
    <p:extLst>
      <p:ext uri="{BB962C8B-B14F-4D97-AF65-F5344CB8AC3E}">
        <p14:creationId xmlns:p14="http://schemas.microsoft.com/office/powerpoint/2010/main" val="3688196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103312" y="2052918"/>
            <a:ext cx="10157876" cy="4195481"/>
          </a:xfrm>
        </p:spPr>
        <p:txBody>
          <a:bodyPr>
            <a:normAutofit fontScale="85000" lnSpcReduction="20000"/>
          </a:bodyPr>
          <a:lstStyle/>
          <a:p>
            <a:r>
              <a:rPr lang="en-US" dirty="0"/>
              <a:t>Usually these effects are bundled into a macroscopic BRDF model, which is typically a </a:t>
            </a:r>
            <a:r>
              <a:rPr lang="en-US" dirty="0" err="1"/>
              <a:t>Lambertian</a:t>
            </a:r>
            <a:r>
              <a:rPr lang="en-US" dirty="0"/>
              <a:t> plus specular approximation</a:t>
            </a:r>
          </a:p>
          <a:p>
            <a:r>
              <a:rPr lang="en-US" dirty="0" smtClean="0"/>
              <a:t>The</a:t>
            </a:r>
            <a:r>
              <a:rPr lang="en-US" b="1" dirty="0"/>
              <a:t> </a:t>
            </a:r>
            <a:r>
              <a:rPr lang="en-US" b="1" dirty="0" err="1"/>
              <a:t>Lambertian</a:t>
            </a:r>
            <a:r>
              <a:rPr lang="en-US" dirty="0"/>
              <a:t> diffuse model assumes that light reflected from a rough</a:t>
            </a:r>
            <a:r>
              <a:rPr lang="en-US" b="1" dirty="0"/>
              <a:t> surface</a:t>
            </a:r>
            <a:r>
              <a:rPr lang="en-US" dirty="0"/>
              <a:t> is dependent only on the</a:t>
            </a:r>
            <a:r>
              <a:rPr lang="en-US" b="1" dirty="0"/>
              <a:t> surface</a:t>
            </a:r>
            <a:r>
              <a:rPr lang="en-US" dirty="0"/>
              <a:t> normal and light direction, and therefore a</a:t>
            </a:r>
            <a:r>
              <a:rPr lang="en-US" b="1" dirty="0"/>
              <a:t> </a:t>
            </a:r>
            <a:r>
              <a:rPr lang="en-US" b="1" dirty="0" err="1"/>
              <a:t>Lambertian</a:t>
            </a:r>
            <a:r>
              <a:rPr lang="en-US" b="1" dirty="0"/>
              <a:t> surface</a:t>
            </a:r>
            <a:r>
              <a:rPr lang="en-US" dirty="0"/>
              <a:t> is equally bright in all directions. </a:t>
            </a:r>
            <a:endParaRPr lang="en-US" dirty="0" smtClean="0"/>
          </a:p>
          <a:p>
            <a:r>
              <a:rPr lang="en-US" dirty="0"/>
              <a:t>A specular surface is a </a:t>
            </a:r>
            <a:r>
              <a:rPr lang="en-US" b="1" dirty="0"/>
              <a:t>highly smooth surface</a:t>
            </a:r>
            <a:r>
              <a:rPr lang="en-US" dirty="0"/>
              <a:t>. When the surface is very smooth, the reflected </a:t>
            </a:r>
            <a:r>
              <a:rPr lang="en-US" dirty="0" smtClean="0"/>
              <a:t>light </a:t>
            </a:r>
            <a:r>
              <a:rPr lang="en-US" dirty="0"/>
              <a:t>is easy to see. As the surface becomes rougher, the reflected l</a:t>
            </a:r>
            <a:r>
              <a:rPr lang="en-US" dirty="0" smtClean="0"/>
              <a:t>ights </a:t>
            </a:r>
            <a:r>
              <a:rPr lang="en-US" dirty="0"/>
              <a:t>gets broader and dimmer</a:t>
            </a:r>
            <a:r>
              <a:rPr lang="en-US" dirty="0" smtClean="0"/>
              <a:t>.</a:t>
            </a:r>
          </a:p>
          <a:p>
            <a:r>
              <a:rPr lang="en-US" dirty="0"/>
              <a:t>The terms are now spectral reflectance (sometimes abbreviated to reflectance) or (less commonly) spectral albedo</a:t>
            </a:r>
            <a:r>
              <a:rPr lang="en-US" dirty="0" smtClean="0"/>
              <a:t>.</a:t>
            </a:r>
          </a:p>
          <a:p>
            <a:r>
              <a:rPr lang="en-US" b="1" dirty="0"/>
              <a:t>Spectral</a:t>
            </a:r>
            <a:r>
              <a:rPr lang="en-US" dirty="0"/>
              <a:t> </a:t>
            </a:r>
            <a:r>
              <a:rPr lang="en-US" b="1" dirty="0"/>
              <a:t>Reflectance</a:t>
            </a:r>
            <a:r>
              <a:rPr lang="en-US" dirty="0"/>
              <a:t> is a measure of how much energy (as a percent) a surface reflects at a specific wavelength. Many surfaces reflect different amount of energy in different portions of the spectrum</a:t>
            </a:r>
            <a:r>
              <a:rPr lang="en-US" dirty="0" smtClean="0"/>
              <a:t>.</a:t>
            </a:r>
          </a:p>
          <a:p>
            <a:r>
              <a:rPr lang="en-US" dirty="0"/>
              <a:t>Surface Albedo (SURFALB), defined as the </a:t>
            </a:r>
            <a:r>
              <a:rPr lang="en-US" b="1" dirty="0"/>
              <a:t>ratio between solar radiation reflected by Earth's surface</a:t>
            </a:r>
            <a:r>
              <a:rPr lang="en-US" dirty="0"/>
              <a:t> and solar radiation incident at the </a:t>
            </a:r>
            <a:r>
              <a:rPr lang="en-US" dirty="0" smtClean="0"/>
              <a:t>surface</a:t>
            </a:r>
          </a:p>
          <a:p>
            <a:r>
              <a:rPr lang="en-US" dirty="0" smtClean="0"/>
              <a:t>It is </a:t>
            </a:r>
            <a:r>
              <a:rPr lang="en-US" dirty="0"/>
              <a:t>a function of both solar illumination and the surface reflective properties.</a:t>
            </a:r>
          </a:p>
          <a:p>
            <a:endParaRPr lang="en-IN" dirty="0"/>
          </a:p>
          <a:p>
            <a:endParaRPr lang="en-IN" dirty="0"/>
          </a:p>
        </p:txBody>
      </p:sp>
    </p:spTree>
    <p:extLst>
      <p:ext uri="{BB962C8B-B14F-4D97-AF65-F5344CB8AC3E}">
        <p14:creationId xmlns:p14="http://schemas.microsoft.com/office/powerpoint/2010/main" val="2500098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l="19680" t="32720" b="36267"/>
          <a:stretch/>
        </p:blipFill>
        <p:spPr>
          <a:xfrm>
            <a:off x="646111" y="1322364"/>
            <a:ext cx="11212954" cy="5317588"/>
          </a:xfrm>
          <a:prstGeom prst="rect">
            <a:avLst/>
          </a:prstGeom>
        </p:spPr>
      </p:pic>
    </p:spTree>
    <p:extLst>
      <p:ext uri="{BB962C8B-B14F-4D97-AF65-F5344CB8AC3E}">
        <p14:creationId xmlns:p14="http://schemas.microsoft.com/office/powerpoint/2010/main" val="1858401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Colour and Specular Reflection</a:t>
            </a:r>
          </a:p>
        </p:txBody>
      </p:sp>
      <p:sp>
        <p:nvSpPr>
          <p:cNvPr id="3" name="Content Placeholder 2"/>
          <p:cNvSpPr>
            <a:spLocks noGrp="1"/>
          </p:cNvSpPr>
          <p:nvPr>
            <p:ph idx="1"/>
          </p:nvPr>
        </p:nvSpPr>
        <p:spPr>
          <a:xfrm>
            <a:off x="294420" y="1933342"/>
            <a:ext cx="10523636" cy="4195481"/>
          </a:xfrm>
        </p:spPr>
        <p:txBody>
          <a:bodyPr>
            <a:normAutofit lnSpcReduction="10000"/>
          </a:bodyPr>
          <a:lstStyle/>
          <a:p>
            <a:r>
              <a:rPr lang="en-US" dirty="0"/>
              <a:t>In specular reflection, the </a:t>
            </a:r>
            <a:r>
              <a:rPr lang="en-US" b="1" dirty="0"/>
              <a:t>incident light is reflected into a single outgoing direction</a:t>
            </a:r>
            <a:r>
              <a:rPr lang="en-US" dirty="0" smtClean="0"/>
              <a:t>.</a:t>
            </a:r>
          </a:p>
          <a:p>
            <a:r>
              <a:rPr lang="en-US" dirty="0"/>
              <a:t>Specular reflection, or regular reflection, is the mirror-like reflection of waves, such as light, from a surface. </a:t>
            </a:r>
            <a:endParaRPr lang="en-US" dirty="0" smtClean="0"/>
          </a:p>
          <a:p>
            <a:r>
              <a:rPr lang="en-US" dirty="0" smtClean="0"/>
              <a:t>The </a:t>
            </a:r>
            <a:r>
              <a:rPr lang="en-US" dirty="0"/>
              <a:t>law of reflection states that a reflected ray of light emerges from the reflecting surface at the same angle to the surface normal as the incident ray, but on the opposing side of the surface normal in the plane formed by the incident and reflected rays.</a:t>
            </a:r>
            <a:endParaRPr lang="en-US" dirty="0" smtClean="0"/>
          </a:p>
          <a:p>
            <a:r>
              <a:rPr lang="en-US" dirty="0" smtClean="0"/>
              <a:t>Metal </a:t>
            </a:r>
            <a:r>
              <a:rPr lang="en-US" dirty="0"/>
              <a:t>surfaces have a specular component </a:t>
            </a:r>
            <a:r>
              <a:rPr lang="en-US" dirty="0" smtClean="0"/>
              <a:t>and it is </a:t>
            </a:r>
            <a:r>
              <a:rPr lang="en-US" dirty="0"/>
              <a:t>wavelength dependent — a shiny copper penny has a yellowish glint. </a:t>
            </a:r>
            <a:endParaRPr lang="en-US" dirty="0" smtClean="0"/>
          </a:p>
          <a:p>
            <a:r>
              <a:rPr lang="en-US" dirty="0" smtClean="0"/>
              <a:t>Surfaces </a:t>
            </a:r>
            <a:r>
              <a:rPr lang="en-US" dirty="0"/>
              <a:t>that do not conduct — dielectric surfaces — have a specular component that is independent of </a:t>
            </a:r>
            <a:r>
              <a:rPr lang="en-US" dirty="0" smtClean="0"/>
              <a:t>wavelength</a:t>
            </a:r>
          </a:p>
          <a:p>
            <a:endParaRPr lang="en-IN" dirty="0"/>
          </a:p>
        </p:txBody>
      </p:sp>
      <p:pic>
        <p:nvPicPr>
          <p:cNvPr id="2050" name="Picture 2" descr="https://upload.wikimedia.org/wikipedia/commons/thumb/1/10/Reflection_angles.svg/170px-Reflection_angles.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9531" y="2720565"/>
            <a:ext cx="1619250" cy="1943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56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Colour of Sources</a:t>
            </a:r>
          </a:p>
        </p:txBody>
      </p:sp>
      <p:sp>
        <p:nvSpPr>
          <p:cNvPr id="3" name="Content Placeholder 2"/>
          <p:cNvSpPr>
            <a:spLocks noGrp="1"/>
          </p:cNvSpPr>
          <p:nvPr>
            <p:ph idx="1"/>
          </p:nvPr>
        </p:nvSpPr>
        <p:spPr>
          <a:xfrm>
            <a:off x="547638" y="1377669"/>
            <a:ext cx="10692448" cy="5002029"/>
          </a:xfrm>
        </p:spPr>
        <p:txBody>
          <a:bodyPr>
            <a:normAutofit fontScale="85000" lnSpcReduction="10000"/>
          </a:bodyPr>
          <a:lstStyle/>
          <a:p>
            <a:r>
              <a:rPr lang="en-US" dirty="0"/>
              <a:t>Building a light </a:t>
            </a:r>
            <a:r>
              <a:rPr lang="en-US" dirty="0" smtClean="0"/>
              <a:t>source - it </a:t>
            </a:r>
            <a:r>
              <a:rPr lang="en-US" dirty="0"/>
              <a:t>usually involve heating something until it glows</a:t>
            </a:r>
            <a:r>
              <a:rPr lang="en-US" dirty="0" smtClean="0"/>
              <a:t>.</a:t>
            </a:r>
          </a:p>
          <a:p>
            <a:pPr marL="0" indent="0">
              <a:buNone/>
            </a:pPr>
            <a:r>
              <a:rPr lang="en-IN" dirty="0"/>
              <a:t>Black Body </a:t>
            </a:r>
            <a:r>
              <a:rPr lang="en-IN" dirty="0" smtClean="0"/>
              <a:t>Radiators</a:t>
            </a:r>
          </a:p>
          <a:p>
            <a:r>
              <a:rPr lang="en-US" dirty="0"/>
              <a:t>A body that reflects no light </a:t>
            </a:r>
            <a:endParaRPr lang="en-US" dirty="0" smtClean="0"/>
          </a:p>
          <a:p>
            <a:r>
              <a:rPr lang="en-US" dirty="0" smtClean="0"/>
              <a:t>It is usually </a:t>
            </a:r>
            <a:r>
              <a:rPr lang="en-US" dirty="0"/>
              <a:t>called a black </a:t>
            </a:r>
            <a:r>
              <a:rPr lang="en-US" dirty="0" smtClean="0"/>
              <a:t>body</a:t>
            </a:r>
          </a:p>
          <a:p>
            <a:r>
              <a:rPr lang="en-US" dirty="0"/>
              <a:t>A black </a:t>
            </a:r>
            <a:r>
              <a:rPr lang="en-US" dirty="0" smtClean="0"/>
              <a:t>body </a:t>
            </a:r>
            <a:r>
              <a:rPr lang="en-US" dirty="0"/>
              <a:t>is an idealized physical body that absorbs all incident electromagnetic radiation, regardless of frequency or angle of incidence. </a:t>
            </a:r>
            <a:endParaRPr lang="en-US" dirty="0" smtClean="0"/>
          </a:p>
          <a:p>
            <a:r>
              <a:rPr lang="en-US" dirty="0" smtClean="0"/>
              <a:t>The </a:t>
            </a:r>
            <a:r>
              <a:rPr lang="en-US" dirty="0"/>
              <a:t>name "black body" is given because it absorbs radiation in all frequencies, </a:t>
            </a:r>
            <a:endParaRPr lang="en-US" dirty="0" smtClean="0"/>
          </a:p>
          <a:p>
            <a:r>
              <a:rPr lang="en-US" dirty="0" smtClean="0"/>
              <a:t>It not only </a:t>
            </a:r>
            <a:r>
              <a:rPr lang="en-US" dirty="0"/>
              <a:t>absorbs: a black body can emit black-body </a:t>
            </a:r>
            <a:r>
              <a:rPr lang="en-US" dirty="0" smtClean="0"/>
              <a:t>radiation</a:t>
            </a:r>
          </a:p>
          <a:p>
            <a:r>
              <a:rPr lang="en-US" dirty="0"/>
              <a:t>Black-body radiation is the thermal electromagnetic radiation within or surrounding a body </a:t>
            </a:r>
            <a:r>
              <a:rPr lang="en-US" dirty="0" smtClean="0"/>
              <a:t>emitted </a:t>
            </a:r>
            <a:r>
              <a:rPr lang="en-US" dirty="0"/>
              <a:t>by a black body</a:t>
            </a:r>
            <a:endParaRPr lang="en-US" dirty="0" smtClean="0"/>
          </a:p>
          <a:p>
            <a:r>
              <a:rPr lang="en-US" dirty="0" smtClean="0"/>
              <a:t>It is </a:t>
            </a:r>
            <a:r>
              <a:rPr lang="en-US" dirty="0"/>
              <a:t>the most efficient radiator of illumination. </a:t>
            </a:r>
            <a:endParaRPr lang="en-US" dirty="0" smtClean="0"/>
          </a:p>
          <a:p>
            <a:r>
              <a:rPr lang="en-US" dirty="0"/>
              <a:t>A heated black body emits electromagnetic radiation. </a:t>
            </a:r>
            <a:endParaRPr lang="en-US" dirty="0" smtClean="0"/>
          </a:p>
          <a:p>
            <a:r>
              <a:rPr lang="en-US" dirty="0" smtClean="0"/>
              <a:t>Spectral </a:t>
            </a:r>
            <a:r>
              <a:rPr lang="en-US" dirty="0"/>
              <a:t>power distribution of this radiation depends only on the temperature of the </a:t>
            </a:r>
            <a:r>
              <a:rPr lang="en-US" dirty="0" smtClean="0"/>
              <a:t>body</a:t>
            </a:r>
          </a:p>
          <a:p>
            <a:r>
              <a:rPr lang="en-US" dirty="0"/>
              <a:t>It is possible to </a:t>
            </a:r>
            <a:r>
              <a:rPr lang="en-US" dirty="0" smtClean="0"/>
              <a:t>build </a:t>
            </a:r>
            <a:r>
              <a:rPr lang="en-US" dirty="0"/>
              <a:t>good black </a:t>
            </a:r>
            <a:r>
              <a:rPr lang="en-US" dirty="0" smtClean="0"/>
              <a:t>bodies </a:t>
            </a:r>
            <a:r>
              <a:rPr lang="en-US" dirty="0"/>
              <a:t>so that the spectral power distribution can be measured. </a:t>
            </a:r>
            <a:endParaRPr lang="en-IN" dirty="0"/>
          </a:p>
        </p:txBody>
      </p:sp>
    </p:spTree>
    <p:extLst>
      <p:ext uri="{BB962C8B-B14F-4D97-AF65-F5344CB8AC3E}">
        <p14:creationId xmlns:p14="http://schemas.microsoft.com/office/powerpoint/2010/main" val="3370528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Black body radiation</a:t>
            </a:r>
            <a:endParaRPr lang="en-IN" dirty="0"/>
          </a:p>
        </p:txBody>
      </p:sp>
      <p:sp>
        <p:nvSpPr>
          <p:cNvPr id="3" name="Content Placeholder 2"/>
          <p:cNvSpPr>
            <a:spLocks noGrp="1"/>
          </p:cNvSpPr>
          <p:nvPr>
            <p:ph idx="1"/>
          </p:nvPr>
        </p:nvSpPr>
        <p:spPr>
          <a:xfrm>
            <a:off x="1103312" y="2052918"/>
            <a:ext cx="10713550" cy="4195481"/>
          </a:xfrm>
        </p:spPr>
        <p:txBody>
          <a:bodyPr>
            <a:normAutofit/>
          </a:bodyPr>
          <a:lstStyle/>
          <a:p>
            <a:r>
              <a:rPr lang="en-US" dirty="0"/>
              <a:t>In particular, if we write </a:t>
            </a:r>
            <a:endParaRPr lang="en-US" dirty="0" smtClean="0"/>
          </a:p>
          <a:p>
            <a:r>
              <a:rPr lang="en-US" dirty="0" smtClean="0"/>
              <a:t>T </a:t>
            </a:r>
            <a:r>
              <a:rPr lang="en-US" dirty="0"/>
              <a:t>for the temperature of the body in Kelvins, </a:t>
            </a:r>
            <a:endParaRPr lang="en-US" dirty="0" smtClean="0"/>
          </a:p>
          <a:p>
            <a:r>
              <a:rPr lang="en-US" dirty="0" smtClean="0"/>
              <a:t>h </a:t>
            </a:r>
            <a:r>
              <a:rPr lang="en-US" dirty="0"/>
              <a:t>for Planck’s constant</a:t>
            </a:r>
            <a:r>
              <a:rPr lang="en-US" dirty="0" smtClean="0"/>
              <a:t>, is a </a:t>
            </a:r>
            <a:r>
              <a:rPr lang="en-US" dirty="0"/>
              <a:t>proportionality constant between the energy carried by a photon and the frequency of its associated electromagnetic </a:t>
            </a:r>
            <a:r>
              <a:rPr lang="en-US" dirty="0" smtClean="0"/>
              <a:t>wave (</a:t>
            </a:r>
            <a:r>
              <a:rPr lang="en-IN" dirty="0"/>
              <a:t>6.62607015 × </a:t>
            </a:r>
            <a:r>
              <a:rPr lang="en-IN" dirty="0" smtClean="0"/>
              <a:t>10</a:t>
            </a:r>
            <a:r>
              <a:rPr lang="en-IN" baseline="30000" dirty="0" smtClean="0"/>
              <a:t>-34</a:t>
            </a:r>
            <a:r>
              <a:rPr lang="en-IN" dirty="0" smtClean="0"/>
              <a:t>)</a:t>
            </a:r>
            <a:r>
              <a:rPr lang="en-US" dirty="0" smtClean="0"/>
              <a:t>. </a:t>
            </a:r>
          </a:p>
          <a:p>
            <a:r>
              <a:rPr lang="en-US" dirty="0" smtClean="0"/>
              <a:t>k </a:t>
            </a:r>
            <a:r>
              <a:rPr lang="en-US" dirty="0"/>
              <a:t>for Boltzmann’s </a:t>
            </a:r>
            <a:r>
              <a:rPr lang="en-US" dirty="0" smtClean="0"/>
              <a:t>constant - the </a:t>
            </a:r>
            <a:r>
              <a:rPr lang="en-US" dirty="0"/>
              <a:t>proportionality factor that relates the average relative kinetic energy of particles in a gas with the thermodynamic temperature of the </a:t>
            </a:r>
            <a:r>
              <a:rPr lang="en-US" dirty="0" smtClean="0"/>
              <a:t>gas (</a:t>
            </a:r>
            <a:r>
              <a:rPr lang="en-IN" dirty="0"/>
              <a:t>1.380649 × </a:t>
            </a:r>
            <a:r>
              <a:rPr lang="en-IN" dirty="0" smtClean="0"/>
              <a:t>10</a:t>
            </a:r>
            <a:r>
              <a:rPr lang="en-IN" baseline="30000" dirty="0" smtClean="0"/>
              <a:t>-23</a:t>
            </a:r>
            <a:r>
              <a:rPr lang="en-IN" dirty="0"/>
              <a:t> </a:t>
            </a:r>
            <a:r>
              <a:rPr lang="en-IN" dirty="0" smtClean="0"/>
              <a:t>)</a:t>
            </a:r>
            <a:r>
              <a:rPr lang="en-US" dirty="0" smtClean="0"/>
              <a:t>.</a:t>
            </a:r>
            <a:r>
              <a:rPr lang="en-US" dirty="0"/>
              <a:t> </a:t>
            </a:r>
            <a:endParaRPr lang="en-US" dirty="0" smtClean="0"/>
          </a:p>
          <a:p>
            <a:r>
              <a:rPr lang="en-US" dirty="0" smtClean="0"/>
              <a:t>c </a:t>
            </a:r>
            <a:r>
              <a:rPr lang="en-US" dirty="0"/>
              <a:t>for the speed of light and </a:t>
            </a:r>
            <a:endParaRPr lang="en-US" dirty="0" smtClean="0"/>
          </a:p>
          <a:p>
            <a:r>
              <a:rPr lang="en-US" dirty="0" smtClean="0"/>
              <a:t>λ </a:t>
            </a:r>
            <a:r>
              <a:rPr lang="en-US" dirty="0"/>
              <a:t>for the </a:t>
            </a:r>
            <a:r>
              <a:rPr lang="en-US" dirty="0" smtClean="0"/>
              <a:t>wavelength</a:t>
            </a:r>
          </a:p>
          <a:p>
            <a:endParaRPr lang="en-IN" dirty="0"/>
          </a:p>
        </p:txBody>
      </p:sp>
      <p:pic>
        <p:nvPicPr>
          <p:cNvPr id="4" name="Content Placeholder 3"/>
          <p:cNvPicPr>
            <a:picLocks noChangeAspect="1"/>
          </p:cNvPicPr>
          <p:nvPr/>
        </p:nvPicPr>
        <p:blipFill rotWithShape="1">
          <a:blip r:embed="rId2"/>
          <a:srcRect l="44092" t="42443" r="32438" b="45319"/>
          <a:stretch/>
        </p:blipFill>
        <p:spPr>
          <a:xfrm>
            <a:off x="6035039" y="4660718"/>
            <a:ext cx="4368018" cy="1587681"/>
          </a:xfrm>
          <a:prstGeom prst="rect">
            <a:avLst/>
          </a:prstGeom>
        </p:spPr>
      </p:pic>
    </p:spTree>
    <p:extLst>
      <p:ext uri="{BB962C8B-B14F-4D97-AF65-F5344CB8AC3E}">
        <p14:creationId xmlns:p14="http://schemas.microsoft.com/office/powerpoint/2010/main" val="2222206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Sun and the Sky </a:t>
            </a:r>
            <a:endParaRPr lang="en-IN" dirty="0"/>
          </a:p>
        </p:txBody>
      </p:sp>
      <p:sp>
        <p:nvSpPr>
          <p:cNvPr id="5" name="Content Placeholder 4"/>
          <p:cNvSpPr>
            <a:spLocks noGrp="1"/>
          </p:cNvSpPr>
          <p:nvPr>
            <p:ph idx="1"/>
          </p:nvPr>
        </p:nvSpPr>
        <p:spPr/>
        <p:txBody>
          <a:bodyPr>
            <a:normAutofit lnSpcReduction="10000"/>
          </a:bodyPr>
          <a:lstStyle/>
          <a:p>
            <a:r>
              <a:rPr lang="en-US" dirty="0"/>
              <a:t>The most important natural light source is the sun. </a:t>
            </a:r>
            <a:endParaRPr lang="en-US" dirty="0" smtClean="0"/>
          </a:p>
          <a:p>
            <a:r>
              <a:rPr lang="en-US" dirty="0" smtClean="0"/>
              <a:t>The </a:t>
            </a:r>
            <a:r>
              <a:rPr lang="en-US" dirty="0"/>
              <a:t>sun is usually modelled as a distant, bright point. </a:t>
            </a:r>
            <a:endParaRPr lang="en-US" dirty="0" smtClean="0"/>
          </a:p>
          <a:p>
            <a:r>
              <a:rPr lang="en-US" dirty="0" smtClean="0"/>
              <a:t>The </a:t>
            </a:r>
            <a:r>
              <a:rPr lang="en-US" dirty="0" err="1"/>
              <a:t>colour</a:t>
            </a:r>
            <a:r>
              <a:rPr lang="en-US" dirty="0"/>
              <a:t> of sunlight varies with time of day </a:t>
            </a:r>
            <a:r>
              <a:rPr lang="en-US" dirty="0" smtClean="0"/>
              <a:t>and </a:t>
            </a:r>
            <a:r>
              <a:rPr lang="en-US" dirty="0"/>
              <a:t>time of </a:t>
            </a:r>
            <a:r>
              <a:rPr lang="en-US" dirty="0" smtClean="0"/>
              <a:t>year</a:t>
            </a:r>
          </a:p>
          <a:p>
            <a:r>
              <a:rPr lang="en-US" dirty="0"/>
              <a:t>The sky is another important natural light source. </a:t>
            </a:r>
            <a:endParaRPr lang="en-US" dirty="0" smtClean="0"/>
          </a:p>
          <a:p>
            <a:r>
              <a:rPr lang="en-US" dirty="0" smtClean="0"/>
              <a:t>The crude (basic) geometrical </a:t>
            </a:r>
            <a:r>
              <a:rPr lang="en-US" dirty="0"/>
              <a:t>model </a:t>
            </a:r>
            <a:r>
              <a:rPr lang="en-US" dirty="0" smtClean="0"/>
              <a:t>is </a:t>
            </a:r>
            <a:r>
              <a:rPr lang="en-US" dirty="0"/>
              <a:t>a hemisphere with constant </a:t>
            </a:r>
            <a:r>
              <a:rPr lang="en-US" dirty="0" err="1"/>
              <a:t>exitance</a:t>
            </a:r>
            <a:r>
              <a:rPr lang="en-US" dirty="0"/>
              <a:t>. </a:t>
            </a:r>
            <a:endParaRPr lang="en-US" dirty="0" smtClean="0"/>
          </a:p>
          <a:p>
            <a:r>
              <a:rPr lang="en-US" dirty="0" smtClean="0"/>
              <a:t>The </a:t>
            </a:r>
            <a:r>
              <a:rPr lang="en-US" dirty="0"/>
              <a:t>zenith is an imaginary point directly "above" a particular location, on the imaginary celestial </a:t>
            </a:r>
            <a:r>
              <a:rPr lang="en-US" dirty="0" smtClean="0"/>
              <a:t>sphere</a:t>
            </a:r>
          </a:p>
          <a:p>
            <a:r>
              <a:rPr lang="en-US" dirty="0"/>
              <a:t>The assumption that </a:t>
            </a:r>
            <a:r>
              <a:rPr lang="en-US" dirty="0" err="1"/>
              <a:t>exitance</a:t>
            </a:r>
            <a:r>
              <a:rPr lang="en-US" dirty="0"/>
              <a:t> is constant is poor, however, because the sky is substantially brighter at the horizon than at the zenith. </a:t>
            </a:r>
          </a:p>
          <a:p>
            <a:r>
              <a:rPr lang="en-US" dirty="0" smtClean="0"/>
              <a:t>The </a:t>
            </a:r>
            <a:r>
              <a:rPr lang="en-US" dirty="0"/>
              <a:t>sky is bright because light from the sun is scattered by the air.</a:t>
            </a:r>
            <a:endParaRPr lang="en-IN" dirty="0"/>
          </a:p>
        </p:txBody>
      </p:sp>
      <p:pic>
        <p:nvPicPr>
          <p:cNvPr id="3074" name="Picture 2" descr="Zeni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3027" y="3930480"/>
            <a:ext cx="1571625" cy="1571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4572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46111" y="1975546"/>
            <a:ext cx="10910497" cy="4195481"/>
          </a:xfrm>
        </p:spPr>
        <p:txBody>
          <a:bodyPr>
            <a:normAutofit fontScale="92500" lnSpcReduction="10000"/>
          </a:bodyPr>
          <a:lstStyle/>
          <a:p>
            <a:r>
              <a:rPr lang="en-US" dirty="0"/>
              <a:t>The natural model is to </a:t>
            </a:r>
            <a:r>
              <a:rPr lang="en-US" dirty="0" smtClean="0"/>
              <a:t>consider </a:t>
            </a:r>
            <a:r>
              <a:rPr lang="en-US" dirty="0"/>
              <a:t>air </a:t>
            </a:r>
            <a:r>
              <a:rPr lang="en-US" dirty="0" smtClean="0"/>
              <a:t>is emitting </a:t>
            </a:r>
            <a:r>
              <a:rPr lang="en-US" dirty="0"/>
              <a:t>a constant amount of light per unit volume; </a:t>
            </a:r>
            <a:endParaRPr lang="en-US" dirty="0" smtClean="0"/>
          </a:p>
          <a:p>
            <a:r>
              <a:rPr lang="en-US" dirty="0"/>
              <a:t>T</a:t>
            </a:r>
            <a:r>
              <a:rPr lang="en-US" dirty="0" smtClean="0"/>
              <a:t>his </a:t>
            </a:r>
            <a:r>
              <a:rPr lang="en-US" dirty="0"/>
              <a:t>means that the sky is brighter on the horizon than at the zenith, because a viewing ray along the horizon passes through more sky</a:t>
            </a:r>
            <a:r>
              <a:rPr lang="en-US" dirty="0" smtClean="0"/>
              <a:t>.</a:t>
            </a:r>
          </a:p>
          <a:p>
            <a:r>
              <a:rPr lang="en-US" dirty="0"/>
              <a:t>For clear air, the intensity of radiation scattered by a unit volume depends on the fourth power of the frequency; </a:t>
            </a:r>
            <a:endParaRPr lang="en-US" dirty="0" smtClean="0"/>
          </a:p>
          <a:p>
            <a:r>
              <a:rPr lang="en-US" b="1" dirty="0"/>
              <a:t>I</a:t>
            </a:r>
            <a:r>
              <a:rPr lang="en-US" b="1" dirty="0" smtClean="0"/>
              <a:t>ntensity </a:t>
            </a:r>
            <a:r>
              <a:rPr lang="en-US" b="1" dirty="0"/>
              <a:t>of the scattered light increases as the fourth power of its frequency;</a:t>
            </a:r>
            <a:r>
              <a:rPr lang="en-US" dirty="0"/>
              <a:t> this strong dependence on frequency explains the </a:t>
            </a:r>
            <a:r>
              <a:rPr lang="en-US" dirty="0" err="1"/>
              <a:t>colour</a:t>
            </a:r>
            <a:r>
              <a:rPr lang="en-US" dirty="0"/>
              <a:t> of the sunlit sky.</a:t>
            </a:r>
            <a:endParaRPr lang="en-US" dirty="0" smtClean="0"/>
          </a:p>
          <a:p>
            <a:r>
              <a:rPr lang="en-US" dirty="0" smtClean="0"/>
              <a:t>this </a:t>
            </a:r>
            <a:r>
              <a:rPr lang="en-US" dirty="0"/>
              <a:t>means that light of a long wavelength can travel very much further before being scattered than light of a short wavelength (this is known as Rayleigh scattering). </a:t>
            </a:r>
            <a:endParaRPr lang="en-US" dirty="0" smtClean="0"/>
          </a:p>
          <a:p>
            <a:r>
              <a:rPr lang="en-US" dirty="0" smtClean="0"/>
              <a:t>This </a:t>
            </a:r>
            <a:r>
              <a:rPr lang="en-US" dirty="0"/>
              <a:t>means that, when the sun is high in the sky, blue light is scattered out of the ray from the sun to the earth — meaning that the sun looks yellow — and can scatter from the sky into the eye — meaning that the sky looks blue. </a:t>
            </a:r>
            <a:endParaRPr lang="en-IN" dirty="0"/>
          </a:p>
        </p:txBody>
      </p:sp>
    </p:spTree>
    <p:extLst>
      <p:ext uri="{BB962C8B-B14F-4D97-AF65-F5344CB8AC3E}">
        <p14:creationId xmlns:p14="http://schemas.microsoft.com/office/powerpoint/2010/main" val="195907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Artificial Illumination</a:t>
            </a:r>
          </a:p>
        </p:txBody>
      </p:sp>
      <p:sp>
        <p:nvSpPr>
          <p:cNvPr id="3" name="Content Placeholder 2"/>
          <p:cNvSpPr>
            <a:spLocks noGrp="1"/>
          </p:cNvSpPr>
          <p:nvPr>
            <p:ph idx="1"/>
          </p:nvPr>
        </p:nvSpPr>
        <p:spPr>
          <a:xfrm>
            <a:off x="1103312" y="1174652"/>
            <a:ext cx="10530670" cy="5620043"/>
          </a:xfrm>
        </p:spPr>
        <p:txBody>
          <a:bodyPr>
            <a:normAutofit fontScale="92500" lnSpcReduction="20000"/>
          </a:bodyPr>
          <a:lstStyle/>
          <a:p>
            <a:r>
              <a:rPr lang="en-US" dirty="0"/>
              <a:t>Typical artificial light sources are </a:t>
            </a:r>
            <a:r>
              <a:rPr lang="en-US" dirty="0" smtClean="0"/>
              <a:t>very small in number</a:t>
            </a:r>
          </a:p>
          <a:p>
            <a:r>
              <a:rPr lang="en-US" dirty="0" smtClean="0"/>
              <a:t>An </a:t>
            </a:r>
            <a:r>
              <a:rPr lang="en-US" dirty="0"/>
              <a:t>incandescent light bulb or light source is </a:t>
            </a:r>
            <a:r>
              <a:rPr lang="en-US" b="1" dirty="0"/>
              <a:t>any device that uses electricity to heat a filament—or wire—until it is hot enough to glow </a:t>
            </a:r>
            <a:r>
              <a:rPr lang="en-US" b="1" dirty="0" smtClean="0"/>
              <a:t>white</a:t>
            </a:r>
          </a:p>
          <a:p>
            <a:r>
              <a:rPr lang="en-US" dirty="0"/>
              <a:t>An </a:t>
            </a:r>
            <a:r>
              <a:rPr lang="en-US" b="1" dirty="0"/>
              <a:t>incandescent light </a:t>
            </a:r>
            <a:r>
              <a:rPr lang="en-US" dirty="0"/>
              <a:t>contains a metal filament which is heated to a high temperature. </a:t>
            </a:r>
          </a:p>
          <a:p>
            <a:r>
              <a:rPr lang="en-US" dirty="0" smtClean="0"/>
              <a:t>This follows the </a:t>
            </a:r>
            <a:r>
              <a:rPr lang="en-US" dirty="0"/>
              <a:t>black-body law, meaning that incandescent lights </a:t>
            </a:r>
            <a:r>
              <a:rPr lang="en-US" dirty="0" smtClean="0"/>
              <a:t>have </a:t>
            </a:r>
            <a:r>
              <a:rPr lang="en-US" dirty="0"/>
              <a:t>a reddish </a:t>
            </a:r>
            <a:r>
              <a:rPr lang="en-US" dirty="0" smtClean="0"/>
              <a:t>tinge</a:t>
            </a:r>
          </a:p>
          <a:p>
            <a:r>
              <a:rPr lang="en-US" dirty="0"/>
              <a:t>Fluorescent lights work by generating high speed electrons that strike gas within the bulb; </a:t>
            </a:r>
            <a:endParaRPr lang="en-US" dirty="0" smtClean="0"/>
          </a:p>
          <a:p>
            <a:r>
              <a:rPr lang="en-US" dirty="0" smtClean="0"/>
              <a:t>this </a:t>
            </a:r>
            <a:r>
              <a:rPr lang="en-US" dirty="0"/>
              <a:t>in turn releases ultraviolet radiation, which causes phosphors coating the inside of the bulb to fluoresce. </a:t>
            </a:r>
            <a:endParaRPr lang="en-US" dirty="0" smtClean="0"/>
          </a:p>
          <a:p>
            <a:r>
              <a:rPr lang="en-US" dirty="0" smtClean="0"/>
              <a:t>Typically </a:t>
            </a:r>
            <a:r>
              <a:rPr lang="en-US" dirty="0"/>
              <a:t>the coating consists of three or four phosphors, which fluoresce in quite narrow ranges of wavelengths. </a:t>
            </a:r>
            <a:endParaRPr lang="en-US" dirty="0" smtClean="0"/>
          </a:p>
          <a:p>
            <a:r>
              <a:rPr lang="en-US" dirty="0"/>
              <a:t>A fluorescent lamp, or fluorescent tube, is a </a:t>
            </a:r>
            <a:r>
              <a:rPr lang="en-US" b="1" dirty="0"/>
              <a:t>low-pressure mercury-vapor gas-discharge lamp</a:t>
            </a:r>
            <a:r>
              <a:rPr lang="en-US" dirty="0"/>
              <a:t> that uses fluorescence to produce visible light. An electric current in the gas excites mercury vapor, which produces short-wave ultraviolet light that then causes a phosphor coating on the inside of the lamp to glow</a:t>
            </a:r>
            <a:endParaRPr lang="en-US" dirty="0" smtClean="0"/>
          </a:p>
          <a:p>
            <a:r>
              <a:rPr lang="en-US" dirty="0" smtClean="0"/>
              <a:t>Most </a:t>
            </a:r>
            <a:r>
              <a:rPr lang="en-US" dirty="0"/>
              <a:t>fluorescent bulbs generate light with a bluish tinge, but bulbs that mimic natural daylight are increasingly available</a:t>
            </a:r>
            <a:endParaRPr lang="en-IN" dirty="0"/>
          </a:p>
        </p:txBody>
      </p:sp>
    </p:spTree>
    <p:extLst>
      <p:ext uri="{BB962C8B-B14F-4D97-AF65-F5344CB8AC3E}">
        <p14:creationId xmlns:p14="http://schemas.microsoft.com/office/powerpoint/2010/main" val="2866453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46111" y="2095121"/>
            <a:ext cx="10847193" cy="4195481"/>
          </a:xfrm>
        </p:spPr>
        <p:txBody>
          <a:bodyPr>
            <a:normAutofit lnSpcReduction="10000"/>
          </a:bodyPr>
          <a:lstStyle/>
          <a:p>
            <a:r>
              <a:rPr lang="en-US" dirty="0"/>
              <a:t>In some bulbs, an arc is struck in an atmosphere consisting of gaseous metals and inert gases. </a:t>
            </a:r>
            <a:endParaRPr lang="en-US" dirty="0" smtClean="0"/>
          </a:p>
          <a:p>
            <a:r>
              <a:rPr lang="en-US" dirty="0" smtClean="0"/>
              <a:t>Light </a:t>
            </a:r>
            <a:r>
              <a:rPr lang="en-US" dirty="0"/>
              <a:t>is produced by electrons in metal </a:t>
            </a:r>
            <a:r>
              <a:rPr lang="en-US" dirty="0" smtClean="0"/>
              <a:t>atoms</a:t>
            </a:r>
          </a:p>
          <a:p>
            <a:r>
              <a:rPr lang="en-US" dirty="0" smtClean="0"/>
              <a:t>The electrons drop from an excited state </a:t>
            </a:r>
            <a:r>
              <a:rPr lang="en-US" dirty="0"/>
              <a:t>to a lower energy state. </a:t>
            </a:r>
            <a:endParaRPr lang="en-US" dirty="0" smtClean="0"/>
          </a:p>
          <a:p>
            <a:r>
              <a:rPr lang="en-US" dirty="0" smtClean="0"/>
              <a:t>Such lamps have strong radiation at small number of wavelengths, which corresponds to the state transitions</a:t>
            </a:r>
          </a:p>
          <a:p>
            <a:r>
              <a:rPr lang="en-US" dirty="0" smtClean="0"/>
              <a:t>The </a:t>
            </a:r>
            <a:r>
              <a:rPr lang="en-US" dirty="0"/>
              <a:t>most common cases are sodium arc lamps, and mercury arc lamps. </a:t>
            </a:r>
            <a:endParaRPr lang="en-US" dirty="0" smtClean="0"/>
          </a:p>
          <a:p>
            <a:r>
              <a:rPr lang="en-US" dirty="0" smtClean="0"/>
              <a:t>Sodium </a:t>
            </a:r>
            <a:r>
              <a:rPr lang="en-US" dirty="0"/>
              <a:t>arc lamps produce a yellow-orange light extremely efficiently, and are quite commonly used for freeway lighting. </a:t>
            </a:r>
            <a:endParaRPr lang="en-US" dirty="0" smtClean="0"/>
          </a:p>
          <a:p>
            <a:r>
              <a:rPr lang="en-US" dirty="0" smtClean="0"/>
              <a:t>Mercury </a:t>
            </a:r>
            <a:r>
              <a:rPr lang="en-US" dirty="0"/>
              <a:t>arc lamps produce a blue-white light, and are often used for security lighting</a:t>
            </a:r>
            <a:endParaRPr lang="en-IN" dirty="0"/>
          </a:p>
        </p:txBody>
      </p:sp>
    </p:spTree>
    <p:extLst>
      <p:ext uri="{BB962C8B-B14F-4D97-AF65-F5344CB8AC3E}">
        <p14:creationId xmlns:p14="http://schemas.microsoft.com/office/powerpoint/2010/main" val="3424489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Human Colour Perception</a:t>
            </a:r>
          </a:p>
        </p:txBody>
      </p:sp>
      <p:sp>
        <p:nvSpPr>
          <p:cNvPr id="3" name="Content Placeholder 2"/>
          <p:cNvSpPr>
            <a:spLocks noGrp="1"/>
          </p:cNvSpPr>
          <p:nvPr>
            <p:ph idx="1"/>
          </p:nvPr>
        </p:nvSpPr>
        <p:spPr/>
        <p:txBody>
          <a:bodyPr/>
          <a:lstStyle/>
          <a:p>
            <a:r>
              <a:rPr lang="en-US" dirty="0"/>
              <a:t>Human perception of </a:t>
            </a:r>
            <a:r>
              <a:rPr lang="en-US" dirty="0" err="1"/>
              <a:t>colour</a:t>
            </a:r>
            <a:r>
              <a:rPr lang="en-US" dirty="0"/>
              <a:t> is a complex function </a:t>
            </a:r>
            <a:endParaRPr lang="en-US" dirty="0" smtClean="0"/>
          </a:p>
          <a:p>
            <a:r>
              <a:rPr lang="en-US" dirty="0" smtClean="0"/>
              <a:t>illumination</a:t>
            </a:r>
            <a:r>
              <a:rPr lang="en-US" dirty="0"/>
              <a:t>, memory, object identity and emotion can all play a part. </a:t>
            </a:r>
            <a:endParaRPr lang="en-US" dirty="0" smtClean="0"/>
          </a:p>
          <a:p>
            <a:endParaRPr lang="en-IN" dirty="0"/>
          </a:p>
        </p:txBody>
      </p:sp>
    </p:spTree>
    <p:extLst>
      <p:ext uri="{BB962C8B-B14F-4D97-AF65-F5344CB8AC3E}">
        <p14:creationId xmlns:p14="http://schemas.microsoft.com/office/powerpoint/2010/main" val="537914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Colour Matching</a:t>
            </a:r>
          </a:p>
        </p:txBody>
      </p:sp>
      <p:sp>
        <p:nvSpPr>
          <p:cNvPr id="3" name="Content Placeholder 2"/>
          <p:cNvSpPr>
            <a:spLocks noGrp="1"/>
          </p:cNvSpPr>
          <p:nvPr>
            <p:ph idx="1"/>
          </p:nvPr>
        </p:nvSpPr>
        <p:spPr>
          <a:xfrm>
            <a:off x="646111" y="1412838"/>
            <a:ext cx="10601008" cy="4195481"/>
          </a:xfrm>
        </p:spPr>
        <p:txBody>
          <a:bodyPr/>
          <a:lstStyle/>
          <a:p>
            <a:r>
              <a:rPr lang="en-US" dirty="0"/>
              <a:t>The simplest case of </a:t>
            </a:r>
            <a:r>
              <a:rPr lang="en-US" dirty="0" err="1"/>
              <a:t>colour</a:t>
            </a:r>
            <a:r>
              <a:rPr lang="en-US" dirty="0"/>
              <a:t> perception is obtained when only two </a:t>
            </a:r>
            <a:r>
              <a:rPr lang="en-US" dirty="0" err="1"/>
              <a:t>colours</a:t>
            </a:r>
            <a:r>
              <a:rPr lang="en-US" dirty="0"/>
              <a:t> are in view, on a black </a:t>
            </a:r>
            <a:r>
              <a:rPr lang="en-US" dirty="0" smtClean="0"/>
              <a:t>background.</a:t>
            </a:r>
          </a:p>
          <a:p>
            <a:r>
              <a:rPr lang="en-US" dirty="0" smtClean="0"/>
              <a:t>In </a:t>
            </a:r>
            <a:r>
              <a:rPr lang="en-US" dirty="0"/>
              <a:t>a typical experiment a subject sees a </a:t>
            </a:r>
            <a:r>
              <a:rPr lang="en-US" dirty="0" err="1"/>
              <a:t>coloured</a:t>
            </a:r>
            <a:r>
              <a:rPr lang="en-US" dirty="0"/>
              <a:t> light — the test light — in one half of a split field. </a:t>
            </a:r>
            <a:endParaRPr lang="en-US" dirty="0" smtClean="0"/>
          </a:p>
          <a:p>
            <a:r>
              <a:rPr lang="en-US" dirty="0" smtClean="0"/>
              <a:t>The </a:t>
            </a:r>
            <a:r>
              <a:rPr lang="en-US" dirty="0"/>
              <a:t>subject can then adjust a mixture of lights in the other half to get it to match. </a:t>
            </a:r>
            <a:endParaRPr lang="en-US" dirty="0" smtClean="0"/>
          </a:p>
          <a:p>
            <a:r>
              <a:rPr lang="en-US" dirty="0" smtClean="0"/>
              <a:t>The </a:t>
            </a:r>
            <a:r>
              <a:rPr lang="en-US" dirty="0"/>
              <a:t>adjustments involve changing the intensity of some fixed number of primaries in the mixture. </a:t>
            </a:r>
            <a:endParaRPr lang="en-US" dirty="0" smtClean="0"/>
          </a:p>
          <a:p>
            <a:r>
              <a:rPr lang="en-US" dirty="0" smtClean="0"/>
              <a:t>In </a:t>
            </a:r>
            <a:r>
              <a:rPr lang="en-US" dirty="0"/>
              <a:t>this form, a large number of lights may be required to obtain a match, but many different adjustments may yield a match.</a:t>
            </a:r>
            <a:endParaRPr lang="en-IN" dirty="0"/>
          </a:p>
        </p:txBody>
      </p:sp>
    </p:spTree>
    <p:extLst>
      <p:ext uri="{BB962C8B-B14F-4D97-AF65-F5344CB8AC3E}">
        <p14:creationId xmlns:p14="http://schemas.microsoft.com/office/powerpoint/2010/main" val="27724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l="27663" t="39257" r="28751" b="25035"/>
          <a:stretch/>
        </p:blipFill>
        <p:spPr>
          <a:xfrm>
            <a:off x="330591" y="452718"/>
            <a:ext cx="9973994" cy="5364273"/>
          </a:xfrm>
          <a:prstGeom prst="rect">
            <a:avLst/>
          </a:prstGeom>
        </p:spPr>
      </p:pic>
    </p:spTree>
    <p:extLst>
      <p:ext uri="{BB962C8B-B14F-4D97-AF65-F5344CB8AC3E}">
        <p14:creationId xmlns:p14="http://schemas.microsoft.com/office/powerpoint/2010/main" val="2119263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dirty="0"/>
              <a:t>A match can then written in an algebraic form as </a:t>
            </a:r>
          </a:p>
          <a:p>
            <a:r>
              <a:rPr lang="en-IN" dirty="0"/>
              <a:t>T = w</a:t>
            </a:r>
            <a:r>
              <a:rPr lang="en-IN" baseline="-25000" dirty="0"/>
              <a:t>1</a:t>
            </a:r>
            <a:r>
              <a:rPr lang="en-IN" dirty="0"/>
              <a:t>P</a:t>
            </a:r>
            <a:r>
              <a:rPr lang="en-IN" baseline="-25000" dirty="0"/>
              <a:t>1</a:t>
            </a:r>
            <a:r>
              <a:rPr lang="en-IN" dirty="0"/>
              <a:t> + w</a:t>
            </a:r>
            <a:r>
              <a:rPr lang="en-IN" baseline="-25000" dirty="0"/>
              <a:t>2</a:t>
            </a:r>
            <a:r>
              <a:rPr lang="en-IN" dirty="0"/>
              <a:t>P</a:t>
            </a:r>
            <a:r>
              <a:rPr lang="en-IN" baseline="-25000" dirty="0"/>
              <a:t>2</a:t>
            </a:r>
            <a:r>
              <a:rPr lang="en-IN" dirty="0"/>
              <a:t> + ... </a:t>
            </a:r>
          </a:p>
          <a:p>
            <a:r>
              <a:rPr lang="en-US" dirty="0" smtClean="0"/>
              <a:t>T </a:t>
            </a:r>
            <a:r>
              <a:rPr lang="en-US" dirty="0"/>
              <a:t>for the test light, </a:t>
            </a:r>
            <a:endParaRPr lang="en-US" dirty="0" smtClean="0"/>
          </a:p>
          <a:p>
            <a:r>
              <a:rPr lang="en-US" dirty="0" smtClean="0"/>
              <a:t>the </a:t>
            </a:r>
            <a:r>
              <a:rPr lang="en-US" dirty="0"/>
              <a:t>weights </a:t>
            </a:r>
            <a:r>
              <a:rPr lang="en-US" dirty="0" err="1"/>
              <a:t>w</a:t>
            </a:r>
            <a:r>
              <a:rPr lang="en-US" baseline="-25000" dirty="0" err="1"/>
              <a:t>i</a:t>
            </a:r>
            <a:r>
              <a:rPr lang="en-US" dirty="0"/>
              <a:t> and the primaries P</a:t>
            </a:r>
            <a:r>
              <a:rPr lang="en-US" baseline="-25000" dirty="0"/>
              <a:t>i</a:t>
            </a:r>
            <a:r>
              <a:rPr lang="en-US" dirty="0"/>
              <a:t> </a:t>
            </a:r>
            <a:r>
              <a:rPr lang="en-US" dirty="0" smtClean="0"/>
              <a:t>are non-negative. </a:t>
            </a:r>
          </a:p>
          <a:p>
            <a:r>
              <a:rPr lang="en-US" dirty="0" smtClean="0"/>
              <a:t>meaning </a:t>
            </a:r>
            <a:r>
              <a:rPr lang="en-US" dirty="0"/>
              <a:t>that test light T matches the particular mixture of primaries given by (w1, w2, w3</a:t>
            </a:r>
            <a:r>
              <a:rPr lang="en-US" dirty="0" smtClean="0"/>
              <a:t>).</a:t>
            </a:r>
          </a:p>
          <a:p>
            <a:r>
              <a:rPr lang="en-US" dirty="0" smtClean="0"/>
              <a:t>This is called additive matching</a:t>
            </a:r>
          </a:p>
          <a:p>
            <a:r>
              <a:rPr lang="en-US" dirty="0" smtClean="0"/>
              <a:t>The </a:t>
            </a:r>
            <a:r>
              <a:rPr lang="en-US" dirty="0"/>
              <a:t>situation is simplified if subtractive matching is allowed: </a:t>
            </a:r>
            <a:endParaRPr lang="en-US" dirty="0" smtClean="0"/>
          </a:p>
          <a:p>
            <a:r>
              <a:rPr lang="en-US" dirty="0" smtClean="0"/>
              <a:t>in </a:t>
            </a:r>
            <a:r>
              <a:rPr lang="en-US" dirty="0"/>
              <a:t>subtractive matching, the viewer can add some amount of some primaries to the test light instead of to the match. </a:t>
            </a:r>
            <a:endParaRPr lang="en-US" dirty="0" smtClean="0"/>
          </a:p>
          <a:p>
            <a:r>
              <a:rPr lang="en-US" dirty="0" smtClean="0"/>
              <a:t>This </a:t>
            </a:r>
            <a:r>
              <a:rPr lang="en-US" dirty="0"/>
              <a:t>can be written in algebraic form by allowing the weights in the expression above to be negative. </a:t>
            </a:r>
            <a:endParaRPr lang="en-IN" dirty="0"/>
          </a:p>
        </p:txBody>
      </p:sp>
      <p:pic>
        <p:nvPicPr>
          <p:cNvPr id="4098" name="Picture 2" descr="Image result for subtractive matching in color perce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1551" y="1442525"/>
            <a:ext cx="3814689" cy="1947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16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Trichromacy</a:t>
            </a:r>
            <a:endParaRPr lang="en-IN" dirty="0"/>
          </a:p>
        </p:txBody>
      </p:sp>
      <p:sp>
        <p:nvSpPr>
          <p:cNvPr id="3" name="Content Placeholder 2"/>
          <p:cNvSpPr>
            <a:spLocks noGrp="1"/>
          </p:cNvSpPr>
          <p:nvPr>
            <p:ph idx="1"/>
          </p:nvPr>
        </p:nvSpPr>
        <p:spPr/>
        <p:txBody>
          <a:bodyPr>
            <a:normAutofit fontScale="85000" lnSpcReduction="20000"/>
          </a:bodyPr>
          <a:lstStyle/>
          <a:p>
            <a:r>
              <a:rPr lang="en-US" dirty="0" err="1"/>
              <a:t>Trichromacy</a:t>
            </a:r>
            <a:r>
              <a:rPr lang="en-US" dirty="0"/>
              <a:t> or </a:t>
            </a:r>
            <a:r>
              <a:rPr lang="en-US" dirty="0" err="1"/>
              <a:t>trichromatism</a:t>
            </a:r>
            <a:r>
              <a:rPr lang="en-US" dirty="0"/>
              <a:t> is the possessing of three independent channels for conveying color information, derived from the three different types of cone cells in the eye. </a:t>
            </a:r>
            <a:endParaRPr lang="en-US" dirty="0" smtClean="0"/>
          </a:p>
          <a:p>
            <a:r>
              <a:rPr lang="en-US" dirty="0" smtClean="0"/>
              <a:t>Organisms </a:t>
            </a:r>
            <a:r>
              <a:rPr lang="en-US" dirty="0"/>
              <a:t>with </a:t>
            </a:r>
            <a:r>
              <a:rPr lang="en-US" dirty="0" err="1"/>
              <a:t>trichromacy</a:t>
            </a:r>
            <a:r>
              <a:rPr lang="en-US" dirty="0"/>
              <a:t> are called </a:t>
            </a:r>
            <a:r>
              <a:rPr lang="en-US" dirty="0" err="1"/>
              <a:t>trichromats</a:t>
            </a:r>
            <a:r>
              <a:rPr lang="en-US" dirty="0"/>
              <a:t>. </a:t>
            </a:r>
            <a:endParaRPr lang="en-US" dirty="0" smtClean="0"/>
          </a:p>
          <a:p>
            <a:r>
              <a:rPr lang="en-US" dirty="0" smtClean="0"/>
              <a:t>The </a:t>
            </a:r>
            <a:r>
              <a:rPr lang="en-US" dirty="0"/>
              <a:t>normal explanation of </a:t>
            </a:r>
            <a:r>
              <a:rPr lang="en-US" dirty="0" err="1"/>
              <a:t>trichromacy</a:t>
            </a:r>
            <a:r>
              <a:rPr lang="en-US" dirty="0"/>
              <a:t> is that the organism's retina contains three types of color receptors (called cone cells in vertebrates) with different absorption spectra.</a:t>
            </a:r>
            <a:endParaRPr lang="en-US" dirty="0" smtClean="0"/>
          </a:p>
          <a:p>
            <a:r>
              <a:rPr lang="en-US" dirty="0" smtClean="0"/>
              <a:t>It </a:t>
            </a:r>
            <a:r>
              <a:rPr lang="en-US" dirty="0"/>
              <a:t>is </a:t>
            </a:r>
            <a:r>
              <a:rPr lang="en-US" dirty="0" smtClean="0"/>
              <a:t>an </a:t>
            </a:r>
            <a:r>
              <a:rPr lang="en-US" dirty="0"/>
              <a:t>experimental fact that for most observers only three primaries are required to match a test light. </a:t>
            </a:r>
            <a:endParaRPr lang="en-US" dirty="0" smtClean="0"/>
          </a:p>
          <a:p>
            <a:r>
              <a:rPr lang="en-US" dirty="0" smtClean="0"/>
              <a:t>There </a:t>
            </a:r>
            <a:r>
              <a:rPr lang="en-US" dirty="0"/>
              <a:t>are some </a:t>
            </a:r>
            <a:r>
              <a:rPr lang="en-US" dirty="0" smtClean="0"/>
              <a:t>caveats (limitations). </a:t>
            </a:r>
          </a:p>
          <a:p>
            <a:r>
              <a:rPr lang="en-US" dirty="0" smtClean="0"/>
              <a:t>Firstly</a:t>
            </a:r>
            <a:r>
              <a:rPr lang="en-US" dirty="0"/>
              <a:t>, subtractive matching must be </a:t>
            </a:r>
            <a:r>
              <a:rPr lang="en-US" dirty="0" smtClean="0"/>
              <a:t>allowed</a:t>
            </a:r>
          </a:p>
          <a:p>
            <a:r>
              <a:rPr lang="en-US" dirty="0" smtClean="0"/>
              <a:t>Secondly</a:t>
            </a:r>
            <a:r>
              <a:rPr lang="en-US" dirty="0"/>
              <a:t>, the primaries must be independent </a:t>
            </a:r>
            <a:endParaRPr lang="en-US" dirty="0" smtClean="0"/>
          </a:p>
          <a:p>
            <a:r>
              <a:rPr lang="en-US" dirty="0" smtClean="0"/>
              <a:t>That means, mixture </a:t>
            </a:r>
            <a:r>
              <a:rPr lang="en-US" dirty="0"/>
              <a:t>of two of the primaries may </a:t>
            </a:r>
            <a:r>
              <a:rPr lang="en-US" dirty="0" smtClean="0"/>
              <a:t>not match </a:t>
            </a:r>
            <a:r>
              <a:rPr lang="en-US" dirty="0"/>
              <a:t>a third. This phenomenon is known as </a:t>
            </a:r>
            <a:r>
              <a:rPr lang="en-US" dirty="0" smtClean="0"/>
              <a:t>the principle </a:t>
            </a:r>
            <a:r>
              <a:rPr lang="en-US" dirty="0"/>
              <a:t>of </a:t>
            </a:r>
            <a:r>
              <a:rPr lang="en-US" dirty="0" err="1"/>
              <a:t>trichromacy</a:t>
            </a:r>
            <a:r>
              <a:rPr lang="en-US" dirty="0"/>
              <a:t>. </a:t>
            </a:r>
            <a:endParaRPr lang="en-US" dirty="0" smtClean="0"/>
          </a:p>
        </p:txBody>
      </p:sp>
    </p:spTree>
    <p:extLst>
      <p:ext uri="{BB962C8B-B14F-4D97-AF65-F5344CB8AC3E}">
        <p14:creationId xmlns:p14="http://schemas.microsoft.com/office/powerpoint/2010/main" val="1401529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It is a remarkable fact that, </a:t>
            </a:r>
            <a:endParaRPr lang="en-US" dirty="0" smtClean="0"/>
          </a:p>
          <a:p>
            <a:r>
              <a:rPr lang="en-US" dirty="0" smtClean="0"/>
              <a:t>given </a:t>
            </a:r>
            <a:r>
              <a:rPr lang="en-US" dirty="0"/>
              <a:t>the same primaries and the same test light, </a:t>
            </a:r>
            <a:endParaRPr lang="en-US" dirty="0" smtClean="0"/>
          </a:p>
          <a:p>
            <a:r>
              <a:rPr lang="en-US" dirty="0" smtClean="0"/>
              <a:t>most </a:t>
            </a:r>
            <a:r>
              <a:rPr lang="en-US" dirty="0"/>
              <a:t>observers will select the same mixture of primaries to match that test light. </a:t>
            </a:r>
            <a:endParaRPr lang="en-US" dirty="0" smtClean="0"/>
          </a:p>
          <a:p>
            <a:r>
              <a:rPr lang="en-US" dirty="0" smtClean="0"/>
              <a:t>This </a:t>
            </a:r>
            <a:r>
              <a:rPr lang="en-US" dirty="0"/>
              <a:t>phenomenon is usually explained by assuming that the three distinct types of </a:t>
            </a:r>
            <a:r>
              <a:rPr lang="en-US" dirty="0" err="1"/>
              <a:t>colour</a:t>
            </a:r>
            <a:r>
              <a:rPr lang="en-US" dirty="0"/>
              <a:t> transducer are common to most people.</a:t>
            </a:r>
            <a:endParaRPr lang="en-IN" dirty="0"/>
          </a:p>
        </p:txBody>
      </p:sp>
    </p:spTree>
    <p:extLst>
      <p:ext uri="{BB962C8B-B14F-4D97-AF65-F5344CB8AC3E}">
        <p14:creationId xmlns:p14="http://schemas.microsoft.com/office/powerpoint/2010/main" val="1427923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Grassman’s</a:t>
            </a:r>
            <a:r>
              <a:rPr lang="en-US" dirty="0" smtClean="0"/>
              <a:t> Law</a:t>
            </a:r>
            <a:endParaRPr lang="en-IN" dirty="0"/>
          </a:p>
        </p:txBody>
      </p:sp>
      <p:pic>
        <p:nvPicPr>
          <p:cNvPr id="4" name="Content Placeholder 3"/>
          <p:cNvPicPr>
            <a:picLocks noGrp="1" noChangeAspect="1"/>
          </p:cNvPicPr>
          <p:nvPr>
            <p:ph idx="1"/>
          </p:nvPr>
        </p:nvPicPr>
        <p:blipFill rotWithShape="1">
          <a:blip r:embed="rId2"/>
          <a:srcRect l="21964" t="22326" r="21597" b="16317"/>
          <a:stretch/>
        </p:blipFill>
        <p:spPr>
          <a:xfrm>
            <a:off x="872197" y="1322363"/>
            <a:ext cx="10431194" cy="5036234"/>
          </a:xfrm>
          <a:prstGeom prst="rect">
            <a:avLst/>
          </a:prstGeom>
        </p:spPr>
      </p:pic>
    </p:spTree>
    <p:extLst>
      <p:ext uri="{BB962C8B-B14F-4D97-AF65-F5344CB8AC3E}">
        <p14:creationId xmlns:p14="http://schemas.microsoft.com/office/powerpoint/2010/main" val="321034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Colour Receptors</a:t>
            </a:r>
          </a:p>
        </p:txBody>
      </p:sp>
      <p:sp>
        <p:nvSpPr>
          <p:cNvPr id="3" name="Content Placeholder 2"/>
          <p:cNvSpPr>
            <a:spLocks noGrp="1"/>
          </p:cNvSpPr>
          <p:nvPr>
            <p:ph idx="1"/>
          </p:nvPr>
        </p:nvSpPr>
        <p:spPr/>
        <p:txBody>
          <a:bodyPr/>
          <a:lstStyle/>
          <a:p>
            <a:r>
              <a:rPr lang="en-US" dirty="0" err="1"/>
              <a:t>Trichromacy</a:t>
            </a:r>
            <a:r>
              <a:rPr lang="en-US" dirty="0"/>
              <a:t> suggests that there are profound constraints on the way </a:t>
            </a:r>
            <a:r>
              <a:rPr lang="en-US" dirty="0" err="1"/>
              <a:t>colour</a:t>
            </a:r>
            <a:r>
              <a:rPr lang="en-US" dirty="0"/>
              <a:t> is transduced in the eye. </a:t>
            </a:r>
            <a:endParaRPr lang="en-US" dirty="0" smtClean="0"/>
          </a:p>
          <a:p>
            <a:r>
              <a:rPr lang="en-US" dirty="0" smtClean="0"/>
              <a:t>One </a:t>
            </a:r>
            <a:r>
              <a:rPr lang="en-US" dirty="0"/>
              <a:t>hypothesis that satisfactorily explains this phenomenon is to assume that there are three distinct types of receptor in the eye that mediate </a:t>
            </a:r>
            <a:r>
              <a:rPr lang="en-US" dirty="0" err="1"/>
              <a:t>colour</a:t>
            </a:r>
            <a:r>
              <a:rPr lang="en-US" dirty="0"/>
              <a:t> perception. </a:t>
            </a:r>
            <a:endParaRPr lang="en-US" dirty="0" smtClean="0"/>
          </a:p>
          <a:p>
            <a:r>
              <a:rPr lang="en-US" dirty="0" smtClean="0"/>
              <a:t>Each </a:t>
            </a:r>
            <a:r>
              <a:rPr lang="en-US" dirty="0"/>
              <a:t>of these receptors turns incident light into neural signals. </a:t>
            </a:r>
            <a:endParaRPr lang="en-US" dirty="0" smtClean="0"/>
          </a:p>
          <a:p>
            <a:r>
              <a:rPr lang="en-US" dirty="0" smtClean="0"/>
              <a:t>If </a:t>
            </a:r>
            <a:r>
              <a:rPr lang="en-US" dirty="0"/>
              <a:t>two test lights that have different spectra </a:t>
            </a:r>
            <a:r>
              <a:rPr lang="en-US" dirty="0" smtClean="0"/>
              <a:t>look the same, </a:t>
            </a:r>
            <a:r>
              <a:rPr lang="en-US" dirty="0"/>
              <a:t>then they must have the same effect on these receptors.</a:t>
            </a:r>
            <a:endParaRPr lang="en-IN" dirty="0"/>
          </a:p>
        </p:txBody>
      </p:sp>
    </p:spTree>
    <p:extLst>
      <p:ext uri="{BB962C8B-B14F-4D97-AF65-F5344CB8AC3E}">
        <p14:creationId xmlns:p14="http://schemas.microsoft.com/office/powerpoint/2010/main" val="2777965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dirty="0"/>
              <a:t>The principle of </a:t>
            </a:r>
            <a:r>
              <a:rPr lang="en-US" dirty="0" err="1"/>
              <a:t>univariance</a:t>
            </a:r>
            <a:r>
              <a:rPr lang="en-US" dirty="0"/>
              <a:t> states that the activity of these receptors is of one kind — i.e. they respond strongly or weakly</a:t>
            </a:r>
          </a:p>
          <a:p>
            <a:r>
              <a:rPr lang="en-US" dirty="0" err="1" smtClean="0"/>
              <a:t>Univariance</a:t>
            </a:r>
            <a:r>
              <a:rPr lang="en-US" dirty="0" smtClean="0"/>
              <a:t> </a:t>
            </a:r>
            <a:r>
              <a:rPr lang="en-US" dirty="0"/>
              <a:t>is a powerful idea, because it gives us a good and simple model of human reaction to </a:t>
            </a:r>
            <a:r>
              <a:rPr lang="en-US" dirty="0" err="1"/>
              <a:t>coloured</a:t>
            </a:r>
            <a:r>
              <a:rPr lang="en-US" dirty="0"/>
              <a:t> light: </a:t>
            </a:r>
            <a:endParaRPr lang="en-US" dirty="0" smtClean="0"/>
          </a:p>
          <a:p>
            <a:r>
              <a:rPr lang="en-US" dirty="0" smtClean="0"/>
              <a:t>two </a:t>
            </a:r>
            <a:r>
              <a:rPr lang="en-US" dirty="0"/>
              <a:t>lights will match if they produce the same receptor responses, whatever </a:t>
            </a:r>
            <a:r>
              <a:rPr lang="en-US" dirty="0" smtClean="0"/>
              <a:t>may be their </a:t>
            </a:r>
            <a:r>
              <a:rPr lang="en-US" dirty="0"/>
              <a:t>spectral </a:t>
            </a:r>
            <a:r>
              <a:rPr lang="en-US" dirty="0" smtClean="0"/>
              <a:t>radiances</a:t>
            </a:r>
          </a:p>
          <a:p>
            <a:r>
              <a:rPr lang="en-US" dirty="0"/>
              <a:t>Because the system of matching is linear, the receptors must be linear. </a:t>
            </a:r>
            <a:endParaRPr lang="en-US" dirty="0" smtClean="0"/>
          </a:p>
          <a:p>
            <a:r>
              <a:rPr lang="en-US" dirty="0" smtClean="0"/>
              <a:t>Consider </a:t>
            </a:r>
            <a:r>
              <a:rPr lang="en-US" dirty="0" err="1" smtClean="0"/>
              <a:t>p</a:t>
            </a:r>
            <a:r>
              <a:rPr lang="en-US" baseline="-25000" dirty="0" err="1" smtClean="0"/>
              <a:t>k</a:t>
            </a:r>
            <a:r>
              <a:rPr lang="en-US" dirty="0" smtClean="0"/>
              <a:t> </a:t>
            </a:r>
            <a:r>
              <a:rPr lang="en-US" dirty="0"/>
              <a:t>for the response of the </a:t>
            </a:r>
            <a:r>
              <a:rPr lang="en-US" dirty="0" err="1"/>
              <a:t>k’th</a:t>
            </a:r>
            <a:r>
              <a:rPr lang="en-US" dirty="0"/>
              <a:t> receptor, </a:t>
            </a:r>
            <a:r>
              <a:rPr lang="en-US" dirty="0" err="1"/>
              <a:t>σ</a:t>
            </a:r>
            <a:r>
              <a:rPr lang="en-US" baseline="-25000" dirty="0" err="1"/>
              <a:t>k</a:t>
            </a:r>
            <a:r>
              <a:rPr lang="en-US" dirty="0"/>
              <a:t>(λ) for its sensitivity, E(λ) for the light arriving at the receptor and λ</a:t>
            </a:r>
            <a:r>
              <a:rPr lang="en-US" dirty="0" smtClean="0"/>
              <a:t> </a:t>
            </a:r>
            <a:r>
              <a:rPr lang="en-US" dirty="0"/>
              <a:t>for the range of visible wavelengths. </a:t>
            </a:r>
            <a:endParaRPr lang="en-US" dirty="0" smtClean="0"/>
          </a:p>
          <a:p>
            <a:r>
              <a:rPr lang="en-US" dirty="0" smtClean="0"/>
              <a:t>We </a:t>
            </a:r>
            <a:r>
              <a:rPr lang="en-US" dirty="0"/>
              <a:t>can obtain the overall response of a receptor by adding up the response to each separate wavelength in the incoming spectrum</a:t>
            </a:r>
            <a:endParaRPr lang="en-IN" dirty="0"/>
          </a:p>
        </p:txBody>
      </p:sp>
      <p:pic>
        <p:nvPicPr>
          <p:cNvPr id="4" name="Content Placeholder 3"/>
          <p:cNvPicPr>
            <a:picLocks noChangeAspect="1"/>
          </p:cNvPicPr>
          <p:nvPr/>
        </p:nvPicPr>
        <p:blipFill rotWithShape="1">
          <a:blip r:embed="rId2"/>
          <a:srcRect l="36034" t="58369" r="35734" b="36099"/>
          <a:stretch/>
        </p:blipFill>
        <p:spPr>
          <a:xfrm>
            <a:off x="3130061" y="5977595"/>
            <a:ext cx="4874456" cy="732693"/>
          </a:xfrm>
          <a:prstGeom prst="rect">
            <a:avLst/>
          </a:prstGeom>
        </p:spPr>
      </p:pic>
    </p:spTree>
    <p:extLst>
      <p:ext uri="{BB962C8B-B14F-4D97-AF65-F5344CB8AC3E}">
        <p14:creationId xmlns:p14="http://schemas.microsoft.com/office/powerpoint/2010/main" val="1278825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Rods and </a:t>
            </a:r>
            <a:r>
              <a:rPr lang="en-IN" dirty="0"/>
              <a:t>Cones</a:t>
            </a:r>
          </a:p>
        </p:txBody>
      </p:sp>
      <p:sp>
        <p:nvSpPr>
          <p:cNvPr id="5" name="Content Placeholder 4"/>
          <p:cNvSpPr>
            <a:spLocks noGrp="1"/>
          </p:cNvSpPr>
          <p:nvPr>
            <p:ph idx="1"/>
          </p:nvPr>
        </p:nvSpPr>
        <p:spPr>
          <a:xfrm>
            <a:off x="758654" y="1792665"/>
            <a:ext cx="10593974" cy="4195481"/>
          </a:xfrm>
        </p:spPr>
        <p:txBody>
          <a:bodyPr>
            <a:normAutofit/>
          </a:bodyPr>
          <a:lstStyle/>
          <a:p>
            <a:r>
              <a:rPr lang="en-US" dirty="0"/>
              <a:t>Anatomical investigation of the retina shows two types of cell that are sensitive to light, differentiated by their shape. </a:t>
            </a:r>
            <a:endParaRPr lang="en-US" dirty="0" smtClean="0"/>
          </a:p>
          <a:p>
            <a:r>
              <a:rPr lang="en-US" dirty="0" smtClean="0"/>
              <a:t>The </a:t>
            </a:r>
            <a:r>
              <a:rPr lang="en-US" dirty="0"/>
              <a:t>light sensitive region of a cone has a roughly conical shape, </a:t>
            </a:r>
            <a:endParaRPr lang="en-US" dirty="0" smtClean="0"/>
          </a:p>
          <a:p>
            <a:r>
              <a:rPr lang="en-US" dirty="0"/>
              <a:t>The light sensitive region </a:t>
            </a:r>
            <a:r>
              <a:rPr lang="en-US" dirty="0" smtClean="0"/>
              <a:t>of a rod </a:t>
            </a:r>
            <a:r>
              <a:rPr lang="en-US" dirty="0"/>
              <a:t>is roughly </a:t>
            </a:r>
            <a:r>
              <a:rPr lang="en-US" dirty="0" smtClean="0"/>
              <a:t>cylindrical shape. </a:t>
            </a:r>
          </a:p>
          <a:p>
            <a:r>
              <a:rPr lang="en-US" dirty="0" smtClean="0"/>
              <a:t>Cones </a:t>
            </a:r>
            <a:r>
              <a:rPr lang="en-US" dirty="0"/>
              <a:t>largely dominate </a:t>
            </a:r>
            <a:r>
              <a:rPr lang="en-US" dirty="0" err="1"/>
              <a:t>colour</a:t>
            </a:r>
            <a:r>
              <a:rPr lang="en-US" dirty="0"/>
              <a:t> vision and completely dominate the fovea. </a:t>
            </a:r>
            <a:endParaRPr lang="en-US" dirty="0" smtClean="0"/>
          </a:p>
          <a:p>
            <a:r>
              <a:rPr lang="en-US" dirty="0"/>
              <a:t>The </a:t>
            </a:r>
            <a:r>
              <a:rPr lang="en-US" dirty="0" smtClean="0"/>
              <a:t>fovea is </a:t>
            </a:r>
            <a:r>
              <a:rPr lang="en-US" dirty="0"/>
              <a:t>a </a:t>
            </a:r>
            <a:r>
              <a:rPr lang="en-US" dirty="0" smtClean="0"/>
              <a:t>small composed </a:t>
            </a:r>
            <a:r>
              <a:rPr lang="en-US" dirty="0"/>
              <a:t>of closely packed cones in the eye. </a:t>
            </a:r>
            <a:endParaRPr lang="en-US" dirty="0" smtClean="0"/>
          </a:p>
          <a:p>
            <a:r>
              <a:rPr lang="en-US" dirty="0" smtClean="0"/>
              <a:t>The </a:t>
            </a:r>
            <a:r>
              <a:rPr lang="en-US" dirty="0"/>
              <a:t>fovea is responsible for sharp central vision, which is necessary in humans for </a:t>
            </a:r>
            <a:r>
              <a:rPr lang="en-US" dirty="0" smtClean="0"/>
              <a:t>performing visual activities such </a:t>
            </a:r>
            <a:r>
              <a:rPr lang="en-US" dirty="0"/>
              <a:t>as reading and </a:t>
            </a:r>
            <a:r>
              <a:rPr lang="en-US" dirty="0" smtClean="0"/>
              <a:t>driving.</a:t>
            </a:r>
          </a:p>
          <a:p>
            <a:r>
              <a:rPr lang="en-US" dirty="0" smtClean="0"/>
              <a:t>Cones </a:t>
            </a:r>
            <a:r>
              <a:rPr lang="en-US" dirty="0"/>
              <a:t>are somewhat less sensitive to light than rods </a:t>
            </a:r>
            <a:endParaRPr lang="en-US" dirty="0" smtClean="0"/>
          </a:p>
          <a:p>
            <a:r>
              <a:rPr lang="en-US" dirty="0" smtClean="0"/>
              <a:t>This means that in </a:t>
            </a:r>
            <a:r>
              <a:rPr lang="en-US" dirty="0"/>
              <a:t>low light, </a:t>
            </a:r>
            <a:r>
              <a:rPr lang="en-US" dirty="0" err="1"/>
              <a:t>colour</a:t>
            </a:r>
            <a:r>
              <a:rPr lang="en-US" dirty="0"/>
              <a:t> vision is poor and it is impossible to </a:t>
            </a:r>
            <a:r>
              <a:rPr lang="en-US" dirty="0" smtClean="0"/>
              <a:t>read</a:t>
            </a:r>
            <a:endParaRPr lang="en-IN" dirty="0"/>
          </a:p>
        </p:txBody>
      </p:sp>
    </p:spTree>
    <p:extLst>
      <p:ext uri="{BB962C8B-B14F-4D97-AF65-F5344CB8AC3E}">
        <p14:creationId xmlns:p14="http://schemas.microsoft.com/office/powerpoint/2010/main" val="370580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There </a:t>
            </a:r>
            <a:r>
              <a:rPr lang="en-US" dirty="0"/>
              <a:t>are three types of cone, differentiated by their </a:t>
            </a:r>
            <a:r>
              <a:rPr lang="en-US" dirty="0" smtClean="0"/>
              <a:t>sensitivity</a:t>
            </a:r>
            <a:endParaRPr lang="en-IN" dirty="0"/>
          </a:p>
          <a:p>
            <a:r>
              <a:rPr lang="en-US" dirty="0"/>
              <a:t>The sensitivities of the three different kinds of receptor to different wavelengths can be obtained by comparing </a:t>
            </a:r>
            <a:r>
              <a:rPr lang="en-US" dirty="0" err="1"/>
              <a:t>colour</a:t>
            </a:r>
            <a:r>
              <a:rPr lang="en-US" dirty="0"/>
              <a:t> matching data for normal observers with </a:t>
            </a:r>
            <a:r>
              <a:rPr lang="en-US" dirty="0" err="1"/>
              <a:t>colour</a:t>
            </a:r>
            <a:r>
              <a:rPr lang="en-US" dirty="0"/>
              <a:t> matching data for observers lacking one type of </a:t>
            </a:r>
            <a:r>
              <a:rPr lang="en-US" dirty="0" smtClean="0"/>
              <a:t>cone</a:t>
            </a:r>
          </a:p>
          <a:p>
            <a:r>
              <a:rPr lang="en-US" dirty="0"/>
              <a:t>The three types of cone are properly called S cones, M cones and L cones </a:t>
            </a:r>
            <a:endParaRPr lang="en-US" dirty="0" smtClean="0"/>
          </a:p>
          <a:p>
            <a:r>
              <a:rPr lang="en-US" dirty="0" smtClean="0"/>
              <a:t>The </a:t>
            </a:r>
            <a:r>
              <a:rPr lang="en-US" dirty="0"/>
              <a:t>peak sensitivity being to short, medium and long wavelength light </a:t>
            </a:r>
            <a:r>
              <a:rPr lang="en-US" dirty="0" smtClean="0"/>
              <a:t>respectively</a:t>
            </a:r>
          </a:p>
          <a:p>
            <a:r>
              <a:rPr lang="en-US" dirty="0"/>
              <a:t>They are occasionally called blue, green and red cones</a:t>
            </a:r>
            <a:endParaRPr lang="en-IN" dirty="0"/>
          </a:p>
        </p:txBody>
      </p:sp>
    </p:spTree>
    <p:extLst>
      <p:ext uri="{BB962C8B-B14F-4D97-AF65-F5344CB8AC3E}">
        <p14:creationId xmlns:p14="http://schemas.microsoft.com/office/powerpoint/2010/main" val="3036056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Representing Colour</a:t>
            </a:r>
          </a:p>
        </p:txBody>
      </p:sp>
      <p:sp>
        <p:nvSpPr>
          <p:cNvPr id="3" name="Content Placeholder 2"/>
          <p:cNvSpPr>
            <a:spLocks noGrp="1"/>
          </p:cNvSpPr>
          <p:nvPr>
            <p:ph idx="1"/>
          </p:nvPr>
        </p:nvSpPr>
        <p:spPr/>
        <p:txBody>
          <a:bodyPr/>
          <a:lstStyle/>
          <a:p>
            <a:r>
              <a:rPr lang="en-US" dirty="0" err="1"/>
              <a:t>Colour</a:t>
            </a:r>
            <a:r>
              <a:rPr lang="en-US" dirty="0"/>
              <a:t> matching data yields simple </a:t>
            </a:r>
            <a:r>
              <a:rPr lang="en-US" dirty="0" smtClean="0"/>
              <a:t>and </a:t>
            </a:r>
            <a:r>
              <a:rPr lang="en-US" dirty="0"/>
              <a:t>highly effective linear </a:t>
            </a:r>
            <a:r>
              <a:rPr lang="en-US" dirty="0" err="1"/>
              <a:t>colour</a:t>
            </a:r>
            <a:r>
              <a:rPr lang="en-US" dirty="0"/>
              <a:t> spaces </a:t>
            </a:r>
            <a:endParaRPr lang="en-US" dirty="0" smtClean="0"/>
          </a:p>
          <a:p>
            <a:r>
              <a:rPr lang="en-US" dirty="0" smtClean="0"/>
              <a:t>Specific </a:t>
            </a:r>
            <a:r>
              <a:rPr lang="en-US" dirty="0"/>
              <a:t>applications may require </a:t>
            </a:r>
            <a:r>
              <a:rPr lang="en-US" dirty="0" err="1"/>
              <a:t>colour</a:t>
            </a:r>
            <a:r>
              <a:rPr lang="en-US" dirty="0"/>
              <a:t> spaces that emphasize particular </a:t>
            </a:r>
            <a:r>
              <a:rPr lang="en-US" dirty="0" smtClean="0"/>
              <a:t>properties </a:t>
            </a:r>
          </a:p>
          <a:p>
            <a:r>
              <a:rPr lang="en-US" dirty="0" smtClean="0"/>
              <a:t>uniform </a:t>
            </a:r>
            <a:r>
              <a:rPr lang="en-US" dirty="0" err="1"/>
              <a:t>colour</a:t>
            </a:r>
            <a:r>
              <a:rPr lang="en-US" dirty="0"/>
              <a:t> spaces, which capture the significance of </a:t>
            </a:r>
            <a:r>
              <a:rPr lang="en-US" dirty="0" err="1"/>
              <a:t>colour</a:t>
            </a:r>
            <a:r>
              <a:rPr lang="en-US" dirty="0"/>
              <a:t> differences </a:t>
            </a:r>
            <a:r>
              <a:rPr lang="en-US" dirty="0" smtClean="0"/>
              <a:t>.</a:t>
            </a:r>
            <a:endParaRPr lang="en-IN" dirty="0"/>
          </a:p>
        </p:txBody>
      </p:sp>
    </p:spTree>
    <p:extLst>
      <p:ext uri="{BB962C8B-B14F-4D97-AF65-F5344CB8AC3E}">
        <p14:creationId xmlns:p14="http://schemas.microsoft.com/office/powerpoint/2010/main" val="664226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Linear Colour Spaces</a:t>
            </a:r>
          </a:p>
        </p:txBody>
      </p:sp>
      <p:sp>
        <p:nvSpPr>
          <p:cNvPr id="3" name="Content Placeholder 2"/>
          <p:cNvSpPr>
            <a:spLocks noGrp="1"/>
          </p:cNvSpPr>
          <p:nvPr>
            <p:ph idx="1"/>
          </p:nvPr>
        </p:nvSpPr>
        <p:spPr/>
        <p:txBody>
          <a:bodyPr/>
          <a:lstStyle/>
          <a:p>
            <a:r>
              <a:rPr lang="en-US" dirty="0" smtClean="0"/>
              <a:t>Mechanism </a:t>
            </a:r>
            <a:r>
              <a:rPr lang="en-US" dirty="0"/>
              <a:t>for representing </a:t>
            </a:r>
            <a:r>
              <a:rPr lang="en-US" dirty="0" err="1"/>
              <a:t>colour</a:t>
            </a:r>
            <a:r>
              <a:rPr lang="en-US" dirty="0"/>
              <a:t>: </a:t>
            </a:r>
            <a:endParaRPr lang="en-US" dirty="0" smtClean="0"/>
          </a:p>
          <a:p>
            <a:r>
              <a:rPr lang="en-US" dirty="0" smtClean="0"/>
              <a:t>1. Agree </a:t>
            </a:r>
            <a:r>
              <a:rPr lang="en-US" dirty="0"/>
              <a:t>on a standard set of primaries, </a:t>
            </a:r>
            <a:endParaRPr lang="en-US" dirty="0" smtClean="0"/>
          </a:p>
          <a:p>
            <a:r>
              <a:rPr lang="en-US" dirty="0" smtClean="0"/>
              <a:t>Then </a:t>
            </a:r>
            <a:r>
              <a:rPr lang="en-US" dirty="0"/>
              <a:t>describe any </a:t>
            </a:r>
            <a:r>
              <a:rPr lang="en-US" dirty="0" err="1"/>
              <a:t>coloured</a:t>
            </a:r>
            <a:r>
              <a:rPr lang="en-US" dirty="0"/>
              <a:t> light by the three values of the weights that people would use to match the light using those primaries. </a:t>
            </a:r>
            <a:endParaRPr lang="en-US" dirty="0" smtClean="0"/>
          </a:p>
          <a:p>
            <a:r>
              <a:rPr lang="en-US" dirty="0" smtClean="0"/>
              <a:t>By using this is easy to </a:t>
            </a:r>
            <a:r>
              <a:rPr lang="en-US" dirty="0"/>
              <a:t>describe a </a:t>
            </a:r>
            <a:r>
              <a:rPr lang="en-US" dirty="0" err="1" smtClean="0"/>
              <a:t>colour</a:t>
            </a:r>
            <a:endParaRPr lang="en-US" dirty="0" smtClean="0"/>
          </a:p>
          <a:p>
            <a:r>
              <a:rPr lang="en-US" dirty="0" smtClean="0"/>
              <a:t>If </a:t>
            </a:r>
            <a:r>
              <a:rPr lang="en-US" dirty="0"/>
              <a:t>we use a standard light for illuminating the </a:t>
            </a:r>
            <a:r>
              <a:rPr lang="en-US" dirty="0" smtClean="0"/>
              <a:t>surface, then this approach can be extended to </a:t>
            </a:r>
            <a:r>
              <a:rPr lang="en-US" dirty="0"/>
              <a:t>give a representation for surface </a:t>
            </a:r>
            <a:r>
              <a:rPr lang="en-US" dirty="0" err="1" smtClean="0"/>
              <a:t>colours</a:t>
            </a:r>
            <a:endParaRPr lang="en-IN" dirty="0"/>
          </a:p>
        </p:txBody>
      </p:sp>
    </p:spTree>
    <p:extLst>
      <p:ext uri="{BB962C8B-B14F-4D97-AF65-F5344CB8AC3E}">
        <p14:creationId xmlns:p14="http://schemas.microsoft.com/office/powerpoint/2010/main" val="3226887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Colour Matching Functions </a:t>
            </a:r>
          </a:p>
        </p:txBody>
      </p:sp>
      <p:sp>
        <p:nvSpPr>
          <p:cNvPr id="3" name="Content Placeholder 2"/>
          <p:cNvSpPr>
            <a:spLocks noGrp="1"/>
          </p:cNvSpPr>
          <p:nvPr>
            <p:ph idx="1"/>
          </p:nvPr>
        </p:nvSpPr>
        <p:spPr/>
        <p:txBody>
          <a:bodyPr/>
          <a:lstStyle/>
          <a:p>
            <a:r>
              <a:rPr lang="en-US" dirty="0" smtClean="0"/>
              <a:t>Simple algorithm can be constructed when </a:t>
            </a:r>
            <a:r>
              <a:rPr lang="en-US" dirty="0" err="1" smtClean="0"/>
              <a:t>colours</a:t>
            </a:r>
            <a:r>
              <a:rPr lang="en-US" dirty="0" smtClean="0"/>
              <a:t> are mixed linearly</a:t>
            </a:r>
          </a:p>
          <a:p>
            <a:r>
              <a:rPr lang="en-US" dirty="0" smtClean="0"/>
              <a:t>Given a set of primaries, this algorithm determine </a:t>
            </a:r>
            <a:r>
              <a:rPr lang="en-US" dirty="0"/>
              <a:t>which weights would be used to match a </a:t>
            </a:r>
            <a:r>
              <a:rPr lang="en-US" dirty="0" smtClean="0"/>
              <a:t>source whose spectral radiance is known. </a:t>
            </a:r>
          </a:p>
          <a:p>
            <a:r>
              <a:rPr lang="en-US" dirty="0" smtClean="0"/>
              <a:t>The </a:t>
            </a:r>
            <a:r>
              <a:rPr lang="en-US" dirty="0"/>
              <a:t>spectral radiance of the source </a:t>
            </a:r>
            <a:r>
              <a:rPr lang="en-US" dirty="0" smtClean="0"/>
              <a:t>is </a:t>
            </a:r>
            <a:r>
              <a:rPr lang="en-US" dirty="0"/>
              <a:t>a weighted sum of single wavelength sources. </a:t>
            </a:r>
            <a:endParaRPr lang="en-US" dirty="0" smtClean="0"/>
          </a:p>
          <a:p>
            <a:r>
              <a:rPr lang="en-US" dirty="0" smtClean="0"/>
              <a:t>Because </a:t>
            </a:r>
            <a:r>
              <a:rPr lang="en-US" dirty="0" err="1"/>
              <a:t>colour</a:t>
            </a:r>
            <a:r>
              <a:rPr lang="en-US" dirty="0"/>
              <a:t> matching is linear, the combination of primaries that matches a weighted sum of single wavelength sources is obtained by matching the primaries to each of the single wavelength sources, and then adding up these match weights. </a:t>
            </a:r>
            <a:endParaRPr lang="en-IN" dirty="0"/>
          </a:p>
        </p:txBody>
      </p:sp>
    </p:spTree>
    <p:extLst>
      <p:ext uri="{BB962C8B-B14F-4D97-AF65-F5344CB8AC3E}">
        <p14:creationId xmlns:p14="http://schemas.microsoft.com/office/powerpoint/2010/main" val="1900371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If </a:t>
            </a:r>
            <a:r>
              <a:rPr lang="en-US" dirty="0"/>
              <a:t>we have a record of the weight of each primary required to match a </a:t>
            </a:r>
            <a:r>
              <a:rPr lang="en-US" dirty="0" smtClean="0"/>
              <a:t>single wavelength </a:t>
            </a:r>
            <a:r>
              <a:rPr lang="en-US" dirty="0"/>
              <a:t>source — a set of </a:t>
            </a:r>
            <a:r>
              <a:rPr lang="en-US" dirty="0" err="1"/>
              <a:t>colour</a:t>
            </a:r>
            <a:r>
              <a:rPr lang="en-US" dirty="0"/>
              <a:t> matching functions </a:t>
            </a:r>
            <a:r>
              <a:rPr lang="en-US" dirty="0" smtClean="0"/>
              <a:t>can be determined.</a:t>
            </a:r>
          </a:p>
          <a:p>
            <a:r>
              <a:rPr lang="en-US" dirty="0" smtClean="0"/>
              <a:t>We can write the color </a:t>
            </a:r>
            <a:r>
              <a:rPr lang="en-US" dirty="0"/>
              <a:t>matching functions as f1(λ), f2(λ) and f3(λ) — </a:t>
            </a:r>
            <a:r>
              <a:rPr lang="en-US" dirty="0" smtClean="0"/>
              <a:t>that can </a:t>
            </a:r>
            <a:r>
              <a:rPr lang="en-US" dirty="0"/>
              <a:t>be obtained from a set of primaries P1, P2 and </a:t>
            </a:r>
            <a:r>
              <a:rPr lang="en-US" dirty="0" smtClean="0"/>
              <a:t>P3.</a:t>
            </a:r>
          </a:p>
          <a:p>
            <a:r>
              <a:rPr lang="en-US" dirty="0"/>
              <a:t>we tune the weight of each primary to match a unit radiance source at every wavelength. </a:t>
            </a:r>
            <a:endParaRPr lang="en-US" dirty="0" smtClean="0"/>
          </a:p>
          <a:p>
            <a:r>
              <a:rPr lang="en-US" dirty="0" smtClean="0"/>
              <a:t>We </a:t>
            </a:r>
            <a:r>
              <a:rPr lang="en-US" dirty="0"/>
              <a:t>then obtain a set of weights, one for each wavelength, for matching a unit radiance source U(λ). </a:t>
            </a:r>
            <a:endParaRPr lang="en-US" dirty="0" smtClean="0"/>
          </a:p>
          <a:p>
            <a:r>
              <a:rPr lang="en-US" dirty="0" smtClean="0"/>
              <a:t>We </a:t>
            </a:r>
            <a:r>
              <a:rPr lang="en-US" dirty="0"/>
              <a:t>can write this process as </a:t>
            </a:r>
            <a:endParaRPr lang="en-US" dirty="0" smtClean="0"/>
          </a:p>
          <a:p>
            <a:r>
              <a:rPr lang="en-US" dirty="0" smtClean="0"/>
              <a:t>U(λ</a:t>
            </a:r>
            <a:r>
              <a:rPr lang="en-US" dirty="0"/>
              <a:t>) = f1(λ)P1 + f2(λ)P2 + f3(λ)P3 </a:t>
            </a:r>
            <a:endParaRPr lang="en-US" dirty="0" smtClean="0"/>
          </a:p>
          <a:p>
            <a:r>
              <a:rPr lang="en-US" dirty="0" smtClean="0"/>
              <a:t>i.e</a:t>
            </a:r>
            <a:r>
              <a:rPr lang="en-US" dirty="0"/>
              <a:t>. at each wavelength λ, f1(λ), f2(λ) and f3(λ) give the weights required to match a unit radiance source at that wavelength.</a:t>
            </a:r>
            <a:endParaRPr lang="en-IN" dirty="0"/>
          </a:p>
        </p:txBody>
      </p:sp>
    </p:spTree>
    <p:extLst>
      <p:ext uri="{BB962C8B-B14F-4D97-AF65-F5344CB8AC3E}">
        <p14:creationId xmlns:p14="http://schemas.microsoft.com/office/powerpoint/2010/main" val="3925958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The source S(λ</a:t>
                </a:r>
                <a:r>
                  <a:rPr lang="en-US" dirty="0"/>
                  <a:t>) — is a sum of a vast number of single wavelength sources, each with a different intensity. </a:t>
                </a:r>
                <a:endParaRPr lang="en-US" dirty="0" smtClean="0"/>
              </a:p>
              <a:p>
                <a:r>
                  <a:rPr lang="en-US" dirty="0" smtClean="0"/>
                  <a:t>We </a:t>
                </a:r>
                <a:r>
                  <a:rPr lang="en-US" dirty="0"/>
                  <a:t>now match the primaries to each of the single wavelength sources, and then add up these match weights, obtaining </a:t>
                </a:r>
                <a:endParaRPr lang="en-US" dirty="0" smtClean="0"/>
              </a:p>
              <a:p>
                <a:r>
                  <a:rPr lang="en-US" dirty="0" smtClean="0"/>
                  <a:t>S(λ</a:t>
                </a:r>
                <a:r>
                  <a:rPr lang="en-US" dirty="0"/>
                  <a:t>) = w1P1 + w2P2 + w3P3 </a:t>
                </a:r>
                <a:endParaRPr lang="en-US" dirty="0" smtClean="0"/>
              </a:p>
              <a:p>
                <a:pPr marL="0" indent="0">
                  <a:buNone/>
                </a:pPr>
                <a:r>
                  <a:rPr lang="en-IN" dirty="0" smtClean="0"/>
                  <a:t>           = {</a:t>
                </a:r>
                <a14:m>
                  <m:oMath xmlns:m="http://schemas.openxmlformats.org/officeDocument/2006/math">
                    <m:nary>
                      <m:naryPr>
                        <m:supHide m:val="on"/>
                        <m:ctrlPr>
                          <a:rPr lang="en-IN" i="1" smtClean="0">
                            <a:latin typeface="Cambria Math" panose="02040503050406030204" pitchFamily="18" charset="0"/>
                          </a:rPr>
                        </m:ctrlPr>
                      </m:naryPr>
                      <m:sub>
                        <m:r>
                          <m:rPr>
                            <m:sty m:val="p"/>
                            <m:brk m:alnAt="23"/>
                          </m:rPr>
                          <a:rPr lang="el-GR" i="1" smtClean="0">
                            <a:latin typeface="Cambria Math" panose="02040503050406030204" pitchFamily="18" charset="0"/>
                          </a:rPr>
                          <m:t>λ</m:t>
                        </m:r>
                      </m:sub>
                      <m:sup/>
                      <m:e>
                        <m:r>
                          <m:rPr>
                            <m:nor/>
                          </m:rPr>
                          <a:rPr lang="en-IN" dirty="0"/>
                          <m:t>f</m:t>
                        </m:r>
                        <m:r>
                          <m:rPr>
                            <m:nor/>
                          </m:rPr>
                          <a:rPr lang="en-IN" dirty="0"/>
                          <m:t>1(</m:t>
                        </m:r>
                        <m:r>
                          <m:rPr>
                            <m:nor/>
                          </m:rPr>
                          <a:rPr lang="el-GR" dirty="0"/>
                          <m:t>λ</m:t>
                        </m:r>
                        <m:r>
                          <m:rPr>
                            <m:nor/>
                          </m:rPr>
                          <a:rPr lang="el-GR" dirty="0"/>
                          <m:t>)</m:t>
                        </m:r>
                        <m:r>
                          <m:rPr>
                            <m:nor/>
                          </m:rPr>
                          <a:rPr lang="en-IN" dirty="0"/>
                          <m:t>S</m:t>
                        </m:r>
                        <m:r>
                          <m:rPr>
                            <m:nor/>
                          </m:rPr>
                          <a:rPr lang="en-IN" dirty="0"/>
                          <m:t>(</m:t>
                        </m:r>
                        <m:r>
                          <m:rPr>
                            <m:nor/>
                          </m:rPr>
                          <a:rPr lang="el-GR" dirty="0"/>
                          <m:t>λ</m:t>
                        </m:r>
                        <m:r>
                          <m:rPr>
                            <m:nor/>
                          </m:rPr>
                          <a:rPr lang="el-GR" dirty="0"/>
                          <m:t>)</m:t>
                        </m:r>
                        <m:r>
                          <m:rPr>
                            <m:nor/>
                          </m:rPr>
                          <a:rPr lang="en-IN" dirty="0"/>
                          <m:t>d</m:t>
                        </m:r>
                        <m:r>
                          <m:rPr>
                            <m:nor/>
                          </m:rPr>
                          <a:rPr lang="el-GR" dirty="0"/>
                          <m:t>λ</m:t>
                        </m:r>
                      </m:e>
                    </m:nary>
                  </m:oMath>
                </a14:m>
                <a:r>
                  <a:rPr lang="en-US" dirty="0" smtClean="0"/>
                  <a:t>}</a:t>
                </a:r>
                <a:r>
                  <a:rPr lang="el-GR" dirty="0" smtClean="0"/>
                  <a:t> </a:t>
                </a:r>
                <a:r>
                  <a:rPr lang="en-IN" dirty="0"/>
                  <a:t>P1 + </a:t>
                </a:r>
                <a:r>
                  <a:rPr lang="en-IN" dirty="0" smtClean="0"/>
                  <a:t>{</a:t>
                </a:r>
                <a14:m>
                  <m:oMath xmlns:m="http://schemas.openxmlformats.org/officeDocument/2006/math">
                    <m:nary>
                      <m:naryPr>
                        <m:supHide m:val="on"/>
                        <m:ctrlPr>
                          <a:rPr lang="en-IN" i="1">
                            <a:latin typeface="Cambria Math" panose="02040503050406030204" pitchFamily="18" charset="0"/>
                          </a:rPr>
                        </m:ctrlPr>
                      </m:naryPr>
                      <m:sub>
                        <m:r>
                          <m:rPr>
                            <m:sty m:val="p"/>
                            <m:brk m:alnAt="23"/>
                          </m:rPr>
                          <a:rPr lang="el-GR" i="1">
                            <a:latin typeface="Cambria Math" panose="02040503050406030204" pitchFamily="18" charset="0"/>
                          </a:rPr>
                          <m:t>λ</m:t>
                        </m:r>
                      </m:sub>
                      <m:sup/>
                      <m:e>
                        <m:r>
                          <m:rPr>
                            <m:nor/>
                          </m:rPr>
                          <a:rPr lang="en-IN" dirty="0"/>
                          <m:t>f</m:t>
                        </m:r>
                        <m:r>
                          <m:rPr>
                            <m:nor/>
                          </m:rPr>
                          <a:rPr lang="en-US" b="0" i="0" dirty="0" smtClean="0"/>
                          <m:t>2</m:t>
                        </m:r>
                        <m:r>
                          <m:rPr>
                            <m:nor/>
                          </m:rPr>
                          <a:rPr lang="en-IN" dirty="0"/>
                          <m:t>(</m:t>
                        </m:r>
                        <m:r>
                          <m:rPr>
                            <m:nor/>
                          </m:rPr>
                          <a:rPr lang="el-GR" dirty="0"/>
                          <m:t>λ</m:t>
                        </m:r>
                        <m:r>
                          <m:rPr>
                            <m:nor/>
                          </m:rPr>
                          <a:rPr lang="el-GR" dirty="0"/>
                          <m:t>)</m:t>
                        </m:r>
                        <m:r>
                          <m:rPr>
                            <m:nor/>
                          </m:rPr>
                          <a:rPr lang="en-IN" dirty="0"/>
                          <m:t>S</m:t>
                        </m:r>
                        <m:r>
                          <m:rPr>
                            <m:nor/>
                          </m:rPr>
                          <a:rPr lang="en-IN" dirty="0"/>
                          <m:t>(</m:t>
                        </m:r>
                        <m:r>
                          <m:rPr>
                            <m:nor/>
                          </m:rPr>
                          <a:rPr lang="el-GR" dirty="0"/>
                          <m:t>λ</m:t>
                        </m:r>
                        <m:r>
                          <m:rPr>
                            <m:nor/>
                          </m:rPr>
                          <a:rPr lang="el-GR" dirty="0"/>
                          <m:t>)</m:t>
                        </m:r>
                        <m:r>
                          <m:rPr>
                            <m:nor/>
                          </m:rPr>
                          <a:rPr lang="en-IN" dirty="0"/>
                          <m:t>d</m:t>
                        </m:r>
                        <m:r>
                          <m:rPr>
                            <m:nor/>
                          </m:rPr>
                          <a:rPr lang="el-GR" dirty="0"/>
                          <m:t>λ</m:t>
                        </m:r>
                      </m:e>
                    </m:nary>
                  </m:oMath>
                </a14:m>
                <a:r>
                  <a:rPr lang="en-US" dirty="0" smtClean="0"/>
                  <a:t>}</a:t>
                </a:r>
                <a:r>
                  <a:rPr lang="el-GR" dirty="0" smtClean="0"/>
                  <a:t> </a:t>
                </a:r>
                <a:r>
                  <a:rPr lang="en-IN" dirty="0"/>
                  <a:t>P2 + </a:t>
                </a:r>
                <a:r>
                  <a:rPr lang="en-IN" dirty="0" smtClean="0"/>
                  <a:t>{</a:t>
                </a:r>
                <a14:m>
                  <m:oMath xmlns:m="http://schemas.openxmlformats.org/officeDocument/2006/math">
                    <m:nary>
                      <m:naryPr>
                        <m:supHide m:val="on"/>
                        <m:ctrlPr>
                          <a:rPr lang="en-IN" i="1">
                            <a:latin typeface="Cambria Math" panose="02040503050406030204" pitchFamily="18" charset="0"/>
                          </a:rPr>
                        </m:ctrlPr>
                      </m:naryPr>
                      <m:sub>
                        <m:r>
                          <m:rPr>
                            <m:sty m:val="p"/>
                            <m:brk m:alnAt="23"/>
                          </m:rPr>
                          <a:rPr lang="el-GR" i="1">
                            <a:latin typeface="Cambria Math" panose="02040503050406030204" pitchFamily="18" charset="0"/>
                          </a:rPr>
                          <m:t>λ</m:t>
                        </m:r>
                      </m:sub>
                      <m:sup/>
                      <m:e>
                        <m:r>
                          <m:rPr>
                            <m:nor/>
                          </m:rPr>
                          <a:rPr lang="en-IN" dirty="0"/>
                          <m:t>f</m:t>
                        </m:r>
                        <m:r>
                          <m:rPr>
                            <m:nor/>
                          </m:rPr>
                          <a:rPr lang="en-US" b="0" i="0" dirty="0" smtClean="0"/>
                          <m:t>3</m:t>
                        </m:r>
                        <m:r>
                          <m:rPr>
                            <m:nor/>
                          </m:rPr>
                          <a:rPr lang="en-IN" dirty="0"/>
                          <m:t>(</m:t>
                        </m:r>
                        <m:r>
                          <m:rPr>
                            <m:nor/>
                          </m:rPr>
                          <a:rPr lang="el-GR" dirty="0"/>
                          <m:t>λ</m:t>
                        </m:r>
                        <m:r>
                          <m:rPr>
                            <m:nor/>
                          </m:rPr>
                          <a:rPr lang="el-GR" dirty="0"/>
                          <m:t>)</m:t>
                        </m:r>
                        <m:r>
                          <m:rPr>
                            <m:nor/>
                          </m:rPr>
                          <a:rPr lang="en-IN" dirty="0"/>
                          <m:t>S</m:t>
                        </m:r>
                        <m:r>
                          <m:rPr>
                            <m:nor/>
                          </m:rPr>
                          <a:rPr lang="en-IN" dirty="0"/>
                          <m:t>(</m:t>
                        </m:r>
                        <m:r>
                          <m:rPr>
                            <m:nor/>
                          </m:rPr>
                          <a:rPr lang="el-GR" dirty="0"/>
                          <m:t>λ</m:t>
                        </m:r>
                        <m:r>
                          <m:rPr>
                            <m:nor/>
                          </m:rPr>
                          <a:rPr lang="el-GR" dirty="0"/>
                          <m:t>)</m:t>
                        </m:r>
                        <m:r>
                          <m:rPr>
                            <m:nor/>
                          </m:rPr>
                          <a:rPr lang="en-IN" dirty="0"/>
                          <m:t>d</m:t>
                        </m:r>
                        <m:r>
                          <m:rPr>
                            <m:nor/>
                          </m:rPr>
                          <a:rPr lang="el-GR" dirty="0"/>
                          <m:t>λ</m:t>
                        </m:r>
                      </m:e>
                    </m:nary>
                  </m:oMath>
                </a14:m>
                <a:r>
                  <a:rPr lang="en-US" dirty="0" smtClean="0"/>
                  <a:t>}</a:t>
                </a:r>
                <a:r>
                  <a:rPr lang="el-GR" dirty="0" smtClean="0"/>
                  <a:t> </a:t>
                </a:r>
                <a:r>
                  <a:rPr lang="en-IN" dirty="0"/>
                  <a:t>P3</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341" t="-872"/>
                </a:stretch>
              </a:blipFill>
            </p:spPr>
            <p:txBody>
              <a:bodyPr/>
              <a:lstStyle/>
              <a:p>
                <a:r>
                  <a:rPr lang="en-IN">
                    <a:noFill/>
                  </a:rPr>
                  <a:t> </a:t>
                </a:r>
              </a:p>
            </p:txBody>
          </p:sp>
        </mc:Fallback>
      </mc:AlternateContent>
    </p:spTree>
    <p:extLst>
      <p:ext uri="{BB962C8B-B14F-4D97-AF65-F5344CB8AC3E}">
        <p14:creationId xmlns:p14="http://schemas.microsoft.com/office/powerpoint/2010/main" val="3006072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Color </a:t>
            </a:r>
            <a:r>
              <a:rPr lang="en-US" dirty="0" smtClean="0"/>
              <a:t>Model – Refer </a:t>
            </a:r>
            <a:r>
              <a:rPr lang="en-US" dirty="0" err="1" smtClean="0"/>
              <a:t>ClassNoteBook</a:t>
            </a:r>
            <a:r>
              <a:rPr lang="en-US" smtClean="0"/>
              <a:t/>
            </a:r>
            <a:br>
              <a:rPr lang="en-US" smtClean="0"/>
            </a:br>
            <a:endParaRPr lang="en-IN" dirty="0"/>
          </a:p>
        </p:txBody>
      </p:sp>
      <p:sp>
        <p:nvSpPr>
          <p:cNvPr id="3" name="Content Placeholder 2"/>
          <p:cNvSpPr>
            <a:spLocks noGrp="1"/>
          </p:cNvSpPr>
          <p:nvPr>
            <p:ph idx="1"/>
          </p:nvPr>
        </p:nvSpPr>
        <p:spPr/>
        <p:txBody>
          <a:bodyPr/>
          <a:lstStyle/>
          <a:p>
            <a:r>
              <a:rPr lang="en-US" dirty="0" smtClean="0"/>
              <a:t>CIE</a:t>
            </a:r>
          </a:p>
          <a:p>
            <a:r>
              <a:rPr lang="en-US" dirty="0" smtClean="0"/>
              <a:t>RGB</a:t>
            </a:r>
          </a:p>
          <a:p>
            <a:r>
              <a:rPr lang="en-US" dirty="0" smtClean="0"/>
              <a:t>CMY</a:t>
            </a:r>
          </a:p>
          <a:p>
            <a:r>
              <a:rPr lang="en-US" dirty="0" smtClean="0"/>
              <a:t>HSL</a:t>
            </a:r>
          </a:p>
          <a:p>
            <a:r>
              <a:rPr lang="en-US" dirty="0" smtClean="0"/>
              <a:t>HSV</a:t>
            </a:r>
            <a:endParaRPr lang="en-IN" dirty="0"/>
          </a:p>
        </p:txBody>
      </p:sp>
    </p:spTree>
    <p:extLst>
      <p:ext uri="{BB962C8B-B14F-4D97-AF65-F5344CB8AC3E}">
        <p14:creationId xmlns:p14="http://schemas.microsoft.com/office/powerpoint/2010/main" val="3037241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674480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639</TotalTime>
  <Words>2151</Words>
  <Application>Microsoft Office PowerPoint</Application>
  <PresentationFormat>Widescreen</PresentationFormat>
  <Paragraphs>196</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Cambria Math</vt:lpstr>
      <vt:lpstr>Century Gothic</vt:lpstr>
      <vt:lpstr>Wingdings 3</vt:lpstr>
      <vt:lpstr>Ion</vt:lpstr>
      <vt:lpstr>Radiometry for Coloured Lights</vt:lpstr>
      <vt:lpstr>Spectral Quantities</vt:lpstr>
      <vt:lpstr>Radiance and Spectral radiance</vt:lpstr>
      <vt:lpstr>Exitance and Spectral Exitance</vt:lpstr>
      <vt:lpstr>BRDF and Spectral BRDF</vt:lpstr>
      <vt:lpstr>The Colour of Surfaces</vt:lpstr>
      <vt:lpstr>PowerPoint Presentation</vt:lpstr>
      <vt:lpstr>PowerPoint Presentation</vt:lpstr>
      <vt:lpstr>Colour and Specular Reflection</vt:lpstr>
      <vt:lpstr>The Colour of Sources</vt:lpstr>
      <vt:lpstr>Black body radiation</vt:lpstr>
      <vt:lpstr>The Sun and the Sky </vt:lpstr>
      <vt:lpstr>PowerPoint Presentation</vt:lpstr>
      <vt:lpstr>Artificial Illumination</vt:lpstr>
      <vt:lpstr>PowerPoint Presentation</vt:lpstr>
      <vt:lpstr>Human Colour Perception</vt:lpstr>
      <vt:lpstr>Colour Matching</vt:lpstr>
      <vt:lpstr>PowerPoint Presentation</vt:lpstr>
      <vt:lpstr>PowerPoint Presentation</vt:lpstr>
      <vt:lpstr>Trichromacy</vt:lpstr>
      <vt:lpstr>PowerPoint Presentation</vt:lpstr>
      <vt:lpstr>Grassman’s Law</vt:lpstr>
      <vt:lpstr>Colour Receptors</vt:lpstr>
      <vt:lpstr>PowerPoint Presentation</vt:lpstr>
      <vt:lpstr>Rods and Cones</vt:lpstr>
      <vt:lpstr>PowerPoint Presentation</vt:lpstr>
      <vt:lpstr>Representing Colour</vt:lpstr>
      <vt:lpstr>Linear Colour Spaces</vt:lpstr>
      <vt:lpstr>Colour Matching Functions </vt:lpstr>
      <vt:lpstr>PowerPoint Presentation</vt:lpstr>
      <vt:lpstr>PowerPoint Presentation</vt:lpstr>
      <vt:lpstr>Color Model – Refer ClassNoteBook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Radiometry for Coloured Lights</dc:title>
  <dc:creator>Microsoft account</dc:creator>
  <cp:lastModifiedBy>Microsoft account</cp:lastModifiedBy>
  <cp:revision>31</cp:revision>
  <dcterms:created xsi:type="dcterms:W3CDTF">2021-02-22T06:27:51Z</dcterms:created>
  <dcterms:modified xsi:type="dcterms:W3CDTF">2021-02-26T04:28:18Z</dcterms:modified>
</cp:coreProperties>
</file>