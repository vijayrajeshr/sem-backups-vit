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embeddedFontLst>
    <p:embeddedFont>
      <p:font typeface="Roboto" panose="02000000000000000000" pitchFamily="2" charset="0"/>
      <p:regular r:id="rId41"/>
      <p:bold r:id="rId42"/>
      <p:italic r:id="rId43"/>
      <p:boldItalic r:id="rId44"/>
    </p:embeddedFont>
    <p:embeddedFont>
      <p:font typeface="Roboto Black" panose="02000000000000000000" pitchFamily="2" charset="0"/>
      <p:bold r:id="rId45"/>
      <p:boldItalic r:id="rId46"/>
    </p:embeddedFont>
    <p:embeddedFont>
      <p:font typeface="Roboto Medium" panose="020000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54">
          <p15:clr>
            <a:srgbClr val="FF00FF"/>
          </p15:clr>
        </p15:guide>
        <p15:guide id="2" orient="horz" pos="3005">
          <p15:clr>
            <a:srgbClr val="FF0000"/>
          </p15:clr>
        </p15:guide>
        <p15:guide id="3" pos="5256">
          <p15:clr>
            <a:srgbClr val="FF00FF"/>
          </p15:clr>
        </p15:guide>
        <p15:guide id="4" orient="horz" pos="907">
          <p15:clr>
            <a:srgbClr val="FF0000"/>
          </p15:clr>
        </p15:guide>
        <p15:guide id="5" orient="horz" pos="737">
          <p15:clr>
            <a:srgbClr val="00FF00"/>
          </p15:clr>
        </p15:guide>
        <p15:guide id="6" orient="horz" pos="397">
          <p15:clr>
            <a:srgbClr val="00FF00"/>
          </p15:clr>
        </p15:guide>
        <p15:guide id="7" pos="4529">
          <p15:clr>
            <a:srgbClr val="747775"/>
          </p15:clr>
        </p15:guide>
        <p15:guide id="8" orient="horz" pos="1304">
          <p15:clr>
            <a:srgbClr val="747775"/>
          </p15:clr>
        </p15:guide>
        <p15:guide id="9" pos="85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wULcKLe4cB//HNG2LofNiF9G+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802" y="62"/>
      </p:cViewPr>
      <p:guideLst>
        <p:guide pos="454"/>
        <p:guide orient="horz" pos="3005"/>
        <p:guide pos="5256"/>
        <p:guide orient="horz" pos="907"/>
        <p:guide orient="horz" pos="737"/>
        <p:guide orient="horz" pos="397"/>
        <p:guide pos="4529"/>
        <p:guide orient="horz" pos="1304"/>
        <p:guide pos="85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8"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1b9bf173ee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g31b9bf173ee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ee15abed17_3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2ee15abed17_3_2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24bc4217c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 name="Google Shape;67;g324bc4217c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1ecf70bd7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g31ecf70bd7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1ecf70bd7e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g31ecf70bd7e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1ecf70bd7e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31ecf70bd7e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1ecf70bd7e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31ecf70bd7e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ee15abed17_3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2ee15abed17_3_2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457200" algn="l" rtl="0">
              <a:lnSpc>
                <a:spcPct val="100000"/>
              </a:lnSpc>
              <a:spcBef>
                <a:spcPts val="0"/>
              </a:spcBef>
              <a:spcAft>
                <a:spcPts val="800"/>
              </a:spcAft>
              <a:buClr>
                <a:schemeClr val="dk1"/>
              </a:buClr>
              <a:buSzPts val="1100"/>
              <a:buFont typeface="Arial"/>
              <a:buNone/>
            </a:pP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ee15abed17_3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2ee15abed17_3_2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457200" algn="l" rtl="0">
              <a:lnSpc>
                <a:spcPct val="100000"/>
              </a:lnSpc>
              <a:spcBef>
                <a:spcPts val="0"/>
              </a:spcBef>
              <a:spcAft>
                <a:spcPts val="800"/>
              </a:spcAft>
              <a:buClr>
                <a:schemeClr val="dk1"/>
              </a:buClr>
              <a:buSzPts val="1100"/>
              <a:buFont typeface="Arial"/>
              <a:buNone/>
            </a:pP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ee15abed17_3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2ee15abed17_3_2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457200" algn="l" rtl="0">
              <a:lnSpc>
                <a:spcPct val="100000"/>
              </a:lnSpc>
              <a:spcBef>
                <a:spcPts val="0"/>
              </a:spcBef>
              <a:spcAft>
                <a:spcPts val="800"/>
              </a:spcAft>
              <a:buClr>
                <a:schemeClr val="dk1"/>
              </a:buClr>
              <a:buSzPts val="1100"/>
              <a:buFont typeface="Arial"/>
              <a:buNone/>
            </a:pP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ee15abed17_3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2ee15abed17_3_2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800"/>
              </a:spcAft>
              <a:buClr>
                <a:schemeClr val="dk1"/>
              </a:buClr>
              <a:buSzPts val="1100"/>
              <a:buFont typeface="Arial"/>
              <a:buNone/>
            </a:pP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ee15abed17_3_3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2ee15abed17_3_3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ee15abed17_3_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g2ee15abed17_3_3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1b9bf173ee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g31b9bf173ee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ee15abed17_3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2ee15abed17_3_3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ee15abed17_3_3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g2ee15abed17_3_3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ee15abed17_3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g2ee15abed17_3_3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ee15abed17_3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2ee15abed17_3_3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ee15abed17_3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2ee15abed17_3_3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ee15abed17_3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g2ee15abed17_3_3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ee15abed17_3_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g2ee15abed17_3_3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ee15abed17_3_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g2ee15abed17_3_3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ee15abed17_3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g2ee15abed17_3_3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ee15abed17_3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2ee15abed17_3_3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ee15abed17_3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2ee15abed17_3_3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ee15abed17_3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g2ee15abed17_3_3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ee15abed17_3_3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2ee15abed17_3_3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ee15abed17_3_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g2ee15abed17_3_3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ee15abed17_3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3" name="Google Shape;253;g2ee15abed17_3_4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ee15abed17_3_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g2ee15abed17_3_4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ee15abed17_3_4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g2ee15abed17_3_4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ee15abed17_3_4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g2ee15abed17_3_4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ee15abed17_3_4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2ee15abed17_3_4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Arial"/>
              <a:buNone/>
            </a:pPr>
            <a:endParaRPr sz="1400">
              <a:solidFill>
                <a:schemeClr val="dk1"/>
              </a:solidFill>
              <a:latin typeface="Roboto"/>
              <a:ea typeface="Roboto"/>
              <a:cs typeface="Roboto"/>
              <a:sym typeface="Roboto"/>
            </a:endParaRPr>
          </a:p>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ee15abed17_3_4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g2ee15abed17_3_4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ee15abed17_3_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2" name="Google Shape;302;g2ee15abed17_3_4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ee15abed17_3_4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g2ee15abed17_3_4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2ee15abed17_3_4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g2ee15abed17_3_4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ee15abed17_3_5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 name="Google Shape;327;g2ee15abed17_3_5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
        <p:cNvGrpSpPr/>
        <p:nvPr/>
      </p:nvGrpSpPr>
      <p:grpSpPr>
        <a:xfrm>
          <a:off x="0" y="0"/>
          <a:ext cx="0" cy="0"/>
          <a:chOff x="0" y="0"/>
          <a:chExt cx="0" cy="0"/>
        </a:xfrm>
      </p:grpSpPr>
      <p:sp>
        <p:nvSpPr>
          <p:cNvPr id="11" name="Google Shape;11;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2"/>
        <p:cNvGrpSpPr/>
        <p:nvPr/>
      </p:nvGrpSpPr>
      <p:grpSpPr>
        <a:xfrm>
          <a:off x="0" y="0"/>
          <a:ext cx="0" cy="0"/>
          <a:chOff x="0" y="0"/>
          <a:chExt cx="0" cy="0"/>
        </a:xfrm>
      </p:grpSpPr>
      <p:sp>
        <p:nvSpPr>
          <p:cNvPr id="13" name="Google Shape;13;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4" name="Google Shape;14;p3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atin typeface="Roboto"/>
                <a:ea typeface="Roboto"/>
                <a:cs typeface="Roboto"/>
                <a:sym typeface="Roboto"/>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5" name="Google Shape;15;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5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8" name="Google Shape;18;p5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9" name="Google Shape;19;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2">
    <p:spTree>
      <p:nvGrpSpPr>
        <p:cNvPr id="1"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4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atin typeface="Roboto"/>
                <a:ea typeface="Roboto"/>
                <a:cs typeface="Roboto"/>
                <a:sym typeface="Roboto"/>
              </a:defRPr>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4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atin typeface="Roboto"/>
                <a:ea typeface="Roboto"/>
                <a:cs typeface="Roboto"/>
                <a:sym typeface="Roboto"/>
              </a:defRPr>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5" name="Google Shape;25;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3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8" name="Google Shape;28;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1" name="Google Shape;31;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4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4" name="Google Shape;34;p4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atin typeface="Roboto"/>
                <a:ea typeface="Roboto"/>
                <a:cs typeface="Roboto"/>
                <a:sym typeface="Roboto"/>
              </a:defRPr>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5" name="Google Shape;35;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4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4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41" name="Google Shape;41;p4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4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4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atin typeface="Roboto"/>
                <a:ea typeface="Roboto"/>
                <a:cs typeface="Roboto"/>
                <a:sym typeface="Roboto"/>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4" name="Google Shape;44;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4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atin typeface="Roboto"/>
                <a:ea typeface="Roboto"/>
                <a:cs typeface="Roboto"/>
                <a:sym typeface="Roboto"/>
              </a:defRPr>
            </a:lvl1pPr>
          </a:lstStyle>
          <a:p>
            <a:endParaRPr/>
          </a:p>
        </p:txBody>
      </p:sp>
      <p:sp>
        <p:nvSpPr>
          <p:cNvPr id="47" name="Google Shape;47;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4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4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atin typeface="Roboto"/>
                <a:ea typeface="Roboto"/>
                <a:cs typeface="Roboto"/>
                <a:sym typeface="Roboto"/>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1" name="Google Shape;51;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36"/>
          <p:cNvPicPr preferRelativeResize="0"/>
          <p:nvPr/>
        </p:nvPicPr>
        <p:blipFill rotWithShape="1">
          <a:blip r:embed="rId14">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g31b9bf173ee_0_28"/>
          <p:cNvPicPr preferRelativeResize="0"/>
          <p:nvPr/>
        </p:nvPicPr>
        <p:blipFill rotWithShape="1">
          <a:blip r:embed="rId3">
            <a:alphaModFix/>
          </a:blip>
          <a:srcRect/>
          <a:stretch/>
        </p:blipFill>
        <p:spPr>
          <a:xfrm>
            <a:off x="2" y="4"/>
            <a:ext cx="9144003" cy="5143501"/>
          </a:xfrm>
          <a:prstGeom prst="rect">
            <a:avLst/>
          </a:prstGeom>
          <a:noFill/>
          <a:ln>
            <a:noFill/>
          </a:ln>
        </p:spPr>
      </p:pic>
      <p:pic>
        <p:nvPicPr>
          <p:cNvPr id="57" name="Google Shape;57;g31b9bf173ee_0_28"/>
          <p:cNvPicPr preferRelativeResize="0"/>
          <p:nvPr/>
        </p:nvPicPr>
        <p:blipFill rotWithShape="1">
          <a:blip r:embed="rId4">
            <a:alphaModFix/>
          </a:blip>
          <a:srcRect/>
          <a:stretch/>
        </p:blipFill>
        <p:spPr>
          <a:xfrm>
            <a:off x="2504604" y="600291"/>
            <a:ext cx="4134799" cy="2923400"/>
          </a:xfrm>
          <a:prstGeom prst="rect">
            <a:avLst/>
          </a:prstGeom>
          <a:noFill/>
          <a:ln>
            <a:noFill/>
          </a:ln>
        </p:spPr>
      </p:pic>
      <p:pic>
        <p:nvPicPr>
          <p:cNvPr id="58" name="Google Shape;58;g31b9bf173ee_0_28"/>
          <p:cNvPicPr preferRelativeResize="0"/>
          <p:nvPr/>
        </p:nvPicPr>
        <p:blipFill rotWithShape="1">
          <a:blip r:embed="rId5">
            <a:alphaModFix/>
          </a:blip>
          <a:srcRect/>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g2ee15abed17_3_278"/>
          <p:cNvPicPr preferRelativeResize="0"/>
          <p:nvPr/>
        </p:nvPicPr>
        <p:blipFill rotWithShape="1">
          <a:blip r:embed="rId3">
            <a:alphaModFix/>
          </a:blip>
          <a:srcRect/>
          <a:stretch/>
        </p:blipFill>
        <p:spPr>
          <a:xfrm>
            <a:off x="2" y="4"/>
            <a:ext cx="9144003" cy="5143501"/>
          </a:xfrm>
          <a:prstGeom prst="rect">
            <a:avLst/>
          </a:prstGeom>
          <a:noFill/>
          <a:ln>
            <a:noFill/>
          </a:ln>
        </p:spPr>
      </p:pic>
      <p:sp>
        <p:nvSpPr>
          <p:cNvPr id="64" name="Google Shape;64;g2ee15abed17_3_278"/>
          <p:cNvSpPr txBox="1"/>
          <p:nvPr/>
        </p:nvSpPr>
        <p:spPr>
          <a:xfrm>
            <a:off x="178001" y="2109682"/>
            <a:ext cx="46908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3200"/>
              <a:buFont typeface="Arial"/>
              <a:buNone/>
            </a:pPr>
            <a:r>
              <a:rPr lang="en-GB" sz="3200" b="1" i="0" u="none" strike="noStrike" cap="none">
                <a:solidFill>
                  <a:schemeClr val="lt1"/>
                </a:solidFill>
                <a:latin typeface="Roboto"/>
                <a:ea typeface="Roboto"/>
                <a:cs typeface="Roboto"/>
                <a:sym typeface="Roboto"/>
              </a:rPr>
              <a:t>BLOOD RELATIONS</a:t>
            </a:r>
            <a:endParaRPr sz="2200" b="1" i="0" u="none" strike="noStrike" cap="non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g324bc4217ca_0_0"/>
          <p:cNvSpPr txBox="1">
            <a:spLocks noGrp="1"/>
          </p:cNvSpPr>
          <p:nvPr>
            <p:ph type="body" idx="1"/>
          </p:nvPr>
        </p:nvSpPr>
        <p:spPr>
          <a:xfrm>
            <a:off x="729200" y="1384300"/>
            <a:ext cx="80862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endParaRPr sz="1600" b="1">
              <a:solidFill>
                <a:srgbClr val="373737"/>
              </a:solidFill>
              <a:latin typeface="Roboto"/>
              <a:ea typeface="Roboto"/>
              <a:cs typeface="Roboto"/>
              <a:sym typeface="Roboto"/>
            </a:endParaRPr>
          </a:p>
          <a:p>
            <a:pPr marL="0" lvl="0" indent="0" algn="l" rtl="0">
              <a:lnSpc>
                <a:spcPct val="115000"/>
              </a:lnSpc>
              <a:spcBef>
                <a:spcPts val="0"/>
              </a:spcBef>
              <a:spcAft>
                <a:spcPts val="0"/>
              </a:spcAft>
              <a:buSzPts val="1800"/>
              <a:buNone/>
            </a:pPr>
            <a:endParaRPr sz="1600" b="1">
              <a:solidFill>
                <a:schemeClr val="dk1"/>
              </a:solidFill>
              <a:highlight>
                <a:srgbClr val="FFFFFF"/>
              </a:highlight>
              <a:latin typeface="Roboto"/>
              <a:ea typeface="Roboto"/>
              <a:cs typeface="Roboto"/>
              <a:sym typeface="Roboto"/>
            </a:endParaRPr>
          </a:p>
          <a:p>
            <a:pPr marL="0" lvl="0" indent="0" algn="l" rtl="0">
              <a:lnSpc>
                <a:spcPct val="115000"/>
              </a:lnSpc>
              <a:spcBef>
                <a:spcPts val="0"/>
              </a:spcBef>
              <a:spcAft>
                <a:spcPts val="0"/>
              </a:spcAft>
              <a:buSzPts val="1800"/>
              <a:buNone/>
            </a:pPr>
            <a:r>
              <a:rPr lang="en-GB" sz="1600" b="1">
                <a:solidFill>
                  <a:schemeClr val="dk1"/>
                </a:solidFill>
                <a:highlight>
                  <a:srgbClr val="FFFFFF"/>
                </a:highlight>
                <a:latin typeface="Roboto"/>
                <a:ea typeface="Roboto"/>
                <a:cs typeface="Roboto"/>
                <a:sym typeface="Roboto"/>
              </a:rPr>
              <a:t>QR CODE</a:t>
            </a:r>
            <a:r>
              <a:rPr lang="en-GB" sz="1600" b="1">
                <a:solidFill>
                  <a:srgbClr val="373737"/>
                </a:solidFill>
                <a:highlight>
                  <a:srgbClr val="FFFFFF"/>
                </a:highlight>
                <a:latin typeface="Roboto"/>
                <a:ea typeface="Roboto"/>
                <a:cs typeface="Roboto"/>
                <a:sym typeface="Roboto"/>
              </a:rPr>
              <a:t>:</a:t>
            </a:r>
            <a:endParaRPr sz="1600" b="1">
              <a:solidFill>
                <a:srgbClr val="373737"/>
              </a:solidFill>
              <a:highlight>
                <a:srgbClr val="FFFFFF"/>
              </a:highlight>
              <a:latin typeface="Roboto"/>
              <a:ea typeface="Roboto"/>
              <a:cs typeface="Roboto"/>
              <a:sym typeface="Roboto"/>
            </a:endParaRPr>
          </a:p>
          <a:p>
            <a:pPr marL="0" lvl="0" indent="0" algn="l" rtl="0">
              <a:lnSpc>
                <a:spcPct val="115000"/>
              </a:lnSpc>
              <a:spcBef>
                <a:spcPts val="0"/>
              </a:spcBef>
              <a:spcAft>
                <a:spcPts val="0"/>
              </a:spcAft>
              <a:buSzPts val="1800"/>
              <a:buNone/>
            </a:pPr>
            <a:r>
              <a:rPr lang="en-GB" sz="1600" b="1">
                <a:solidFill>
                  <a:srgbClr val="373737"/>
                </a:solidFill>
                <a:highlight>
                  <a:srgbClr val="FFFFFF"/>
                </a:highlight>
                <a:latin typeface="Roboto"/>
                <a:ea typeface="Roboto"/>
                <a:cs typeface="Roboto"/>
                <a:sym typeface="Roboto"/>
              </a:rPr>
              <a:t>				</a:t>
            </a:r>
            <a:endParaRPr sz="1600" b="1">
              <a:solidFill>
                <a:srgbClr val="373737"/>
              </a:solidFill>
              <a:highlight>
                <a:srgbClr val="FFFFFF"/>
              </a:highlight>
              <a:latin typeface="Roboto"/>
              <a:ea typeface="Roboto"/>
              <a:cs typeface="Roboto"/>
              <a:sym typeface="Roboto"/>
            </a:endParaRPr>
          </a:p>
          <a:p>
            <a:pPr marL="0" lvl="0" indent="0" algn="l" rtl="0">
              <a:lnSpc>
                <a:spcPct val="115000"/>
              </a:lnSpc>
              <a:spcBef>
                <a:spcPts val="0"/>
              </a:spcBef>
              <a:spcAft>
                <a:spcPts val="0"/>
              </a:spcAft>
              <a:buSzPts val="1800"/>
              <a:buNone/>
            </a:pPr>
            <a:endParaRPr sz="1600" b="1">
              <a:solidFill>
                <a:srgbClr val="373737"/>
              </a:solidFill>
              <a:highlight>
                <a:srgbClr val="FFFFFF"/>
              </a:highlight>
              <a:latin typeface="Roboto"/>
              <a:ea typeface="Roboto"/>
              <a:cs typeface="Roboto"/>
              <a:sym typeface="Roboto"/>
            </a:endParaRPr>
          </a:p>
        </p:txBody>
      </p:sp>
      <p:sp>
        <p:nvSpPr>
          <p:cNvPr id="70" name="Google Shape;70;g324bc4217ca_0_0"/>
          <p:cNvSpPr txBox="1"/>
          <p:nvPr/>
        </p:nvSpPr>
        <p:spPr>
          <a:xfrm>
            <a:off x="577325" y="622125"/>
            <a:ext cx="77862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800" b="1" i="0" u="none" strike="noStrike" cap="none">
                <a:solidFill>
                  <a:srgbClr val="000000"/>
                </a:solidFill>
                <a:latin typeface="Roboto"/>
                <a:ea typeface="Roboto"/>
                <a:cs typeface="Roboto"/>
                <a:sym typeface="Roboto"/>
              </a:rPr>
              <a:t>                                    Test time on : Articles </a:t>
            </a:r>
            <a:endParaRPr sz="1800" b="1" i="0" u="none" strike="noStrike" cap="none">
              <a:solidFill>
                <a:srgbClr val="000000"/>
              </a:solidFill>
              <a:latin typeface="Roboto"/>
              <a:ea typeface="Roboto"/>
              <a:cs typeface="Roboto"/>
              <a:sym typeface="Roboto"/>
            </a:endParaRPr>
          </a:p>
        </p:txBody>
      </p:sp>
      <p:sp>
        <p:nvSpPr>
          <p:cNvPr id="71" name="Google Shape;71;g324bc4217ca_0_0"/>
          <p:cNvSpPr txBox="1"/>
          <p:nvPr/>
        </p:nvSpPr>
        <p:spPr>
          <a:xfrm>
            <a:off x="5143500" y="944725"/>
            <a:ext cx="40281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pic>
        <p:nvPicPr>
          <p:cNvPr id="72" name="Google Shape;72;g324bc4217ca_0_0"/>
          <p:cNvPicPr preferRelativeResize="0"/>
          <p:nvPr/>
        </p:nvPicPr>
        <p:blipFill rotWithShape="1">
          <a:blip r:embed="rId3">
            <a:alphaModFix/>
          </a:blip>
          <a:srcRect/>
          <a:stretch/>
        </p:blipFill>
        <p:spPr>
          <a:xfrm>
            <a:off x="3117513" y="1406413"/>
            <a:ext cx="3095625" cy="3038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pic>
        <p:nvPicPr>
          <p:cNvPr id="77" name="Google Shape;77;g31ecf70bd7e_0_0" descr="blood 1.jpg"/>
          <p:cNvPicPr preferRelativeResize="0"/>
          <p:nvPr/>
        </p:nvPicPr>
        <p:blipFill rotWithShape="1">
          <a:blip r:embed="rId3">
            <a:alphaModFix/>
          </a:blip>
          <a:srcRect/>
          <a:stretch/>
        </p:blipFill>
        <p:spPr>
          <a:xfrm>
            <a:off x="630250" y="630250"/>
            <a:ext cx="7407101" cy="39945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g31ecf70bd7e_0_4"/>
          <p:cNvSpPr txBox="1"/>
          <p:nvPr/>
        </p:nvSpPr>
        <p:spPr>
          <a:xfrm>
            <a:off x="630000" y="630250"/>
            <a:ext cx="3735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Concept of Blood Relation</a:t>
            </a:r>
            <a:endParaRPr sz="2000" b="1" i="0" u="none" strike="noStrike" cap="none">
              <a:solidFill>
                <a:srgbClr val="8182EF"/>
              </a:solidFill>
              <a:latin typeface="Roboto"/>
              <a:ea typeface="Roboto"/>
              <a:cs typeface="Roboto"/>
              <a:sym typeface="Roboto"/>
            </a:endParaRPr>
          </a:p>
        </p:txBody>
      </p:sp>
      <p:sp>
        <p:nvSpPr>
          <p:cNvPr id="83" name="Google Shape;83;g31ecf70bd7e_0_4"/>
          <p:cNvSpPr txBox="1"/>
          <p:nvPr/>
        </p:nvSpPr>
        <p:spPr>
          <a:xfrm>
            <a:off x="630000" y="983400"/>
            <a:ext cx="7348200" cy="37866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50000"/>
              </a:lnSpc>
              <a:spcBef>
                <a:spcPts val="0"/>
              </a:spcBef>
              <a:spcAft>
                <a:spcPts val="0"/>
              </a:spcAft>
              <a:buClr>
                <a:srgbClr val="000000"/>
              </a:buClr>
              <a:buSzPts val="1800"/>
              <a:buFont typeface="Arial"/>
              <a:buNone/>
            </a:pPr>
            <a:r>
              <a:rPr lang="en-GB" sz="1800" b="1" i="0" u="none" strike="noStrike" cap="none" dirty="0">
                <a:solidFill>
                  <a:schemeClr val="dk1"/>
                </a:solidFill>
                <a:latin typeface="Roboto"/>
                <a:ea typeface="Roboto"/>
                <a:cs typeface="Roboto"/>
                <a:sym typeface="Roboto"/>
              </a:rPr>
              <a:t>1. Relations of Paternal side:</a:t>
            </a:r>
            <a:endParaRPr sz="1800" b="0" i="0" u="none" strike="noStrike" cap="none" dirty="0">
              <a:solidFill>
                <a:schemeClr val="dk1"/>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Father's father → Grandfather</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Father's mother → Grandmother</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Father's brother → Uncle</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Father's sister → Aunt</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Children of uncle → Cousin</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Wife of uncle → Aunt</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Children of aunt → Cousin</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Husband of aunt → Uncle</a:t>
            </a:r>
            <a:endParaRPr sz="1400" b="0" i="0" u="none" strike="noStrike" cap="none" dirty="0">
              <a:solidFill>
                <a:srgbClr val="000000"/>
              </a:solidFill>
              <a:latin typeface="Roboto"/>
              <a:ea typeface="Roboto"/>
              <a:cs typeface="Roboto"/>
              <a:sym typeface="Roboto"/>
            </a:endParaRPr>
          </a:p>
        </p:txBody>
      </p:sp>
      <p:pic>
        <p:nvPicPr>
          <p:cNvPr id="84" name="Google Shape;84;g31ecf70bd7e_0_4" descr="0-6730_big-family-clipart-clipart-family.png"/>
          <p:cNvPicPr preferRelativeResize="0"/>
          <p:nvPr/>
        </p:nvPicPr>
        <p:blipFill rotWithShape="1">
          <a:blip r:embed="rId3">
            <a:alphaModFix/>
          </a:blip>
          <a:srcRect/>
          <a:stretch/>
        </p:blipFill>
        <p:spPr>
          <a:xfrm>
            <a:off x="4365900" y="1170000"/>
            <a:ext cx="3978349" cy="360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31ecf70bd7e_0_11"/>
          <p:cNvSpPr txBox="1"/>
          <p:nvPr/>
        </p:nvSpPr>
        <p:spPr>
          <a:xfrm>
            <a:off x="630000" y="630250"/>
            <a:ext cx="3735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Concept of Blood Relation</a:t>
            </a:r>
            <a:endParaRPr sz="2000" b="1" i="0" u="none" strike="noStrike" cap="none">
              <a:solidFill>
                <a:srgbClr val="8182EF"/>
              </a:solidFill>
              <a:latin typeface="Roboto"/>
              <a:ea typeface="Roboto"/>
              <a:cs typeface="Roboto"/>
              <a:sym typeface="Roboto"/>
            </a:endParaRPr>
          </a:p>
        </p:txBody>
      </p:sp>
      <p:sp>
        <p:nvSpPr>
          <p:cNvPr id="90" name="Google Shape;90;g31ecf70bd7e_0_11"/>
          <p:cNvSpPr txBox="1"/>
          <p:nvPr/>
        </p:nvSpPr>
        <p:spPr>
          <a:xfrm>
            <a:off x="526350" y="1094100"/>
            <a:ext cx="7417500" cy="29553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50000"/>
              </a:lnSpc>
              <a:spcBef>
                <a:spcPts val="0"/>
              </a:spcBef>
              <a:spcAft>
                <a:spcPts val="0"/>
              </a:spcAft>
              <a:buClr>
                <a:srgbClr val="000000"/>
              </a:buClr>
              <a:buSzPts val="1800"/>
              <a:buFont typeface="Arial"/>
              <a:buNone/>
            </a:pPr>
            <a:r>
              <a:rPr lang="en-GB" sz="1800" b="1" i="0" u="none" strike="noStrike" cap="none" dirty="0">
                <a:solidFill>
                  <a:schemeClr val="dk1"/>
                </a:solidFill>
                <a:latin typeface="Roboto"/>
                <a:ea typeface="Roboto"/>
                <a:cs typeface="Roboto"/>
                <a:sym typeface="Roboto"/>
              </a:rPr>
              <a:t>2. Relations of Maternal side:</a:t>
            </a:r>
            <a:endParaRPr sz="1800" b="0" i="0" u="none" strike="noStrike" cap="none" dirty="0">
              <a:solidFill>
                <a:schemeClr val="dk1"/>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Mother's father → Maternal grandfather</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Mother's mother → Maternal grandmother</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Mother's brother Maternal uncle</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Mother's sister → Aunt</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Children of maternal uncle → Cousin</a:t>
            </a:r>
            <a:endParaRPr sz="1800" b="0" i="0" u="none" strike="noStrike" cap="none" dirty="0">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rgbClr val="000000"/>
              </a:buClr>
              <a:buSzPts val="1800"/>
              <a:buFont typeface="Arial"/>
              <a:buNone/>
            </a:pPr>
            <a:r>
              <a:rPr lang="en-GB" sz="1800" b="0" i="0" u="none" strike="noStrike" cap="none" dirty="0">
                <a:solidFill>
                  <a:schemeClr val="dk1"/>
                </a:solidFill>
                <a:latin typeface="Roboto"/>
                <a:ea typeface="Roboto"/>
                <a:cs typeface="Roboto"/>
                <a:sym typeface="Roboto"/>
              </a:rPr>
              <a:t>Wife of maternal uncle → Maternal aunt</a:t>
            </a:r>
            <a:endParaRPr sz="1800" b="0" i="0" u="none" strike="noStrike" cap="none" dirty="0">
              <a:solidFill>
                <a:schemeClr val="dk2"/>
              </a:solidFill>
              <a:latin typeface="Roboto"/>
              <a:ea typeface="Roboto"/>
              <a:cs typeface="Roboto"/>
              <a:sym typeface="Roboto"/>
            </a:endParaRPr>
          </a:p>
        </p:txBody>
      </p:sp>
      <p:pic>
        <p:nvPicPr>
          <p:cNvPr id="91" name="Google Shape;91;g31ecf70bd7e_0_11" descr="maxresdefault.jpg"/>
          <p:cNvPicPr preferRelativeResize="0"/>
          <p:nvPr/>
        </p:nvPicPr>
        <p:blipFill rotWithShape="1">
          <a:blip r:embed="rId3">
            <a:alphaModFix/>
          </a:blip>
          <a:srcRect b="8408"/>
          <a:stretch/>
        </p:blipFill>
        <p:spPr>
          <a:xfrm>
            <a:off x="5179850" y="1094100"/>
            <a:ext cx="3164400" cy="2841075"/>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g31ecf70bd7e_0_18"/>
          <p:cNvSpPr txBox="1"/>
          <p:nvPr/>
        </p:nvSpPr>
        <p:spPr>
          <a:xfrm>
            <a:off x="630000" y="630250"/>
            <a:ext cx="3735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Concept of Blood Relation</a:t>
            </a:r>
            <a:endParaRPr sz="2000" b="1" i="0" u="none" strike="noStrike" cap="none">
              <a:solidFill>
                <a:srgbClr val="8182EF"/>
              </a:solidFill>
              <a:latin typeface="Roboto"/>
              <a:ea typeface="Roboto"/>
              <a:cs typeface="Roboto"/>
              <a:sym typeface="Roboto"/>
            </a:endParaRPr>
          </a:p>
        </p:txBody>
      </p:sp>
      <p:pic>
        <p:nvPicPr>
          <p:cNvPr id="97" name="Google Shape;97;g31ecf70bd7e_0_18" descr="Blood-Relation-Flow-Chart.png"/>
          <p:cNvPicPr preferRelativeResize="0"/>
          <p:nvPr/>
        </p:nvPicPr>
        <p:blipFill rotWithShape="1">
          <a:blip r:embed="rId3">
            <a:alphaModFix/>
          </a:blip>
          <a:srcRect/>
          <a:stretch/>
        </p:blipFill>
        <p:spPr>
          <a:xfrm>
            <a:off x="630000" y="1439875"/>
            <a:ext cx="7714251" cy="3330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g2ee15abed17_3_283"/>
          <p:cNvSpPr txBox="1"/>
          <p:nvPr/>
        </p:nvSpPr>
        <p:spPr>
          <a:xfrm>
            <a:off x="720000" y="1440000"/>
            <a:ext cx="7650000" cy="2704200"/>
          </a:xfrm>
          <a:prstGeom prst="rect">
            <a:avLst/>
          </a:prstGeom>
          <a:noFill/>
          <a:ln w="9525" cap="flat" cmpd="sng">
            <a:solidFill>
              <a:schemeClr val="lt1"/>
            </a:solidFill>
            <a:prstDash val="solid"/>
            <a:round/>
            <a:headEnd type="none" w="sm" len="sm"/>
            <a:tailEnd type="none" w="sm" len="sm"/>
          </a:ln>
        </p:spPr>
        <p:txBody>
          <a:bodyPr spcFirstLastPara="1" wrap="square" lIns="540000" tIns="0" rIns="15420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Pointing to an old man, Kailas said, "His son is my son's uncle." How is the old man related to Kailas?</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Brother</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Uncle</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Father</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Grandfather</a:t>
            </a:r>
            <a:endParaRPr sz="1800" b="0" i="0" u="none" strike="noStrike" cap="none">
              <a:solidFill>
                <a:schemeClr val="dk2"/>
              </a:solidFill>
              <a:latin typeface="Roboto"/>
              <a:ea typeface="Roboto"/>
              <a:cs typeface="Roboto"/>
              <a:sym typeface="Roboto"/>
            </a:endParaRPr>
          </a:p>
          <a:p>
            <a:pPr marL="0" marR="0" lvl="0" indent="0" algn="just" rtl="0">
              <a:lnSpc>
                <a:spcPct val="150000"/>
              </a:lnSpc>
              <a:spcBef>
                <a:spcPts val="0"/>
              </a:spcBef>
              <a:spcAft>
                <a:spcPts val="0"/>
              </a:spcAft>
              <a:buClr>
                <a:schemeClr val="dk1"/>
              </a:buClr>
              <a:buSzPts val="1400"/>
              <a:buFont typeface="Arial"/>
              <a:buNone/>
            </a:pPr>
            <a:endParaRPr sz="1800" b="0" i="0" u="none" strike="noStrike" cap="none">
              <a:solidFill>
                <a:schemeClr val="dk1"/>
              </a:solidFill>
              <a:latin typeface="Arial"/>
              <a:ea typeface="Arial"/>
              <a:cs typeface="Arial"/>
              <a:sym typeface="Arial"/>
            </a:endParaRPr>
          </a:p>
        </p:txBody>
      </p:sp>
      <p:sp>
        <p:nvSpPr>
          <p:cNvPr id="103" name="Google Shape;103;g2ee15abed17_3_283"/>
          <p:cNvSpPr txBox="1"/>
          <p:nvPr/>
        </p:nvSpPr>
        <p:spPr>
          <a:xfrm>
            <a:off x="720000" y="579950"/>
            <a:ext cx="2351100" cy="4155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500"/>
              <a:buFont typeface="Arial"/>
              <a:buNone/>
            </a:pPr>
            <a:endParaRPr sz="2100" b="0" i="0" u="none" strike="noStrike" cap="none">
              <a:solidFill>
                <a:srgbClr val="6D9EEB"/>
              </a:solidFill>
              <a:latin typeface="Roboto Black"/>
              <a:ea typeface="Roboto Black"/>
              <a:cs typeface="Roboto Black"/>
              <a:sym typeface="Roboto Black"/>
            </a:endParaRPr>
          </a:p>
        </p:txBody>
      </p:sp>
      <p:sp>
        <p:nvSpPr>
          <p:cNvPr id="104" name="Google Shape;104;g2ee15abed17_3_283"/>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01</a:t>
            </a:r>
            <a:endParaRPr sz="2000" b="1" i="0" u="none" strike="noStrike" cap="none">
              <a:solidFill>
                <a:srgbClr val="8182EF"/>
              </a:solidFill>
              <a:latin typeface="Roboto"/>
              <a:ea typeface="Roboto"/>
              <a:cs typeface="Roboto"/>
              <a:sym typeface="Roboto"/>
            </a:endParaRPr>
          </a:p>
        </p:txBody>
      </p:sp>
      <p:sp>
        <p:nvSpPr>
          <p:cNvPr id="105" name="Google Shape;105;g2ee15abed17_3_283"/>
          <p:cNvSpPr txBox="1"/>
          <p:nvPr/>
        </p:nvSpPr>
        <p:spPr>
          <a:xfrm>
            <a:off x="7157600" y="4324350"/>
            <a:ext cx="12117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1" i="0" u="none" strike="noStrike" cap="none">
                <a:solidFill>
                  <a:srgbClr val="000000"/>
                </a:solidFill>
                <a:latin typeface="Roboto"/>
                <a:ea typeface="Roboto"/>
                <a:cs typeface="Roboto"/>
                <a:sym typeface="Roboto"/>
              </a:rPr>
              <a:t>Answer : C</a:t>
            </a:r>
            <a:endParaRPr sz="1600" b="1" i="0" u="none" strike="noStrike" cap="none">
              <a:solidFill>
                <a:srgbClr val="000000"/>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
                                            <p:txEl>
                                              <p:pRg st="0" end="0"/>
                                            </p:txEl>
                                          </p:spTgt>
                                        </p:tgtEl>
                                        <p:attrNameLst>
                                          <p:attrName>style.visibility</p:attrName>
                                        </p:attrNameLst>
                                      </p:cBhvr>
                                      <p:to>
                                        <p:strVal val="visible"/>
                                      </p:to>
                                    </p:set>
                                    <p:animEffect transition="in" filter="fade">
                                      <p:cBhvr>
                                        <p:cTn id="7" dur="1000"/>
                                        <p:tgtEl>
                                          <p:spTgt spid="1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
                                            <p:txEl>
                                              <p:pRg st="1" end="1"/>
                                            </p:txEl>
                                          </p:spTgt>
                                        </p:tgtEl>
                                        <p:attrNameLst>
                                          <p:attrName>style.visibility</p:attrName>
                                        </p:attrNameLst>
                                      </p:cBhvr>
                                      <p:to>
                                        <p:strVal val="visible"/>
                                      </p:to>
                                    </p:set>
                                    <p:animEffect transition="in" filter="fade">
                                      <p:cBhvr>
                                        <p:cTn id="12" dur="1000"/>
                                        <p:tgtEl>
                                          <p:spTgt spid="1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
                                            <p:txEl>
                                              <p:pRg st="2" end="2"/>
                                            </p:txEl>
                                          </p:spTgt>
                                        </p:tgtEl>
                                        <p:attrNameLst>
                                          <p:attrName>style.visibility</p:attrName>
                                        </p:attrNameLst>
                                      </p:cBhvr>
                                      <p:to>
                                        <p:strVal val="visible"/>
                                      </p:to>
                                    </p:set>
                                    <p:animEffect transition="in" filter="fade">
                                      <p:cBhvr>
                                        <p:cTn id="17" dur="1000"/>
                                        <p:tgtEl>
                                          <p:spTgt spid="10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
                                            <p:txEl>
                                              <p:pRg st="3" end="3"/>
                                            </p:txEl>
                                          </p:spTgt>
                                        </p:tgtEl>
                                        <p:attrNameLst>
                                          <p:attrName>style.visibility</p:attrName>
                                        </p:attrNameLst>
                                      </p:cBhvr>
                                      <p:to>
                                        <p:strVal val="visible"/>
                                      </p:to>
                                    </p:set>
                                    <p:animEffect transition="in" filter="fade">
                                      <p:cBhvr>
                                        <p:cTn id="22" dur="1000"/>
                                        <p:tgtEl>
                                          <p:spTgt spid="10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2">
                                            <p:txEl>
                                              <p:pRg st="4" end="4"/>
                                            </p:txEl>
                                          </p:spTgt>
                                        </p:tgtEl>
                                        <p:attrNameLst>
                                          <p:attrName>style.visibility</p:attrName>
                                        </p:attrNameLst>
                                      </p:cBhvr>
                                      <p:to>
                                        <p:strVal val="visible"/>
                                      </p:to>
                                    </p:set>
                                    <p:animEffect transition="in" filter="fade">
                                      <p:cBhvr>
                                        <p:cTn id="27" dur="1000"/>
                                        <p:tgtEl>
                                          <p:spTgt spid="10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2">
                                            <p:txEl>
                                              <p:pRg st="5" end="5"/>
                                            </p:txEl>
                                          </p:spTgt>
                                        </p:tgtEl>
                                        <p:attrNameLst>
                                          <p:attrName>style.visibility</p:attrName>
                                        </p:attrNameLst>
                                      </p:cBhvr>
                                      <p:to>
                                        <p:strVal val="visible"/>
                                      </p:to>
                                    </p:set>
                                    <p:animEffect transition="in" filter="fade">
                                      <p:cBhvr>
                                        <p:cTn id="32" dur="1000"/>
                                        <p:tgtEl>
                                          <p:spTgt spid="10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2ee15abed17_3_288"/>
          <p:cNvSpPr txBox="1"/>
          <p:nvPr/>
        </p:nvSpPr>
        <p:spPr>
          <a:xfrm>
            <a:off x="-34425" y="502200"/>
            <a:ext cx="44577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 </a:t>
            </a:r>
            <a:r>
              <a:rPr lang="en-GB" sz="2000" b="1" i="0" u="none" strike="noStrike" cap="none">
                <a:solidFill>
                  <a:schemeClr val="lt1"/>
                </a:solidFill>
                <a:latin typeface="Roboto"/>
                <a:ea typeface="Roboto"/>
                <a:cs typeface="Roboto"/>
                <a:sym typeface="Roboto"/>
              </a:rPr>
              <a:t> CLOCKS</a:t>
            </a:r>
            <a:endParaRPr sz="2000" b="1" i="0" u="none" strike="noStrike" cap="none">
              <a:solidFill>
                <a:schemeClr val="lt1"/>
              </a:solidFill>
              <a:latin typeface="Roboto"/>
              <a:ea typeface="Roboto"/>
              <a:cs typeface="Roboto"/>
              <a:sym typeface="Roboto"/>
            </a:endParaRPr>
          </a:p>
        </p:txBody>
      </p:sp>
      <p:sp>
        <p:nvSpPr>
          <p:cNvPr id="111" name="Google Shape;111;g2ee15abed17_3_288"/>
          <p:cNvSpPr txBox="1"/>
          <p:nvPr/>
        </p:nvSpPr>
        <p:spPr>
          <a:xfrm>
            <a:off x="711775" y="1439875"/>
            <a:ext cx="7657500" cy="2475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Kailas's son's uncle - Kailas's brother. So, the old man's son is Kailas's brother i.e., the old man is Kailas's father.</a:t>
            </a:r>
            <a:endParaRPr sz="1800" b="0" i="0" u="none" strike="noStrike" cap="none">
              <a:solidFill>
                <a:schemeClr val="dk1"/>
              </a:solidFill>
              <a:latin typeface="Roboto"/>
              <a:ea typeface="Roboto"/>
              <a:cs typeface="Roboto"/>
              <a:sym typeface="Roboto"/>
            </a:endParaRPr>
          </a:p>
        </p:txBody>
      </p:sp>
      <p:sp>
        <p:nvSpPr>
          <p:cNvPr id="112" name="Google Shape;112;g2ee15abed17_3_288"/>
          <p:cNvSpPr txBox="1"/>
          <p:nvPr/>
        </p:nvSpPr>
        <p:spPr>
          <a:xfrm>
            <a:off x="630000" y="630250"/>
            <a:ext cx="3090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01</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animEffect transition="in" filter="fade">
                                      <p:cBhvr>
                                        <p:cTn id="7" dur="1000"/>
                                        <p:tgtEl>
                                          <p:spTgt spid="1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2ee15abed17_3_293"/>
          <p:cNvSpPr txBox="1"/>
          <p:nvPr/>
        </p:nvSpPr>
        <p:spPr>
          <a:xfrm>
            <a:off x="720000" y="1439875"/>
            <a:ext cx="76494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Pointing to a man in a photograph. Asha said. "His mother's only daughter is my mother." How is Asha related to that man ? </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Nephew</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Sister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Wife</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Niece</a:t>
            </a:r>
            <a:endParaRPr sz="1800" b="0" i="0" u="none" strike="noStrike" cap="none">
              <a:solidFill>
                <a:schemeClr val="dk1"/>
              </a:solidFill>
              <a:latin typeface="Roboto"/>
              <a:ea typeface="Roboto"/>
              <a:cs typeface="Roboto"/>
              <a:sym typeface="Roboto"/>
            </a:endParaRPr>
          </a:p>
        </p:txBody>
      </p:sp>
      <p:sp>
        <p:nvSpPr>
          <p:cNvPr id="118" name="Google Shape;118;g2ee15abed17_3_293"/>
          <p:cNvSpPr txBox="1"/>
          <p:nvPr/>
        </p:nvSpPr>
        <p:spPr>
          <a:xfrm>
            <a:off x="630000" y="630250"/>
            <a:ext cx="3090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02</a:t>
            </a:r>
            <a:endParaRPr sz="1400" b="0" i="0" u="none" strike="noStrike" cap="none">
              <a:solidFill>
                <a:srgbClr val="000000"/>
              </a:solidFill>
              <a:latin typeface="Arial"/>
              <a:ea typeface="Arial"/>
              <a:cs typeface="Arial"/>
              <a:sym typeface="Arial"/>
            </a:endParaRPr>
          </a:p>
        </p:txBody>
      </p:sp>
      <p:sp>
        <p:nvSpPr>
          <p:cNvPr id="119" name="Google Shape;119;g2ee15abed17_3_293"/>
          <p:cNvSpPr txBox="1"/>
          <p:nvPr/>
        </p:nvSpPr>
        <p:spPr>
          <a:xfrm>
            <a:off x="7139600" y="4324350"/>
            <a:ext cx="12297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1" i="0" u="none" strike="noStrike" cap="none">
                <a:solidFill>
                  <a:srgbClr val="000000"/>
                </a:solidFill>
                <a:latin typeface="Roboto"/>
                <a:ea typeface="Roboto"/>
                <a:cs typeface="Roboto"/>
                <a:sym typeface="Roboto"/>
              </a:rPr>
              <a:t>Answer :</a:t>
            </a:r>
            <a:r>
              <a:rPr lang="en-GB" sz="1600" b="1">
                <a:latin typeface="Roboto"/>
                <a:ea typeface="Roboto"/>
                <a:cs typeface="Roboto"/>
                <a:sym typeface="Roboto"/>
              </a:rPr>
              <a:t>D</a:t>
            </a:r>
            <a:endParaRPr sz="1600" b="1" i="0" u="none" strike="noStrike" cap="none">
              <a:solidFill>
                <a:srgbClr val="000000"/>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animEffect transition="in" filter="fade">
                                      <p:cBhvr>
                                        <p:cTn id="7" dur="1000"/>
                                        <p:tgtEl>
                                          <p:spTgt spid="1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7">
                                            <p:txEl>
                                              <p:pRg st="1" end="1"/>
                                            </p:txEl>
                                          </p:spTgt>
                                        </p:tgtEl>
                                        <p:attrNameLst>
                                          <p:attrName>style.visibility</p:attrName>
                                        </p:attrNameLst>
                                      </p:cBhvr>
                                      <p:to>
                                        <p:strVal val="visible"/>
                                      </p:to>
                                    </p:set>
                                    <p:animEffect transition="in" filter="fade">
                                      <p:cBhvr>
                                        <p:cTn id="12" dur="1000"/>
                                        <p:tgtEl>
                                          <p:spTgt spid="1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7">
                                            <p:txEl>
                                              <p:pRg st="2" end="2"/>
                                            </p:txEl>
                                          </p:spTgt>
                                        </p:tgtEl>
                                        <p:attrNameLst>
                                          <p:attrName>style.visibility</p:attrName>
                                        </p:attrNameLst>
                                      </p:cBhvr>
                                      <p:to>
                                        <p:strVal val="visible"/>
                                      </p:to>
                                    </p:set>
                                    <p:animEffect transition="in" filter="fade">
                                      <p:cBhvr>
                                        <p:cTn id="17" dur="1000"/>
                                        <p:tgtEl>
                                          <p:spTgt spid="1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7">
                                            <p:txEl>
                                              <p:pRg st="3" end="3"/>
                                            </p:txEl>
                                          </p:spTgt>
                                        </p:tgtEl>
                                        <p:attrNameLst>
                                          <p:attrName>style.visibility</p:attrName>
                                        </p:attrNameLst>
                                      </p:cBhvr>
                                      <p:to>
                                        <p:strVal val="visible"/>
                                      </p:to>
                                    </p:set>
                                    <p:animEffect transition="in" filter="fade">
                                      <p:cBhvr>
                                        <p:cTn id="22" dur="1000"/>
                                        <p:tgtEl>
                                          <p:spTgt spid="1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7">
                                            <p:txEl>
                                              <p:pRg st="4" end="4"/>
                                            </p:txEl>
                                          </p:spTgt>
                                        </p:tgtEl>
                                        <p:attrNameLst>
                                          <p:attrName>style.visibility</p:attrName>
                                        </p:attrNameLst>
                                      </p:cBhvr>
                                      <p:to>
                                        <p:strVal val="visible"/>
                                      </p:to>
                                    </p:set>
                                    <p:animEffect transition="in" filter="fade">
                                      <p:cBhvr>
                                        <p:cTn id="27" dur="1000"/>
                                        <p:tgtEl>
                                          <p:spTgt spid="1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2ee15abed17_3_297"/>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02</a:t>
            </a:r>
            <a:endParaRPr sz="2000" b="1" i="0" u="none" strike="noStrike" cap="none">
              <a:solidFill>
                <a:srgbClr val="8182EF"/>
              </a:solidFill>
              <a:latin typeface="Roboto"/>
              <a:ea typeface="Roboto"/>
              <a:cs typeface="Roboto"/>
              <a:sym typeface="Roboto"/>
            </a:endParaRPr>
          </a:p>
        </p:txBody>
      </p:sp>
      <p:sp>
        <p:nvSpPr>
          <p:cNvPr id="125" name="Google Shape;125;g2ee15abed17_3_297"/>
          <p:cNvSpPr txBox="1"/>
          <p:nvPr/>
        </p:nvSpPr>
        <p:spPr>
          <a:xfrm>
            <a:off x="630000" y="1439875"/>
            <a:ext cx="7667100" cy="877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Asha's mother's mother is man's mother i.e.. Asha's mother is man's sister or Asita is</a:t>
            </a:r>
            <a:r>
              <a:rPr lang="en-GB" sz="1800" b="0" i="0" u="none" strike="noStrike" cap="none">
                <a:solidFill>
                  <a:schemeClr val="dk2"/>
                </a:solidFill>
                <a:latin typeface="Roboto"/>
                <a:ea typeface="Roboto"/>
                <a:cs typeface="Roboto"/>
                <a:sym typeface="Roboto"/>
              </a:rPr>
              <a:t> </a:t>
            </a:r>
            <a:r>
              <a:rPr lang="en-GB" sz="1800" b="0" i="0" u="none" strike="noStrike" cap="none">
                <a:solidFill>
                  <a:schemeClr val="dk1"/>
                </a:solidFill>
                <a:latin typeface="Roboto"/>
                <a:ea typeface="Roboto"/>
                <a:cs typeface="Roboto"/>
                <a:sym typeface="Roboto"/>
              </a:rPr>
              <a:t>man's niece.</a:t>
            </a:r>
            <a:endParaRPr sz="1800" b="0" i="0" u="none" strike="noStrike" cap="none">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g2ee15abed17_3_301"/>
          <p:cNvPicPr preferRelativeResize="0"/>
          <p:nvPr/>
        </p:nvPicPr>
        <p:blipFill rotWithShape="1">
          <a:blip r:embed="rId3">
            <a:alphaModFix/>
          </a:blip>
          <a:srcRect/>
          <a:stretch/>
        </p:blipFill>
        <p:spPr>
          <a:xfrm>
            <a:off x="0" y="0"/>
            <a:ext cx="9144003" cy="5143501"/>
          </a:xfrm>
          <a:prstGeom prst="rect">
            <a:avLst/>
          </a:prstGeom>
          <a:noFill/>
          <a:ln>
            <a:noFill/>
          </a:ln>
        </p:spPr>
      </p:pic>
      <p:sp>
        <p:nvSpPr>
          <p:cNvPr id="131" name="Google Shape;131;g2ee15abed17_3_301"/>
          <p:cNvSpPr txBox="1"/>
          <p:nvPr/>
        </p:nvSpPr>
        <p:spPr>
          <a:xfrm>
            <a:off x="720000" y="1439875"/>
            <a:ext cx="7649400" cy="7233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3500"/>
              <a:buFont typeface="Arial"/>
              <a:buNone/>
            </a:pPr>
            <a:endParaRPr sz="3500" b="0" i="0" u="none" strike="noStrike" cap="none">
              <a:solidFill>
                <a:srgbClr val="8182EF"/>
              </a:solidFill>
              <a:latin typeface="Roboto Black"/>
              <a:ea typeface="Roboto Black"/>
              <a:cs typeface="Roboto Black"/>
              <a:sym typeface="Roboto Black"/>
            </a:endParaRPr>
          </a:p>
        </p:txBody>
      </p:sp>
      <p:sp>
        <p:nvSpPr>
          <p:cNvPr id="132" name="Google Shape;132;g2ee15abed17_3_301"/>
          <p:cNvSpPr txBox="1"/>
          <p:nvPr/>
        </p:nvSpPr>
        <p:spPr>
          <a:xfrm>
            <a:off x="720000" y="1439875"/>
            <a:ext cx="76494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Pointing to a person, a man said to a woman, "His mother is the only daughter of your father." How was the woman related to the person?</a:t>
            </a:r>
            <a:endParaRPr sz="1800" b="0" i="0" u="none" strike="noStrike" cap="none">
              <a:solidFill>
                <a:schemeClr val="dk2"/>
              </a:solidFill>
              <a:latin typeface="Roboto"/>
              <a:ea typeface="Roboto"/>
              <a:cs typeface="Roboto"/>
              <a:sym typeface="Roboto"/>
            </a:endParaRPr>
          </a:p>
          <a:p>
            <a:pPr marL="269999" marR="0" lvl="0" indent="-1143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Aunt</a:t>
            </a:r>
            <a:endParaRPr sz="1800" b="0" i="0" u="none" strike="noStrike" cap="none">
              <a:solidFill>
                <a:schemeClr val="dk2"/>
              </a:solidFill>
              <a:latin typeface="Roboto"/>
              <a:ea typeface="Roboto"/>
              <a:cs typeface="Roboto"/>
              <a:sym typeface="Roboto"/>
            </a:endParaRPr>
          </a:p>
          <a:p>
            <a:pPr marL="269999" marR="0" lvl="0" indent="-1143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Mother</a:t>
            </a:r>
            <a:endParaRPr sz="1800" b="0" i="0" u="none" strike="noStrike" cap="none">
              <a:solidFill>
                <a:schemeClr val="dk2"/>
              </a:solidFill>
              <a:latin typeface="Roboto"/>
              <a:ea typeface="Roboto"/>
              <a:cs typeface="Roboto"/>
              <a:sym typeface="Roboto"/>
            </a:endParaRPr>
          </a:p>
          <a:p>
            <a:pPr marL="269999" marR="0" lvl="0" indent="-1143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Wife</a:t>
            </a:r>
            <a:endParaRPr sz="1800" b="0" i="0" u="none" strike="noStrike" cap="none">
              <a:solidFill>
                <a:schemeClr val="dk2"/>
              </a:solidFill>
              <a:latin typeface="Roboto"/>
              <a:ea typeface="Roboto"/>
              <a:cs typeface="Roboto"/>
              <a:sym typeface="Roboto"/>
            </a:endParaRPr>
          </a:p>
          <a:p>
            <a:pPr marL="269999" marR="0" lvl="0" indent="-1143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Daughter</a:t>
            </a:r>
            <a:endParaRPr sz="1800" b="0" i="0" u="none" strike="noStrike" cap="none">
              <a:solidFill>
                <a:schemeClr val="dk1"/>
              </a:solidFill>
              <a:latin typeface="Roboto"/>
              <a:ea typeface="Roboto"/>
              <a:cs typeface="Roboto"/>
              <a:sym typeface="Roboto"/>
            </a:endParaRPr>
          </a:p>
        </p:txBody>
      </p:sp>
      <p:sp>
        <p:nvSpPr>
          <p:cNvPr id="133" name="Google Shape;133;g2ee15abed17_3_301"/>
          <p:cNvSpPr txBox="1"/>
          <p:nvPr/>
        </p:nvSpPr>
        <p:spPr>
          <a:xfrm>
            <a:off x="630000" y="630250"/>
            <a:ext cx="3090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03</a:t>
            </a:r>
            <a:endParaRPr sz="2000" b="1" i="0" u="none" strike="noStrike" cap="none">
              <a:solidFill>
                <a:srgbClr val="8182EF"/>
              </a:solidFill>
              <a:latin typeface="Roboto"/>
              <a:ea typeface="Roboto"/>
              <a:cs typeface="Roboto"/>
              <a:sym typeface="Roboto"/>
            </a:endParaRPr>
          </a:p>
        </p:txBody>
      </p:sp>
      <p:sp>
        <p:nvSpPr>
          <p:cNvPr id="134" name="Google Shape;134;g2ee15abed17_3_301"/>
          <p:cNvSpPr txBox="1"/>
          <p:nvPr/>
        </p:nvSpPr>
        <p:spPr>
          <a:xfrm>
            <a:off x="7189450" y="4324350"/>
            <a:ext cx="11799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1" i="0" u="none" strike="noStrike" cap="none">
                <a:solidFill>
                  <a:srgbClr val="000000"/>
                </a:solidFill>
                <a:latin typeface="Roboto"/>
                <a:ea typeface="Roboto"/>
                <a:cs typeface="Roboto"/>
                <a:sym typeface="Roboto"/>
              </a:rPr>
              <a:t>Answer : </a:t>
            </a:r>
            <a:r>
              <a:rPr lang="en-GB" sz="1600" b="1">
                <a:latin typeface="Roboto"/>
                <a:ea typeface="Roboto"/>
                <a:cs typeface="Roboto"/>
                <a:sym typeface="Roboto"/>
              </a:rPr>
              <a:t>B</a:t>
            </a:r>
            <a:endParaRPr sz="1600" b="1" i="0" u="none" strike="noStrike" cap="none">
              <a:solidFill>
                <a:srgbClr val="000000"/>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g2ee15abed17_3_306"/>
          <p:cNvSpPr txBox="1"/>
          <p:nvPr/>
        </p:nvSpPr>
        <p:spPr>
          <a:xfrm>
            <a:off x="327600" y="338142"/>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01</a:t>
            </a:r>
            <a:endParaRPr sz="2000" b="0" i="0" u="none" strike="noStrike" cap="none">
              <a:solidFill>
                <a:schemeClr val="lt1"/>
              </a:solidFill>
              <a:latin typeface="Roboto"/>
              <a:ea typeface="Roboto"/>
              <a:cs typeface="Roboto"/>
              <a:sym typeface="Roboto"/>
            </a:endParaRPr>
          </a:p>
        </p:txBody>
      </p:sp>
      <p:sp>
        <p:nvSpPr>
          <p:cNvPr id="140" name="Google Shape;140;g2ee15abed17_3_306"/>
          <p:cNvSpPr txBox="1"/>
          <p:nvPr/>
        </p:nvSpPr>
        <p:spPr>
          <a:xfrm>
            <a:off x="720000" y="1440000"/>
            <a:ext cx="7384200" cy="32619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Daughter of your father - Your sister.</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So, the person's mother is woman's sister or the woman is person's aunt</a:t>
            </a:r>
            <a:endParaRPr sz="18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800"/>
              </a:spcAft>
              <a:buClr>
                <a:srgbClr val="000000"/>
              </a:buClr>
              <a:buSzPts val="1400"/>
              <a:buFont typeface="Arial"/>
              <a:buNone/>
            </a:pPr>
            <a:endParaRPr sz="1800" b="0" i="0" u="none" strike="noStrike" cap="none">
              <a:solidFill>
                <a:schemeClr val="dk1"/>
              </a:solidFill>
              <a:highlight>
                <a:srgbClr val="FFFFFF"/>
              </a:highlight>
              <a:latin typeface="Roboto"/>
              <a:ea typeface="Roboto"/>
              <a:cs typeface="Roboto"/>
              <a:sym typeface="Roboto"/>
            </a:endParaRPr>
          </a:p>
        </p:txBody>
      </p:sp>
      <p:sp>
        <p:nvSpPr>
          <p:cNvPr id="141" name="Google Shape;141;g2ee15abed17_3_306"/>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03</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0">
                                            <p:txEl>
                                              <p:pRg st="0" end="0"/>
                                            </p:txEl>
                                          </p:spTgt>
                                        </p:tgtEl>
                                        <p:attrNameLst>
                                          <p:attrName>style.visibility</p:attrName>
                                        </p:attrNameLst>
                                      </p:cBhvr>
                                      <p:to>
                                        <p:strVal val="visible"/>
                                      </p:to>
                                    </p:set>
                                    <p:animEffect transition="in" filter="fade">
                                      <p:cBhvr>
                                        <p:cTn id="7" dur="1000"/>
                                        <p:tgtEl>
                                          <p:spTgt spid="1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0">
                                            <p:txEl>
                                              <p:pRg st="1" end="1"/>
                                            </p:txEl>
                                          </p:spTgt>
                                        </p:tgtEl>
                                        <p:attrNameLst>
                                          <p:attrName>style.visibility</p:attrName>
                                        </p:attrNameLst>
                                      </p:cBhvr>
                                      <p:to>
                                        <p:strVal val="visible"/>
                                      </p:to>
                                    </p:set>
                                    <p:animEffect transition="in" filter="fade">
                                      <p:cBhvr>
                                        <p:cTn id="12" dur="1000"/>
                                        <p:tgtEl>
                                          <p:spTgt spid="1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0">
                                            <p:txEl>
                                              <p:pRg st="2" end="2"/>
                                            </p:txEl>
                                          </p:spTgt>
                                        </p:tgtEl>
                                        <p:attrNameLst>
                                          <p:attrName>style.visibility</p:attrName>
                                        </p:attrNameLst>
                                      </p:cBhvr>
                                      <p:to>
                                        <p:strVal val="visible"/>
                                      </p:to>
                                    </p:set>
                                    <p:animEffect transition="in" filter="fade">
                                      <p:cBhvr>
                                        <p:cTn id="17" dur="1000"/>
                                        <p:tgtEl>
                                          <p:spTgt spid="14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31b9bf173ee_0_17"/>
          <p:cNvSpPr txBox="1"/>
          <p:nvPr/>
        </p:nvSpPr>
        <p:spPr>
          <a:xfrm>
            <a:off x="630000" y="630250"/>
            <a:ext cx="3090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04</a:t>
            </a:r>
            <a:endParaRPr sz="2000" b="1" i="0" u="none" strike="noStrike" cap="none">
              <a:solidFill>
                <a:srgbClr val="8182EF"/>
              </a:solidFill>
              <a:latin typeface="Roboto"/>
              <a:ea typeface="Roboto"/>
              <a:cs typeface="Roboto"/>
              <a:sym typeface="Roboto"/>
            </a:endParaRPr>
          </a:p>
        </p:txBody>
      </p:sp>
      <p:sp>
        <p:nvSpPr>
          <p:cNvPr id="147" name="Google Shape;147;g31b9bf173ee_0_17"/>
          <p:cNvSpPr txBox="1"/>
          <p:nvPr/>
        </p:nvSpPr>
        <p:spPr>
          <a:xfrm>
            <a:off x="630000" y="1354400"/>
            <a:ext cx="7739400" cy="29553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Deepak said to Nitin, "That boy playing with the football is the younger of the two brothers of the daughter of my father's wife." How is the boy playing football related to Deepak?</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Son</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Brother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Cousin</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Nephew</a:t>
            </a:r>
            <a:endParaRPr sz="1800" b="0" i="0" u="none" strike="noStrike" cap="none">
              <a:solidFill>
                <a:schemeClr val="dk1"/>
              </a:solidFill>
              <a:latin typeface="Roboto"/>
              <a:ea typeface="Roboto"/>
              <a:cs typeface="Roboto"/>
              <a:sym typeface="Roboto"/>
            </a:endParaRPr>
          </a:p>
        </p:txBody>
      </p:sp>
      <p:sp>
        <p:nvSpPr>
          <p:cNvPr id="148" name="Google Shape;148;g31b9bf173ee_0_17"/>
          <p:cNvSpPr txBox="1"/>
          <p:nvPr/>
        </p:nvSpPr>
        <p:spPr>
          <a:xfrm>
            <a:off x="7189500" y="4230000"/>
            <a:ext cx="11799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1" i="0" u="none" strike="noStrike" cap="none">
                <a:solidFill>
                  <a:srgbClr val="000000"/>
                </a:solidFill>
                <a:latin typeface="Roboto"/>
                <a:ea typeface="Roboto"/>
                <a:cs typeface="Roboto"/>
                <a:sym typeface="Roboto"/>
              </a:rPr>
              <a:t>Answer : B</a:t>
            </a:r>
            <a:endParaRPr sz="1600" b="1" i="0" u="none" strike="noStrike" cap="none">
              <a:solidFill>
                <a:srgbClr val="000000"/>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52"/>
        <p:cNvGrpSpPr/>
        <p:nvPr/>
      </p:nvGrpSpPr>
      <p:grpSpPr>
        <a:xfrm>
          <a:off x="0" y="0"/>
          <a:ext cx="0" cy="0"/>
          <a:chOff x="0" y="0"/>
          <a:chExt cx="0" cy="0"/>
        </a:xfrm>
      </p:grpSpPr>
      <p:sp>
        <p:nvSpPr>
          <p:cNvPr id="153" name="Google Shape;153;g2ee15abed17_3_313"/>
          <p:cNvSpPr txBox="1"/>
          <p:nvPr/>
        </p:nvSpPr>
        <p:spPr>
          <a:xfrm>
            <a:off x="720000" y="1439875"/>
            <a:ext cx="7649400" cy="30567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Father's wife - Mother; Mother's daughter - Sister; Sister's younger brother - My younger brother. So, the boy is Deepak's brother..</a:t>
            </a:r>
            <a:endParaRPr sz="1400" b="0" i="0" u="none" strike="noStrike" cap="none">
              <a:solidFill>
                <a:schemeClr val="dk1"/>
              </a:solidFill>
              <a:highlight>
                <a:srgbClr val="FFFFFF"/>
              </a:highlight>
              <a:latin typeface="Roboto"/>
              <a:ea typeface="Roboto"/>
              <a:cs typeface="Roboto"/>
              <a:sym typeface="Roboto"/>
            </a:endParaRPr>
          </a:p>
        </p:txBody>
      </p:sp>
      <p:sp>
        <p:nvSpPr>
          <p:cNvPr id="154" name="Google Shape;154;g2ee15abed17_3_313"/>
          <p:cNvSpPr txBox="1"/>
          <p:nvPr/>
        </p:nvSpPr>
        <p:spPr>
          <a:xfrm>
            <a:off x="630000" y="630250"/>
            <a:ext cx="3090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04</a:t>
            </a:r>
            <a:endParaRPr sz="2000" b="1" i="0" u="none" strike="noStrike" cap="none">
              <a:solidFill>
                <a:srgbClr val="8182E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2ee15abed17_3_318"/>
          <p:cNvSpPr txBox="1"/>
          <p:nvPr/>
        </p:nvSpPr>
        <p:spPr>
          <a:xfrm>
            <a:off x="327600" y="35920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16</a:t>
            </a:r>
            <a:endParaRPr sz="2000" b="0" i="0" u="none" strike="noStrike" cap="none">
              <a:solidFill>
                <a:schemeClr val="lt1"/>
              </a:solidFill>
              <a:latin typeface="Roboto"/>
              <a:ea typeface="Roboto"/>
              <a:cs typeface="Roboto"/>
              <a:sym typeface="Roboto"/>
            </a:endParaRPr>
          </a:p>
        </p:txBody>
      </p:sp>
      <p:sp>
        <p:nvSpPr>
          <p:cNvPr id="160" name="Google Shape;160;g2ee15abed17_3_318"/>
          <p:cNvSpPr txBox="1"/>
          <p:nvPr/>
        </p:nvSpPr>
        <p:spPr>
          <a:xfrm>
            <a:off x="720000" y="1440000"/>
            <a:ext cx="76494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Pointing out to a lady, a girl said, "She is the daughter-in-law of the grandmother</a:t>
            </a:r>
            <a:r>
              <a:rPr lang="en-GB" sz="1800" b="0" i="0" u="none" strike="noStrike" cap="none">
                <a:solidFill>
                  <a:schemeClr val="dk2"/>
                </a:solidFill>
                <a:latin typeface="Roboto"/>
                <a:ea typeface="Roboto"/>
                <a:cs typeface="Roboto"/>
                <a:sym typeface="Roboto"/>
              </a:rPr>
              <a:t> </a:t>
            </a:r>
            <a:r>
              <a:rPr lang="en-GB" sz="1800" b="0" i="0" u="none" strike="noStrike" cap="none">
                <a:solidFill>
                  <a:schemeClr val="dk1"/>
                </a:solidFill>
                <a:latin typeface="Roboto"/>
                <a:ea typeface="Roboto"/>
                <a:cs typeface="Roboto"/>
                <a:sym typeface="Roboto"/>
              </a:rPr>
              <a:t>of my father's only son." How is the lady related to the girl ?</a:t>
            </a:r>
            <a:endParaRPr sz="1800" b="0" i="0" u="none" strike="noStrike" cap="none">
              <a:solidFill>
                <a:schemeClr val="dk2"/>
              </a:solidFill>
              <a:latin typeface="Roboto"/>
              <a:ea typeface="Roboto"/>
              <a:cs typeface="Roboto"/>
              <a:sym typeface="Roboto"/>
            </a:endParaRPr>
          </a:p>
          <a:p>
            <a:pPr marL="4500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Sister-in-law</a:t>
            </a:r>
            <a:endParaRPr sz="1800" b="0" i="0" u="none" strike="noStrike" cap="none">
              <a:solidFill>
                <a:schemeClr val="dk2"/>
              </a:solidFill>
              <a:latin typeface="Roboto"/>
              <a:ea typeface="Roboto"/>
              <a:cs typeface="Roboto"/>
              <a:sym typeface="Roboto"/>
            </a:endParaRPr>
          </a:p>
          <a:p>
            <a:pPr marL="4500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Mother</a:t>
            </a:r>
            <a:endParaRPr sz="1800" b="0" i="0" u="none" strike="noStrike" cap="none">
              <a:solidFill>
                <a:schemeClr val="dk2"/>
              </a:solidFill>
              <a:latin typeface="Roboto"/>
              <a:ea typeface="Roboto"/>
              <a:cs typeface="Roboto"/>
              <a:sym typeface="Roboto"/>
            </a:endParaRPr>
          </a:p>
          <a:p>
            <a:pPr marL="4500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Aunt</a:t>
            </a:r>
            <a:endParaRPr sz="1800" b="0" i="0" u="none" strike="noStrike" cap="none">
              <a:solidFill>
                <a:schemeClr val="dk2"/>
              </a:solidFill>
              <a:latin typeface="Roboto"/>
              <a:ea typeface="Roboto"/>
              <a:cs typeface="Roboto"/>
              <a:sym typeface="Roboto"/>
            </a:endParaRPr>
          </a:p>
          <a:p>
            <a:pPr marL="4500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Can't be determined</a:t>
            </a:r>
            <a:endParaRPr sz="1800" b="0" i="0" u="none" strike="noStrike" cap="none">
              <a:solidFill>
                <a:schemeClr val="dk1"/>
              </a:solidFill>
              <a:latin typeface="Roboto"/>
              <a:ea typeface="Roboto"/>
              <a:cs typeface="Roboto"/>
              <a:sym typeface="Roboto"/>
            </a:endParaRPr>
          </a:p>
          <a:p>
            <a:pPr marL="0" marR="0" lvl="0" indent="0" algn="l" rtl="0">
              <a:lnSpc>
                <a:spcPct val="100000"/>
              </a:lnSpc>
              <a:spcBef>
                <a:spcPts val="800"/>
              </a:spcBef>
              <a:spcAft>
                <a:spcPts val="800"/>
              </a:spcAft>
              <a:buClr>
                <a:srgbClr val="000000"/>
              </a:buClr>
              <a:buSzPts val="1400"/>
              <a:buFont typeface="Arial"/>
              <a:buNone/>
            </a:pPr>
            <a:endParaRPr sz="1600" b="0" i="0" u="none" strike="noStrike" cap="none">
              <a:solidFill>
                <a:srgbClr val="000000"/>
              </a:solidFill>
              <a:latin typeface="Roboto"/>
              <a:ea typeface="Roboto"/>
              <a:cs typeface="Roboto"/>
              <a:sym typeface="Roboto"/>
            </a:endParaRPr>
          </a:p>
        </p:txBody>
      </p:sp>
      <p:sp>
        <p:nvSpPr>
          <p:cNvPr id="161" name="Google Shape;161;g2ee15abed17_3_318"/>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a:solidFill>
                  <a:srgbClr val="000000"/>
                </a:solidFill>
                <a:latin typeface="Roboto"/>
                <a:ea typeface="Roboto"/>
                <a:cs typeface="Roboto"/>
                <a:sym typeface="Roboto"/>
              </a:rPr>
              <a:t>Answer: </a:t>
            </a:r>
            <a:r>
              <a:rPr lang="en-GB" sz="1600" b="1">
                <a:latin typeface="Roboto"/>
                <a:ea typeface="Roboto"/>
                <a:cs typeface="Roboto"/>
                <a:sym typeface="Roboto"/>
              </a:rPr>
              <a:t>B</a:t>
            </a:r>
            <a:endParaRPr sz="1600" b="1" i="0" u="none" strike="noStrike" cap="none">
              <a:solidFill>
                <a:srgbClr val="000000"/>
              </a:solidFill>
              <a:latin typeface="Roboto"/>
              <a:ea typeface="Roboto"/>
              <a:cs typeface="Roboto"/>
              <a:sym typeface="Roboto"/>
            </a:endParaRPr>
          </a:p>
        </p:txBody>
      </p:sp>
      <p:sp>
        <p:nvSpPr>
          <p:cNvPr id="162" name="Google Shape;162;g2ee15abed17_3_318"/>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05</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xEl>
                                              <p:pRg st="0" end="0"/>
                                            </p:txEl>
                                          </p:spTgt>
                                        </p:tgtEl>
                                        <p:attrNameLst>
                                          <p:attrName>style.visibility</p:attrName>
                                        </p:attrNameLst>
                                      </p:cBhvr>
                                      <p:to>
                                        <p:strVal val="visible"/>
                                      </p:to>
                                    </p:set>
                                    <p:animEffect transition="in" filter="fade">
                                      <p:cBhvr>
                                        <p:cTn id="7" dur="1000"/>
                                        <p:tgtEl>
                                          <p:spTgt spid="1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0">
                                            <p:txEl>
                                              <p:pRg st="1" end="1"/>
                                            </p:txEl>
                                          </p:spTgt>
                                        </p:tgtEl>
                                        <p:attrNameLst>
                                          <p:attrName>style.visibility</p:attrName>
                                        </p:attrNameLst>
                                      </p:cBhvr>
                                      <p:to>
                                        <p:strVal val="visible"/>
                                      </p:to>
                                    </p:set>
                                    <p:animEffect transition="in" filter="fade">
                                      <p:cBhvr>
                                        <p:cTn id="12" dur="1000"/>
                                        <p:tgtEl>
                                          <p:spTgt spid="1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0">
                                            <p:txEl>
                                              <p:pRg st="2" end="2"/>
                                            </p:txEl>
                                          </p:spTgt>
                                        </p:tgtEl>
                                        <p:attrNameLst>
                                          <p:attrName>style.visibility</p:attrName>
                                        </p:attrNameLst>
                                      </p:cBhvr>
                                      <p:to>
                                        <p:strVal val="visible"/>
                                      </p:to>
                                    </p:set>
                                    <p:animEffect transition="in" filter="fade">
                                      <p:cBhvr>
                                        <p:cTn id="17" dur="1000"/>
                                        <p:tgtEl>
                                          <p:spTgt spid="16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0">
                                            <p:txEl>
                                              <p:pRg st="3" end="3"/>
                                            </p:txEl>
                                          </p:spTgt>
                                        </p:tgtEl>
                                        <p:attrNameLst>
                                          <p:attrName>style.visibility</p:attrName>
                                        </p:attrNameLst>
                                      </p:cBhvr>
                                      <p:to>
                                        <p:strVal val="visible"/>
                                      </p:to>
                                    </p:set>
                                    <p:animEffect transition="in" filter="fade">
                                      <p:cBhvr>
                                        <p:cTn id="22" dur="1000"/>
                                        <p:tgtEl>
                                          <p:spTgt spid="16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0">
                                            <p:txEl>
                                              <p:pRg st="4" end="4"/>
                                            </p:txEl>
                                          </p:spTgt>
                                        </p:tgtEl>
                                        <p:attrNameLst>
                                          <p:attrName>style.visibility</p:attrName>
                                        </p:attrNameLst>
                                      </p:cBhvr>
                                      <p:to>
                                        <p:strVal val="visible"/>
                                      </p:to>
                                    </p:set>
                                    <p:animEffect transition="in" filter="fade">
                                      <p:cBhvr>
                                        <p:cTn id="27" dur="1000"/>
                                        <p:tgtEl>
                                          <p:spTgt spid="16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0">
                                            <p:txEl>
                                              <p:pRg st="5" end="5"/>
                                            </p:txEl>
                                          </p:spTgt>
                                        </p:tgtEl>
                                        <p:attrNameLst>
                                          <p:attrName>style.visibility</p:attrName>
                                        </p:attrNameLst>
                                      </p:cBhvr>
                                      <p:to>
                                        <p:strVal val="visible"/>
                                      </p:to>
                                    </p:set>
                                    <p:animEffect transition="in" filter="fade">
                                      <p:cBhvr>
                                        <p:cTn id="32" dur="1000"/>
                                        <p:tgtEl>
                                          <p:spTgt spid="16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1">
                                            <p:txEl>
                                              <p:pRg st="0" end="0"/>
                                            </p:txEl>
                                          </p:spTgt>
                                        </p:tgtEl>
                                        <p:attrNameLst>
                                          <p:attrName>style.visibility</p:attrName>
                                        </p:attrNameLst>
                                      </p:cBhvr>
                                      <p:to>
                                        <p:strVal val="visible"/>
                                      </p:to>
                                    </p:set>
                                    <p:animEffect transition="in" filter="fade">
                                      <p:cBhvr>
                                        <p:cTn id="37" dur="1000"/>
                                        <p:tgtEl>
                                          <p:spTgt spid="16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66"/>
        <p:cNvGrpSpPr/>
        <p:nvPr/>
      </p:nvGrpSpPr>
      <p:grpSpPr>
        <a:xfrm>
          <a:off x="0" y="0"/>
          <a:ext cx="0" cy="0"/>
          <a:chOff x="0" y="0"/>
          <a:chExt cx="0" cy="0"/>
        </a:xfrm>
      </p:grpSpPr>
      <p:sp>
        <p:nvSpPr>
          <p:cNvPr id="167" name="Google Shape;167;g2ee15abed17_3_325"/>
          <p:cNvSpPr txBox="1"/>
          <p:nvPr/>
        </p:nvSpPr>
        <p:spPr>
          <a:xfrm>
            <a:off x="327600" y="380641"/>
            <a:ext cx="2827800" cy="453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09</a:t>
            </a:r>
            <a:endParaRPr sz="2000" b="0" i="0" u="none" strike="noStrike" cap="none">
              <a:solidFill>
                <a:schemeClr val="lt1"/>
              </a:solidFill>
              <a:latin typeface="Roboto"/>
              <a:ea typeface="Roboto"/>
              <a:cs typeface="Roboto"/>
              <a:sym typeface="Roboto"/>
            </a:endParaRPr>
          </a:p>
        </p:txBody>
      </p:sp>
      <p:sp>
        <p:nvSpPr>
          <p:cNvPr id="168" name="Google Shape;168;g2ee15abed17_3_325"/>
          <p:cNvSpPr txBox="1"/>
          <p:nvPr/>
        </p:nvSpPr>
        <p:spPr>
          <a:xfrm>
            <a:off x="720000" y="1440000"/>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Girls's father's only son— Girl's brother. Daughter in law of girl’s grandmother can be their mother, or maternal uncle’s wife, i.e. aunt. So relation cannot be determined.</a:t>
            </a:r>
            <a:endParaRPr sz="18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1100"/>
              <a:buFont typeface="Arial"/>
              <a:buNone/>
            </a:pPr>
            <a:endParaRPr sz="11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200"/>
              <a:buFont typeface="Arial"/>
              <a:buNone/>
            </a:pPr>
            <a:endParaRPr sz="1400" b="0" i="0" u="none" strike="noStrike" cap="none">
              <a:solidFill>
                <a:srgbClr val="333333"/>
              </a:solidFill>
              <a:highlight>
                <a:schemeClr val="lt1"/>
              </a:highlight>
              <a:latin typeface="Roboto"/>
              <a:ea typeface="Roboto"/>
              <a:cs typeface="Roboto"/>
              <a:sym typeface="Roboto"/>
            </a:endParaRPr>
          </a:p>
        </p:txBody>
      </p:sp>
      <p:sp>
        <p:nvSpPr>
          <p:cNvPr id="169" name="Google Shape;169;g2ee15abed17_3_325"/>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Roboto"/>
              <a:ea typeface="Roboto"/>
              <a:cs typeface="Roboto"/>
              <a:sym typeface="Roboto"/>
            </a:endParaRPr>
          </a:p>
        </p:txBody>
      </p:sp>
      <p:sp>
        <p:nvSpPr>
          <p:cNvPr id="170" name="Google Shape;170;g2ee15abed17_3_325"/>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05</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8">
                                            <p:txEl>
                                              <p:pRg st="0" end="0"/>
                                            </p:txEl>
                                          </p:spTgt>
                                        </p:tgtEl>
                                        <p:attrNameLst>
                                          <p:attrName>style.visibility</p:attrName>
                                        </p:attrNameLst>
                                      </p:cBhvr>
                                      <p:to>
                                        <p:strVal val="visible"/>
                                      </p:to>
                                    </p:set>
                                    <p:animEffect transition="in" filter="fade">
                                      <p:cBhvr>
                                        <p:cTn id="7" dur="1000"/>
                                        <p:tgtEl>
                                          <p:spTgt spid="1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8">
                                            <p:txEl>
                                              <p:pRg st="1" end="1"/>
                                            </p:txEl>
                                          </p:spTgt>
                                        </p:tgtEl>
                                        <p:attrNameLst>
                                          <p:attrName>style.visibility</p:attrName>
                                        </p:attrNameLst>
                                      </p:cBhvr>
                                      <p:to>
                                        <p:strVal val="visible"/>
                                      </p:to>
                                    </p:set>
                                    <p:animEffect transition="in" filter="fade">
                                      <p:cBhvr>
                                        <p:cTn id="12" dur="1000"/>
                                        <p:tgtEl>
                                          <p:spTgt spid="1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8">
                                            <p:txEl>
                                              <p:pRg st="2" end="2"/>
                                            </p:txEl>
                                          </p:spTgt>
                                        </p:tgtEl>
                                        <p:attrNameLst>
                                          <p:attrName>style.visibility</p:attrName>
                                        </p:attrNameLst>
                                      </p:cBhvr>
                                      <p:to>
                                        <p:strVal val="visible"/>
                                      </p:to>
                                    </p:set>
                                    <p:animEffect transition="in" filter="fade">
                                      <p:cBhvr>
                                        <p:cTn id="17" dur="1000"/>
                                        <p:tgtEl>
                                          <p:spTgt spid="16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8">
                                            <p:txEl>
                                              <p:pRg st="3" end="3"/>
                                            </p:txEl>
                                          </p:spTgt>
                                        </p:tgtEl>
                                        <p:attrNameLst>
                                          <p:attrName>style.visibility</p:attrName>
                                        </p:attrNameLst>
                                      </p:cBhvr>
                                      <p:to>
                                        <p:strVal val="visible"/>
                                      </p:to>
                                    </p:set>
                                    <p:animEffect transition="in" filter="fade">
                                      <p:cBhvr>
                                        <p:cTn id="22" dur="1000"/>
                                        <p:tgtEl>
                                          <p:spTgt spid="16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9">
                                            <p:txEl>
                                              <p:pRg st="0" end="0"/>
                                            </p:txEl>
                                          </p:spTgt>
                                        </p:tgtEl>
                                        <p:attrNameLst>
                                          <p:attrName>style.visibility</p:attrName>
                                        </p:attrNameLst>
                                      </p:cBhvr>
                                      <p:to>
                                        <p:strVal val="visible"/>
                                      </p:to>
                                    </p:set>
                                    <p:animEffect transition="in" filter="fade">
                                      <p:cBhvr>
                                        <p:cTn id="27" dur="1000"/>
                                        <p:tgtEl>
                                          <p:spTgt spid="16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2ee15abed17_3_332"/>
          <p:cNvSpPr txBox="1"/>
          <p:nvPr/>
        </p:nvSpPr>
        <p:spPr>
          <a:xfrm>
            <a:off x="327600" y="386576"/>
            <a:ext cx="2827800" cy="447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02</a:t>
            </a:r>
            <a:endParaRPr sz="2000" b="0" i="0" u="none" strike="noStrike" cap="none">
              <a:solidFill>
                <a:schemeClr val="lt1"/>
              </a:solidFill>
              <a:latin typeface="Roboto"/>
              <a:ea typeface="Roboto"/>
              <a:cs typeface="Roboto"/>
              <a:sym typeface="Roboto"/>
            </a:endParaRPr>
          </a:p>
        </p:txBody>
      </p:sp>
      <p:sp>
        <p:nvSpPr>
          <p:cNvPr id="176" name="Google Shape;176;g2ee15abed17_3_332"/>
          <p:cNvSpPr txBox="1"/>
          <p:nvPr/>
        </p:nvSpPr>
        <p:spPr>
          <a:xfrm>
            <a:off x="720000" y="14242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Pointing to a girl in the photograph, Amar said, "Her mother's brother is the only son of my mother's father." How is the girl's mother related to Amar ? </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Mother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Sister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Aunt</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Grandmother</a:t>
            </a:r>
            <a:endParaRPr sz="1600" b="0" i="0" u="none" strike="noStrike" cap="none">
              <a:solidFill>
                <a:schemeClr val="dk1"/>
              </a:solidFill>
              <a:highlight>
                <a:srgbClr val="FFFFFF"/>
              </a:highlight>
              <a:latin typeface="Roboto"/>
              <a:ea typeface="Roboto"/>
              <a:cs typeface="Roboto"/>
              <a:sym typeface="Roboto"/>
            </a:endParaRPr>
          </a:p>
          <a:p>
            <a:pPr marL="0" marR="0" lvl="0" indent="0" algn="l" rtl="0">
              <a:lnSpc>
                <a:spcPct val="100000"/>
              </a:lnSpc>
              <a:spcBef>
                <a:spcPts val="0"/>
              </a:spcBef>
              <a:spcAft>
                <a:spcPts val="800"/>
              </a:spcAft>
              <a:buClr>
                <a:srgbClr val="000000"/>
              </a:buClr>
              <a:buSzPts val="1400"/>
              <a:buFont typeface="Arial"/>
              <a:buNone/>
            </a:pPr>
            <a:endParaRPr sz="1600" b="0" i="0" u="none" strike="noStrike" cap="none">
              <a:solidFill>
                <a:schemeClr val="dk1"/>
              </a:solidFill>
              <a:highlight>
                <a:srgbClr val="FFFFFF"/>
              </a:highlight>
              <a:latin typeface="Roboto"/>
              <a:ea typeface="Roboto"/>
              <a:cs typeface="Roboto"/>
              <a:sym typeface="Roboto"/>
            </a:endParaRPr>
          </a:p>
        </p:txBody>
      </p:sp>
      <p:sp>
        <p:nvSpPr>
          <p:cNvPr id="177" name="Google Shape;177;g2ee15abed17_3_332"/>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a:solidFill>
                  <a:srgbClr val="000000"/>
                </a:solidFill>
                <a:latin typeface="Roboto"/>
                <a:ea typeface="Roboto"/>
                <a:cs typeface="Roboto"/>
                <a:sym typeface="Roboto"/>
              </a:rPr>
              <a:t>Answer: C</a:t>
            </a:r>
            <a:endParaRPr sz="1600" b="1" i="0" u="none" strike="noStrike" cap="none">
              <a:solidFill>
                <a:srgbClr val="000000"/>
              </a:solidFill>
              <a:latin typeface="Roboto"/>
              <a:ea typeface="Roboto"/>
              <a:cs typeface="Roboto"/>
              <a:sym typeface="Roboto"/>
            </a:endParaRPr>
          </a:p>
        </p:txBody>
      </p:sp>
      <p:sp>
        <p:nvSpPr>
          <p:cNvPr id="178" name="Google Shape;178;g2ee15abed17_3_332"/>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06</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xEl>
                                              <p:pRg st="0" end="0"/>
                                            </p:txEl>
                                          </p:spTgt>
                                        </p:tgtEl>
                                        <p:attrNameLst>
                                          <p:attrName>style.visibility</p:attrName>
                                        </p:attrNameLst>
                                      </p:cBhvr>
                                      <p:to>
                                        <p:strVal val="visible"/>
                                      </p:to>
                                    </p:set>
                                    <p:animEffect transition="in" filter="fade">
                                      <p:cBhvr>
                                        <p:cTn id="7" dur="1000"/>
                                        <p:tgtEl>
                                          <p:spTgt spid="1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xEl>
                                              <p:pRg st="1" end="1"/>
                                            </p:txEl>
                                          </p:spTgt>
                                        </p:tgtEl>
                                        <p:attrNameLst>
                                          <p:attrName>style.visibility</p:attrName>
                                        </p:attrNameLst>
                                      </p:cBhvr>
                                      <p:to>
                                        <p:strVal val="visible"/>
                                      </p:to>
                                    </p:set>
                                    <p:animEffect transition="in" filter="fade">
                                      <p:cBhvr>
                                        <p:cTn id="12" dur="1000"/>
                                        <p:tgtEl>
                                          <p:spTgt spid="1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6">
                                            <p:txEl>
                                              <p:pRg st="2" end="2"/>
                                            </p:txEl>
                                          </p:spTgt>
                                        </p:tgtEl>
                                        <p:attrNameLst>
                                          <p:attrName>style.visibility</p:attrName>
                                        </p:attrNameLst>
                                      </p:cBhvr>
                                      <p:to>
                                        <p:strVal val="visible"/>
                                      </p:to>
                                    </p:set>
                                    <p:animEffect transition="in" filter="fade">
                                      <p:cBhvr>
                                        <p:cTn id="17" dur="1000"/>
                                        <p:tgtEl>
                                          <p:spTgt spid="1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6">
                                            <p:txEl>
                                              <p:pRg st="3" end="3"/>
                                            </p:txEl>
                                          </p:spTgt>
                                        </p:tgtEl>
                                        <p:attrNameLst>
                                          <p:attrName>style.visibility</p:attrName>
                                        </p:attrNameLst>
                                      </p:cBhvr>
                                      <p:to>
                                        <p:strVal val="visible"/>
                                      </p:to>
                                    </p:set>
                                    <p:animEffect transition="in" filter="fade">
                                      <p:cBhvr>
                                        <p:cTn id="22" dur="1000"/>
                                        <p:tgtEl>
                                          <p:spTgt spid="17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6">
                                            <p:txEl>
                                              <p:pRg st="4" end="4"/>
                                            </p:txEl>
                                          </p:spTgt>
                                        </p:tgtEl>
                                        <p:attrNameLst>
                                          <p:attrName>style.visibility</p:attrName>
                                        </p:attrNameLst>
                                      </p:cBhvr>
                                      <p:to>
                                        <p:strVal val="visible"/>
                                      </p:to>
                                    </p:set>
                                    <p:animEffect transition="in" filter="fade">
                                      <p:cBhvr>
                                        <p:cTn id="27" dur="1000"/>
                                        <p:tgtEl>
                                          <p:spTgt spid="17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6">
                                            <p:txEl>
                                              <p:pRg st="5" end="5"/>
                                            </p:txEl>
                                          </p:spTgt>
                                        </p:tgtEl>
                                        <p:attrNameLst>
                                          <p:attrName>style.visibility</p:attrName>
                                        </p:attrNameLst>
                                      </p:cBhvr>
                                      <p:to>
                                        <p:strVal val="visible"/>
                                      </p:to>
                                    </p:set>
                                    <p:animEffect transition="in" filter="fade">
                                      <p:cBhvr>
                                        <p:cTn id="32" dur="1000"/>
                                        <p:tgtEl>
                                          <p:spTgt spid="17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7">
                                            <p:txEl>
                                              <p:pRg st="0" end="0"/>
                                            </p:txEl>
                                          </p:spTgt>
                                        </p:tgtEl>
                                        <p:attrNameLst>
                                          <p:attrName>style.visibility</p:attrName>
                                        </p:attrNameLst>
                                      </p:cBhvr>
                                      <p:to>
                                        <p:strVal val="visible"/>
                                      </p:to>
                                    </p:set>
                                    <p:animEffect transition="in" filter="fade">
                                      <p:cBhvr>
                                        <p:cTn id="37" dur="1000"/>
                                        <p:tgtEl>
                                          <p:spTgt spid="17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182"/>
        <p:cNvGrpSpPr/>
        <p:nvPr/>
      </p:nvGrpSpPr>
      <p:grpSpPr>
        <a:xfrm>
          <a:off x="0" y="0"/>
          <a:ext cx="0" cy="0"/>
          <a:chOff x="0" y="0"/>
          <a:chExt cx="0" cy="0"/>
        </a:xfrm>
      </p:grpSpPr>
      <p:sp>
        <p:nvSpPr>
          <p:cNvPr id="183" name="Google Shape;183;g2ee15abed17_3_339"/>
          <p:cNvSpPr txBox="1"/>
          <p:nvPr/>
        </p:nvSpPr>
        <p:spPr>
          <a:xfrm>
            <a:off x="720000" y="1440000"/>
            <a:ext cx="7028100" cy="30567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Only son of Amir's mother's father — Amir's maternal uncle. </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So, the girl's maternal uncle is Arnar's maternal uncle. Thus, the girl's mother is Amir's aunt.</a:t>
            </a:r>
            <a:endParaRPr sz="1800" b="0" i="0" u="none" strike="noStrike" cap="none">
              <a:solidFill>
                <a:schemeClr val="dk1"/>
              </a:solidFill>
              <a:latin typeface="Roboto"/>
              <a:ea typeface="Roboto"/>
              <a:cs typeface="Roboto"/>
              <a:sym typeface="Roboto"/>
            </a:endParaRPr>
          </a:p>
        </p:txBody>
      </p:sp>
      <p:sp>
        <p:nvSpPr>
          <p:cNvPr id="184" name="Google Shape;184;g2ee15abed17_3_339"/>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06</a:t>
            </a:r>
            <a:endParaRPr sz="2000" b="1" i="0" u="none" strike="noStrike" cap="none">
              <a:solidFill>
                <a:srgbClr val="8182E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2ee15abed17_3_344"/>
          <p:cNvSpPr txBox="1"/>
          <p:nvPr/>
        </p:nvSpPr>
        <p:spPr>
          <a:xfrm>
            <a:off x="720000" y="1439875"/>
            <a:ext cx="74700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Amit said, "This girl is the wife of the grandson of my mother". How is Amit related to the girl?</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Father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Grandfather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Father-in-law</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Husband</a:t>
            </a:r>
            <a:endParaRPr sz="18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highlight>
                <a:srgbClr val="FFFFFF"/>
              </a:highlight>
              <a:latin typeface="Roboto"/>
              <a:ea typeface="Roboto"/>
              <a:cs typeface="Roboto"/>
              <a:sym typeface="Roboto"/>
            </a:endParaRPr>
          </a:p>
        </p:txBody>
      </p:sp>
      <p:sp>
        <p:nvSpPr>
          <p:cNvPr id="190" name="Google Shape;190;g2ee15abed17_3_344"/>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a:solidFill>
                  <a:srgbClr val="000000"/>
                </a:solidFill>
                <a:latin typeface="Roboto"/>
                <a:ea typeface="Roboto"/>
                <a:cs typeface="Roboto"/>
                <a:sym typeface="Roboto"/>
              </a:rPr>
              <a:t>Answer:C</a:t>
            </a:r>
            <a:endParaRPr sz="1700" b="1" i="0" u="none" strike="noStrike" cap="none">
              <a:solidFill>
                <a:srgbClr val="000000"/>
              </a:solidFill>
              <a:latin typeface="Roboto"/>
              <a:ea typeface="Roboto"/>
              <a:cs typeface="Roboto"/>
              <a:sym typeface="Roboto"/>
            </a:endParaRPr>
          </a:p>
        </p:txBody>
      </p:sp>
      <p:sp>
        <p:nvSpPr>
          <p:cNvPr id="191" name="Google Shape;191;g2ee15abed17_3_344"/>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07</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9">
                                            <p:txEl>
                                              <p:pRg st="0" end="0"/>
                                            </p:txEl>
                                          </p:spTgt>
                                        </p:tgtEl>
                                        <p:attrNameLst>
                                          <p:attrName>style.visibility</p:attrName>
                                        </p:attrNameLst>
                                      </p:cBhvr>
                                      <p:to>
                                        <p:strVal val="visible"/>
                                      </p:to>
                                    </p:set>
                                    <p:animEffect transition="in" filter="fade">
                                      <p:cBhvr>
                                        <p:cTn id="7" dur="1000"/>
                                        <p:tgtEl>
                                          <p:spTgt spid="1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9">
                                            <p:txEl>
                                              <p:pRg st="1" end="1"/>
                                            </p:txEl>
                                          </p:spTgt>
                                        </p:tgtEl>
                                        <p:attrNameLst>
                                          <p:attrName>style.visibility</p:attrName>
                                        </p:attrNameLst>
                                      </p:cBhvr>
                                      <p:to>
                                        <p:strVal val="visible"/>
                                      </p:to>
                                    </p:set>
                                    <p:animEffect transition="in" filter="fade">
                                      <p:cBhvr>
                                        <p:cTn id="12" dur="1000"/>
                                        <p:tgtEl>
                                          <p:spTgt spid="1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9">
                                            <p:txEl>
                                              <p:pRg st="2" end="2"/>
                                            </p:txEl>
                                          </p:spTgt>
                                        </p:tgtEl>
                                        <p:attrNameLst>
                                          <p:attrName>style.visibility</p:attrName>
                                        </p:attrNameLst>
                                      </p:cBhvr>
                                      <p:to>
                                        <p:strVal val="visible"/>
                                      </p:to>
                                    </p:set>
                                    <p:animEffect transition="in" filter="fade">
                                      <p:cBhvr>
                                        <p:cTn id="17" dur="1000"/>
                                        <p:tgtEl>
                                          <p:spTgt spid="1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9">
                                            <p:txEl>
                                              <p:pRg st="3" end="3"/>
                                            </p:txEl>
                                          </p:spTgt>
                                        </p:tgtEl>
                                        <p:attrNameLst>
                                          <p:attrName>style.visibility</p:attrName>
                                        </p:attrNameLst>
                                      </p:cBhvr>
                                      <p:to>
                                        <p:strVal val="visible"/>
                                      </p:to>
                                    </p:set>
                                    <p:animEffect transition="in" filter="fade">
                                      <p:cBhvr>
                                        <p:cTn id="22" dur="1000"/>
                                        <p:tgtEl>
                                          <p:spTgt spid="1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9">
                                            <p:txEl>
                                              <p:pRg st="4" end="4"/>
                                            </p:txEl>
                                          </p:spTgt>
                                        </p:tgtEl>
                                        <p:attrNameLst>
                                          <p:attrName>style.visibility</p:attrName>
                                        </p:attrNameLst>
                                      </p:cBhvr>
                                      <p:to>
                                        <p:strVal val="visible"/>
                                      </p:to>
                                    </p:set>
                                    <p:animEffect transition="in" filter="fade">
                                      <p:cBhvr>
                                        <p:cTn id="27" dur="1000"/>
                                        <p:tgtEl>
                                          <p:spTgt spid="18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9">
                                            <p:txEl>
                                              <p:pRg st="5" end="5"/>
                                            </p:txEl>
                                          </p:spTgt>
                                        </p:tgtEl>
                                        <p:attrNameLst>
                                          <p:attrName>style.visibility</p:attrName>
                                        </p:attrNameLst>
                                      </p:cBhvr>
                                      <p:to>
                                        <p:strVal val="visible"/>
                                      </p:to>
                                    </p:set>
                                    <p:animEffect transition="in" filter="fade">
                                      <p:cBhvr>
                                        <p:cTn id="32" dur="1000"/>
                                        <p:tgtEl>
                                          <p:spTgt spid="18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0"/>
                                        </p:tgtEl>
                                        <p:attrNameLst>
                                          <p:attrName>style.visibility</p:attrName>
                                        </p:attrNameLst>
                                      </p:cBhvr>
                                      <p:to>
                                        <p:strVal val="visible"/>
                                      </p:to>
                                    </p:set>
                                    <p:animEffect transition="in" filter="fade">
                                      <p:cBhvr>
                                        <p:cTn id="37" dur="1000"/>
                                        <p:tgtEl>
                                          <p:spTgt spid="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195"/>
        <p:cNvGrpSpPr/>
        <p:nvPr/>
      </p:nvGrpSpPr>
      <p:grpSpPr>
        <a:xfrm>
          <a:off x="0" y="0"/>
          <a:ext cx="0" cy="0"/>
          <a:chOff x="0" y="0"/>
          <a:chExt cx="0" cy="0"/>
        </a:xfrm>
      </p:grpSpPr>
      <p:sp>
        <p:nvSpPr>
          <p:cNvPr id="196" name="Google Shape;196;g2ee15abed17_3_350"/>
          <p:cNvSpPr txBox="1"/>
          <p:nvPr/>
        </p:nvSpPr>
        <p:spPr>
          <a:xfrm>
            <a:off x="720000" y="1439875"/>
            <a:ext cx="74700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The girl is the wife of grandson of Amit’s mother i.e., the girl is the wife of the son of Amit. Hence, Amit is the father-in-law of the girl.</a:t>
            </a:r>
            <a:endParaRPr sz="1800" b="0" i="0" u="none" strike="noStrike" cap="none">
              <a:solidFill>
                <a:schemeClr val="dk1"/>
              </a:solidFill>
              <a:latin typeface="Roboto"/>
              <a:ea typeface="Roboto"/>
              <a:cs typeface="Roboto"/>
              <a:sym typeface="Roboto"/>
            </a:endParaRPr>
          </a:p>
        </p:txBody>
      </p:sp>
      <p:sp>
        <p:nvSpPr>
          <p:cNvPr id="197" name="Google Shape;197;g2ee15abed17_3_350"/>
          <p:cNvSpPr txBox="1"/>
          <p:nvPr/>
        </p:nvSpPr>
        <p:spPr>
          <a:xfrm>
            <a:off x="630000" y="630250"/>
            <a:ext cx="3090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07</a:t>
            </a:r>
            <a:endParaRPr sz="2000" b="1" i="0" u="none" strike="noStrike" cap="none">
              <a:solidFill>
                <a:srgbClr val="8182EF"/>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2ee15abed17_3_356"/>
          <p:cNvSpPr txBox="1"/>
          <p:nvPr/>
        </p:nvSpPr>
        <p:spPr>
          <a:xfrm>
            <a:off x="327600" y="402400"/>
            <a:ext cx="2827800" cy="43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04</a:t>
            </a:r>
            <a:endParaRPr sz="2000" b="0" i="0" u="none" strike="noStrike" cap="none">
              <a:solidFill>
                <a:schemeClr val="lt1"/>
              </a:solidFill>
              <a:latin typeface="Roboto"/>
              <a:ea typeface="Roboto"/>
              <a:cs typeface="Roboto"/>
              <a:sym typeface="Roboto"/>
            </a:endParaRPr>
          </a:p>
        </p:txBody>
      </p:sp>
      <p:sp>
        <p:nvSpPr>
          <p:cNvPr id="203" name="Google Shape;203;g2ee15abed17_3_356"/>
          <p:cNvSpPr txBox="1"/>
          <p:nvPr/>
        </p:nvSpPr>
        <p:spPr>
          <a:xfrm>
            <a:off x="720000" y="1440000"/>
            <a:ext cx="75441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Introducing Salma, Aamir says, "She is the wife of only nephew of only brother of my mother." How is Salma is related to Aamir?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Wife</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Sister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Sister-in-law</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Data inadequate</a:t>
            </a:r>
            <a:endParaRPr sz="1800" b="0" i="0" u="none" strike="noStrike" cap="none">
              <a:solidFill>
                <a:schemeClr val="dk1"/>
              </a:solidFill>
              <a:latin typeface="Roboto"/>
              <a:ea typeface="Roboto"/>
              <a:cs typeface="Roboto"/>
              <a:sym typeface="Roboto"/>
            </a:endParaRPr>
          </a:p>
          <a:p>
            <a:pPr marL="0" marR="0" lvl="0" indent="0" algn="l" rtl="0">
              <a:lnSpc>
                <a:spcPct val="115000"/>
              </a:lnSpc>
              <a:spcBef>
                <a:spcPts val="0"/>
              </a:spcBef>
              <a:spcAft>
                <a:spcPts val="0"/>
              </a:spcAft>
              <a:buClr>
                <a:srgbClr val="000000"/>
              </a:buClr>
              <a:buSzPts val="1600"/>
              <a:buFont typeface="Arial"/>
              <a:buNone/>
            </a:pPr>
            <a:endParaRPr sz="1600" b="0" i="0" u="none" strike="noStrike" cap="none">
              <a:solidFill>
                <a:srgbClr val="000000"/>
              </a:solidFill>
              <a:highlight>
                <a:srgbClr val="FFFFFF"/>
              </a:highlight>
              <a:latin typeface="Roboto"/>
              <a:ea typeface="Roboto"/>
              <a:cs typeface="Roboto"/>
              <a:sym typeface="Roboto"/>
            </a:endParaRPr>
          </a:p>
          <a:p>
            <a:pPr marL="0" marR="0" lvl="0" indent="0" algn="l" rtl="0">
              <a:lnSpc>
                <a:spcPct val="100000"/>
              </a:lnSpc>
              <a:spcBef>
                <a:spcPts val="0"/>
              </a:spcBef>
              <a:spcAft>
                <a:spcPts val="800"/>
              </a:spcAft>
              <a:buClr>
                <a:srgbClr val="000000"/>
              </a:buClr>
              <a:buSzPts val="1050"/>
              <a:buFont typeface="Arial"/>
              <a:buNone/>
            </a:pPr>
            <a:endParaRPr sz="1600" b="0" i="0" u="none" strike="noStrike" cap="none">
              <a:solidFill>
                <a:schemeClr val="dk1"/>
              </a:solidFill>
              <a:highlight>
                <a:srgbClr val="FFFFFF"/>
              </a:highlight>
              <a:latin typeface="Roboto"/>
              <a:ea typeface="Roboto"/>
              <a:cs typeface="Roboto"/>
              <a:sym typeface="Roboto"/>
            </a:endParaRPr>
          </a:p>
        </p:txBody>
      </p:sp>
      <p:sp>
        <p:nvSpPr>
          <p:cNvPr id="204" name="Google Shape;204;g2ee15abed17_3_356"/>
          <p:cNvSpPr txBox="1"/>
          <p:nvPr/>
        </p:nvSpPr>
        <p:spPr>
          <a:xfrm>
            <a:off x="7189500" y="4171350"/>
            <a:ext cx="16254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a:solidFill>
                  <a:srgbClr val="000000"/>
                </a:solidFill>
                <a:latin typeface="Roboto"/>
                <a:ea typeface="Roboto"/>
                <a:cs typeface="Roboto"/>
                <a:sym typeface="Roboto"/>
              </a:rPr>
              <a:t>Answer: A</a:t>
            </a:r>
            <a:endParaRPr sz="1600" b="1" i="0" u="none" strike="noStrike" cap="none">
              <a:solidFill>
                <a:srgbClr val="000000"/>
              </a:solidFill>
              <a:latin typeface="Roboto"/>
              <a:ea typeface="Roboto"/>
              <a:cs typeface="Roboto"/>
              <a:sym typeface="Roboto"/>
            </a:endParaRPr>
          </a:p>
        </p:txBody>
      </p:sp>
      <p:sp>
        <p:nvSpPr>
          <p:cNvPr id="205" name="Google Shape;205;g2ee15abed17_3_356"/>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08</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3">
                                            <p:txEl>
                                              <p:pRg st="0" end="0"/>
                                            </p:txEl>
                                          </p:spTgt>
                                        </p:tgtEl>
                                        <p:attrNameLst>
                                          <p:attrName>style.visibility</p:attrName>
                                        </p:attrNameLst>
                                      </p:cBhvr>
                                      <p:to>
                                        <p:strVal val="visible"/>
                                      </p:to>
                                    </p:set>
                                    <p:animEffect transition="in" filter="fade">
                                      <p:cBhvr>
                                        <p:cTn id="7" dur="1000"/>
                                        <p:tgtEl>
                                          <p:spTgt spid="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3">
                                            <p:txEl>
                                              <p:pRg st="1" end="1"/>
                                            </p:txEl>
                                          </p:spTgt>
                                        </p:tgtEl>
                                        <p:attrNameLst>
                                          <p:attrName>style.visibility</p:attrName>
                                        </p:attrNameLst>
                                      </p:cBhvr>
                                      <p:to>
                                        <p:strVal val="visible"/>
                                      </p:to>
                                    </p:set>
                                    <p:animEffect transition="in" filter="fade">
                                      <p:cBhvr>
                                        <p:cTn id="12" dur="1000"/>
                                        <p:tgtEl>
                                          <p:spTgt spid="2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3">
                                            <p:txEl>
                                              <p:pRg st="2" end="2"/>
                                            </p:txEl>
                                          </p:spTgt>
                                        </p:tgtEl>
                                        <p:attrNameLst>
                                          <p:attrName>style.visibility</p:attrName>
                                        </p:attrNameLst>
                                      </p:cBhvr>
                                      <p:to>
                                        <p:strVal val="visible"/>
                                      </p:to>
                                    </p:set>
                                    <p:animEffect transition="in" filter="fade">
                                      <p:cBhvr>
                                        <p:cTn id="17" dur="1000"/>
                                        <p:tgtEl>
                                          <p:spTgt spid="2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3">
                                            <p:txEl>
                                              <p:pRg st="3" end="3"/>
                                            </p:txEl>
                                          </p:spTgt>
                                        </p:tgtEl>
                                        <p:attrNameLst>
                                          <p:attrName>style.visibility</p:attrName>
                                        </p:attrNameLst>
                                      </p:cBhvr>
                                      <p:to>
                                        <p:strVal val="visible"/>
                                      </p:to>
                                    </p:set>
                                    <p:animEffect transition="in" filter="fade">
                                      <p:cBhvr>
                                        <p:cTn id="22" dur="1000"/>
                                        <p:tgtEl>
                                          <p:spTgt spid="2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3">
                                            <p:txEl>
                                              <p:pRg st="4" end="4"/>
                                            </p:txEl>
                                          </p:spTgt>
                                        </p:tgtEl>
                                        <p:attrNameLst>
                                          <p:attrName>style.visibility</p:attrName>
                                        </p:attrNameLst>
                                      </p:cBhvr>
                                      <p:to>
                                        <p:strVal val="visible"/>
                                      </p:to>
                                    </p:set>
                                    <p:animEffect transition="in" filter="fade">
                                      <p:cBhvr>
                                        <p:cTn id="27" dur="1000"/>
                                        <p:tgtEl>
                                          <p:spTgt spid="2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3">
                                            <p:txEl>
                                              <p:pRg st="5" end="5"/>
                                            </p:txEl>
                                          </p:spTgt>
                                        </p:tgtEl>
                                        <p:attrNameLst>
                                          <p:attrName>style.visibility</p:attrName>
                                        </p:attrNameLst>
                                      </p:cBhvr>
                                      <p:to>
                                        <p:strVal val="visible"/>
                                      </p:to>
                                    </p:set>
                                    <p:animEffect transition="in" filter="fade">
                                      <p:cBhvr>
                                        <p:cTn id="32" dur="1000"/>
                                        <p:tgtEl>
                                          <p:spTgt spid="2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3">
                                            <p:txEl>
                                              <p:pRg st="6" end="6"/>
                                            </p:txEl>
                                          </p:spTgt>
                                        </p:tgtEl>
                                        <p:attrNameLst>
                                          <p:attrName>style.visibility</p:attrName>
                                        </p:attrNameLst>
                                      </p:cBhvr>
                                      <p:to>
                                        <p:strVal val="visible"/>
                                      </p:to>
                                    </p:set>
                                    <p:animEffect transition="in" filter="fade">
                                      <p:cBhvr>
                                        <p:cTn id="37" dur="1000"/>
                                        <p:tgtEl>
                                          <p:spTgt spid="2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4">
                                            <p:txEl>
                                              <p:pRg st="0" end="0"/>
                                            </p:txEl>
                                          </p:spTgt>
                                        </p:tgtEl>
                                        <p:attrNameLst>
                                          <p:attrName>style.visibility</p:attrName>
                                        </p:attrNameLst>
                                      </p:cBhvr>
                                      <p:to>
                                        <p:strVal val="visible"/>
                                      </p:to>
                                    </p:set>
                                    <p:animEffect transition="in" filter="fade">
                                      <p:cBhvr>
                                        <p:cTn id="42" dur="1000"/>
                                        <p:tgtEl>
                                          <p:spTgt spid="20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209"/>
        <p:cNvGrpSpPr/>
        <p:nvPr/>
      </p:nvGrpSpPr>
      <p:grpSpPr>
        <a:xfrm>
          <a:off x="0" y="0"/>
          <a:ext cx="0" cy="0"/>
          <a:chOff x="0" y="0"/>
          <a:chExt cx="0" cy="0"/>
        </a:xfrm>
      </p:grpSpPr>
      <p:sp>
        <p:nvSpPr>
          <p:cNvPr id="210" name="Google Shape;210;g2ee15abed17_3_363"/>
          <p:cNvSpPr txBox="1"/>
          <p:nvPr/>
        </p:nvSpPr>
        <p:spPr>
          <a:xfrm>
            <a:off x="720000" y="1439875"/>
            <a:ext cx="7265400" cy="27900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Brother of mother means maternal uncle. Hence only nephew of Aamir’s maternal uncle means Aamir himself. Therefore Salma is the wife of Aamir.</a:t>
            </a:r>
            <a:endParaRPr sz="1800" b="0" i="0" u="none" strike="noStrike" cap="none">
              <a:solidFill>
                <a:schemeClr val="dk1"/>
              </a:solidFill>
              <a:latin typeface="Roboto"/>
              <a:ea typeface="Roboto"/>
              <a:cs typeface="Roboto"/>
              <a:sym typeface="Roboto"/>
            </a:endParaRPr>
          </a:p>
        </p:txBody>
      </p:sp>
      <p:sp>
        <p:nvSpPr>
          <p:cNvPr id="211" name="Google Shape;211;g2ee15abed17_3_363"/>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08</a:t>
            </a:r>
            <a:endParaRPr sz="2000" b="1" i="0" u="none" strike="noStrike" cap="none">
              <a:solidFill>
                <a:srgbClr val="8182EF"/>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2ee15abed17_3_369"/>
          <p:cNvSpPr txBox="1"/>
          <p:nvPr/>
        </p:nvSpPr>
        <p:spPr>
          <a:xfrm>
            <a:off x="327600" y="396716"/>
            <a:ext cx="2827800" cy="437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05</a:t>
            </a:r>
            <a:endParaRPr sz="2000" b="0" i="0" u="none" strike="noStrike" cap="none">
              <a:solidFill>
                <a:schemeClr val="lt1"/>
              </a:solidFill>
              <a:latin typeface="Roboto"/>
              <a:ea typeface="Roboto"/>
              <a:cs typeface="Roboto"/>
              <a:sym typeface="Roboto"/>
            </a:endParaRPr>
          </a:p>
        </p:txBody>
      </p:sp>
      <p:sp>
        <p:nvSpPr>
          <p:cNvPr id="217" name="Google Shape;217;g2ee15abed17_3_369"/>
          <p:cNvSpPr txBox="1"/>
          <p:nvPr/>
        </p:nvSpPr>
        <p:spPr>
          <a:xfrm>
            <a:off x="746400" y="1439875"/>
            <a:ext cx="7862400" cy="35763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A lady pointing to a man in a photograph says, "The sister of the son of this man</a:t>
            </a:r>
            <a:r>
              <a:rPr lang="en-GB" sz="1800" b="0" i="0" u="none" strike="noStrike" cap="none">
                <a:solidFill>
                  <a:schemeClr val="dk2"/>
                </a:solidFill>
                <a:latin typeface="Roboto"/>
                <a:ea typeface="Roboto"/>
                <a:cs typeface="Roboto"/>
                <a:sym typeface="Roboto"/>
              </a:rPr>
              <a:t> </a:t>
            </a:r>
            <a:r>
              <a:rPr lang="en-GB" sz="1800" b="0" i="0" u="none" strike="noStrike" cap="none">
                <a:solidFill>
                  <a:schemeClr val="dk1"/>
                </a:solidFill>
                <a:latin typeface="Roboto"/>
                <a:ea typeface="Roboto"/>
                <a:cs typeface="Roboto"/>
                <a:sym typeface="Roboto"/>
              </a:rPr>
              <a:t>is my mother-in-law." How is the husband of the lady related to the man in the photograph?</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Father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Son</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Maternal Grandson</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Maternal Grandfather</a:t>
            </a:r>
            <a:endParaRPr sz="1600" b="0" i="0" u="none" strike="noStrike" cap="none">
              <a:solidFill>
                <a:schemeClr val="dk1"/>
              </a:solidFill>
              <a:latin typeface="Roboto"/>
              <a:ea typeface="Roboto"/>
              <a:cs typeface="Roboto"/>
              <a:sym typeface="Roboto"/>
            </a:endParaRPr>
          </a:p>
          <a:p>
            <a:pPr marL="0" marR="0" lvl="0" indent="0" algn="l" rtl="0">
              <a:lnSpc>
                <a:spcPct val="115000"/>
              </a:lnSpc>
              <a:spcBef>
                <a:spcPts val="0"/>
              </a:spcBef>
              <a:spcAft>
                <a:spcPts val="0"/>
              </a:spcAft>
              <a:buClr>
                <a:schemeClr val="dk1"/>
              </a:buClr>
              <a:buSzPts val="1800"/>
              <a:buFont typeface="Arial"/>
              <a:buNone/>
            </a:pPr>
            <a:endParaRPr sz="1600" b="0" i="0" u="none" strike="noStrike" cap="none">
              <a:solidFill>
                <a:schemeClr val="dk1"/>
              </a:solidFill>
              <a:latin typeface="Roboto"/>
              <a:ea typeface="Roboto"/>
              <a:cs typeface="Roboto"/>
              <a:sym typeface="Roboto"/>
            </a:endParaRPr>
          </a:p>
        </p:txBody>
      </p:sp>
      <p:sp>
        <p:nvSpPr>
          <p:cNvPr id="218" name="Google Shape;218;g2ee15abed17_3_369"/>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a:solidFill>
                  <a:srgbClr val="000000"/>
                </a:solidFill>
                <a:latin typeface="Roboto"/>
                <a:ea typeface="Roboto"/>
                <a:cs typeface="Roboto"/>
                <a:sym typeface="Roboto"/>
              </a:rPr>
              <a:t>Answer: </a:t>
            </a:r>
            <a:r>
              <a:rPr lang="en-GB" sz="1600" b="1">
                <a:latin typeface="Roboto"/>
                <a:ea typeface="Roboto"/>
                <a:cs typeface="Roboto"/>
                <a:sym typeface="Roboto"/>
              </a:rPr>
              <a:t>C</a:t>
            </a:r>
            <a:endParaRPr sz="1600" b="1" i="0" u="none" strike="noStrike" cap="none">
              <a:solidFill>
                <a:srgbClr val="000000"/>
              </a:solidFill>
              <a:latin typeface="Roboto"/>
              <a:ea typeface="Roboto"/>
              <a:cs typeface="Roboto"/>
              <a:sym typeface="Roboto"/>
            </a:endParaRPr>
          </a:p>
        </p:txBody>
      </p:sp>
      <p:sp>
        <p:nvSpPr>
          <p:cNvPr id="219" name="Google Shape;219;g2ee15abed17_3_369"/>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09</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
                                            <p:txEl>
                                              <p:pRg st="0" end="0"/>
                                            </p:txEl>
                                          </p:spTgt>
                                        </p:tgtEl>
                                        <p:attrNameLst>
                                          <p:attrName>style.visibility</p:attrName>
                                        </p:attrNameLst>
                                      </p:cBhvr>
                                      <p:to>
                                        <p:strVal val="visible"/>
                                      </p:to>
                                    </p:set>
                                    <p:animEffect transition="in" filter="fade">
                                      <p:cBhvr>
                                        <p:cTn id="7" dur="1000"/>
                                        <p:tgtEl>
                                          <p:spTgt spid="2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7">
                                            <p:txEl>
                                              <p:pRg st="1" end="1"/>
                                            </p:txEl>
                                          </p:spTgt>
                                        </p:tgtEl>
                                        <p:attrNameLst>
                                          <p:attrName>style.visibility</p:attrName>
                                        </p:attrNameLst>
                                      </p:cBhvr>
                                      <p:to>
                                        <p:strVal val="visible"/>
                                      </p:to>
                                    </p:set>
                                    <p:animEffect transition="in" filter="fade">
                                      <p:cBhvr>
                                        <p:cTn id="12" dur="1000"/>
                                        <p:tgtEl>
                                          <p:spTgt spid="2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7">
                                            <p:txEl>
                                              <p:pRg st="2" end="2"/>
                                            </p:txEl>
                                          </p:spTgt>
                                        </p:tgtEl>
                                        <p:attrNameLst>
                                          <p:attrName>style.visibility</p:attrName>
                                        </p:attrNameLst>
                                      </p:cBhvr>
                                      <p:to>
                                        <p:strVal val="visible"/>
                                      </p:to>
                                    </p:set>
                                    <p:animEffect transition="in" filter="fade">
                                      <p:cBhvr>
                                        <p:cTn id="17" dur="1000"/>
                                        <p:tgtEl>
                                          <p:spTgt spid="2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7">
                                            <p:txEl>
                                              <p:pRg st="3" end="3"/>
                                            </p:txEl>
                                          </p:spTgt>
                                        </p:tgtEl>
                                        <p:attrNameLst>
                                          <p:attrName>style.visibility</p:attrName>
                                        </p:attrNameLst>
                                      </p:cBhvr>
                                      <p:to>
                                        <p:strVal val="visible"/>
                                      </p:to>
                                    </p:set>
                                    <p:animEffect transition="in" filter="fade">
                                      <p:cBhvr>
                                        <p:cTn id="22" dur="1000"/>
                                        <p:tgtEl>
                                          <p:spTgt spid="2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7">
                                            <p:txEl>
                                              <p:pRg st="4" end="4"/>
                                            </p:txEl>
                                          </p:spTgt>
                                        </p:tgtEl>
                                        <p:attrNameLst>
                                          <p:attrName>style.visibility</p:attrName>
                                        </p:attrNameLst>
                                      </p:cBhvr>
                                      <p:to>
                                        <p:strVal val="visible"/>
                                      </p:to>
                                    </p:set>
                                    <p:animEffect transition="in" filter="fade">
                                      <p:cBhvr>
                                        <p:cTn id="27" dur="1000"/>
                                        <p:tgtEl>
                                          <p:spTgt spid="2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7">
                                            <p:txEl>
                                              <p:pRg st="5" end="5"/>
                                            </p:txEl>
                                          </p:spTgt>
                                        </p:tgtEl>
                                        <p:attrNameLst>
                                          <p:attrName>style.visibility</p:attrName>
                                        </p:attrNameLst>
                                      </p:cBhvr>
                                      <p:to>
                                        <p:strVal val="visible"/>
                                      </p:to>
                                    </p:set>
                                    <p:animEffect transition="in" filter="fade">
                                      <p:cBhvr>
                                        <p:cTn id="32" dur="1000"/>
                                        <p:tgtEl>
                                          <p:spTgt spid="21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8">
                                            <p:txEl>
                                              <p:pRg st="0" end="0"/>
                                            </p:txEl>
                                          </p:spTgt>
                                        </p:tgtEl>
                                        <p:attrNameLst>
                                          <p:attrName>style.visibility</p:attrName>
                                        </p:attrNameLst>
                                      </p:cBhvr>
                                      <p:to>
                                        <p:strVal val="visible"/>
                                      </p:to>
                                    </p:set>
                                    <p:animEffect transition="in" filter="fade">
                                      <p:cBhvr>
                                        <p:cTn id="37" dur="1000"/>
                                        <p:tgtEl>
                                          <p:spTgt spid="2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223"/>
        <p:cNvGrpSpPr/>
        <p:nvPr/>
      </p:nvGrpSpPr>
      <p:grpSpPr>
        <a:xfrm>
          <a:off x="0" y="0"/>
          <a:ext cx="0" cy="0"/>
          <a:chOff x="0" y="0"/>
          <a:chExt cx="0" cy="0"/>
        </a:xfrm>
      </p:grpSpPr>
      <p:sp>
        <p:nvSpPr>
          <p:cNvPr id="224" name="Google Shape;224;g2ee15abed17_3_376"/>
          <p:cNvSpPr txBox="1"/>
          <p:nvPr/>
        </p:nvSpPr>
        <p:spPr>
          <a:xfrm>
            <a:off x="327600" y="7781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80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225" name="Google Shape;225;g2ee15abed17_3_376"/>
          <p:cNvSpPr txBox="1"/>
          <p:nvPr/>
        </p:nvSpPr>
        <p:spPr>
          <a:xfrm>
            <a:off x="1066875" y="1640550"/>
            <a:ext cx="7221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Roboto"/>
              <a:ea typeface="Roboto"/>
              <a:cs typeface="Roboto"/>
              <a:sym typeface="Roboto"/>
            </a:endParaRPr>
          </a:p>
        </p:txBody>
      </p:sp>
      <p:sp>
        <p:nvSpPr>
          <p:cNvPr id="226" name="Google Shape;226;g2ee15abed17_3_376"/>
          <p:cNvSpPr txBox="1"/>
          <p:nvPr/>
        </p:nvSpPr>
        <p:spPr>
          <a:xfrm>
            <a:off x="630000" y="1354400"/>
            <a:ext cx="7474200" cy="212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800"/>
              <a:buFont typeface="Arial"/>
              <a:buNone/>
            </a:pPr>
            <a:r>
              <a:rPr lang="en-GB" sz="1800">
                <a:solidFill>
                  <a:srgbClr val="001D35"/>
                </a:solidFill>
                <a:highlight>
                  <a:srgbClr val="FFFFFF"/>
                </a:highlight>
              </a:rPr>
              <a:t>A "maternal grandfather" is the father of a person's mother, making a "maternal grandson" the son of that person's daughter, and therefore, the "son" would be the father of the "maternal grandson" in this family dynamic. </a:t>
            </a:r>
            <a:endParaRPr sz="1800">
              <a:solidFill>
                <a:srgbClr val="001D35"/>
              </a:solidFill>
              <a:highlight>
                <a:srgbClr val="FFFFFF"/>
              </a:highlight>
            </a:endParaRPr>
          </a:p>
          <a:p>
            <a:pPr marL="0" marR="0" lvl="0" indent="0" algn="l" rtl="0">
              <a:lnSpc>
                <a:spcPct val="150000"/>
              </a:lnSpc>
              <a:spcBef>
                <a:spcPts val="0"/>
              </a:spcBef>
              <a:spcAft>
                <a:spcPts val="0"/>
              </a:spcAft>
              <a:buClr>
                <a:schemeClr val="dk1"/>
              </a:buClr>
              <a:buSzPts val="1800"/>
              <a:buFont typeface="Arial"/>
              <a:buNone/>
            </a:pPr>
            <a:r>
              <a:rPr lang="en-GB" sz="1800">
                <a:solidFill>
                  <a:srgbClr val="001D35"/>
                </a:solidFill>
                <a:highlight>
                  <a:srgbClr val="FFFFFF"/>
                </a:highlight>
              </a:rPr>
              <a:t>ANS : grand son</a:t>
            </a:r>
            <a:endParaRPr sz="1800">
              <a:solidFill>
                <a:srgbClr val="001D35"/>
              </a:solidFill>
              <a:highlight>
                <a:srgbClr val="FFFFFF"/>
              </a:highlight>
            </a:endParaRPr>
          </a:p>
        </p:txBody>
      </p:sp>
      <p:sp>
        <p:nvSpPr>
          <p:cNvPr id="227" name="Google Shape;227;g2ee15abed17_3_376"/>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09</a:t>
            </a:r>
            <a:endParaRPr sz="2000" b="1" i="0" u="none" strike="noStrike" cap="none">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2ee15abed17_3_383"/>
          <p:cNvSpPr txBox="1"/>
          <p:nvPr/>
        </p:nvSpPr>
        <p:spPr>
          <a:xfrm>
            <a:off x="720000" y="1440000"/>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Muthu said, “This girl is the wife of the grandson of my mother who has only one</a:t>
            </a:r>
            <a:r>
              <a:rPr lang="en-GB" sz="1800" b="0" i="0" u="none" strike="noStrike" cap="none">
                <a:solidFill>
                  <a:schemeClr val="dk2"/>
                </a:solidFill>
                <a:latin typeface="Roboto"/>
                <a:ea typeface="Roboto"/>
                <a:cs typeface="Roboto"/>
                <a:sym typeface="Roboto"/>
              </a:rPr>
              <a:t> </a:t>
            </a:r>
            <a:r>
              <a:rPr lang="en-GB" sz="1800" b="0" i="0" u="none" strike="noStrike" cap="none">
                <a:solidFill>
                  <a:schemeClr val="dk1"/>
                </a:solidFill>
                <a:latin typeface="Roboto"/>
                <a:ea typeface="Roboto"/>
                <a:cs typeface="Roboto"/>
                <a:sym typeface="Roboto"/>
              </a:rPr>
              <a:t>son.” Who is Muthu to the girl?</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Father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Grandfather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Husband</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Father-in-law</a:t>
            </a:r>
            <a:endParaRPr sz="18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800"/>
              </a:spcAft>
              <a:buClr>
                <a:srgbClr val="000000"/>
              </a:buClr>
              <a:buSzPts val="1400"/>
              <a:buFont typeface="Arial"/>
              <a:buNone/>
            </a:pPr>
            <a:endParaRPr sz="1600" b="0" i="0" u="none" strike="noStrike" cap="none">
              <a:solidFill>
                <a:schemeClr val="dk1"/>
              </a:solidFill>
              <a:highlight>
                <a:srgbClr val="FFFFFF"/>
              </a:highlight>
              <a:latin typeface="Roboto"/>
              <a:ea typeface="Roboto"/>
              <a:cs typeface="Roboto"/>
              <a:sym typeface="Roboto"/>
            </a:endParaRPr>
          </a:p>
        </p:txBody>
      </p:sp>
      <p:sp>
        <p:nvSpPr>
          <p:cNvPr id="233" name="Google Shape;233;g2ee15abed17_3_383"/>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a:solidFill>
                  <a:srgbClr val="000000"/>
                </a:solidFill>
                <a:latin typeface="Roboto"/>
                <a:ea typeface="Roboto"/>
                <a:cs typeface="Roboto"/>
                <a:sym typeface="Roboto"/>
              </a:rPr>
              <a:t>Answer: </a:t>
            </a:r>
            <a:r>
              <a:rPr lang="en-GB" sz="1600" b="1">
                <a:latin typeface="Roboto"/>
                <a:ea typeface="Roboto"/>
                <a:cs typeface="Roboto"/>
                <a:sym typeface="Roboto"/>
              </a:rPr>
              <a:t>D</a:t>
            </a:r>
            <a:endParaRPr sz="1600" b="1" i="0" u="none" strike="noStrike" cap="none">
              <a:solidFill>
                <a:srgbClr val="000000"/>
              </a:solidFill>
              <a:latin typeface="Roboto"/>
              <a:ea typeface="Roboto"/>
              <a:cs typeface="Roboto"/>
              <a:sym typeface="Roboto"/>
            </a:endParaRPr>
          </a:p>
        </p:txBody>
      </p:sp>
      <p:sp>
        <p:nvSpPr>
          <p:cNvPr id="234" name="Google Shape;234;g2ee15abed17_3_383"/>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10</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2">
                                            <p:txEl>
                                              <p:pRg st="0" end="0"/>
                                            </p:txEl>
                                          </p:spTgt>
                                        </p:tgtEl>
                                        <p:attrNameLst>
                                          <p:attrName>style.visibility</p:attrName>
                                        </p:attrNameLst>
                                      </p:cBhvr>
                                      <p:to>
                                        <p:strVal val="visible"/>
                                      </p:to>
                                    </p:set>
                                    <p:animEffect transition="in" filter="fade">
                                      <p:cBhvr>
                                        <p:cTn id="7" dur="1000"/>
                                        <p:tgtEl>
                                          <p:spTgt spid="2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2">
                                            <p:txEl>
                                              <p:pRg st="1" end="1"/>
                                            </p:txEl>
                                          </p:spTgt>
                                        </p:tgtEl>
                                        <p:attrNameLst>
                                          <p:attrName>style.visibility</p:attrName>
                                        </p:attrNameLst>
                                      </p:cBhvr>
                                      <p:to>
                                        <p:strVal val="visible"/>
                                      </p:to>
                                    </p:set>
                                    <p:animEffect transition="in" filter="fade">
                                      <p:cBhvr>
                                        <p:cTn id="12" dur="1000"/>
                                        <p:tgtEl>
                                          <p:spTgt spid="2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2">
                                            <p:txEl>
                                              <p:pRg st="2" end="2"/>
                                            </p:txEl>
                                          </p:spTgt>
                                        </p:tgtEl>
                                        <p:attrNameLst>
                                          <p:attrName>style.visibility</p:attrName>
                                        </p:attrNameLst>
                                      </p:cBhvr>
                                      <p:to>
                                        <p:strVal val="visible"/>
                                      </p:to>
                                    </p:set>
                                    <p:animEffect transition="in" filter="fade">
                                      <p:cBhvr>
                                        <p:cTn id="17" dur="1000"/>
                                        <p:tgtEl>
                                          <p:spTgt spid="2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2">
                                            <p:txEl>
                                              <p:pRg st="3" end="3"/>
                                            </p:txEl>
                                          </p:spTgt>
                                        </p:tgtEl>
                                        <p:attrNameLst>
                                          <p:attrName>style.visibility</p:attrName>
                                        </p:attrNameLst>
                                      </p:cBhvr>
                                      <p:to>
                                        <p:strVal val="visible"/>
                                      </p:to>
                                    </p:set>
                                    <p:animEffect transition="in" filter="fade">
                                      <p:cBhvr>
                                        <p:cTn id="22" dur="1000"/>
                                        <p:tgtEl>
                                          <p:spTgt spid="2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2">
                                            <p:txEl>
                                              <p:pRg st="4" end="4"/>
                                            </p:txEl>
                                          </p:spTgt>
                                        </p:tgtEl>
                                        <p:attrNameLst>
                                          <p:attrName>style.visibility</p:attrName>
                                        </p:attrNameLst>
                                      </p:cBhvr>
                                      <p:to>
                                        <p:strVal val="visible"/>
                                      </p:to>
                                    </p:set>
                                    <p:animEffect transition="in" filter="fade">
                                      <p:cBhvr>
                                        <p:cTn id="27" dur="1000"/>
                                        <p:tgtEl>
                                          <p:spTgt spid="23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2">
                                            <p:txEl>
                                              <p:pRg st="5" end="5"/>
                                            </p:txEl>
                                          </p:spTgt>
                                        </p:tgtEl>
                                        <p:attrNameLst>
                                          <p:attrName>style.visibility</p:attrName>
                                        </p:attrNameLst>
                                      </p:cBhvr>
                                      <p:to>
                                        <p:strVal val="visible"/>
                                      </p:to>
                                    </p:set>
                                    <p:animEffect transition="in" filter="fade">
                                      <p:cBhvr>
                                        <p:cTn id="32" dur="1000"/>
                                        <p:tgtEl>
                                          <p:spTgt spid="23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3">
                                            <p:txEl>
                                              <p:pRg st="0" end="0"/>
                                            </p:txEl>
                                          </p:spTgt>
                                        </p:tgtEl>
                                        <p:attrNameLst>
                                          <p:attrName>style.visibility</p:attrName>
                                        </p:attrNameLst>
                                      </p:cBhvr>
                                      <p:to>
                                        <p:strVal val="visible"/>
                                      </p:to>
                                    </p:set>
                                    <p:animEffect transition="in" filter="fade">
                                      <p:cBhvr>
                                        <p:cTn id="37" dur="1000"/>
                                        <p:tgtEl>
                                          <p:spTgt spid="2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238"/>
        <p:cNvGrpSpPr/>
        <p:nvPr/>
      </p:nvGrpSpPr>
      <p:grpSpPr>
        <a:xfrm>
          <a:off x="0" y="0"/>
          <a:ext cx="0" cy="0"/>
          <a:chOff x="0" y="0"/>
          <a:chExt cx="0" cy="0"/>
        </a:xfrm>
      </p:grpSpPr>
      <p:pic>
        <p:nvPicPr>
          <p:cNvPr id="239" name="Google Shape;239;g2ee15abed17_3_389"/>
          <p:cNvPicPr preferRelativeResize="0"/>
          <p:nvPr/>
        </p:nvPicPr>
        <p:blipFill rotWithShape="1">
          <a:blip r:embed="rId3">
            <a:alphaModFix/>
          </a:blip>
          <a:srcRect r="57233"/>
          <a:stretch/>
        </p:blipFill>
        <p:spPr>
          <a:xfrm>
            <a:off x="8189675" y="233550"/>
            <a:ext cx="724575" cy="766798"/>
          </a:xfrm>
          <a:prstGeom prst="rect">
            <a:avLst/>
          </a:prstGeom>
          <a:noFill/>
          <a:ln>
            <a:noFill/>
          </a:ln>
        </p:spPr>
      </p:pic>
      <p:sp>
        <p:nvSpPr>
          <p:cNvPr id="240" name="Google Shape;240;g2ee15abed17_3_389"/>
          <p:cNvSpPr txBox="1"/>
          <p:nvPr/>
        </p:nvSpPr>
        <p:spPr>
          <a:xfrm>
            <a:off x="327600" y="342645"/>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Explanation: </a:t>
            </a:r>
            <a:endParaRPr sz="2000" b="0" i="0" u="none" strike="noStrike" cap="none">
              <a:solidFill>
                <a:schemeClr val="lt1"/>
              </a:solidFill>
              <a:latin typeface="Roboto"/>
              <a:ea typeface="Roboto"/>
              <a:cs typeface="Roboto"/>
              <a:sym typeface="Roboto"/>
            </a:endParaRPr>
          </a:p>
        </p:txBody>
      </p:sp>
      <p:sp>
        <p:nvSpPr>
          <p:cNvPr id="241" name="Google Shape;241;g2ee15abed17_3_389"/>
          <p:cNvSpPr txBox="1"/>
          <p:nvPr/>
        </p:nvSpPr>
        <p:spPr>
          <a:xfrm>
            <a:off x="327600" y="842700"/>
            <a:ext cx="7384200" cy="31563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242" name="Google Shape;242;g2ee15abed17_3_389"/>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10</a:t>
            </a:r>
            <a:endParaRPr sz="2000" b="1" i="0" u="none" strike="noStrike" cap="none">
              <a:solidFill>
                <a:srgbClr val="8182EF"/>
              </a:solidFill>
              <a:latin typeface="Roboto"/>
              <a:ea typeface="Roboto"/>
              <a:cs typeface="Roboto"/>
              <a:sym typeface="Roboto"/>
            </a:endParaRPr>
          </a:p>
        </p:txBody>
      </p:sp>
      <p:sp>
        <p:nvSpPr>
          <p:cNvPr id="243" name="Google Shape;243;g2ee15abed17_3_389"/>
          <p:cNvSpPr txBox="1"/>
          <p:nvPr/>
        </p:nvSpPr>
        <p:spPr>
          <a:xfrm>
            <a:off x="630000" y="1354400"/>
            <a:ext cx="74742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FATHER IN LAW IS MUTHU TO THAT GIRL</a:t>
            </a:r>
            <a:endParaRPr sz="1800" b="0" i="0" u="none" strike="noStrike" cap="none" dirty="0">
              <a:solidFill>
                <a:schemeClr val="dk1"/>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g2ee15abed17_3_397"/>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700" b="1" i="0" u="none" strike="noStrike" cap="none">
                <a:solidFill>
                  <a:srgbClr val="000000"/>
                </a:solidFill>
                <a:latin typeface="Roboto"/>
                <a:ea typeface="Roboto"/>
                <a:cs typeface="Roboto"/>
                <a:sym typeface="Roboto"/>
              </a:rPr>
              <a:t>A</a:t>
            </a:r>
            <a:r>
              <a:rPr lang="en-GB" sz="1600" b="1" i="0" u="none" strike="noStrike" cap="none">
                <a:solidFill>
                  <a:srgbClr val="000000"/>
                </a:solidFill>
                <a:latin typeface="Roboto"/>
                <a:ea typeface="Roboto"/>
                <a:cs typeface="Roboto"/>
                <a:sym typeface="Roboto"/>
              </a:rPr>
              <a:t>nswer: D</a:t>
            </a:r>
            <a:endParaRPr sz="1600" b="1" i="0" u="none" strike="noStrike" cap="none">
              <a:solidFill>
                <a:srgbClr val="000000"/>
              </a:solidFill>
              <a:latin typeface="Roboto"/>
              <a:ea typeface="Roboto"/>
              <a:cs typeface="Roboto"/>
              <a:sym typeface="Roboto"/>
            </a:endParaRPr>
          </a:p>
        </p:txBody>
      </p:sp>
      <p:sp>
        <p:nvSpPr>
          <p:cNvPr id="249" name="Google Shape;249;g2ee15abed17_3_397"/>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11</a:t>
            </a:r>
            <a:endParaRPr sz="2000" b="1" i="0" u="none" strike="noStrike" cap="none">
              <a:solidFill>
                <a:srgbClr val="8182EF"/>
              </a:solidFill>
              <a:latin typeface="Roboto"/>
              <a:ea typeface="Roboto"/>
              <a:cs typeface="Roboto"/>
              <a:sym typeface="Roboto"/>
            </a:endParaRPr>
          </a:p>
        </p:txBody>
      </p:sp>
      <p:sp>
        <p:nvSpPr>
          <p:cNvPr id="250" name="Google Shape;250;g2ee15abed17_3_397"/>
          <p:cNvSpPr txBox="1"/>
          <p:nvPr/>
        </p:nvSpPr>
        <p:spPr>
          <a:xfrm>
            <a:off x="630000" y="1354400"/>
            <a:ext cx="7338000" cy="29553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B is father of Q. B has only two children. Q is the brother of R. R is the daughter of P. A is the granddaughter of P. S is the father of A. How is S related to Q?</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Son</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Son-in-law</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Brother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Brother-in-law</a:t>
            </a:r>
            <a:endParaRPr sz="1800" b="0" i="0" u="none" strike="noStrike" cap="none">
              <a:solidFill>
                <a:schemeClr val="dk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254"/>
        <p:cNvGrpSpPr/>
        <p:nvPr/>
      </p:nvGrpSpPr>
      <p:grpSpPr>
        <a:xfrm>
          <a:off x="0" y="0"/>
          <a:ext cx="0" cy="0"/>
          <a:chOff x="0" y="0"/>
          <a:chExt cx="0" cy="0"/>
        </a:xfrm>
      </p:grpSpPr>
      <p:pic>
        <p:nvPicPr>
          <p:cNvPr id="255" name="Google Shape;255;g2ee15abed17_3_403"/>
          <p:cNvPicPr preferRelativeResize="0"/>
          <p:nvPr/>
        </p:nvPicPr>
        <p:blipFill rotWithShape="1">
          <a:blip r:embed="rId3">
            <a:alphaModFix/>
          </a:blip>
          <a:srcRect r="57233"/>
          <a:stretch/>
        </p:blipFill>
        <p:spPr>
          <a:xfrm>
            <a:off x="8189675" y="233550"/>
            <a:ext cx="724575" cy="766798"/>
          </a:xfrm>
          <a:prstGeom prst="rect">
            <a:avLst/>
          </a:prstGeom>
          <a:noFill/>
          <a:ln>
            <a:noFill/>
          </a:ln>
        </p:spPr>
      </p:pic>
      <p:sp>
        <p:nvSpPr>
          <p:cNvPr id="256" name="Google Shape;256;g2ee15abed17_3_403"/>
          <p:cNvSpPr txBox="1"/>
          <p:nvPr/>
        </p:nvSpPr>
        <p:spPr>
          <a:xfrm>
            <a:off x="327600" y="342645"/>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Explanation: </a:t>
            </a:r>
            <a:endParaRPr sz="2000" b="0" i="0" u="none" strike="noStrike" cap="none">
              <a:solidFill>
                <a:schemeClr val="lt1"/>
              </a:solidFill>
              <a:latin typeface="Roboto"/>
              <a:ea typeface="Roboto"/>
              <a:cs typeface="Roboto"/>
              <a:sym typeface="Roboto"/>
            </a:endParaRPr>
          </a:p>
        </p:txBody>
      </p:sp>
      <p:sp>
        <p:nvSpPr>
          <p:cNvPr id="257" name="Google Shape;257;g2ee15abed17_3_403"/>
          <p:cNvSpPr txBox="1"/>
          <p:nvPr/>
        </p:nvSpPr>
        <p:spPr>
          <a:xfrm>
            <a:off x="327600" y="918900"/>
            <a:ext cx="7384200" cy="31563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258" name="Google Shape;258;g2ee15abed17_3_403"/>
          <p:cNvSpPr txBox="1"/>
          <p:nvPr/>
        </p:nvSpPr>
        <p:spPr>
          <a:xfrm>
            <a:off x="630000" y="1439875"/>
            <a:ext cx="6995400" cy="7752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2"/>
              </a:buClr>
              <a:buSzPts val="1800"/>
              <a:buFont typeface="Roboto"/>
              <a:buChar char="●"/>
            </a:pPr>
            <a:r>
              <a:rPr lang="en-GB" sz="1800" b="0" i="0" u="none" strike="noStrike" cap="none">
                <a:solidFill>
                  <a:schemeClr val="dk1"/>
                </a:solidFill>
                <a:latin typeface="Roboto"/>
                <a:ea typeface="Roboto"/>
                <a:cs typeface="Roboto"/>
                <a:sym typeface="Roboto"/>
              </a:rPr>
              <a:t>Correct Option: D</a:t>
            </a:r>
            <a:endParaRPr sz="1400" b="0" i="0" u="none" strike="noStrike" cap="none">
              <a:solidFill>
                <a:schemeClr val="dk1"/>
              </a:solidFill>
              <a:latin typeface="Roboto"/>
              <a:ea typeface="Roboto"/>
              <a:cs typeface="Roboto"/>
              <a:sym typeface="Roboto"/>
            </a:endParaRPr>
          </a:p>
          <a:p>
            <a:pPr marL="0" marR="0" lvl="0" indent="0" algn="l" rtl="0">
              <a:lnSpc>
                <a:spcPct val="100000"/>
              </a:lnSpc>
              <a:spcBef>
                <a:spcPts val="800"/>
              </a:spcBef>
              <a:spcAft>
                <a:spcPts val="0"/>
              </a:spcAft>
              <a:buClr>
                <a:srgbClr val="000000"/>
              </a:buClr>
              <a:buSzPts val="1100"/>
              <a:buFont typeface="Arial"/>
              <a:buNone/>
            </a:pPr>
            <a:endParaRPr sz="1100" b="0" i="0" u="none" strike="noStrike" cap="none">
              <a:solidFill>
                <a:schemeClr val="dk1"/>
              </a:solidFill>
              <a:latin typeface="Roboto"/>
              <a:ea typeface="Roboto"/>
              <a:cs typeface="Roboto"/>
              <a:sym typeface="Roboto"/>
            </a:endParaRPr>
          </a:p>
        </p:txBody>
      </p:sp>
      <p:sp>
        <p:nvSpPr>
          <p:cNvPr id="259" name="Google Shape;259;g2ee15abed17_3_403"/>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11</a:t>
            </a:r>
            <a:endParaRPr sz="2000" b="1" i="0" u="none" strike="noStrike" cap="none">
              <a:solidFill>
                <a:srgbClr val="8182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g2ee15abed17_3_411"/>
          <p:cNvSpPr txBox="1"/>
          <p:nvPr/>
        </p:nvSpPr>
        <p:spPr>
          <a:xfrm>
            <a:off x="327600" y="35920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08</a:t>
            </a:r>
            <a:endParaRPr sz="2000" b="0" i="0" u="none" strike="noStrike" cap="none">
              <a:solidFill>
                <a:schemeClr val="lt1"/>
              </a:solidFill>
              <a:latin typeface="Roboto"/>
              <a:ea typeface="Roboto"/>
              <a:cs typeface="Roboto"/>
              <a:sym typeface="Roboto"/>
            </a:endParaRPr>
          </a:p>
        </p:txBody>
      </p:sp>
      <p:sp>
        <p:nvSpPr>
          <p:cNvPr id="265" name="Google Shape;265;g2ee15abed17_3_411"/>
          <p:cNvSpPr txBox="1"/>
          <p:nvPr/>
        </p:nvSpPr>
        <p:spPr>
          <a:xfrm>
            <a:off x="720000" y="1439875"/>
            <a:ext cx="7650000" cy="31305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Showing the man receiving the prize Seema said, “He is the brother of </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my uncle’s daughter”. What is the man to Seema?</a:t>
            </a:r>
            <a:endParaRPr sz="1800" b="0" i="0" u="none" strike="noStrike" cap="none">
              <a:solidFill>
                <a:schemeClr val="dk2"/>
              </a:solidFill>
              <a:latin typeface="Roboto"/>
              <a:ea typeface="Roboto"/>
              <a:cs typeface="Roboto"/>
              <a:sym typeface="Roboto"/>
            </a:endParaRPr>
          </a:p>
          <a:p>
            <a:pPr marL="571500" marR="0" lvl="0" indent="-4572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Son</a:t>
            </a:r>
            <a:endParaRPr sz="1800" b="0" i="0" u="none" strike="noStrike" cap="none">
              <a:solidFill>
                <a:schemeClr val="dk2"/>
              </a:solidFill>
              <a:latin typeface="Roboto"/>
              <a:ea typeface="Roboto"/>
              <a:cs typeface="Roboto"/>
              <a:sym typeface="Roboto"/>
            </a:endParaRPr>
          </a:p>
          <a:p>
            <a:pPr marL="571500" marR="0" lvl="0" indent="-4572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Brother-in-law</a:t>
            </a:r>
            <a:endParaRPr sz="1800" b="0" i="0" u="none" strike="noStrike" cap="none">
              <a:solidFill>
                <a:schemeClr val="dk2"/>
              </a:solidFill>
              <a:latin typeface="Roboto"/>
              <a:ea typeface="Roboto"/>
              <a:cs typeface="Roboto"/>
              <a:sym typeface="Roboto"/>
            </a:endParaRPr>
          </a:p>
          <a:p>
            <a:pPr marL="571500" marR="0" lvl="0" indent="-4572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Nephew</a:t>
            </a:r>
            <a:endParaRPr sz="1800" b="0" i="0" u="none" strike="noStrike" cap="none">
              <a:solidFill>
                <a:schemeClr val="dk2"/>
              </a:solidFill>
              <a:latin typeface="Roboto"/>
              <a:ea typeface="Roboto"/>
              <a:cs typeface="Roboto"/>
              <a:sym typeface="Roboto"/>
            </a:endParaRPr>
          </a:p>
          <a:p>
            <a:pPr marL="571500" marR="0" lvl="0" indent="-4572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Cousin</a:t>
            </a:r>
            <a:endParaRPr sz="1800" b="0" i="0" u="none" strike="noStrike" cap="none">
              <a:solidFill>
                <a:schemeClr val="dk1"/>
              </a:solidFill>
              <a:latin typeface="Roboto"/>
              <a:ea typeface="Roboto"/>
              <a:cs typeface="Roboto"/>
              <a:sym typeface="Roboto"/>
            </a:endParaRPr>
          </a:p>
          <a:p>
            <a:pPr marL="0" marR="0" lvl="0" indent="0" algn="l" rtl="0">
              <a:lnSpc>
                <a:spcPct val="100000"/>
              </a:lnSpc>
              <a:spcBef>
                <a:spcPts val="800"/>
              </a:spcBef>
              <a:spcAft>
                <a:spcPts val="0"/>
              </a:spcAft>
              <a:buClr>
                <a:srgbClr val="000000"/>
              </a:buClr>
              <a:buSzPts val="1400"/>
              <a:buFont typeface="Arial"/>
              <a:buNone/>
            </a:pPr>
            <a:endParaRPr sz="1600" b="0" i="0" u="none" strike="noStrike" cap="none">
              <a:solidFill>
                <a:srgbClr val="000000"/>
              </a:solidFill>
              <a:latin typeface="Roboto"/>
              <a:ea typeface="Roboto"/>
              <a:cs typeface="Roboto"/>
              <a:sym typeface="Roboto"/>
            </a:endParaRPr>
          </a:p>
        </p:txBody>
      </p:sp>
      <p:sp>
        <p:nvSpPr>
          <p:cNvPr id="266" name="Google Shape;266;g2ee15abed17_3_411"/>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a:solidFill>
                  <a:srgbClr val="000000"/>
                </a:solidFill>
                <a:latin typeface="Roboto"/>
                <a:ea typeface="Roboto"/>
                <a:cs typeface="Roboto"/>
                <a:sym typeface="Roboto"/>
              </a:rPr>
              <a:t>Answer: D</a:t>
            </a:r>
            <a:endParaRPr sz="1600" b="1" i="0" u="none" strike="noStrike" cap="none">
              <a:solidFill>
                <a:srgbClr val="000000"/>
              </a:solidFill>
              <a:latin typeface="Roboto"/>
              <a:ea typeface="Roboto"/>
              <a:cs typeface="Roboto"/>
              <a:sym typeface="Roboto"/>
            </a:endParaRPr>
          </a:p>
        </p:txBody>
      </p:sp>
      <p:sp>
        <p:nvSpPr>
          <p:cNvPr id="267" name="Google Shape;267;g2ee15abed17_3_411"/>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12</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animEffect transition="in" filter="fade">
                                      <p:cBhvr>
                                        <p:cTn id="7" dur="1000"/>
                                        <p:tgtEl>
                                          <p:spTgt spid="2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5">
                                            <p:txEl>
                                              <p:pRg st="1" end="1"/>
                                            </p:txEl>
                                          </p:spTgt>
                                        </p:tgtEl>
                                        <p:attrNameLst>
                                          <p:attrName>style.visibility</p:attrName>
                                        </p:attrNameLst>
                                      </p:cBhvr>
                                      <p:to>
                                        <p:strVal val="visible"/>
                                      </p:to>
                                    </p:set>
                                    <p:animEffect transition="in" filter="fade">
                                      <p:cBhvr>
                                        <p:cTn id="12" dur="1000"/>
                                        <p:tgtEl>
                                          <p:spTgt spid="26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5">
                                            <p:txEl>
                                              <p:pRg st="2" end="2"/>
                                            </p:txEl>
                                          </p:spTgt>
                                        </p:tgtEl>
                                        <p:attrNameLst>
                                          <p:attrName>style.visibility</p:attrName>
                                        </p:attrNameLst>
                                      </p:cBhvr>
                                      <p:to>
                                        <p:strVal val="visible"/>
                                      </p:to>
                                    </p:set>
                                    <p:animEffect transition="in" filter="fade">
                                      <p:cBhvr>
                                        <p:cTn id="17" dur="1000"/>
                                        <p:tgtEl>
                                          <p:spTgt spid="26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5">
                                            <p:txEl>
                                              <p:pRg st="3" end="3"/>
                                            </p:txEl>
                                          </p:spTgt>
                                        </p:tgtEl>
                                        <p:attrNameLst>
                                          <p:attrName>style.visibility</p:attrName>
                                        </p:attrNameLst>
                                      </p:cBhvr>
                                      <p:to>
                                        <p:strVal val="visible"/>
                                      </p:to>
                                    </p:set>
                                    <p:animEffect transition="in" filter="fade">
                                      <p:cBhvr>
                                        <p:cTn id="22" dur="1000"/>
                                        <p:tgtEl>
                                          <p:spTgt spid="26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5">
                                            <p:txEl>
                                              <p:pRg st="4" end="4"/>
                                            </p:txEl>
                                          </p:spTgt>
                                        </p:tgtEl>
                                        <p:attrNameLst>
                                          <p:attrName>style.visibility</p:attrName>
                                        </p:attrNameLst>
                                      </p:cBhvr>
                                      <p:to>
                                        <p:strVal val="visible"/>
                                      </p:to>
                                    </p:set>
                                    <p:animEffect transition="in" filter="fade">
                                      <p:cBhvr>
                                        <p:cTn id="27" dur="1000"/>
                                        <p:tgtEl>
                                          <p:spTgt spid="26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5">
                                            <p:txEl>
                                              <p:pRg st="5" end="5"/>
                                            </p:txEl>
                                          </p:spTgt>
                                        </p:tgtEl>
                                        <p:attrNameLst>
                                          <p:attrName>style.visibility</p:attrName>
                                        </p:attrNameLst>
                                      </p:cBhvr>
                                      <p:to>
                                        <p:strVal val="visible"/>
                                      </p:to>
                                    </p:set>
                                    <p:animEffect transition="in" filter="fade">
                                      <p:cBhvr>
                                        <p:cTn id="32" dur="1000"/>
                                        <p:tgtEl>
                                          <p:spTgt spid="26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5">
                                            <p:txEl>
                                              <p:pRg st="6" end="6"/>
                                            </p:txEl>
                                          </p:spTgt>
                                        </p:tgtEl>
                                        <p:attrNameLst>
                                          <p:attrName>style.visibility</p:attrName>
                                        </p:attrNameLst>
                                      </p:cBhvr>
                                      <p:to>
                                        <p:strVal val="visible"/>
                                      </p:to>
                                    </p:set>
                                    <p:animEffect transition="in" filter="fade">
                                      <p:cBhvr>
                                        <p:cTn id="37" dur="1000"/>
                                        <p:tgtEl>
                                          <p:spTgt spid="26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6">
                                            <p:txEl>
                                              <p:pRg st="0" end="0"/>
                                            </p:txEl>
                                          </p:spTgt>
                                        </p:tgtEl>
                                        <p:attrNameLst>
                                          <p:attrName>style.visibility</p:attrName>
                                        </p:attrNameLst>
                                      </p:cBhvr>
                                      <p:to>
                                        <p:strVal val="visible"/>
                                      </p:to>
                                    </p:set>
                                    <p:animEffect transition="in" filter="fade">
                                      <p:cBhvr>
                                        <p:cTn id="42" dur="1000"/>
                                        <p:tgtEl>
                                          <p:spTgt spid="26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271"/>
        <p:cNvGrpSpPr/>
        <p:nvPr/>
      </p:nvGrpSpPr>
      <p:grpSpPr>
        <a:xfrm>
          <a:off x="0" y="0"/>
          <a:ext cx="0" cy="0"/>
          <a:chOff x="0" y="0"/>
          <a:chExt cx="0" cy="0"/>
        </a:xfrm>
      </p:grpSpPr>
      <p:pic>
        <p:nvPicPr>
          <p:cNvPr id="272" name="Google Shape;272;g2ee15abed17_3_418"/>
          <p:cNvPicPr preferRelativeResize="0"/>
          <p:nvPr/>
        </p:nvPicPr>
        <p:blipFill rotWithShape="1">
          <a:blip r:embed="rId3">
            <a:alphaModFix/>
          </a:blip>
          <a:srcRect r="57233"/>
          <a:stretch/>
        </p:blipFill>
        <p:spPr>
          <a:xfrm>
            <a:off x="8189675" y="233550"/>
            <a:ext cx="724575" cy="766798"/>
          </a:xfrm>
          <a:prstGeom prst="rect">
            <a:avLst/>
          </a:prstGeom>
          <a:noFill/>
          <a:ln>
            <a:noFill/>
          </a:ln>
        </p:spPr>
      </p:pic>
      <p:sp>
        <p:nvSpPr>
          <p:cNvPr id="273" name="Google Shape;273;g2ee15abed17_3_418"/>
          <p:cNvSpPr txBox="1"/>
          <p:nvPr/>
        </p:nvSpPr>
        <p:spPr>
          <a:xfrm>
            <a:off x="327600" y="342645"/>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Explanation: </a:t>
            </a:r>
            <a:endParaRPr sz="2000" b="0" i="0" u="none" strike="noStrike" cap="none">
              <a:solidFill>
                <a:schemeClr val="lt1"/>
              </a:solidFill>
              <a:latin typeface="Roboto"/>
              <a:ea typeface="Roboto"/>
              <a:cs typeface="Roboto"/>
              <a:sym typeface="Roboto"/>
            </a:endParaRPr>
          </a:p>
        </p:txBody>
      </p:sp>
      <p:sp>
        <p:nvSpPr>
          <p:cNvPr id="274" name="Google Shape;274;g2ee15abed17_3_418"/>
          <p:cNvSpPr txBox="1"/>
          <p:nvPr/>
        </p:nvSpPr>
        <p:spPr>
          <a:xfrm>
            <a:off x="327600" y="918900"/>
            <a:ext cx="7384200" cy="31563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275" name="Google Shape;275;g2ee15abed17_3_418"/>
          <p:cNvSpPr txBox="1"/>
          <p:nvPr/>
        </p:nvSpPr>
        <p:spPr>
          <a:xfrm>
            <a:off x="630000" y="1354400"/>
            <a:ext cx="7303500" cy="1831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Brother of my uncle’s daughter is my uncle’s son, who is my cousin. i.e. The man</a:t>
            </a:r>
            <a:r>
              <a:rPr lang="en-GB" sz="1800" b="0" i="0" u="none" strike="noStrike" cap="none">
                <a:solidFill>
                  <a:schemeClr val="dk2"/>
                </a:solidFill>
                <a:latin typeface="Roboto"/>
                <a:ea typeface="Roboto"/>
                <a:cs typeface="Roboto"/>
                <a:sym typeface="Roboto"/>
              </a:rPr>
              <a:t> </a:t>
            </a:r>
            <a:r>
              <a:rPr lang="en-GB" sz="1800" b="0" i="0" u="none" strike="noStrike" cap="none">
                <a:solidFill>
                  <a:schemeClr val="dk1"/>
                </a:solidFill>
                <a:latin typeface="Roboto"/>
                <a:ea typeface="Roboto"/>
                <a:cs typeface="Roboto"/>
                <a:sym typeface="Roboto"/>
              </a:rPr>
              <a:t>is Seema’s cousin</a:t>
            </a:r>
            <a:endParaRPr sz="18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Roboto"/>
              <a:ea typeface="Roboto"/>
              <a:cs typeface="Roboto"/>
              <a:sym typeface="Roboto"/>
            </a:endParaRPr>
          </a:p>
        </p:txBody>
      </p:sp>
      <p:sp>
        <p:nvSpPr>
          <p:cNvPr id="276" name="Google Shape;276;g2ee15abed17_3_418"/>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12</a:t>
            </a:r>
            <a:endParaRPr sz="2000" b="1" i="0" u="none" strike="noStrike" cap="none">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2ee15abed17_3_426"/>
          <p:cNvSpPr txBox="1"/>
          <p:nvPr/>
        </p:nvSpPr>
        <p:spPr>
          <a:xfrm>
            <a:off x="327600" y="380641"/>
            <a:ext cx="2827800" cy="453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09</a:t>
            </a:r>
            <a:endParaRPr sz="2000" b="0" i="0" u="none" strike="noStrike" cap="none">
              <a:solidFill>
                <a:schemeClr val="lt1"/>
              </a:solidFill>
              <a:latin typeface="Roboto"/>
              <a:ea typeface="Roboto"/>
              <a:cs typeface="Roboto"/>
              <a:sym typeface="Roboto"/>
            </a:endParaRPr>
          </a:p>
        </p:txBody>
      </p:sp>
      <p:sp>
        <p:nvSpPr>
          <p:cNvPr id="282" name="Google Shape;282;g2ee15abed17_3_426"/>
          <p:cNvSpPr txBox="1"/>
          <p:nvPr/>
        </p:nvSpPr>
        <p:spPr>
          <a:xfrm>
            <a:off x="720000" y="1440000"/>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Pointing to a photograph, Vipul said, "She is the daughter of my grandfather’s only son". How is Vipul related to the girl in the photograph?</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Father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Cousin</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Brother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Data inadequate</a:t>
            </a:r>
            <a:endParaRPr sz="18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200"/>
              <a:buFont typeface="Arial"/>
              <a:buNone/>
            </a:pPr>
            <a:endParaRPr sz="1600" b="0" i="0" u="none" strike="noStrike" cap="none">
              <a:solidFill>
                <a:srgbClr val="666666"/>
              </a:solidFill>
              <a:highlight>
                <a:srgbClr val="F8F8F8"/>
              </a:highlight>
              <a:latin typeface="Roboto"/>
              <a:ea typeface="Roboto"/>
              <a:cs typeface="Roboto"/>
              <a:sym typeface="Roboto"/>
            </a:endParaRPr>
          </a:p>
        </p:txBody>
      </p:sp>
      <p:sp>
        <p:nvSpPr>
          <p:cNvPr id="283" name="Google Shape;283;g2ee15abed17_3_426"/>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a:solidFill>
                  <a:srgbClr val="000000"/>
                </a:solidFill>
                <a:latin typeface="Roboto"/>
                <a:ea typeface="Roboto"/>
                <a:cs typeface="Roboto"/>
                <a:sym typeface="Roboto"/>
              </a:rPr>
              <a:t>Answer: C</a:t>
            </a:r>
            <a:endParaRPr sz="1600" b="1" i="0" u="none" strike="noStrike" cap="none">
              <a:solidFill>
                <a:srgbClr val="000000"/>
              </a:solidFill>
              <a:latin typeface="Roboto"/>
              <a:ea typeface="Roboto"/>
              <a:cs typeface="Roboto"/>
              <a:sym typeface="Roboto"/>
            </a:endParaRPr>
          </a:p>
        </p:txBody>
      </p:sp>
      <p:sp>
        <p:nvSpPr>
          <p:cNvPr id="284" name="Google Shape;284;g2ee15abed17_3_426"/>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13</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2">
                                            <p:txEl>
                                              <p:pRg st="0" end="0"/>
                                            </p:txEl>
                                          </p:spTgt>
                                        </p:tgtEl>
                                        <p:attrNameLst>
                                          <p:attrName>style.visibility</p:attrName>
                                        </p:attrNameLst>
                                      </p:cBhvr>
                                      <p:to>
                                        <p:strVal val="visible"/>
                                      </p:to>
                                    </p:set>
                                    <p:animEffect transition="in" filter="fade">
                                      <p:cBhvr>
                                        <p:cTn id="7" dur="1000"/>
                                        <p:tgtEl>
                                          <p:spTgt spid="2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2">
                                            <p:txEl>
                                              <p:pRg st="1" end="1"/>
                                            </p:txEl>
                                          </p:spTgt>
                                        </p:tgtEl>
                                        <p:attrNameLst>
                                          <p:attrName>style.visibility</p:attrName>
                                        </p:attrNameLst>
                                      </p:cBhvr>
                                      <p:to>
                                        <p:strVal val="visible"/>
                                      </p:to>
                                    </p:set>
                                    <p:animEffect transition="in" filter="fade">
                                      <p:cBhvr>
                                        <p:cTn id="12" dur="1000"/>
                                        <p:tgtEl>
                                          <p:spTgt spid="2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2">
                                            <p:txEl>
                                              <p:pRg st="2" end="2"/>
                                            </p:txEl>
                                          </p:spTgt>
                                        </p:tgtEl>
                                        <p:attrNameLst>
                                          <p:attrName>style.visibility</p:attrName>
                                        </p:attrNameLst>
                                      </p:cBhvr>
                                      <p:to>
                                        <p:strVal val="visible"/>
                                      </p:to>
                                    </p:set>
                                    <p:animEffect transition="in" filter="fade">
                                      <p:cBhvr>
                                        <p:cTn id="17" dur="1000"/>
                                        <p:tgtEl>
                                          <p:spTgt spid="2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2">
                                            <p:txEl>
                                              <p:pRg st="3" end="3"/>
                                            </p:txEl>
                                          </p:spTgt>
                                        </p:tgtEl>
                                        <p:attrNameLst>
                                          <p:attrName>style.visibility</p:attrName>
                                        </p:attrNameLst>
                                      </p:cBhvr>
                                      <p:to>
                                        <p:strVal val="visible"/>
                                      </p:to>
                                    </p:set>
                                    <p:animEffect transition="in" filter="fade">
                                      <p:cBhvr>
                                        <p:cTn id="22" dur="1000"/>
                                        <p:tgtEl>
                                          <p:spTgt spid="28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2">
                                            <p:txEl>
                                              <p:pRg st="4" end="4"/>
                                            </p:txEl>
                                          </p:spTgt>
                                        </p:tgtEl>
                                        <p:attrNameLst>
                                          <p:attrName>style.visibility</p:attrName>
                                        </p:attrNameLst>
                                      </p:cBhvr>
                                      <p:to>
                                        <p:strVal val="visible"/>
                                      </p:to>
                                    </p:set>
                                    <p:animEffect transition="in" filter="fade">
                                      <p:cBhvr>
                                        <p:cTn id="27" dur="1000"/>
                                        <p:tgtEl>
                                          <p:spTgt spid="28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2">
                                            <p:txEl>
                                              <p:pRg st="5" end="5"/>
                                            </p:txEl>
                                          </p:spTgt>
                                        </p:tgtEl>
                                        <p:attrNameLst>
                                          <p:attrName>style.visibility</p:attrName>
                                        </p:attrNameLst>
                                      </p:cBhvr>
                                      <p:to>
                                        <p:strVal val="visible"/>
                                      </p:to>
                                    </p:set>
                                    <p:animEffect transition="in" filter="fade">
                                      <p:cBhvr>
                                        <p:cTn id="32" dur="1000"/>
                                        <p:tgtEl>
                                          <p:spTgt spid="28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3">
                                            <p:txEl>
                                              <p:pRg st="0" end="0"/>
                                            </p:txEl>
                                          </p:spTgt>
                                        </p:tgtEl>
                                        <p:attrNameLst>
                                          <p:attrName>style.visibility</p:attrName>
                                        </p:attrNameLst>
                                      </p:cBhvr>
                                      <p:to>
                                        <p:strVal val="visible"/>
                                      </p:to>
                                    </p:set>
                                    <p:animEffect transition="in" filter="fade">
                                      <p:cBhvr>
                                        <p:cTn id="37" dur="1000"/>
                                        <p:tgtEl>
                                          <p:spTgt spid="2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288"/>
        <p:cNvGrpSpPr/>
        <p:nvPr/>
      </p:nvGrpSpPr>
      <p:grpSpPr>
        <a:xfrm>
          <a:off x="0" y="0"/>
          <a:ext cx="0" cy="0"/>
          <a:chOff x="0" y="0"/>
          <a:chExt cx="0" cy="0"/>
        </a:xfrm>
      </p:grpSpPr>
      <p:sp>
        <p:nvSpPr>
          <p:cNvPr id="289" name="Google Shape;289;g2ee15abed17_3_433"/>
          <p:cNvSpPr txBox="1"/>
          <p:nvPr/>
        </p:nvSpPr>
        <p:spPr>
          <a:xfrm>
            <a:off x="327600" y="380641"/>
            <a:ext cx="2827800" cy="453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09</a:t>
            </a:r>
            <a:endParaRPr sz="2000" b="0" i="0" u="none" strike="noStrike" cap="none">
              <a:solidFill>
                <a:schemeClr val="lt1"/>
              </a:solidFill>
              <a:latin typeface="Roboto"/>
              <a:ea typeface="Roboto"/>
              <a:cs typeface="Roboto"/>
              <a:sym typeface="Roboto"/>
            </a:endParaRPr>
          </a:p>
        </p:txBody>
      </p:sp>
      <p:sp>
        <p:nvSpPr>
          <p:cNvPr id="290" name="Google Shape;290;g2ee15abed17_3_433"/>
          <p:cNvSpPr txBox="1"/>
          <p:nvPr/>
        </p:nvSpPr>
        <p:spPr>
          <a:xfrm>
            <a:off x="720000" y="1440000"/>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My Grandfather’s only son is My Father.</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So the girl is the daughter of Vipul’s father. i.e. Vipul is the girl’s brother.</a:t>
            </a:r>
            <a:endParaRPr sz="18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1100"/>
              <a:buFont typeface="Arial"/>
              <a:buNone/>
            </a:pPr>
            <a:endParaRPr sz="11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200"/>
              <a:buFont typeface="Arial"/>
              <a:buNone/>
            </a:pPr>
            <a:endParaRPr sz="1400" b="0" i="0" u="none" strike="noStrike" cap="none">
              <a:solidFill>
                <a:srgbClr val="000000"/>
              </a:solidFill>
              <a:latin typeface="Roboto"/>
              <a:ea typeface="Roboto"/>
              <a:cs typeface="Roboto"/>
              <a:sym typeface="Roboto"/>
            </a:endParaRPr>
          </a:p>
        </p:txBody>
      </p:sp>
      <p:sp>
        <p:nvSpPr>
          <p:cNvPr id="291" name="Google Shape;291;g2ee15abed17_3_433"/>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13</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0">
                                            <p:txEl>
                                              <p:pRg st="0" end="0"/>
                                            </p:txEl>
                                          </p:spTgt>
                                        </p:tgtEl>
                                        <p:attrNameLst>
                                          <p:attrName>style.visibility</p:attrName>
                                        </p:attrNameLst>
                                      </p:cBhvr>
                                      <p:to>
                                        <p:strVal val="visible"/>
                                      </p:to>
                                    </p:set>
                                    <p:animEffect transition="in" filter="fade">
                                      <p:cBhvr>
                                        <p:cTn id="7" dur="1000"/>
                                        <p:tgtEl>
                                          <p:spTgt spid="2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0">
                                            <p:txEl>
                                              <p:pRg st="1" end="1"/>
                                            </p:txEl>
                                          </p:spTgt>
                                        </p:tgtEl>
                                        <p:attrNameLst>
                                          <p:attrName>style.visibility</p:attrName>
                                        </p:attrNameLst>
                                      </p:cBhvr>
                                      <p:to>
                                        <p:strVal val="visible"/>
                                      </p:to>
                                    </p:set>
                                    <p:animEffect transition="in" filter="fade">
                                      <p:cBhvr>
                                        <p:cTn id="12" dur="1000"/>
                                        <p:tgtEl>
                                          <p:spTgt spid="29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0">
                                            <p:txEl>
                                              <p:pRg st="2" end="2"/>
                                            </p:txEl>
                                          </p:spTgt>
                                        </p:tgtEl>
                                        <p:attrNameLst>
                                          <p:attrName>style.visibility</p:attrName>
                                        </p:attrNameLst>
                                      </p:cBhvr>
                                      <p:to>
                                        <p:strVal val="visible"/>
                                      </p:to>
                                    </p:set>
                                    <p:animEffect transition="in" filter="fade">
                                      <p:cBhvr>
                                        <p:cTn id="17" dur="1000"/>
                                        <p:tgtEl>
                                          <p:spTgt spid="29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0">
                                            <p:txEl>
                                              <p:pRg st="3" end="3"/>
                                            </p:txEl>
                                          </p:spTgt>
                                        </p:tgtEl>
                                        <p:attrNameLst>
                                          <p:attrName>style.visibility</p:attrName>
                                        </p:attrNameLst>
                                      </p:cBhvr>
                                      <p:to>
                                        <p:strVal val="visible"/>
                                      </p:to>
                                    </p:set>
                                    <p:animEffect transition="in" filter="fade">
                                      <p:cBhvr>
                                        <p:cTn id="22" dur="1000"/>
                                        <p:tgtEl>
                                          <p:spTgt spid="29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g2ee15abed17_3_440"/>
          <p:cNvSpPr txBox="1"/>
          <p:nvPr/>
        </p:nvSpPr>
        <p:spPr>
          <a:xfrm>
            <a:off x="350100" y="420585"/>
            <a:ext cx="2827800" cy="39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10</a:t>
            </a:r>
            <a:endParaRPr sz="2000" b="0" i="0" u="none" strike="noStrike" cap="none">
              <a:solidFill>
                <a:schemeClr val="lt1"/>
              </a:solidFill>
              <a:latin typeface="Roboto"/>
              <a:ea typeface="Roboto"/>
              <a:cs typeface="Roboto"/>
              <a:sym typeface="Roboto"/>
            </a:endParaRPr>
          </a:p>
        </p:txBody>
      </p:sp>
      <p:sp>
        <p:nvSpPr>
          <p:cNvPr id="297" name="Google Shape;297;g2ee15abed17_3_440"/>
          <p:cNvSpPr txBox="1"/>
          <p:nvPr/>
        </p:nvSpPr>
        <p:spPr>
          <a:xfrm>
            <a:off x="720000" y="1440004"/>
            <a:ext cx="7384200" cy="25989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If  (A) P + Q means P is the brother of Q ;</a:t>
            </a:r>
            <a:br>
              <a:rPr lang="en-GB" sz="1800" b="0" i="0" u="none" strike="noStrike" cap="none">
                <a:solidFill>
                  <a:schemeClr val="dk1"/>
                </a:solidFill>
                <a:latin typeface="Roboto"/>
                <a:ea typeface="Roboto"/>
                <a:cs typeface="Roboto"/>
                <a:sym typeface="Roboto"/>
              </a:rPr>
            </a:br>
            <a:r>
              <a:rPr lang="en-GB" sz="1800" b="0" i="0" u="none" strike="noStrike" cap="none">
                <a:solidFill>
                  <a:schemeClr val="dk1"/>
                </a:solidFill>
                <a:latin typeface="Roboto"/>
                <a:ea typeface="Roboto"/>
                <a:cs typeface="Roboto"/>
                <a:sym typeface="Roboto"/>
              </a:rPr>
              <a:t>    (B) P x Q means P is the father of Q ;</a:t>
            </a:r>
            <a:br>
              <a:rPr lang="en-GB" sz="1800" b="0" i="0" u="none" strike="noStrike" cap="none">
                <a:solidFill>
                  <a:schemeClr val="dk1"/>
                </a:solidFill>
                <a:latin typeface="Roboto"/>
                <a:ea typeface="Roboto"/>
                <a:cs typeface="Roboto"/>
                <a:sym typeface="Roboto"/>
              </a:rPr>
            </a:br>
            <a:r>
              <a:rPr lang="en-GB" sz="1800" b="0" i="0" u="none" strike="noStrike" cap="none">
                <a:solidFill>
                  <a:schemeClr val="dk1"/>
                </a:solidFill>
                <a:latin typeface="Roboto"/>
                <a:ea typeface="Roboto"/>
                <a:cs typeface="Roboto"/>
                <a:sym typeface="Roboto"/>
              </a:rPr>
              <a:t>    (C) P - Q means P is the sister of Q ;</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which of the following represents S is the niece of T ?</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T x M + S – K</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K - S x M + T</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T + M x S – K</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T x S + M - K</a:t>
            </a:r>
            <a:endParaRPr sz="1800" b="0" i="0" u="none" strike="noStrike" cap="none">
              <a:solidFill>
                <a:schemeClr val="dk2"/>
              </a:solidFill>
              <a:latin typeface="Roboto"/>
              <a:ea typeface="Roboto"/>
              <a:cs typeface="Roboto"/>
              <a:sym typeface="Roboto"/>
            </a:endParaRPr>
          </a:p>
          <a:p>
            <a:pPr marL="0" marR="0" lvl="0" indent="0" algn="just" rtl="0">
              <a:lnSpc>
                <a:spcPct val="15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600"/>
              <a:buFont typeface="Arial"/>
              <a:buNone/>
            </a:pPr>
            <a:endParaRPr sz="1600" b="0" i="0" u="none" strike="noStrike" cap="none">
              <a:solidFill>
                <a:srgbClr val="000000"/>
              </a:solidFill>
              <a:latin typeface="Roboto"/>
              <a:ea typeface="Roboto"/>
              <a:cs typeface="Roboto"/>
              <a:sym typeface="Roboto"/>
            </a:endParaRPr>
          </a:p>
          <a:p>
            <a:pPr marL="0" marR="0" lvl="0" indent="0" algn="l" rtl="0">
              <a:lnSpc>
                <a:spcPct val="100000"/>
              </a:lnSpc>
              <a:spcBef>
                <a:spcPts val="800"/>
              </a:spcBef>
              <a:spcAft>
                <a:spcPts val="800"/>
              </a:spcAft>
              <a:buClr>
                <a:srgbClr val="000000"/>
              </a:buClr>
              <a:buSzPts val="1200"/>
              <a:buFont typeface="Arial"/>
              <a:buNone/>
            </a:pPr>
            <a:endParaRPr sz="1600" b="0" i="0" u="none" strike="noStrike" cap="none">
              <a:solidFill>
                <a:srgbClr val="666666"/>
              </a:solidFill>
              <a:highlight>
                <a:srgbClr val="F8F8F8"/>
              </a:highlight>
              <a:latin typeface="Roboto"/>
              <a:ea typeface="Roboto"/>
              <a:cs typeface="Roboto"/>
              <a:sym typeface="Roboto"/>
            </a:endParaRPr>
          </a:p>
        </p:txBody>
      </p:sp>
      <p:sp>
        <p:nvSpPr>
          <p:cNvPr id="298" name="Google Shape;298;g2ee15abed17_3_440"/>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a:solidFill>
                  <a:srgbClr val="000000"/>
                </a:solidFill>
                <a:latin typeface="Roboto"/>
                <a:ea typeface="Roboto"/>
                <a:cs typeface="Roboto"/>
                <a:sym typeface="Roboto"/>
              </a:rPr>
              <a:t>Answer: C </a:t>
            </a:r>
            <a:endParaRPr sz="1600" b="1" i="0" u="none" strike="noStrike" cap="none">
              <a:solidFill>
                <a:srgbClr val="000000"/>
              </a:solidFill>
              <a:latin typeface="Roboto"/>
              <a:ea typeface="Roboto"/>
              <a:cs typeface="Roboto"/>
              <a:sym typeface="Roboto"/>
            </a:endParaRPr>
          </a:p>
        </p:txBody>
      </p:sp>
      <p:sp>
        <p:nvSpPr>
          <p:cNvPr id="299" name="Google Shape;299;g2ee15abed17_3_440"/>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14</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7">
                                            <p:txEl>
                                              <p:pRg st="0" end="0"/>
                                            </p:txEl>
                                          </p:spTgt>
                                        </p:tgtEl>
                                        <p:attrNameLst>
                                          <p:attrName>style.visibility</p:attrName>
                                        </p:attrNameLst>
                                      </p:cBhvr>
                                      <p:to>
                                        <p:strVal val="visible"/>
                                      </p:to>
                                    </p:set>
                                    <p:animEffect transition="in" filter="fade">
                                      <p:cBhvr>
                                        <p:cTn id="7" dur="1000"/>
                                        <p:tgtEl>
                                          <p:spTgt spid="2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7">
                                            <p:txEl>
                                              <p:pRg st="1" end="1"/>
                                            </p:txEl>
                                          </p:spTgt>
                                        </p:tgtEl>
                                        <p:attrNameLst>
                                          <p:attrName>style.visibility</p:attrName>
                                        </p:attrNameLst>
                                      </p:cBhvr>
                                      <p:to>
                                        <p:strVal val="visible"/>
                                      </p:to>
                                    </p:set>
                                    <p:animEffect transition="in" filter="fade">
                                      <p:cBhvr>
                                        <p:cTn id="12" dur="1000"/>
                                        <p:tgtEl>
                                          <p:spTgt spid="2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7">
                                            <p:txEl>
                                              <p:pRg st="2" end="2"/>
                                            </p:txEl>
                                          </p:spTgt>
                                        </p:tgtEl>
                                        <p:attrNameLst>
                                          <p:attrName>style.visibility</p:attrName>
                                        </p:attrNameLst>
                                      </p:cBhvr>
                                      <p:to>
                                        <p:strVal val="visible"/>
                                      </p:to>
                                    </p:set>
                                    <p:animEffect transition="in" filter="fade">
                                      <p:cBhvr>
                                        <p:cTn id="17" dur="1000"/>
                                        <p:tgtEl>
                                          <p:spTgt spid="29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7">
                                            <p:txEl>
                                              <p:pRg st="3" end="3"/>
                                            </p:txEl>
                                          </p:spTgt>
                                        </p:tgtEl>
                                        <p:attrNameLst>
                                          <p:attrName>style.visibility</p:attrName>
                                        </p:attrNameLst>
                                      </p:cBhvr>
                                      <p:to>
                                        <p:strVal val="visible"/>
                                      </p:to>
                                    </p:set>
                                    <p:animEffect transition="in" filter="fade">
                                      <p:cBhvr>
                                        <p:cTn id="22" dur="1000"/>
                                        <p:tgtEl>
                                          <p:spTgt spid="29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7">
                                            <p:txEl>
                                              <p:pRg st="4" end="4"/>
                                            </p:txEl>
                                          </p:spTgt>
                                        </p:tgtEl>
                                        <p:attrNameLst>
                                          <p:attrName>style.visibility</p:attrName>
                                        </p:attrNameLst>
                                      </p:cBhvr>
                                      <p:to>
                                        <p:strVal val="visible"/>
                                      </p:to>
                                    </p:set>
                                    <p:animEffect transition="in" filter="fade">
                                      <p:cBhvr>
                                        <p:cTn id="27" dur="1000"/>
                                        <p:tgtEl>
                                          <p:spTgt spid="29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7">
                                            <p:txEl>
                                              <p:pRg st="5" end="5"/>
                                            </p:txEl>
                                          </p:spTgt>
                                        </p:tgtEl>
                                        <p:attrNameLst>
                                          <p:attrName>style.visibility</p:attrName>
                                        </p:attrNameLst>
                                      </p:cBhvr>
                                      <p:to>
                                        <p:strVal val="visible"/>
                                      </p:to>
                                    </p:set>
                                    <p:animEffect transition="in" filter="fade">
                                      <p:cBhvr>
                                        <p:cTn id="32" dur="1000"/>
                                        <p:tgtEl>
                                          <p:spTgt spid="29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7">
                                            <p:txEl>
                                              <p:pRg st="6" end="6"/>
                                            </p:txEl>
                                          </p:spTgt>
                                        </p:tgtEl>
                                        <p:attrNameLst>
                                          <p:attrName>style.visibility</p:attrName>
                                        </p:attrNameLst>
                                      </p:cBhvr>
                                      <p:to>
                                        <p:strVal val="visible"/>
                                      </p:to>
                                    </p:set>
                                    <p:animEffect transition="in" filter="fade">
                                      <p:cBhvr>
                                        <p:cTn id="37" dur="1000"/>
                                        <p:tgtEl>
                                          <p:spTgt spid="29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7">
                                            <p:txEl>
                                              <p:pRg st="7" end="7"/>
                                            </p:txEl>
                                          </p:spTgt>
                                        </p:tgtEl>
                                        <p:attrNameLst>
                                          <p:attrName>style.visibility</p:attrName>
                                        </p:attrNameLst>
                                      </p:cBhvr>
                                      <p:to>
                                        <p:strVal val="visible"/>
                                      </p:to>
                                    </p:set>
                                    <p:animEffect transition="in" filter="fade">
                                      <p:cBhvr>
                                        <p:cTn id="42" dur="1000"/>
                                        <p:tgtEl>
                                          <p:spTgt spid="29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7">
                                            <p:txEl>
                                              <p:pRg st="8" end="8"/>
                                            </p:txEl>
                                          </p:spTgt>
                                        </p:tgtEl>
                                        <p:attrNameLst>
                                          <p:attrName>style.visibility</p:attrName>
                                        </p:attrNameLst>
                                      </p:cBhvr>
                                      <p:to>
                                        <p:strVal val="visible"/>
                                      </p:to>
                                    </p:set>
                                    <p:animEffect transition="in" filter="fade">
                                      <p:cBhvr>
                                        <p:cTn id="47" dur="1000"/>
                                        <p:tgtEl>
                                          <p:spTgt spid="29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98">
                                            <p:txEl>
                                              <p:pRg st="0" end="0"/>
                                            </p:txEl>
                                          </p:spTgt>
                                        </p:tgtEl>
                                        <p:attrNameLst>
                                          <p:attrName>style.visibility</p:attrName>
                                        </p:attrNameLst>
                                      </p:cBhvr>
                                      <p:to>
                                        <p:strVal val="visible"/>
                                      </p:to>
                                    </p:set>
                                    <p:animEffect transition="in" filter="fade">
                                      <p:cBhvr>
                                        <p:cTn id="52" dur="1000"/>
                                        <p:tgtEl>
                                          <p:spTgt spid="29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303"/>
        <p:cNvGrpSpPr/>
        <p:nvPr/>
      </p:nvGrpSpPr>
      <p:grpSpPr>
        <a:xfrm>
          <a:off x="0" y="0"/>
          <a:ext cx="0" cy="0"/>
          <a:chOff x="0" y="0"/>
          <a:chExt cx="0" cy="0"/>
        </a:xfrm>
      </p:grpSpPr>
      <p:pic>
        <p:nvPicPr>
          <p:cNvPr id="304" name="Google Shape;304;g2ee15abed17_3_447"/>
          <p:cNvPicPr preferRelativeResize="0"/>
          <p:nvPr/>
        </p:nvPicPr>
        <p:blipFill rotWithShape="1">
          <a:blip r:embed="rId3">
            <a:alphaModFix/>
          </a:blip>
          <a:srcRect r="57233"/>
          <a:stretch/>
        </p:blipFill>
        <p:spPr>
          <a:xfrm>
            <a:off x="8189675" y="233550"/>
            <a:ext cx="724575" cy="766798"/>
          </a:xfrm>
          <a:prstGeom prst="rect">
            <a:avLst/>
          </a:prstGeom>
          <a:noFill/>
          <a:ln>
            <a:noFill/>
          </a:ln>
        </p:spPr>
      </p:pic>
      <p:sp>
        <p:nvSpPr>
          <p:cNvPr id="305" name="Google Shape;305;g2ee15abed17_3_447"/>
          <p:cNvSpPr txBox="1"/>
          <p:nvPr/>
        </p:nvSpPr>
        <p:spPr>
          <a:xfrm>
            <a:off x="327600" y="342645"/>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Explanation: </a:t>
            </a:r>
            <a:endParaRPr sz="2000" b="0" i="0" u="none" strike="noStrike" cap="none">
              <a:solidFill>
                <a:schemeClr val="lt1"/>
              </a:solidFill>
              <a:latin typeface="Roboto"/>
              <a:ea typeface="Roboto"/>
              <a:cs typeface="Roboto"/>
              <a:sym typeface="Roboto"/>
            </a:endParaRPr>
          </a:p>
        </p:txBody>
      </p:sp>
      <p:sp>
        <p:nvSpPr>
          <p:cNvPr id="306" name="Google Shape;306;g2ee15abed17_3_447"/>
          <p:cNvSpPr txBox="1"/>
          <p:nvPr/>
        </p:nvSpPr>
        <p:spPr>
          <a:xfrm>
            <a:off x="327600" y="1071300"/>
            <a:ext cx="7384200" cy="31563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307" name="Google Shape;307;g2ee15abed17_3_447"/>
          <p:cNvSpPr txBox="1"/>
          <p:nvPr/>
        </p:nvSpPr>
        <p:spPr>
          <a:xfrm>
            <a:off x="630000" y="1337100"/>
            <a:ext cx="7559700" cy="1446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S is the niece of T means T is the brother of the father (say M) of S</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 i.e. T + M x S.</a:t>
            </a:r>
            <a:endParaRPr sz="18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Roboto"/>
              <a:ea typeface="Roboto"/>
              <a:cs typeface="Roboto"/>
              <a:sym typeface="Roboto"/>
            </a:endParaRPr>
          </a:p>
        </p:txBody>
      </p:sp>
      <p:sp>
        <p:nvSpPr>
          <p:cNvPr id="308" name="Google Shape;308;g2ee15abed17_3_447"/>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14</a:t>
            </a:r>
            <a:endParaRPr sz="2000" b="1" i="0" u="none" strike="noStrike" cap="none">
              <a:solidFill>
                <a:srgbClr val="8182EF"/>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2ee15abed17_3_455"/>
          <p:cNvSpPr txBox="1"/>
          <p:nvPr/>
        </p:nvSpPr>
        <p:spPr>
          <a:xfrm>
            <a:off x="327600" y="35920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11</a:t>
            </a:r>
            <a:endParaRPr sz="2000" b="0" i="0" u="none" strike="noStrike" cap="none">
              <a:solidFill>
                <a:schemeClr val="lt1"/>
              </a:solidFill>
              <a:latin typeface="Roboto"/>
              <a:ea typeface="Roboto"/>
              <a:cs typeface="Roboto"/>
              <a:sym typeface="Roboto"/>
            </a:endParaRPr>
          </a:p>
        </p:txBody>
      </p:sp>
      <p:sp>
        <p:nvSpPr>
          <p:cNvPr id="314" name="Google Shape;314;g2ee15abed17_3_455"/>
          <p:cNvSpPr txBox="1"/>
          <p:nvPr/>
        </p:nvSpPr>
        <p:spPr>
          <a:xfrm>
            <a:off x="720000" y="1440000"/>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Showing a lady in the park, Balu said, “She is the daughter of my grandmother’s only son”. How is Balu related to that lady?</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Brother  </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Cousin</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Father</a:t>
            </a:r>
            <a:endParaRPr sz="1800" b="0" i="0" u="none" strike="noStrike" cap="none">
              <a:solidFill>
                <a:schemeClr val="dk2"/>
              </a:solidFill>
              <a:latin typeface="Roboto"/>
              <a:ea typeface="Roboto"/>
              <a:cs typeface="Roboto"/>
              <a:sym typeface="Roboto"/>
            </a:endParaRPr>
          </a:p>
          <a:p>
            <a:pPr marL="457200" marR="0" lvl="0" indent="-342900" algn="l" rtl="0">
              <a:lnSpc>
                <a:spcPct val="150000"/>
              </a:lnSpc>
              <a:spcBef>
                <a:spcPts val="0"/>
              </a:spcBef>
              <a:spcAft>
                <a:spcPts val="0"/>
              </a:spcAft>
              <a:buClr>
                <a:schemeClr val="dk1"/>
              </a:buClr>
              <a:buSzPts val="1800"/>
              <a:buFont typeface="Roboto"/>
              <a:buAutoNum type="alphaUcPeriod"/>
            </a:pPr>
            <a:r>
              <a:rPr lang="en-GB" sz="1800" b="0" i="0" u="none" strike="noStrike" cap="none">
                <a:solidFill>
                  <a:schemeClr val="dk1"/>
                </a:solidFill>
                <a:latin typeface="Roboto"/>
                <a:ea typeface="Roboto"/>
                <a:cs typeface="Roboto"/>
                <a:sym typeface="Roboto"/>
              </a:rPr>
              <a:t>Uncle</a:t>
            </a:r>
            <a:endParaRPr sz="1800" b="0" i="0" u="none" strike="noStrike" cap="none">
              <a:solidFill>
                <a:schemeClr val="dk1"/>
              </a:solidFill>
              <a:latin typeface="Roboto"/>
              <a:ea typeface="Roboto"/>
              <a:cs typeface="Roboto"/>
              <a:sym typeface="Roboto"/>
            </a:endParaRPr>
          </a:p>
        </p:txBody>
      </p:sp>
      <p:sp>
        <p:nvSpPr>
          <p:cNvPr id="315" name="Google Shape;315;g2ee15abed17_3_455"/>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a:solidFill>
                  <a:srgbClr val="000000"/>
                </a:solidFill>
                <a:latin typeface="Roboto"/>
                <a:ea typeface="Roboto"/>
                <a:cs typeface="Roboto"/>
                <a:sym typeface="Roboto"/>
              </a:rPr>
              <a:t>Answer: A</a:t>
            </a:r>
            <a:endParaRPr sz="1600" b="1" i="0" u="none" strike="noStrike" cap="none">
              <a:solidFill>
                <a:srgbClr val="000000"/>
              </a:solidFill>
              <a:latin typeface="Roboto"/>
              <a:ea typeface="Roboto"/>
              <a:cs typeface="Roboto"/>
              <a:sym typeface="Roboto"/>
            </a:endParaRPr>
          </a:p>
        </p:txBody>
      </p:sp>
      <p:sp>
        <p:nvSpPr>
          <p:cNvPr id="316" name="Google Shape;316;g2ee15abed17_3_455"/>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Question: 15</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4">
                                            <p:txEl>
                                              <p:pRg st="0" end="0"/>
                                            </p:txEl>
                                          </p:spTgt>
                                        </p:tgtEl>
                                        <p:attrNameLst>
                                          <p:attrName>style.visibility</p:attrName>
                                        </p:attrNameLst>
                                      </p:cBhvr>
                                      <p:to>
                                        <p:strVal val="visible"/>
                                      </p:to>
                                    </p:set>
                                    <p:animEffect transition="in" filter="fade">
                                      <p:cBhvr>
                                        <p:cTn id="7" dur="1000"/>
                                        <p:tgtEl>
                                          <p:spTgt spid="3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4">
                                            <p:txEl>
                                              <p:pRg st="1" end="1"/>
                                            </p:txEl>
                                          </p:spTgt>
                                        </p:tgtEl>
                                        <p:attrNameLst>
                                          <p:attrName>style.visibility</p:attrName>
                                        </p:attrNameLst>
                                      </p:cBhvr>
                                      <p:to>
                                        <p:strVal val="visible"/>
                                      </p:to>
                                    </p:set>
                                    <p:animEffect transition="in" filter="fade">
                                      <p:cBhvr>
                                        <p:cTn id="12" dur="1000"/>
                                        <p:tgtEl>
                                          <p:spTgt spid="3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4">
                                            <p:txEl>
                                              <p:pRg st="2" end="2"/>
                                            </p:txEl>
                                          </p:spTgt>
                                        </p:tgtEl>
                                        <p:attrNameLst>
                                          <p:attrName>style.visibility</p:attrName>
                                        </p:attrNameLst>
                                      </p:cBhvr>
                                      <p:to>
                                        <p:strVal val="visible"/>
                                      </p:to>
                                    </p:set>
                                    <p:animEffect transition="in" filter="fade">
                                      <p:cBhvr>
                                        <p:cTn id="17" dur="1000"/>
                                        <p:tgtEl>
                                          <p:spTgt spid="3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4">
                                            <p:txEl>
                                              <p:pRg st="3" end="3"/>
                                            </p:txEl>
                                          </p:spTgt>
                                        </p:tgtEl>
                                        <p:attrNameLst>
                                          <p:attrName>style.visibility</p:attrName>
                                        </p:attrNameLst>
                                      </p:cBhvr>
                                      <p:to>
                                        <p:strVal val="visible"/>
                                      </p:to>
                                    </p:set>
                                    <p:animEffect transition="in" filter="fade">
                                      <p:cBhvr>
                                        <p:cTn id="22" dur="1000"/>
                                        <p:tgtEl>
                                          <p:spTgt spid="3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4">
                                            <p:txEl>
                                              <p:pRg st="4" end="4"/>
                                            </p:txEl>
                                          </p:spTgt>
                                        </p:tgtEl>
                                        <p:attrNameLst>
                                          <p:attrName>style.visibility</p:attrName>
                                        </p:attrNameLst>
                                      </p:cBhvr>
                                      <p:to>
                                        <p:strVal val="visible"/>
                                      </p:to>
                                    </p:set>
                                    <p:animEffect transition="in" filter="fade">
                                      <p:cBhvr>
                                        <p:cTn id="27" dur="1000"/>
                                        <p:tgtEl>
                                          <p:spTgt spid="3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5"/>
                                        </p:tgtEl>
                                        <p:attrNameLst>
                                          <p:attrName>style.visibility</p:attrName>
                                        </p:attrNameLst>
                                      </p:cBhvr>
                                      <p:to>
                                        <p:strVal val="visible"/>
                                      </p:to>
                                    </p:set>
                                    <p:animEffect transition="in" filter="fade">
                                      <p:cBhvr>
                                        <p:cTn id="32" dur="1000"/>
                                        <p:tgtEl>
                                          <p:spTgt spid="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320"/>
        <p:cNvGrpSpPr/>
        <p:nvPr/>
      </p:nvGrpSpPr>
      <p:grpSpPr>
        <a:xfrm>
          <a:off x="0" y="0"/>
          <a:ext cx="0" cy="0"/>
          <a:chOff x="0" y="0"/>
          <a:chExt cx="0" cy="0"/>
        </a:xfrm>
      </p:grpSpPr>
      <p:sp>
        <p:nvSpPr>
          <p:cNvPr id="321" name="Google Shape;321;g2ee15abed17_3_462"/>
          <p:cNvSpPr txBox="1"/>
          <p:nvPr/>
        </p:nvSpPr>
        <p:spPr>
          <a:xfrm>
            <a:off x="327600" y="380641"/>
            <a:ext cx="2827800" cy="453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0" i="0" u="none" strike="noStrike" cap="none">
                <a:solidFill>
                  <a:schemeClr val="lt1"/>
                </a:solidFill>
                <a:latin typeface="Roboto"/>
                <a:ea typeface="Roboto"/>
                <a:cs typeface="Roboto"/>
                <a:sym typeface="Roboto"/>
              </a:rPr>
              <a:t>Question: 09</a:t>
            </a:r>
            <a:endParaRPr sz="2000" b="0" i="0" u="none" strike="noStrike" cap="none">
              <a:solidFill>
                <a:schemeClr val="lt1"/>
              </a:solidFill>
              <a:latin typeface="Roboto"/>
              <a:ea typeface="Roboto"/>
              <a:cs typeface="Roboto"/>
              <a:sym typeface="Roboto"/>
            </a:endParaRPr>
          </a:p>
        </p:txBody>
      </p:sp>
      <p:sp>
        <p:nvSpPr>
          <p:cNvPr id="322" name="Google Shape;322;g2ee15abed17_3_462"/>
          <p:cNvSpPr txBox="1"/>
          <p:nvPr/>
        </p:nvSpPr>
        <p:spPr>
          <a:xfrm>
            <a:off x="720000" y="1440000"/>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Grandfather’s only son is my father.</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Daughter of father is my sister.</a:t>
            </a:r>
            <a:endParaRPr sz="1800" b="0" i="0" u="none" strike="noStrike" cap="none">
              <a:solidFill>
                <a:schemeClr val="dk2"/>
              </a:solidFill>
              <a:latin typeface="Roboto"/>
              <a:ea typeface="Roboto"/>
              <a:cs typeface="Roboto"/>
              <a:sym typeface="Roboto"/>
            </a:endParaRPr>
          </a:p>
          <a:p>
            <a:pPr marL="0" marR="0" lvl="0" indent="0" algn="l" rtl="0">
              <a:lnSpc>
                <a:spcPct val="150000"/>
              </a:lnSpc>
              <a:spcBef>
                <a:spcPts val="0"/>
              </a:spcBef>
              <a:spcAft>
                <a:spcPts val="0"/>
              </a:spcAft>
              <a:buClr>
                <a:schemeClr val="dk1"/>
              </a:buClr>
              <a:buSzPts val="1800"/>
              <a:buFont typeface="Arial"/>
              <a:buNone/>
            </a:pPr>
            <a:r>
              <a:rPr lang="en-GB" sz="1800" b="0" i="0" u="none" strike="noStrike" cap="none">
                <a:solidFill>
                  <a:schemeClr val="dk1"/>
                </a:solidFill>
                <a:latin typeface="Roboto"/>
                <a:ea typeface="Roboto"/>
                <a:cs typeface="Roboto"/>
                <a:sym typeface="Roboto"/>
              </a:rPr>
              <a:t>So Balu is the lady’s brother.</a:t>
            </a:r>
            <a:endParaRPr sz="18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1100"/>
              <a:buFont typeface="Arial"/>
              <a:buNone/>
            </a:pPr>
            <a:endParaRPr sz="11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200"/>
              <a:buFont typeface="Arial"/>
              <a:buNone/>
            </a:pPr>
            <a:endParaRPr sz="1400" b="0" i="0" u="none" strike="noStrike" cap="none">
              <a:solidFill>
                <a:schemeClr val="dk1"/>
              </a:solidFill>
              <a:latin typeface="Roboto"/>
              <a:ea typeface="Roboto"/>
              <a:cs typeface="Roboto"/>
              <a:sym typeface="Roboto"/>
            </a:endParaRPr>
          </a:p>
        </p:txBody>
      </p:sp>
      <p:sp>
        <p:nvSpPr>
          <p:cNvPr id="323" name="Google Shape;323;g2ee15abed17_3_462"/>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Roboto"/>
              <a:ea typeface="Roboto"/>
              <a:cs typeface="Roboto"/>
              <a:sym typeface="Roboto"/>
            </a:endParaRPr>
          </a:p>
        </p:txBody>
      </p:sp>
      <p:sp>
        <p:nvSpPr>
          <p:cNvPr id="324" name="Google Shape;324;g2ee15abed17_3_462"/>
          <p:cNvSpPr txBox="1"/>
          <p:nvPr/>
        </p:nvSpPr>
        <p:spPr>
          <a:xfrm>
            <a:off x="630000" y="630250"/>
            <a:ext cx="2960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8182EF"/>
                </a:solidFill>
                <a:latin typeface="Roboto"/>
                <a:ea typeface="Roboto"/>
                <a:cs typeface="Roboto"/>
                <a:sym typeface="Roboto"/>
              </a:rPr>
              <a:t>Explanation: 15</a:t>
            </a:r>
            <a:endParaRPr sz="2000" b="1" i="0" u="none" strike="noStrike" cap="none">
              <a:solidFill>
                <a:srgbClr val="8182E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2">
                                            <p:txEl>
                                              <p:pRg st="0" end="0"/>
                                            </p:txEl>
                                          </p:spTgt>
                                        </p:tgtEl>
                                        <p:attrNameLst>
                                          <p:attrName>style.visibility</p:attrName>
                                        </p:attrNameLst>
                                      </p:cBhvr>
                                      <p:to>
                                        <p:strVal val="visible"/>
                                      </p:to>
                                    </p:set>
                                    <p:animEffect transition="in" filter="fade">
                                      <p:cBhvr>
                                        <p:cTn id="7" dur="1000"/>
                                        <p:tgtEl>
                                          <p:spTgt spid="3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2">
                                            <p:txEl>
                                              <p:pRg st="1" end="1"/>
                                            </p:txEl>
                                          </p:spTgt>
                                        </p:tgtEl>
                                        <p:attrNameLst>
                                          <p:attrName>style.visibility</p:attrName>
                                        </p:attrNameLst>
                                      </p:cBhvr>
                                      <p:to>
                                        <p:strVal val="visible"/>
                                      </p:to>
                                    </p:set>
                                    <p:animEffect transition="in" filter="fade">
                                      <p:cBhvr>
                                        <p:cTn id="12" dur="1000"/>
                                        <p:tgtEl>
                                          <p:spTgt spid="3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2">
                                            <p:txEl>
                                              <p:pRg st="2" end="2"/>
                                            </p:txEl>
                                          </p:spTgt>
                                        </p:tgtEl>
                                        <p:attrNameLst>
                                          <p:attrName>style.visibility</p:attrName>
                                        </p:attrNameLst>
                                      </p:cBhvr>
                                      <p:to>
                                        <p:strVal val="visible"/>
                                      </p:to>
                                    </p:set>
                                    <p:animEffect transition="in" filter="fade">
                                      <p:cBhvr>
                                        <p:cTn id="17" dur="1000"/>
                                        <p:tgtEl>
                                          <p:spTgt spid="3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2">
                                            <p:txEl>
                                              <p:pRg st="3" end="3"/>
                                            </p:txEl>
                                          </p:spTgt>
                                        </p:tgtEl>
                                        <p:attrNameLst>
                                          <p:attrName>style.visibility</p:attrName>
                                        </p:attrNameLst>
                                      </p:cBhvr>
                                      <p:to>
                                        <p:strVal val="visible"/>
                                      </p:to>
                                    </p:set>
                                    <p:animEffect transition="in" filter="fade">
                                      <p:cBhvr>
                                        <p:cTn id="22" dur="1000"/>
                                        <p:tgtEl>
                                          <p:spTgt spid="3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2">
                                            <p:txEl>
                                              <p:pRg st="4" end="4"/>
                                            </p:txEl>
                                          </p:spTgt>
                                        </p:tgtEl>
                                        <p:attrNameLst>
                                          <p:attrName>style.visibility</p:attrName>
                                        </p:attrNameLst>
                                      </p:cBhvr>
                                      <p:to>
                                        <p:strVal val="visible"/>
                                      </p:to>
                                    </p:set>
                                    <p:animEffect transition="in" filter="fade">
                                      <p:cBhvr>
                                        <p:cTn id="27" dur="1000"/>
                                        <p:tgtEl>
                                          <p:spTgt spid="3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2">
                                            <p:txEl>
                                              <p:pRg st="5" end="5"/>
                                            </p:txEl>
                                          </p:spTgt>
                                        </p:tgtEl>
                                        <p:attrNameLst>
                                          <p:attrName>style.visibility</p:attrName>
                                        </p:attrNameLst>
                                      </p:cBhvr>
                                      <p:to>
                                        <p:strVal val="visible"/>
                                      </p:to>
                                    </p:set>
                                    <p:animEffect transition="in" filter="fade">
                                      <p:cBhvr>
                                        <p:cTn id="32" dur="1000"/>
                                        <p:tgtEl>
                                          <p:spTgt spid="32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3">
                                            <p:txEl>
                                              <p:pRg st="0" end="0"/>
                                            </p:txEl>
                                          </p:spTgt>
                                        </p:tgtEl>
                                        <p:attrNameLst>
                                          <p:attrName>style.visibility</p:attrName>
                                        </p:attrNameLst>
                                      </p:cBhvr>
                                      <p:to>
                                        <p:strVal val="visible"/>
                                      </p:to>
                                    </p:set>
                                    <p:animEffect transition="in" filter="fade">
                                      <p:cBhvr>
                                        <p:cTn id="37" dur="1000"/>
                                        <p:tgtEl>
                                          <p:spTgt spid="3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329" name="Google Shape;329;g2ee15abed17_3_531"/>
          <p:cNvPicPr preferRelativeResize="0"/>
          <p:nvPr/>
        </p:nvPicPr>
        <p:blipFill rotWithShape="1">
          <a:blip r:embed="rId3">
            <a:alphaModFix/>
          </a:blip>
          <a:srcRect/>
          <a:stretch/>
        </p:blipFill>
        <p:spPr>
          <a:xfrm>
            <a:off x="1" y="1"/>
            <a:ext cx="9144003" cy="5143501"/>
          </a:xfrm>
          <a:prstGeom prst="rect">
            <a:avLst/>
          </a:prstGeom>
          <a:noFill/>
          <a:ln>
            <a:noFill/>
          </a:ln>
        </p:spPr>
      </p:pic>
      <p:sp>
        <p:nvSpPr>
          <p:cNvPr id="330" name="Google Shape;330;g2ee15abed17_3_531"/>
          <p:cNvSpPr txBox="1"/>
          <p:nvPr/>
        </p:nvSpPr>
        <p:spPr>
          <a:xfrm>
            <a:off x="3141000" y="2194650"/>
            <a:ext cx="2862000" cy="754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700"/>
              <a:buFont typeface="Arial"/>
              <a:buNone/>
            </a:pPr>
            <a:r>
              <a:rPr lang="en-GB" sz="3700" b="0" i="0" u="none" strike="noStrike" cap="none">
                <a:solidFill>
                  <a:schemeClr val="lt1"/>
                </a:solidFill>
                <a:latin typeface="Roboto Medium"/>
                <a:ea typeface="Roboto Medium"/>
                <a:cs typeface="Roboto Medium"/>
                <a:sym typeface="Roboto Medium"/>
              </a:rPr>
              <a:t>THANK YOU</a:t>
            </a:r>
            <a:endParaRPr sz="3700" b="0" i="0" u="none" strike="noStrike" cap="none">
              <a:solidFill>
                <a:schemeClr val="lt1"/>
              </a:solidFill>
              <a:latin typeface="Roboto Medium"/>
              <a:ea typeface="Roboto Medium"/>
              <a:cs typeface="Roboto Medium"/>
              <a:sym typeface="Roboto Medium"/>
            </a:endParaRPr>
          </a:p>
        </p:txBody>
      </p:sp>
      <p:pic>
        <p:nvPicPr>
          <p:cNvPr id="331" name="Google Shape;331;g2ee15abed17_3_531"/>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332" name="Google Shape;332;g2ee15abed17_3_531"/>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333" name="Google Shape;333;g2ee15abed17_3_531"/>
          <p:cNvSpPr txBox="1"/>
          <p:nvPr/>
        </p:nvSpPr>
        <p:spPr>
          <a:xfrm>
            <a:off x="1980750" y="4590801"/>
            <a:ext cx="11871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0" i="0" u="none" strike="noStrike" cap="none">
                <a:solidFill>
                  <a:schemeClr val="lt1"/>
                </a:solidFill>
                <a:latin typeface="Roboto Medium"/>
                <a:ea typeface="Roboto Medium"/>
                <a:cs typeface="Roboto Medium"/>
                <a:sym typeface="Roboto Medium"/>
              </a:rPr>
              <a:t>+91 78150 95095</a:t>
            </a:r>
            <a:endParaRPr sz="1000" b="0" i="0" u="none" strike="noStrike" cap="none">
              <a:solidFill>
                <a:schemeClr val="lt1"/>
              </a:solidFill>
              <a:latin typeface="Roboto Medium"/>
              <a:ea typeface="Roboto Medium"/>
              <a:cs typeface="Roboto Medium"/>
              <a:sym typeface="Roboto Medium"/>
            </a:endParaRPr>
          </a:p>
        </p:txBody>
      </p:sp>
      <p:cxnSp>
        <p:nvCxnSpPr>
          <p:cNvPr id="334" name="Google Shape;334;g2ee15abed17_3_531"/>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335" name="Google Shape;335;g2ee15abed17_3_531"/>
          <p:cNvSpPr txBox="1"/>
          <p:nvPr/>
        </p:nvSpPr>
        <p:spPr>
          <a:xfrm>
            <a:off x="3519050" y="4590801"/>
            <a:ext cx="19347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0" i="0" u="none" strike="noStrike" cap="none">
                <a:solidFill>
                  <a:schemeClr val="lt1"/>
                </a:solidFill>
                <a:latin typeface="Roboto Medium"/>
                <a:ea typeface="Roboto Medium"/>
                <a:cs typeface="Roboto Medium"/>
                <a:sym typeface="Roboto Medium"/>
              </a:rPr>
              <a:t>codemithra@ethnus.com</a:t>
            </a:r>
            <a:endParaRPr sz="1000" b="0" i="0" u="none" strike="noStrike" cap="none">
              <a:solidFill>
                <a:schemeClr val="lt1"/>
              </a:solidFill>
              <a:latin typeface="Roboto Medium"/>
              <a:ea typeface="Roboto Medium"/>
              <a:cs typeface="Roboto Medium"/>
              <a:sym typeface="Roboto Medium"/>
            </a:endParaRPr>
          </a:p>
        </p:txBody>
      </p:sp>
      <p:pic>
        <p:nvPicPr>
          <p:cNvPr id="336" name="Google Shape;336;g2ee15abed17_3_531"/>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337" name="Google Shape;337;g2ee15abed17_3_531"/>
          <p:cNvSpPr txBox="1"/>
          <p:nvPr/>
        </p:nvSpPr>
        <p:spPr>
          <a:xfrm>
            <a:off x="5457275" y="4590801"/>
            <a:ext cx="19347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0" i="0" u="none" strike="noStrike" cap="none">
                <a:solidFill>
                  <a:schemeClr val="lt1"/>
                </a:solidFill>
                <a:latin typeface="Roboto Medium"/>
                <a:ea typeface="Roboto Medium"/>
                <a:cs typeface="Roboto Medium"/>
                <a:sym typeface="Roboto Medium"/>
              </a:rPr>
              <a:t>www.codemithra.com</a:t>
            </a:r>
            <a:endParaRPr sz="1000" b="0" i="0" u="none" strike="noStrike" cap="none">
              <a:solidFill>
                <a:schemeClr val="lt1"/>
              </a:solidFill>
              <a:latin typeface="Roboto Medium"/>
              <a:ea typeface="Roboto Medium"/>
              <a:cs typeface="Roboto Medium"/>
              <a:sym typeface="Roboto Medium"/>
            </a:endParaRPr>
          </a:p>
        </p:txBody>
      </p:sp>
      <p:cxnSp>
        <p:nvCxnSpPr>
          <p:cNvPr id="338" name="Google Shape;338;g2ee15abed17_3_531"/>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1287</Words>
  <Application>Microsoft Office PowerPoint</Application>
  <PresentationFormat>On-screen Show (16:9)</PresentationFormat>
  <Paragraphs>195</Paragraphs>
  <Slides>38</Slides>
  <Notes>38</Notes>
  <HiddenSlides>12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Roboto Medium</vt:lpstr>
      <vt:lpstr>Roboto</vt:lpstr>
      <vt:lpstr>Arial</vt:lpstr>
      <vt:lpstr>Roboto Black</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VIJAY RAJESH R</cp:lastModifiedBy>
  <cp:revision>1</cp:revision>
  <dcterms:modified xsi:type="dcterms:W3CDTF">2026-04-18T06:32:39Z</dcterms:modified>
</cp:coreProperties>
</file>