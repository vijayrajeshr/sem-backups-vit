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Roboto Black"/>
      <p:bold r:id="rId41"/>
      <p:boldItalic r:id="rId42"/>
    </p:embeddedFont>
    <p:embeddedFont>
      <p:font typeface="Roboto"/>
      <p:regular r:id="rId43"/>
      <p:bold r:id="rId44"/>
      <p:italic r:id="rId45"/>
      <p:boldItalic r:id="rId46"/>
    </p:embeddedFont>
    <p:embeddedFont>
      <p:font typeface="Roboto Medium"/>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3005">
          <p15:clr>
            <a:srgbClr val="FF0000"/>
          </p15:clr>
        </p15:guide>
        <p15:guide id="3" pos="5256">
          <p15:clr>
            <a:srgbClr val="FF00FF"/>
          </p15:clr>
        </p15:guide>
        <p15:guide id="4" orient="horz" pos="1077">
          <p15:clr>
            <a:srgbClr val="FF0000"/>
          </p15:clr>
        </p15:guide>
        <p15:guide id="5" orient="horz" pos="788">
          <p15:clr>
            <a:srgbClr val="00FF00"/>
          </p15:clr>
        </p15:guide>
        <p15:guide id="6" orient="horz" pos="397">
          <p15:clr>
            <a:srgbClr val="00FF00"/>
          </p15:clr>
        </p15:guide>
        <p15:guide id="7" pos="4529">
          <p15:clr>
            <a:srgbClr val="747775"/>
          </p15:clr>
        </p15:guide>
        <p15:guide id="8" orient="horz" pos="1460">
          <p15:clr>
            <a:srgbClr val="747775"/>
          </p15:clr>
        </p15:guide>
        <p15:guide id="9" pos="454">
          <p15:clr>
            <a:srgbClr val="747775"/>
          </p15:clr>
        </p15:guide>
        <p15:guide id="10" pos="4365">
          <p15:clr>
            <a:srgbClr val="747775"/>
          </p15:clr>
        </p15:guide>
      </p15:sldGuideLst>
    </p:ext>
    <p:ext uri="GoogleSlidesCustomDataVersion2">
      <go:slidesCustomData xmlns:go="http://customooxmlschemas.google.com/" r:id="rId51" roundtripDataSignature="AMtx7miwTSV52+LjvybHdZFCGfj9wLP6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3005" orient="horz"/>
        <p:guide pos="5256"/>
        <p:guide pos="1077" orient="horz"/>
        <p:guide pos="788" orient="horz"/>
        <p:guide pos="397" orient="horz"/>
        <p:guide pos="4529"/>
        <p:guide pos="1460" orient="horz"/>
        <p:guide pos="454"/>
        <p:guide pos="436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Black-boldItalic.fntdata"/><Relationship Id="rId41" Type="http://schemas.openxmlformats.org/officeDocument/2006/relationships/font" Target="fonts/RobotoBlack-bold.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edium-bold.fntdata"/><Relationship Id="rId47" Type="http://schemas.openxmlformats.org/officeDocument/2006/relationships/font" Target="fonts/RobotoMedium-regular.fntdata"/><Relationship Id="rId49" Type="http://schemas.openxmlformats.org/officeDocument/2006/relationships/font" Target="fonts/Roboto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font" Target="fonts/Roboto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1b9bf173ee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g31b9bf173ee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ee15abed17_3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g2ee15abed17_3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2aa3f00b5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2aa3f00b5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1ecf70bd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31ecf70bd7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ee15abed17_3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2ee15abed17_3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ee15abed17_3_2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2ee15abed17_3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ee15abed17_3_2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2ee15abed17_3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ee15abed17_3_2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2ee15abed17_3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ee15abed17_3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2ee15abed17_3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ee15abed17_3_3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2ee15abed17_3_3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1b9bf173e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1b9bf173e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ee15abed17_3_3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2ee15abed17_3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ee15abed17_3_3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2ee15abed17_3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ee15abed17_3_3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2ee15abed17_3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ee15abed17_3_3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2ee15abed17_3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ee15abed17_3_3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2ee15abed17_3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ee15abed17_3_3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2ee15abed17_3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ee15abed17_3_3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2ee15abed17_3_3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e15abed17_3_3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2ee15abed17_3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ee15abed17_3_3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2ee15abed17_3_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ee15abed17_3_3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2ee15abed17_3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ee15abed17_3_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2ee15abed17_3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ee15abed17_3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2ee15abed17_3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ee15abed17_3_3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2ee15abed17_3_3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ee15abed17_3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2ee15abed17_3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ee15abed17_3_4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2ee15abed17_3_4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ee15abed17_3_4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2ee15abed17_3_4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ee15abed17_3_4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2ee15abed17_3_4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ee15abed17_3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2ee15abed17_3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ee15abed17_3_4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2ee15abed17_3_4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ee15abed17_3_4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2ee15abed17_3_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ee15abed17_3_4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2ee15abed17_3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ee15abed17_3_4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2ee15abed17_3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ee15abed17_3_4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2ee15abed17_3_4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ee15abed17_3_5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g2ee15abed17_3_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
        <p:nvSpPr>
          <p:cNvPr id="11" name="Google Shape;1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20"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 name="Google Shape;2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5" name="Google Shape;3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1" name="Google Shape;41;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4" name="Google Shape;4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7" name="Google Shape;4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1" name="Google Shape;5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9.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4.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jp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g31b9bf173ee_0_28"/>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7" name="Google Shape;57;g31b9bf173ee_0_28"/>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8" name="Google Shape;58;g31b9bf173ee_0_28"/>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g2ee15abed17_3_278"/>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4" name="Google Shape;64;g2ee15abed17_3_278"/>
          <p:cNvSpPr txBox="1"/>
          <p:nvPr/>
        </p:nvSpPr>
        <p:spPr>
          <a:xfrm>
            <a:off x="178001" y="2109682"/>
            <a:ext cx="4690800" cy="1243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lang="en-GB" sz="3200">
                <a:solidFill>
                  <a:schemeClr val="lt1"/>
                </a:solidFill>
                <a:latin typeface="Roboto"/>
                <a:ea typeface="Roboto"/>
                <a:cs typeface="Roboto"/>
                <a:sym typeface="Roboto"/>
              </a:rPr>
              <a:t>PROBLEMS ON AGES</a:t>
            </a:r>
            <a:endParaRPr b="1" sz="3200">
              <a:solidFill>
                <a:schemeClr val="lt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3200"/>
              <a:buFont typeface="Arial"/>
              <a:buNone/>
            </a:pPr>
            <a:r>
              <a:t/>
            </a:r>
            <a:endParaRPr b="1" sz="3200">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32aa3f00b54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0" name="Google Shape;70;g32aa3f00b54_0_0"/>
          <p:cNvSpPr txBox="1"/>
          <p:nvPr/>
        </p:nvSpPr>
        <p:spPr>
          <a:xfrm>
            <a:off x="1339325" y="622125"/>
            <a:ext cx="77862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lang="en-GB" sz="1500">
                <a:latin typeface="Roboto"/>
                <a:ea typeface="Roboto"/>
                <a:cs typeface="Roboto"/>
                <a:sym typeface="Roboto"/>
              </a:rPr>
              <a:t>                                    Test time on :</a:t>
            </a:r>
            <a:r>
              <a:rPr b="1" i="0" lang="en-GB" sz="1500" u="none" cap="none" strike="noStrike">
                <a:solidFill>
                  <a:srgbClr val="000000"/>
                </a:solidFill>
                <a:latin typeface="Roboto"/>
                <a:ea typeface="Roboto"/>
                <a:cs typeface="Roboto"/>
                <a:sym typeface="Roboto"/>
              </a:rPr>
              <a:t> </a:t>
            </a:r>
            <a:r>
              <a:rPr b="1" lang="en-GB" sz="1500">
                <a:solidFill>
                  <a:srgbClr val="202124"/>
                </a:solidFill>
                <a:highlight>
                  <a:srgbClr val="FFFFFF"/>
                </a:highlight>
              </a:rPr>
              <a:t>Blood Relations </a:t>
            </a:r>
            <a:endParaRPr b="1" i="0" sz="1500" u="none" cap="none" strike="noStrike">
              <a:solidFill>
                <a:srgbClr val="000000"/>
              </a:solidFill>
              <a:latin typeface="Roboto"/>
              <a:ea typeface="Roboto"/>
              <a:cs typeface="Roboto"/>
              <a:sym typeface="Roboto"/>
            </a:endParaRPr>
          </a:p>
        </p:txBody>
      </p:sp>
      <p:sp>
        <p:nvSpPr>
          <p:cNvPr id="71" name="Google Shape;71;g32aa3f00b54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2" name="Google Shape;72;g32aa3f00b54_0_0"/>
          <p:cNvPicPr preferRelativeResize="0"/>
          <p:nvPr/>
        </p:nvPicPr>
        <p:blipFill>
          <a:blip r:embed="rId3">
            <a:alphaModFix/>
          </a:blip>
          <a:stretch>
            <a:fillRect/>
          </a:stretch>
        </p:blipFill>
        <p:spPr>
          <a:xfrm>
            <a:off x="3693825" y="2362300"/>
            <a:ext cx="1756350" cy="1838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1ecf70bd7e_0_0"/>
          <p:cNvSpPr txBox="1"/>
          <p:nvPr/>
        </p:nvSpPr>
        <p:spPr>
          <a:xfrm>
            <a:off x="900000" y="1170000"/>
            <a:ext cx="7275900" cy="2642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Important Statements and Equations for "Problems based on Ages:</a:t>
            </a:r>
            <a:endParaRPr sz="1800">
              <a:solidFill>
                <a:schemeClr val="dk1"/>
              </a:solidFill>
            </a:endParaRPr>
          </a:p>
          <a:p>
            <a:pPr indent="-342900" lvl="0" marL="457200" rtl="0" algn="l">
              <a:lnSpc>
                <a:spcPct val="150000"/>
              </a:lnSpc>
              <a:spcBef>
                <a:spcPts val="800"/>
              </a:spcBef>
              <a:spcAft>
                <a:spcPts val="0"/>
              </a:spcAft>
              <a:buClr>
                <a:schemeClr val="dk1"/>
              </a:buClr>
              <a:buSzPts val="1800"/>
              <a:buChar char="●"/>
            </a:pPr>
            <a:r>
              <a:rPr lang="en-GB" sz="1800">
                <a:solidFill>
                  <a:schemeClr val="dk1"/>
                </a:solidFill>
              </a:rPr>
              <a:t>If the present age is y, then n times the present age = ny.</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If the present age is x, then age  n years later/hence = x + n.</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If the present age is x, then age  n years ago = x – n.</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The ages in a ratio a: b will be ax and bx.</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If the current age is y, then 1/n of the age is y/n.</a:t>
            </a:r>
            <a:endParaRPr sz="2400"/>
          </a:p>
        </p:txBody>
      </p:sp>
      <p:sp>
        <p:nvSpPr>
          <p:cNvPr id="78" name="Google Shape;78;g31ecf70bd7e_0_0"/>
          <p:cNvSpPr txBox="1"/>
          <p:nvPr/>
        </p:nvSpPr>
        <p:spPr>
          <a:xfrm>
            <a:off x="2234050" y="630250"/>
            <a:ext cx="45045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000">
                <a:solidFill>
                  <a:srgbClr val="8182EF"/>
                </a:solidFill>
                <a:latin typeface="Roboto"/>
                <a:ea typeface="Roboto"/>
                <a:cs typeface="Roboto"/>
                <a:sym typeface="Roboto"/>
              </a:rPr>
              <a:t>AGES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2ee15abed17_3_283"/>
          <p:cNvSpPr txBox="1"/>
          <p:nvPr/>
        </p:nvSpPr>
        <p:spPr>
          <a:xfrm>
            <a:off x="747000" y="1446350"/>
            <a:ext cx="7650000" cy="2704200"/>
          </a:xfrm>
          <a:prstGeom prst="rect">
            <a:avLst/>
          </a:prstGeom>
          <a:noFill/>
          <a:ln cap="flat" cmpd="sng" w="9525">
            <a:solidFill>
              <a:schemeClr val="lt1"/>
            </a:solidFill>
            <a:prstDash val="solid"/>
            <a:round/>
            <a:headEnd len="sm" w="sm" type="none"/>
            <a:tailEnd len="sm" w="sm" type="none"/>
          </a:ln>
        </p:spPr>
        <p:txBody>
          <a:bodyPr anchorCtr="0" anchor="t" bIns="0" lIns="540000" spcFirstLastPara="1" rIns="154200" wrap="square" tIns="0">
            <a:no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Father is aged three times more than his son Ronit. After 8 years, he would be two and a half times of Ronit's age. After further 8 years, how many times would he be of Ronit's age? </a:t>
            </a:r>
            <a:endParaRPr sz="1800">
              <a:solidFill>
                <a:schemeClr val="dk1"/>
              </a:solidFill>
            </a:endParaRPr>
          </a:p>
          <a:p>
            <a:pPr indent="-114300" lvl="0" marL="0" rtl="0" algn="l">
              <a:lnSpc>
                <a:spcPct val="150000"/>
              </a:lnSpc>
              <a:spcBef>
                <a:spcPts val="800"/>
              </a:spcBef>
              <a:spcAft>
                <a:spcPts val="0"/>
              </a:spcAft>
              <a:buClr>
                <a:schemeClr val="dk1"/>
              </a:buClr>
              <a:buSzPts val="1800"/>
              <a:buAutoNum type="alphaUcPeriod"/>
            </a:pPr>
            <a:r>
              <a:rPr lang="en-GB" sz="1800">
                <a:solidFill>
                  <a:schemeClr val="dk1"/>
                </a:solidFill>
              </a:rPr>
              <a:t>2 times</a:t>
            </a:r>
            <a:endParaRPr sz="1800">
              <a:solidFill>
                <a:schemeClr val="dk1"/>
              </a:solidFill>
            </a:endParaRPr>
          </a:p>
          <a:p>
            <a:pPr indent="-114300" lvl="0" marL="0" rtl="0" algn="l">
              <a:lnSpc>
                <a:spcPct val="150000"/>
              </a:lnSpc>
              <a:spcBef>
                <a:spcPts val="0"/>
              </a:spcBef>
              <a:spcAft>
                <a:spcPts val="0"/>
              </a:spcAft>
              <a:buClr>
                <a:schemeClr val="dk1"/>
              </a:buClr>
              <a:buSzPts val="1800"/>
              <a:buAutoNum type="alphaUcPeriod"/>
            </a:pPr>
            <a:r>
              <a:rPr lang="en-GB" sz="1800">
                <a:solidFill>
                  <a:schemeClr val="dk1"/>
                </a:solidFill>
              </a:rPr>
              <a:t>2 ½ times</a:t>
            </a:r>
            <a:endParaRPr sz="1800">
              <a:solidFill>
                <a:schemeClr val="dk1"/>
              </a:solidFill>
            </a:endParaRPr>
          </a:p>
          <a:p>
            <a:pPr indent="-114300" lvl="0" marL="0" rtl="0" algn="l">
              <a:lnSpc>
                <a:spcPct val="150000"/>
              </a:lnSpc>
              <a:spcBef>
                <a:spcPts val="0"/>
              </a:spcBef>
              <a:spcAft>
                <a:spcPts val="0"/>
              </a:spcAft>
              <a:buClr>
                <a:schemeClr val="dk1"/>
              </a:buClr>
              <a:buSzPts val="1800"/>
              <a:buAutoNum type="alphaUcPeriod"/>
            </a:pPr>
            <a:r>
              <a:rPr lang="en-GB" sz="1800">
                <a:solidFill>
                  <a:schemeClr val="dk1"/>
                </a:solidFill>
              </a:rPr>
              <a:t>2 ¾ times</a:t>
            </a:r>
            <a:endParaRPr sz="1800">
              <a:solidFill>
                <a:schemeClr val="dk1"/>
              </a:solidFill>
            </a:endParaRPr>
          </a:p>
          <a:p>
            <a:pPr indent="-114300" lvl="0" marL="0" rtl="0" algn="l">
              <a:lnSpc>
                <a:spcPct val="150000"/>
              </a:lnSpc>
              <a:spcBef>
                <a:spcPts val="0"/>
              </a:spcBef>
              <a:spcAft>
                <a:spcPts val="0"/>
              </a:spcAft>
              <a:buClr>
                <a:schemeClr val="dk1"/>
              </a:buClr>
              <a:buSzPts val="1800"/>
              <a:buAutoNum type="alphaUcPeriod"/>
            </a:pPr>
            <a:r>
              <a:rPr lang="en-GB" sz="1800">
                <a:solidFill>
                  <a:schemeClr val="dk1"/>
                </a:solidFill>
              </a:rPr>
              <a:t>3 times</a:t>
            </a:r>
            <a:endParaRPr/>
          </a:p>
        </p:txBody>
      </p:sp>
      <p:sp>
        <p:nvSpPr>
          <p:cNvPr id="84" name="Google Shape;84;g2ee15abed17_3_283"/>
          <p:cNvSpPr txBox="1"/>
          <p:nvPr/>
        </p:nvSpPr>
        <p:spPr>
          <a:xfrm>
            <a:off x="720000" y="579950"/>
            <a:ext cx="2351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t/>
            </a:r>
            <a:endParaRPr b="0" i="0" sz="2100" u="none" cap="none" strike="noStrike">
              <a:solidFill>
                <a:srgbClr val="6D9EEB"/>
              </a:solidFill>
              <a:latin typeface="Roboto Black"/>
              <a:ea typeface="Roboto Black"/>
              <a:cs typeface="Roboto Black"/>
              <a:sym typeface="Roboto Black"/>
            </a:endParaRPr>
          </a:p>
        </p:txBody>
      </p:sp>
      <p:sp>
        <p:nvSpPr>
          <p:cNvPr id="85" name="Google Shape;85;g2ee15abed17_3_2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
        <p:nvSpPr>
          <p:cNvPr id="86" name="Google Shape;86;g2ee15abed17_3_283"/>
          <p:cNvSpPr txBox="1"/>
          <p:nvPr/>
        </p:nvSpPr>
        <p:spPr>
          <a:xfrm>
            <a:off x="7157600" y="4324350"/>
            <a:ext cx="12117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t>
            </a:r>
            <a:r>
              <a:rPr b="1" lang="en-GB" sz="1600">
                <a:latin typeface="Roboto"/>
                <a:ea typeface="Roboto"/>
                <a:cs typeface="Roboto"/>
                <a:sym typeface="Roboto"/>
              </a:rPr>
              <a:t>A</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0" st="0"/>
                                            </p:txEl>
                                          </p:spTgt>
                                        </p:tgtEl>
                                        <p:attrNameLst>
                                          <p:attrName>style.visibility</p:attrName>
                                        </p:attrNameLst>
                                      </p:cBhvr>
                                      <p:to>
                                        <p:strVal val="visible"/>
                                      </p:to>
                                    </p:set>
                                    <p:animEffect filter="fade" transition="in">
                                      <p:cBhvr>
                                        <p:cTn dur="1000"/>
                                        <p:tgtEl>
                                          <p:spTgt spid="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1" st="1"/>
                                            </p:txEl>
                                          </p:spTgt>
                                        </p:tgtEl>
                                        <p:attrNameLst>
                                          <p:attrName>style.visibility</p:attrName>
                                        </p:attrNameLst>
                                      </p:cBhvr>
                                      <p:to>
                                        <p:strVal val="visible"/>
                                      </p:to>
                                    </p:set>
                                    <p:animEffect filter="fade" transition="in">
                                      <p:cBhvr>
                                        <p:cTn dur="1000"/>
                                        <p:tgtEl>
                                          <p:spTgt spid="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2" st="2"/>
                                            </p:txEl>
                                          </p:spTgt>
                                        </p:tgtEl>
                                        <p:attrNameLst>
                                          <p:attrName>style.visibility</p:attrName>
                                        </p:attrNameLst>
                                      </p:cBhvr>
                                      <p:to>
                                        <p:strVal val="visible"/>
                                      </p:to>
                                    </p:set>
                                    <p:animEffect filter="fade" transition="in">
                                      <p:cBhvr>
                                        <p:cTn dur="1000"/>
                                        <p:tgtEl>
                                          <p:spTgt spid="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3" st="3"/>
                                            </p:txEl>
                                          </p:spTgt>
                                        </p:tgtEl>
                                        <p:attrNameLst>
                                          <p:attrName>style.visibility</p:attrName>
                                        </p:attrNameLst>
                                      </p:cBhvr>
                                      <p:to>
                                        <p:strVal val="visible"/>
                                      </p:to>
                                    </p:set>
                                    <p:animEffect filter="fade" transition="in">
                                      <p:cBhvr>
                                        <p:cTn dur="1000"/>
                                        <p:tgtEl>
                                          <p:spTgt spid="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4" st="4"/>
                                            </p:txEl>
                                          </p:spTgt>
                                        </p:tgtEl>
                                        <p:attrNameLst>
                                          <p:attrName>style.visibility</p:attrName>
                                        </p:attrNameLst>
                                      </p:cBhvr>
                                      <p:to>
                                        <p:strVal val="visible"/>
                                      </p:to>
                                    </p:set>
                                    <p:animEffect filter="fade" transition="in">
                                      <p:cBhvr>
                                        <p:cTn dur="1000"/>
                                        <p:tgtEl>
                                          <p:spTgt spid="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 name="Shape 90"/>
        <p:cNvGrpSpPr/>
        <p:nvPr/>
      </p:nvGrpSpPr>
      <p:grpSpPr>
        <a:xfrm>
          <a:off x="0" y="0"/>
          <a:ext cx="0" cy="0"/>
          <a:chOff x="0" y="0"/>
          <a:chExt cx="0" cy="0"/>
        </a:xfrm>
      </p:grpSpPr>
      <p:sp>
        <p:nvSpPr>
          <p:cNvPr id="91" name="Google Shape;91;g2ee15abed17_3_288"/>
          <p:cNvSpPr txBox="1"/>
          <p:nvPr/>
        </p:nvSpPr>
        <p:spPr>
          <a:xfrm>
            <a:off x="-34425" y="502200"/>
            <a:ext cx="44577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 </a:t>
            </a:r>
            <a:r>
              <a:rPr b="1" i="0" lang="en-GB" sz="2000" u="none" cap="none" strike="noStrike">
                <a:solidFill>
                  <a:schemeClr val="lt1"/>
                </a:solidFill>
                <a:latin typeface="Roboto"/>
                <a:ea typeface="Roboto"/>
                <a:cs typeface="Roboto"/>
                <a:sym typeface="Roboto"/>
              </a:rPr>
              <a:t> CLOCKS</a:t>
            </a:r>
            <a:endParaRPr b="1" i="0" sz="2000" u="none" cap="none" strike="noStrike">
              <a:solidFill>
                <a:schemeClr val="lt1"/>
              </a:solidFill>
              <a:latin typeface="Roboto"/>
              <a:ea typeface="Roboto"/>
              <a:cs typeface="Roboto"/>
              <a:sym typeface="Roboto"/>
            </a:endParaRPr>
          </a:p>
        </p:txBody>
      </p:sp>
      <p:sp>
        <p:nvSpPr>
          <p:cNvPr id="92" name="Google Shape;92;g2ee15abed17_3_288"/>
          <p:cNvSpPr txBox="1"/>
          <p:nvPr/>
        </p:nvSpPr>
        <p:spPr>
          <a:xfrm>
            <a:off x="711775" y="1439875"/>
            <a:ext cx="7657500" cy="2475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400"/>
              <a:buFont typeface="Arial"/>
              <a:buNone/>
            </a:pPr>
            <a:r>
              <a:rPr lang="en-GB" sz="1800">
                <a:solidFill>
                  <a:schemeClr val="dk1"/>
                </a:solidFill>
              </a:rPr>
              <a:t>Let Ronit's present age be x years. Then, father's present age =(x + 3x) years = 4x years.</a:t>
            </a:r>
            <a:endParaRPr sz="1800">
              <a:solidFill>
                <a:schemeClr val="dk1"/>
              </a:solidFill>
            </a:endParaRPr>
          </a:p>
          <a:p>
            <a:pPr indent="0" lvl="0" marL="0" rtl="0" algn="just">
              <a:spcBef>
                <a:spcPts val="800"/>
              </a:spcBef>
              <a:spcAft>
                <a:spcPts val="0"/>
              </a:spcAft>
              <a:buClr>
                <a:schemeClr val="dk1"/>
              </a:buClr>
              <a:buSzPts val="1400"/>
              <a:buFont typeface="Arial"/>
              <a:buNone/>
            </a:pPr>
            <a:r>
              <a:rPr lang="en-GB" sz="1800">
                <a:solidFill>
                  <a:schemeClr val="dk1"/>
                </a:solidFill>
              </a:rPr>
              <a:t>(4x + 8) = 	5/2(x + 8)</a:t>
            </a:r>
            <a:endParaRPr sz="1800">
              <a:solidFill>
                <a:schemeClr val="dk1"/>
              </a:solidFill>
            </a:endParaRPr>
          </a:p>
          <a:p>
            <a:pPr indent="0" lvl="0" marL="0" rtl="0" algn="just">
              <a:spcBef>
                <a:spcPts val="800"/>
              </a:spcBef>
              <a:spcAft>
                <a:spcPts val="0"/>
              </a:spcAft>
              <a:buClr>
                <a:schemeClr val="dk1"/>
              </a:buClr>
              <a:buSzPts val="1400"/>
              <a:buFont typeface="Arial"/>
              <a:buNone/>
            </a:pPr>
            <a:r>
              <a:rPr lang="en-GB" sz="1800">
                <a:solidFill>
                  <a:schemeClr val="dk1"/>
                </a:solidFill>
              </a:rPr>
              <a:t>8x + 16 = 5x + 40</a:t>
            </a:r>
            <a:endParaRPr sz="1800">
              <a:solidFill>
                <a:schemeClr val="dk1"/>
              </a:solidFill>
            </a:endParaRPr>
          </a:p>
          <a:p>
            <a:pPr indent="0" lvl="0" marL="0" rtl="0" algn="just">
              <a:spcBef>
                <a:spcPts val="800"/>
              </a:spcBef>
              <a:spcAft>
                <a:spcPts val="0"/>
              </a:spcAft>
              <a:buClr>
                <a:schemeClr val="dk1"/>
              </a:buClr>
              <a:buSzPts val="1400"/>
              <a:buFont typeface="Arial"/>
              <a:buNone/>
            </a:pPr>
            <a:r>
              <a:rPr lang="en-GB" sz="1800">
                <a:solidFill>
                  <a:schemeClr val="dk1"/>
                </a:solidFill>
              </a:rPr>
              <a:t>3x = 24</a:t>
            </a:r>
            <a:endParaRPr sz="1800">
              <a:solidFill>
                <a:schemeClr val="dk1"/>
              </a:solidFill>
            </a:endParaRPr>
          </a:p>
          <a:p>
            <a:pPr indent="0" lvl="0" marL="0" rtl="0" algn="just">
              <a:spcBef>
                <a:spcPts val="800"/>
              </a:spcBef>
              <a:spcAft>
                <a:spcPts val="0"/>
              </a:spcAft>
              <a:buClr>
                <a:schemeClr val="dk1"/>
              </a:buClr>
              <a:buSzPts val="1400"/>
              <a:buFont typeface="Arial"/>
              <a:buNone/>
            </a:pPr>
            <a:r>
              <a:rPr lang="en-GB" sz="1800">
                <a:solidFill>
                  <a:schemeClr val="dk1"/>
                </a:solidFill>
              </a:rPr>
              <a:t>x = 8.</a:t>
            </a:r>
            <a:endParaRPr sz="1800">
              <a:solidFill>
                <a:schemeClr val="dk1"/>
              </a:solidFill>
            </a:endParaRPr>
          </a:p>
          <a:p>
            <a:pPr indent="0" lvl="0" marL="0" rtl="0" algn="just">
              <a:spcBef>
                <a:spcPts val="800"/>
              </a:spcBef>
              <a:spcAft>
                <a:spcPts val="0"/>
              </a:spcAft>
              <a:buClr>
                <a:schemeClr val="dk1"/>
              </a:buClr>
              <a:buSzPts val="1400"/>
              <a:buFont typeface="Arial"/>
              <a:buNone/>
            </a:pPr>
            <a:r>
              <a:rPr lang="en-GB" sz="1800">
                <a:solidFill>
                  <a:schemeClr val="dk1"/>
                </a:solidFill>
              </a:rPr>
              <a:t>Hence, required ratio = (4x + 16)/(x + 16)= 48/24 = 2.</a:t>
            </a:r>
            <a:endParaRPr sz="1800">
              <a:solidFill>
                <a:schemeClr val="dk1"/>
              </a:solidFill>
              <a:latin typeface="Roboto"/>
              <a:ea typeface="Roboto"/>
              <a:cs typeface="Roboto"/>
              <a:sym typeface="Roboto"/>
            </a:endParaRPr>
          </a:p>
        </p:txBody>
      </p:sp>
      <p:sp>
        <p:nvSpPr>
          <p:cNvPr id="93" name="Google Shape;93;g2ee15abed17_3_288"/>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animEffect filter="fade" transition="in">
                                      <p:cBhvr>
                                        <p:cTn dur="1000"/>
                                        <p:tgtEl>
                                          <p:spTgt spid="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animEffect filter="fade" transition="in">
                                      <p:cBhvr>
                                        <p:cTn dur="1000"/>
                                        <p:tgtEl>
                                          <p:spTgt spid="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animEffect filter="fade" transition="in">
                                      <p:cBhvr>
                                        <p:cTn dur="1000"/>
                                        <p:tgtEl>
                                          <p:spTgt spid="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animEffect filter="fade" transition="in">
                                      <p:cBhvr>
                                        <p:cTn dur="1000"/>
                                        <p:tgtEl>
                                          <p:spTgt spid="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animEffect filter="fade" transition="in">
                                      <p:cBhvr>
                                        <p:cTn dur="1000"/>
                                        <p:tgtEl>
                                          <p:spTgt spid="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5" st="5"/>
                                            </p:txEl>
                                          </p:spTgt>
                                        </p:tgtEl>
                                        <p:attrNameLst>
                                          <p:attrName>style.visibility</p:attrName>
                                        </p:attrNameLst>
                                      </p:cBhvr>
                                      <p:to>
                                        <p:strVal val="visible"/>
                                      </p:to>
                                    </p:set>
                                    <p:animEffect filter="fade" transition="in">
                                      <p:cBhvr>
                                        <p:cTn dur="1000"/>
                                        <p:tgtEl>
                                          <p:spTgt spid="92">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2ee15abed17_3_293"/>
          <p:cNvSpPr txBox="1"/>
          <p:nvPr/>
        </p:nvSpPr>
        <p:spPr>
          <a:xfrm>
            <a:off x="720000" y="1439875"/>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highlight>
                  <a:schemeClr val="lt1"/>
                </a:highlight>
              </a:rPr>
              <a:t>The sum of ages of 5 children born at the intervals of 3 years each is 50 years. What is the age of the youngest child? </a:t>
            </a:r>
            <a:endParaRPr sz="1800">
              <a:solidFill>
                <a:schemeClr val="dk1"/>
              </a:solidFill>
              <a:highlight>
                <a:schemeClr val="lt1"/>
              </a:highlight>
            </a:endParaRPr>
          </a:p>
          <a:p>
            <a:pPr indent="-342900" lvl="0" marL="457200" rtl="0" algn="just">
              <a:lnSpc>
                <a:spcPct val="150000"/>
              </a:lnSpc>
              <a:spcBef>
                <a:spcPts val="800"/>
              </a:spcBef>
              <a:spcAft>
                <a:spcPts val="0"/>
              </a:spcAft>
              <a:buClr>
                <a:schemeClr val="dk1"/>
              </a:buClr>
              <a:buSzPts val="1800"/>
              <a:buAutoNum type="alphaUcPeriod"/>
            </a:pPr>
            <a:r>
              <a:rPr lang="en-GB" sz="1800">
                <a:solidFill>
                  <a:schemeClr val="dk1"/>
                </a:solidFill>
                <a:highlight>
                  <a:schemeClr val="lt1"/>
                </a:highlight>
              </a:rPr>
              <a:t>4 years</a:t>
            </a:r>
            <a:endParaRPr sz="1800">
              <a:solidFill>
                <a:schemeClr val="dk1"/>
              </a:solidFill>
              <a:highlight>
                <a:schemeClr val="lt1"/>
              </a:highlight>
            </a:endParaRPr>
          </a:p>
          <a:p>
            <a:pPr indent="-342900" lvl="0" marL="457200" rtl="0" algn="just">
              <a:lnSpc>
                <a:spcPct val="150000"/>
              </a:lnSpc>
              <a:spcBef>
                <a:spcPts val="0"/>
              </a:spcBef>
              <a:spcAft>
                <a:spcPts val="0"/>
              </a:spcAft>
              <a:buClr>
                <a:schemeClr val="dk1"/>
              </a:buClr>
              <a:buSzPts val="1800"/>
              <a:buAutoNum type="alphaUcPeriod"/>
            </a:pPr>
            <a:r>
              <a:rPr lang="en-GB" sz="1800">
                <a:solidFill>
                  <a:schemeClr val="dk1"/>
                </a:solidFill>
                <a:highlight>
                  <a:schemeClr val="lt1"/>
                </a:highlight>
              </a:rPr>
              <a:t>8 years</a:t>
            </a:r>
            <a:endParaRPr sz="1800">
              <a:solidFill>
                <a:schemeClr val="dk1"/>
              </a:solidFill>
              <a:highlight>
                <a:schemeClr val="lt1"/>
              </a:highlight>
            </a:endParaRPr>
          </a:p>
          <a:p>
            <a:pPr indent="-342900" lvl="0" marL="457200" rtl="0" algn="just">
              <a:lnSpc>
                <a:spcPct val="150000"/>
              </a:lnSpc>
              <a:spcBef>
                <a:spcPts val="0"/>
              </a:spcBef>
              <a:spcAft>
                <a:spcPts val="0"/>
              </a:spcAft>
              <a:buClr>
                <a:schemeClr val="dk1"/>
              </a:buClr>
              <a:buSzPts val="1800"/>
              <a:buAutoNum type="alphaUcPeriod"/>
            </a:pPr>
            <a:r>
              <a:rPr lang="en-GB" sz="1800">
                <a:solidFill>
                  <a:schemeClr val="dk1"/>
                </a:solidFill>
                <a:highlight>
                  <a:schemeClr val="lt1"/>
                </a:highlight>
              </a:rPr>
              <a:t>10 years</a:t>
            </a:r>
            <a:endParaRPr sz="1800">
              <a:solidFill>
                <a:schemeClr val="dk1"/>
              </a:solidFill>
              <a:highlight>
                <a:schemeClr val="lt1"/>
              </a:highlight>
            </a:endParaRPr>
          </a:p>
          <a:p>
            <a:pPr indent="-342900" lvl="0" marL="457200" rtl="0" algn="just">
              <a:lnSpc>
                <a:spcPct val="150000"/>
              </a:lnSpc>
              <a:spcBef>
                <a:spcPts val="0"/>
              </a:spcBef>
              <a:spcAft>
                <a:spcPts val="0"/>
              </a:spcAft>
              <a:buClr>
                <a:schemeClr val="dk1"/>
              </a:buClr>
              <a:buSzPts val="1800"/>
              <a:buAutoNum type="alphaUcPeriod"/>
            </a:pPr>
            <a:r>
              <a:rPr lang="en-GB" sz="1800">
                <a:solidFill>
                  <a:schemeClr val="dk1"/>
                </a:solidFill>
                <a:highlight>
                  <a:schemeClr val="lt1"/>
                </a:highlight>
              </a:rPr>
              <a:t>None of these</a:t>
            </a:r>
            <a:endParaRPr sz="1800">
              <a:solidFill>
                <a:schemeClr val="dk1"/>
              </a:solidFill>
              <a:latin typeface="Roboto"/>
              <a:ea typeface="Roboto"/>
              <a:cs typeface="Roboto"/>
              <a:sym typeface="Roboto"/>
            </a:endParaRPr>
          </a:p>
        </p:txBody>
      </p:sp>
      <p:sp>
        <p:nvSpPr>
          <p:cNvPr id="99" name="Google Shape;99;g2ee15abed17_3_29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02</a:t>
            </a:r>
            <a:endParaRPr b="0" i="0" sz="1400" u="none" cap="none" strike="noStrike">
              <a:solidFill>
                <a:srgbClr val="000000"/>
              </a:solidFill>
              <a:latin typeface="Arial"/>
              <a:ea typeface="Arial"/>
              <a:cs typeface="Arial"/>
              <a:sym typeface="Arial"/>
            </a:endParaRPr>
          </a:p>
        </p:txBody>
      </p:sp>
      <p:sp>
        <p:nvSpPr>
          <p:cNvPr id="100" name="Google Shape;100;g2ee15abed17_3_293"/>
          <p:cNvSpPr txBox="1"/>
          <p:nvPr/>
        </p:nvSpPr>
        <p:spPr>
          <a:xfrm>
            <a:off x="7139600" y="4324350"/>
            <a:ext cx="12297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t>
            </a:r>
            <a:r>
              <a:rPr b="1" lang="en-GB" sz="1600">
                <a:latin typeface="Roboto"/>
                <a:ea typeface="Roboto"/>
                <a:cs typeface="Roboto"/>
                <a:sym typeface="Roboto"/>
              </a:rPr>
              <a:t>A</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animEffect filter="fade" transition="in">
                                      <p:cBhvr>
                                        <p:cTn dur="1000"/>
                                        <p:tgtEl>
                                          <p:spTgt spid="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animEffect filter="fade" transition="in">
                                      <p:cBhvr>
                                        <p:cTn dur="1000"/>
                                        <p:tgtEl>
                                          <p:spTgt spid="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animEffect filter="fade" transition="in">
                                      <p:cBhvr>
                                        <p:cTn dur="1000"/>
                                        <p:tgtEl>
                                          <p:spTgt spid="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animEffect filter="fade" transition="in">
                                      <p:cBhvr>
                                        <p:cTn dur="1000"/>
                                        <p:tgtEl>
                                          <p:spTgt spid="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animEffect filter="fade" transition="in">
                                      <p:cBhvr>
                                        <p:cTn dur="1000"/>
                                        <p:tgtEl>
                                          <p:spTgt spid="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 name="Shape 104"/>
        <p:cNvGrpSpPr/>
        <p:nvPr/>
      </p:nvGrpSpPr>
      <p:grpSpPr>
        <a:xfrm>
          <a:off x="0" y="0"/>
          <a:ext cx="0" cy="0"/>
          <a:chOff x="0" y="0"/>
          <a:chExt cx="0" cy="0"/>
        </a:xfrm>
      </p:grpSpPr>
      <p:sp>
        <p:nvSpPr>
          <p:cNvPr id="105" name="Google Shape;105;g2ee15abed17_3_2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
        <p:nvSpPr>
          <p:cNvPr id="106" name="Google Shape;106;g2ee15abed17_3_297"/>
          <p:cNvSpPr txBox="1"/>
          <p:nvPr/>
        </p:nvSpPr>
        <p:spPr>
          <a:xfrm>
            <a:off x="630000" y="1309175"/>
            <a:ext cx="7667100" cy="2352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400"/>
              <a:buFont typeface="Arial"/>
              <a:buNone/>
            </a:pPr>
            <a:r>
              <a:rPr lang="en-GB" sz="1800">
                <a:solidFill>
                  <a:schemeClr val="dk1"/>
                </a:solidFill>
              </a:rPr>
              <a:t>Let the ages of children be </a:t>
            </a:r>
            <a:r>
              <a:rPr i="1" lang="en-GB" sz="1800">
                <a:solidFill>
                  <a:schemeClr val="dk1"/>
                </a:solidFill>
              </a:rPr>
              <a:t>x</a:t>
            </a:r>
            <a:r>
              <a:rPr lang="en-GB" sz="1800">
                <a:solidFill>
                  <a:schemeClr val="dk1"/>
                </a:solidFill>
              </a:rPr>
              <a:t>, (</a:t>
            </a:r>
            <a:r>
              <a:rPr i="1" lang="en-GB" sz="1800">
                <a:solidFill>
                  <a:schemeClr val="dk1"/>
                </a:solidFill>
              </a:rPr>
              <a:t>x</a:t>
            </a:r>
            <a:r>
              <a:rPr lang="en-GB" sz="1800">
                <a:solidFill>
                  <a:schemeClr val="dk1"/>
                </a:solidFill>
              </a:rPr>
              <a:t> + 3), (</a:t>
            </a:r>
            <a:r>
              <a:rPr i="1" lang="en-GB" sz="1800">
                <a:solidFill>
                  <a:schemeClr val="dk1"/>
                </a:solidFill>
              </a:rPr>
              <a:t>x</a:t>
            </a:r>
            <a:r>
              <a:rPr lang="en-GB" sz="1800">
                <a:solidFill>
                  <a:schemeClr val="dk1"/>
                </a:solidFill>
              </a:rPr>
              <a:t> + 6), (</a:t>
            </a:r>
            <a:r>
              <a:rPr i="1" lang="en-GB" sz="1800">
                <a:solidFill>
                  <a:schemeClr val="dk1"/>
                </a:solidFill>
              </a:rPr>
              <a:t>x</a:t>
            </a:r>
            <a:r>
              <a:rPr lang="en-GB" sz="1800">
                <a:solidFill>
                  <a:schemeClr val="dk1"/>
                </a:solidFill>
              </a:rPr>
              <a:t> + 9) and (</a:t>
            </a:r>
            <a:r>
              <a:rPr i="1" lang="en-GB" sz="1800">
                <a:solidFill>
                  <a:schemeClr val="dk1"/>
                </a:solidFill>
              </a:rPr>
              <a:t>x</a:t>
            </a:r>
            <a:r>
              <a:rPr lang="en-GB" sz="1800">
                <a:solidFill>
                  <a:schemeClr val="dk1"/>
                </a:solidFill>
              </a:rPr>
              <a:t> + 12) years.</a:t>
            </a:r>
            <a:endParaRPr sz="1800">
              <a:solidFill>
                <a:schemeClr val="dk1"/>
              </a:solidFill>
            </a:endParaRPr>
          </a:p>
          <a:p>
            <a:pPr indent="0" lvl="0" marL="0" rtl="0" algn="just">
              <a:lnSpc>
                <a:spcPct val="115000"/>
              </a:lnSpc>
              <a:spcBef>
                <a:spcPts val="1200"/>
              </a:spcBef>
              <a:spcAft>
                <a:spcPts val="0"/>
              </a:spcAft>
              <a:buClr>
                <a:schemeClr val="dk1"/>
              </a:buClr>
              <a:buSzPts val="1400"/>
              <a:buFont typeface="Arial"/>
              <a:buNone/>
            </a:pPr>
            <a:r>
              <a:rPr lang="en-GB" sz="1800">
                <a:solidFill>
                  <a:schemeClr val="dk1"/>
                </a:solidFill>
              </a:rPr>
              <a:t>Then, </a:t>
            </a:r>
            <a:r>
              <a:rPr i="1" lang="en-GB" sz="1800">
                <a:solidFill>
                  <a:schemeClr val="dk1"/>
                </a:solidFill>
              </a:rPr>
              <a:t>x</a:t>
            </a:r>
            <a:r>
              <a:rPr lang="en-GB" sz="1800">
                <a:solidFill>
                  <a:schemeClr val="dk1"/>
                </a:solidFill>
              </a:rPr>
              <a:t> + (</a:t>
            </a:r>
            <a:r>
              <a:rPr i="1" lang="en-GB" sz="1800">
                <a:solidFill>
                  <a:schemeClr val="dk1"/>
                </a:solidFill>
              </a:rPr>
              <a:t>x</a:t>
            </a:r>
            <a:r>
              <a:rPr lang="en-GB" sz="1800">
                <a:solidFill>
                  <a:schemeClr val="dk1"/>
                </a:solidFill>
              </a:rPr>
              <a:t> + 3) + (</a:t>
            </a:r>
            <a:r>
              <a:rPr i="1" lang="en-GB" sz="1800">
                <a:solidFill>
                  <a:schemeClr val="dk1"/>
                </a:solidFill>
              </a:rPr>
              <a:t>x</a:t>
            </a:r>
            <a:r>
              <a:rPr lang="en-GB" sz="1800">
                <a:solidFill>
                  <a:schemeClr val="dk1"/>
                </a:solidFill>
              </a:rPr>
              <a:t> + 6) + (</a:t>
            </a:r>
            <a:r>
              <a:rPr i="1" lang="en-GB" sz="1800">
                <a:solidFill>
                  <a:schemeClr val="dk1"/>
                </a:solidFill>
              </a:rPr>
              <a:t>x</a:t>
            </a:r>
            <a:r>
              <a:rPr lang="en-GB" sz="1800">
                <a:solidFill>
                  <a:schemeClr val="dk1"/>
                </a:solidFill>
              </a:rPr>
              <a:t> + 9) + (</a:t>
            </a:r>
            <a:r>
              <a:rPr i="1" lang="en-GB" sz="1800">
                <a:solidFill>
                  <a:schemeClr val="dk1"/>
                </a:solidFill>
              </a:rPr>
              <a:t>x</a:t>
            </a:r>
            <a:r>
              <a:rPr lang="en-GB" sz="1800">
                <a:solidFill>
                  <a:schemeClr val="dk1"/>
                </a:solidFill>
              </a:rPr>
              <a:t> + 12) = 50</a:t>
            </a:r>
            <a:endParaRPr sz="1800">
              <a:solidFill>
                <a:schemeClr val="dk1"/>
              </a:solidFill>
            </a:endParaRPr>
          </a:p>
          <a:p>
            <a:pPr indent="0" lvl="0" marL="0" rtl="0" algn="just">
              <a:lnSpc>
                <a:spcPct val="115000"/>
              </a:lnSpc>
              <a:spcBef>
                <a:spcPts val="1200"/>
              </a:spcBef>
              <a:spcAft>
                <a:spcPts val="0"/>
              </a:spcAft>
              <a:buClr>
                <a:schemeClr val="dk1"/>
              </a:buClr>
              <a:buSzPts val="1400"/>
              <a:buFont typeface="Arial"/>
              <a:buNone/>
            </a:pPr>
            <a:r>
              <a:rPr lang="en-GB" sz="1800">
                <a:solidFill>
                  <a:schemeClr val="dk1"/>
                </a:solidFill>
              </a:rPr>
              <a:t>5</a:t>
            </a:r>
            <a:r>
              <a:rPr i="1" lang="en-GB" sz="1800">
                <a:solidFill>
                  <a:schemeClr val="dk1"/>
                </a:solidFill>
              </a:rPr>
              <a:t>x</a:t>
            </a:r>
            <a:r>
              <a:rPr lang="en-GB" sz="1800">
                <a:solidFill>
                  <a:schemeClr val="dk1"/>
                </a:solidFill>
              </a:rPr>
              <a:t> = 20</a:t>
            </a:r>
            <a:endParaRPr sz="1800">
              <a:solidFill>
                <a:schemeClr val="dk1"/>
              </a:solidFill>
            </a:endParaRPr>
          </a:p>
          <a:p>
            <a:pPr indent="0" lvl="0" marL="0" rtl="0" algn="just">
              <a:lnSpc>
                <a:spcPct val="115000"/>
              </a:lnSpc>
              <a:spcBef>
                <a:spcPts val="1200"/>
              </a:spcBef>
              <a:spcAft>
                <a:spcPts val="0"/>
              </a:spcAft>
              <a:buClr>
                <a:schemeClr val="dk1"/>
              </a:buClr>
              <a:buSzPts val="1400"/>
              <a:buFont typeface="Arial"/>
              <a:buNone/>
            </a:pPr>
            <a:r>
              <a:rPr i="1" lang="en-GB" sz="1800">
                <a:solidFill>
                  <a:schemeClr val="dk1"/>
                </a:solidFill>
              </a:rPr>
              <a:t>x</a:t>
            </a:r>
            <a:r>
              <a:rPr lang="en-GB" sz="1800">
                <a:solidFill>
                  <a:schemeClr val="dk1"/>
                </a:solidFill>
              </a:rPr>
              <a:t> = 4.</a:t>
            </a:r>
            <a:endParaRPr sz="1800">
              <a:solidFill>
                <a:schemeClr val="dk1"/>
              </a:solidFill>
            </a:endParaRPr>
          </a:p>
          <a:p>
            <a:pPr indent="0" lvl="0" marL="0" rtl="0" algn="just">
              <a:lnSpc>
                <a:spcPct val="115000"/>
              </a:lnSpc>
              <a:spcBef>
                <a:spcPts val="1200"/>
              </a:spcBef>
              <a:spcAft>
                <a:spcPts val="0"/>
              </a:spcAft>
              <a:buClr>
                <a:schemeClr val="dk1"/>
              </a:buClr>
              <a:buSzPts val="1400"/>
              <a:buFont typeface="Arial"/>
              <a:buNone/>
            </a:pPr>
            <a:r>
              <a:rPr lang="en-GB" sz="1800">
                <a:solidFill>
                  <a:schemeClr val="dk1"/>
                </a:solidFill>
              </a:rPr>
              <a:t>Age of the youngest child = </a:t>
            </a:r>
            <a:r>
              <a:rPr i="1" lang="en-GB" sz="1800">
                <a:solidFill>
                  <a:schemeClr val="dk1"/>
                </a:solidFill>
              </a:rPr>
              <a:t>x</a:t>
            </a:r>
            <a:r>
              <a:rPr lang="en-GB" sz="1800">
                <a:solidFill>
                  <a:schemeClr val="dk1"/>
                </a:solidFill>
              </a:rPr>
              <a:t> = 4 years.</a:t>
            </a:r>
            <a:endParaRPr sz="18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g2ee15abed17_3_301"/>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12" name="Google Shape;112;g2ee15abed17_3_301"/>
          <p:cNvSpPr txBox="1"/>
          <p:nvPr/>
        </p:nvSpPr>
        <p:spPr>
          <a:xfrm>
            <a:off x="720000" y="1439875"/>
            <a:ext cx="7649400" cy="723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500"/>
              <a:buFont typeface="Arial"/>
              <a:buNone/>
            </a:pPr>
            <a:r>
              <a:t/>
            </a:r>
            <a:endParaRPr b="0" i="0" sz="3500" u="none" cap="none" strike="noStrike">
              <a:solidFill>
                <a:srgbClr val="8182EF"/>
              </a:solidFill>
              <a:latin typeface="Roboto Black"/>
              <a:ea typeface="Roboto Black"/>
              <a:cs typeface="Roboto Black"/>
              <a:sym typeface="Roboto Black"/>
            </a:endParaRPr>
          </a:p>
        </p:txBody>
      </p:sp>
      <p:sp>
        <p:nvSpPr>
          <p:cNvPr id="113" name="Google Shape;113;g2ee15abed17_3_301"/>
          <p:cNvSpPr txBox="1"/>
          <p:nvPr/>
        </p:nvSpPr>
        <p:spPr>
          <a:xfrm>
            <a:off x="720000" y="1439875"/>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highlight>
                  <a:schemeClr val="lt1"/>
                </a:highlight>
              </a:rPr>
              <a:t>A father said to his son, "I was as old as you are at the present at the time of your birth". If the father's age is 38 years now, the son's age five years back was: </a:t>
            </a:r>
            <a:endParaRPr sz="1800">
              <a:solidFill>
                <a:schemeClr val="dk1"/>
              </a:solidFill>
              <a:highlight>
                <a:schemeClr val="lt1"/>
              </a:highlight>
            </a:endParaRPr>
          </a:p>
          <a:p>
            <a:pPr indent="-342900" lvl="0" marL="457200" rtl="0" algn="l">
              <a:lnSpc>
                <a:spcPct val="150000"/>
              </a:lnSpc>
              <a:spcBef>
                <a:spcPts val="800"/>
              </a:spcBef>
              <a:spcAft>
                <a:spcPts val="0"/>
              </a:spcAft>
              <a:buClr>
                <a:schemeClr val="dk1"/>
              </a:buClr>
              <a:buSzPts val="1800"/>
              <a:buAutoNum type="alphaUcPeriod"/>
            </a:pPr>
            <a:r>
              <a:rPr lang="en-GB" sz="1800">
                <a:solidFill>
                  <a:schemeClr val="dk1"/>
                </a:solidFill>
                <a:highlight>
                  <a:schemeClr val="lt1"/>
                </a:highlight>
              </a:rPr>
              <a:t>14 years</a:t>
            </a:r>
            <a:endParaRPr sz="1800">
              <a:solidFill>
                <a:schemeClr val="dk1"/>
              </a:solidFill>
              <a:highlight>
                <a:schemeClr val="lt1"/>
              </a:highlight>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highlight>
                  <a:schemeClr val="lt1"/>
                </a:highlight>
              </a:rPr>
              <a:t>19 years</a:t>
            </a:r>
            <a:endParaRPr sz="1800">
              <a:solidFill>
                <a:schemeClr val="dk1"/>
              </a:solidFill>
              <a:highlight>
                <a:schemeClr val="lt1"/>
              </a:highlight>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highlight>
                  <a:schemeClr val="lt1"/>
                </a:highlight>
              </a:rPr>
              <a:t>33 years</a:t>
            </a:r>
            <a:endParaRPr sz="1800">
              <a:solidFill>
                <a:schemeClr val="dk1"/>
              </a:solidFill>
              <a:highlight>
                <a:schemeClr val="lt1"/>
              </a:highlight>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highlight>
                  <a:schemeClr val="lt1"/>
                </a:highlight>
              </a:rPr>
              <a:t>38 years </a:t>
            </a:r>
            <a:endParaRPr sz="1800">
              <a:solidFill>
                <a:schemeClr val="dk1"/>
              </a:solidFill>
              <a:latin typeface="Roboto"/>
              <a:ea typeface="Roboto"/>
              <a:cs typeface="Roboto"/>
              <a:sym typeface="Roboto"/>
            </a:endParaRPr>
          </a:p>
        </p:txBody>
      </p:sp>
      <p:sp>
        <p:nvSpPr>
          <p:cNvPr id="114" name="Google Shape;114;g2ee15abed17_3_301"/>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
        <p:nvSpPr>
          <p:cNvPr id="115" name="Google Shape;115;g2ee15abed17_3_301"/>
          <p:cNvSpPr txBox="1"/>
          <p:nvPr/>
        </p:nvSpPr>
        <p:spPr>
          <a:xfrm>
            <a:off x="7189450" y="4324350"/>
            <a:ext cx="11799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 name="Shape 119"/>
        <p:cNvGrpSpPr/>
        <p:nvPr/>
      </p:nvGrpSpPr>
      <p:grpSpPr>
        <a:xfrm>
          <a:off x="0" y="0"/>
          <a:ext cx="0" cy="0"/>
          <a:chOff x="0" y="0"/>
          <a:chExt cx="0" cy="0"/>
        </a:xfrm>
      </p:grpSpPr>
      <p:sp>
        <p:nvSpPr>
          <p:cNvPr id="120" name="Google Shape;120;g2ee15abed17_3_306"/>
          <p:cNvSpPr txBox="1"/>
          <p:nvPr/>
        </p:nvSpPr>
        <p:spPr>
          <a:xfrm>
            <a:off x="327600" y="338142"/>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01</a:t>
            </a:r>
            <a:endParaRPr b="0" i="0" sz="2000" u="none" cap="none" strike="noStrike">
              <a:solidFill>
                <a:schemeClr val="lt1"/>
              </a:solidFill>
              <a:latin typeface="Roboto"/>
              <a:ea typeface="Roboto"/>
              <a:cs typeface="Roboto"/>
              <a:sym typeface="Roboto"/>
            </a:endParaRPr>
          </a:p>
        </p:txBody>
      </p:sp>
      <p:sp>
        <p:nvSpPr>
          <p:cNvPr id="121" name="Google Shape;121;g2ee15abed17_3_306"/>
          <p:cNvSpPr txBox="1"/>
          <p:nvPr/>
        </p:nvSpPr>
        <p:spPr>
          <a:xfrm>
            <a:off x="720000" y="1440000"/>
            <a:ext cx="7384200" cy="3261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15000"/>
              </a:lnSpc>
              <a:spcBef>
                <a:spcPts val="1200"/>
              </a:spcBef>
              <a:spcAft>
                <a:spcPts val="0"/>
              </a:spcAft>
              <a:buClr>
                <a:schemeClr val="dk1"/>
              </a:buClr>
              <a:buSzPts val="1400"/>
              <a:buFont typeface="Arial"/>
              <a:buNone/>
            </a:pPr>
            <a:r>
              <a:rPr lang="en-GB" sz="1800">
                <a:solidFill>
                  <a:schemeClr val="dk1"/>
                </a:solidFill>
              </a:rPr>
              <a:t>Let the son's present age be </a:t>
            </a:r>
            <a:r>
              <a:rPr i="1" lang="en-GB" sz="1800">
                <a:solidFill>
                  <a:schemeClr val="dk1"/>
                </a:solidFill>
              </a:rPr>
              <a:t>x</a:t>
            </a:r>
            <a:r>
              <a:rPr lang="en-GB" sz="1800">
                <a:solidFill>
                  <a:schemeClr val="dk1"/>
                </a:solidFill>
              </a:rPr>
              <a:t> years. Then, (38 - </a:t>
            </a:r>
            <a:r>
              <a:rPr i="1" lang="en-GB" sz="1800">
                <a:solidFill>
                  <a:schemeClr val="dk1"/>
                </a:solidFill>
              </a:rPr>
              <a:t>x</a:t>
            </a:r>
            <a:r>
              <a:rPr lang="en-GB" sz="1800">
                <a:solidFill>
                  <a:schemeClr val="dk1"/>
                </a:solidFill>
              </a:rPr>
              <a:t>) = </a:t>
            </a:r>
            <a:r>
              <a:rPr i="1" lang="en-GB" sz="1800">
                <a:solidFill>
                  <a:schemeClr val="dk1"/>
                </a:solidFill>
              </a:rPr>
              <a:t>x</a:t>
            </a:r>
            <a:endParaRPr i="1" sz="1800">
              <a:solidFill>
                <a:schemeClr val="dk1"/>
              </a:solidFill>
            </a:endParaRPr>
          </a:p>
          <a:p>
            <a:pPr indent="0" lvl="0" marL="0" rtl="0" algn="just">
              <a:lnSpc>
                <a:spcPct val="115000"/>
              </a:lnSpc>
              <a:spcBef>
                <a:spcPts val="1200"/>
              </a:spcBef>
              <a:spcAft>
                <a:spcPts val="0"/>
              </a:spcAft>
              <a:buClr>
                <a:schemeClr val="dk1"/>
              </a:buClr>
              <a:buSzPts val="1400"/>
              <a:buFont typeface="Arial"/>
              <a:buNone/>
            </a:pPr>
            <a:r>
              <a:rPr lang="en-GB" sz="1800">
                <a:solidFill>
                  <a:schemeClr val="dk1"/>
                </a:solidFill>
              </a:rPr>
              <a:t>2</a:t>
            </a:r>
            <a:r>
              <a:rPr i="1" lang="en-GB" sz="1800">
                <a:solidFill>
                  <a:schemeClr val="dk1"/>
                </a:solidFill>
              </a:rPr>
              <a:t>x</a:t>
            </a:r>
            <a:r>
              <a:rPr lang="en-GB" sz="1800">
                <a:solidFill>
                  <a:schemeClr val="dk1"/>
                </a:solidFill>
              </a:rPr>
              <a:t> = 38.</a:t>
            </a:r>
            <a:endParaRPr sz="1800">
              <a:solidFill>
                <a:schemeClr val="dk1"/>
              </a:solidFill>
            </a:endParaRPr>
          </a:p>
          <a:p>
            <a:pPr indent="0" lvl="0" marL="0" rtl="0" algn="just">
              <a:lnSpc>
                <a:spcPct val="115000"/>
              </a:lnSpc>
              <a:spcBef>
                <a:spcPts val="1200"/>
              </a:spcBef>
              <a:spcAft>
                <a:spcPts val="0"/>
              </a:spcAft>
              <a:buClr>
                <a:schemeClr val="dk1"/>
              </a:buClr>
              <a:buSzPts val="1400"/>
              <a:buFont typeface="Arial"/>
              <a:buNone/>
            </a:pPr>
            <a:r>
              <a:rPr i="1" lang="en-GB" sz="1800">
                <a:solidFill>
                  <a:schemeClr val="dk1"/>
                </a:solidFill>
              </a:rPr>
              <a:t>x</a:t>
            </a:r>
            <a:r>
              <a:rPr lang="en-GB" sz="1800">
                <a:solidFill>
                  <a:schemeClr val="dk1"/>
                </a:solidFill>
              </a:rPr>
              <a:t> = 19.</a:t>
            </a:r>
            <a:endParaRPr sz="1800">
              <a:solidFill>
                <a:schemeClr val="dk1"/>
              </a:solidFill>
            </a:endParaRPr>
          </a:p>
          <a:p>
            <a:pPr indent="0" lvl="0" marL="0" rtl="0" algn="just">
              <a:lnSpc>
                <a:spcPct val="115000"/>
              </a:lnSpc>
              <a:spcBef>
                <a:spcPts val="1200"/>
              </a:spcBef>
              <a:spcAft>
                <a:spcPts val="0"/>
              </a:spcAft>
              <a:buClr>
                <a:schemeClr val="dk1"/>
              </a:buClr>
              <a:buSzPts val="1400"/>
              <a:buFont typeface="Arial"/>
              <a:buNone/>
            </a:pPr>
            <a:r>
              <a:rPr lang="en-GB" sz="1800">
                <a:solidFill>
                  <a:schemeClr val="dk1"/>
                </a:solidFill>
              </a:rPr>
              <a:t>Son's age 5 years back (19 - 5) = 14 years</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22" name="Google Shape;122;g2ee15abed17_3_30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Effect filter="fade" transition="in">
                                      <p:cBhvr>
                                        <p:cTn dur="1000"/>
                                        <p:tgtEl>
                                          <p:spTgt spid="1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animEffect filter="fade" transition="in">
                                      <p:cBhvr>
                                        <p:cTn dur="1000"/>
                                        <p:tgtEl>
                                          <p:spTgt spid="1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animEffect filter="fade" transition="in">
                                      <p:cBhvr>
                                        <p:cTn dur="1000"/>
                                        <p:tgtEl>
                                          <p:spTgt spid="1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animEffect filter="fade" transition="in">
                                      <p:cBhvr>
                                        <p:cTn dur="1000"/>
                                        <p:tgtEl>
                                          <p:spTgt spid="1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animEffect filter="fade" transition="in">
                                      <p:cBhvr>
                                        <p:cTn dur="1000"/>
                                        <p:tgtEl>
                                          <p:spTgt spid="12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1b9bf173ee_0_17"/>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
        <p:nvSpPr>
          <p:cNvPr id="128" name="Google Shape;128;g31b9bf173ee_0_17"/>
          <p:cNvSpPr txBox="1"/>
          <p:nvPr/>
        </p:nvSpPr>
        <p:spPr>
          <a:xfrm>
            <a:off x="630000" y="1354400"/>
            <a:ext cx="7739400" cy="2642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A is two years older than B who is twice as old as C. If the total of the ages of A, B and C be 27, then how old is B?</a:t>
            </a:r>
            <a:endParaRPr sz="1800">
              <a:solidFill>
                <a:schemeClr val="dk1"/>
              </a:solidFill>
            </a:endParaRPr>
          </a:p>
          <a:p>
            <a:pPr indent="-342900" lvl="0" marL="457200" rtl="0" algn="l">
              <a:lnSpc>
                <a:spcPct val="150000"/>
              </a:lnSpc>
              <a:spcBef>
                <a:spcPts val="800"/>
              </a:spcBef>
              <a:spcAft>
                <a:spcPts val="0"/>
              </a:spcAft>
              <a:buClr>
                <a:schemeClr val="dk1"/>
              </a:buClr>
              <a:buSzPts val="1800"/>
              <a:buAutoNum type="alphaUcPeriod"/>
            </a:pPr>
            <a:r>
              <a:rPr lang="en-GB" sz="1800">
                <a:solidFill>
                  <a:schemeClr val="dk1"/>
                </a:solidFill>
              </a:rPr>
              <a:t>7</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8</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9</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10</a:t>
            </a:r>
            <a:endParaRPr sz="1800">
              <a:solidFill>
                <a:schemeClr val="dk1"/>
              </a:solidFill>
              <a:latin typeface="Roboto"/>
              <a:ea typeface="Roboto"/>
              <a:cs typeface="Roboto"/>
              <a:sym typeface="Roboto"/>
            </a:endParaRPr>
          </a:p>
        </p:txBody>
      </p:sp>
      <p:sp>
        <p:nvSpPr>
          <p:cNvPr id="129" name="Google Shape;129;g31b9bf173ee_0_17"/>
          <p:cNvSpPr txBox="1"/>
          <p:nvPr/>
        </p:nvSpPr>
        <p:spPr>
          <a:xfrm>
            <a:off x="7189500" y="4230000"/>
            <a:ext cx="11799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t>
            </a:r>
            <a:r>
              <a:rPr b="1" lang="en-GB" sz="1600">
                <a:latin typeface="Roboto"/>
                <a:ea typeface="Roboto"/>
                <a:cs typeface="Roboto"/>
                <a:sym typeface="Roboto"/>
              </a:rPr>
              <a:t>D</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3" name="Shape 133"/>
        <p:cNvGrpSpPr/>
        <p:nvPr/>
      </p:nvGrpSpPr>
      <p:grpSpPr>
        <a:xfrm>
          <a:off x="0" y="0"/>
          <a:ext cx="0" cy="0"/>
          <a:chOff x="0" y="0"/>
          <a:chExt cx="0" cy="0"/>
        </a:xfrm>
      </p:grpSpPr>
      <p:sp>
        <p:nvSpPr>
          <p:cNvPr id="134" name="Google Shape;134;g2ee15abed17_3_313"/>
          <p:cNvSpPr txBox="1"/>
          <p:nvPr/>
        </p:nvSpPr>
        <p:spPr>
          <a:xfrm>
            <a:off x="720000" y="1439875"/>
            <a:ext cx="7649400" cy="305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Let C's age be </a:t>
            </a:r>
            <a:r>
              <a:rPr i="1" lang="en-GB" sz="1800">
                <a:solidFill>
                  <a:schemeClr val="dk1"/>
                </a:solidFill>
              </a:rPr>
              <a:t>x</a:t>
            </a:r>
            <a:r>
              <a:rPr lang="en-GB" sz="1800">
                <a:solidFill>
                  <a:schemeClr val="dk1"/>
                </a:solidFill>
              </a:rPr>
              <a:t> years. Then, B's age = 2</a:t>
            </a:r>
            <a:r>
              <a:rPr i="1" lang="en-GB" sz="1800">
                <a:solidFill>
                  <a:schemeClr val="dk1"/>
                </a:solidFill>
              </a:rPr>
              <a:t>x</a:t>
            </a:r>
            <a:r>
              <a:rPr lang="en-GB" sz="1800">
                <a:solidFill>
                  <a:schemeClr val="dk1"/>
                </a:solidFill>
              </a:rPr>
              <a:t> years. A's age = (2</a:t>
            </a:r>
            <a:r>
              <a:rPr i="1" lang="en-GB" sz="1800">
                <a:solidFill>
                  <a:schemeClr val="dk1"/>
                </a:solidFill>
              </a:rPr>
              <a:t>x</a:t>
            </a:r>
            <a:r>
              <a:rPr lang="en-GB" sz="1800">
                <a:solidFill>
                  <a:schemeClr val="dk1"/>
                </a:solidFill>
              </a:rPr>
              <a:t> + 2) years.</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(2</a:t>
            </a:r>
            <a:r>
              <a:rPr i="1" lang="en-GB" sz="1800">
                <a:solidFill>
                  <a:schemeClr val="dk1"/>
                </a:solidFill>
              </a:rPr>
              <a:t>x</a:t>
            </a:r>
            <a:r>
              <a:rPr lang="en-GB" sz="1800">
                <a:solidFill>
                  <a:schemeClr val="dk1"/>
                </a:solidFill>
              </a:rPr>
              <a:t> + 2) + 2</a:t>
            </a:r>
            <a:r>
              <a:rPr i="1" lang="en-GB" sz="1800">
                <a:solidFill>
                  <a:schemeClr val="dk1"/>
                </a:solidFill>
              </a:rPr>
              <a:t>x</a:t>
            </a:r>
            <a:r>
              <a:rPr lang="en-GB" sz="1800">
                <a:solidFill>
                  <a:schemeClr val="dk1"/>
                </a:solidFill>
              </a:rPr>
              <a:t> + </a:t>
            </a:r>
            <a:r>
              <a:rPr i="1" lang="en-GB" sz="1800">
                <a:solidFill>
                  <a:schemeClr val="dk1"/>
                </a:solidFill>
              </a:rPr>
              <a:t>x</a:t>
            </a:r>
            <a:r>
              <a:rPr lang="en-GB" sz="1800">
                <a:solidFill>
                  <a:schemeClr val="dk1"/>
                </a:solidFill>
              </a:rPr>
              <a:t> = 27</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5</a:t>
            </a:r>
            <a:r>
              <a:rPr i="1" lang="en-GB" sz="1800">
                <a:solidFill>
                  <a:schemeClr val="dk1"/>
                </a:solidFill>
              </a:rPr>
              <a:t>x</a:t>
            </a:r>
            <a:r>
              <a:rPr lang="en-GB" sz="1800">
                <a:solidFill>
                  <a:schemeClr val="dk1"/>
                </a:solidFill>
              </a:rPr>
              <a:t> = 25</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i="1" lang="en-GB" sz="1800">
                <a:solidFill>
                  <a:schemeClr val="dk1"/>
                </a:solidFill>
              </a:rPr>
              <a:t>x</a:t>
            </a:r>
            <a:r>
              <a:rPr lang="en-GB" sz="1800">
                <a:solidFill>
                  <a:schemeClr val="dk1"/>
                </a:solidFill>
              </a:rPr>
              <a:t> = 5.</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Hence, B's age = 2</a:t>
            </a:r>
            <a:r>
              <a:rPr i="1" lang="en-GB" sz="1800">
                <a:solidFill>
                  <a:schemeClr val="dk1"/>
                </a:solidFill>
              </a:rPr>
              <a:t>x</a:t>
            </a:r>
            <a:r>
              <a:rPr lang="en-GB" sz="1800">
                <a:solidFill>
                  <a:schemeClr val="dk1"/>
                </a:solidFill>
              </a:rPr>
              <a:t> = 10 years.</a:t>
            </a:r>
            <a:endParaRPr sz="1800">
              <a:solidFill>
                <a:schemeClr val="dk1"/>
              </a:solidFill>
              <a:latin typeface="Roboto"/>
              <a:ea typeface="Roboto"/>
              <a:cs typeface="Roboto"/>
              <a:sym typeface="Roboto"/>
            </a:endParaRPr>
          </a:p>
        </p:txBody>
      </p:sp>
      <p:sp>
        <p:nvSpPr>
          <p:cNvPr id="135" name="Google Shape;135;g2ee15abed17_3_31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2ee15abed17_3_318"/>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16</a:t>
            </a:r>
            <a:endParaRPr b="0" i="0" sz="2000" u="none" cap="none" strike="noStrike">
              <a:solidFill>
                <a:schemeClr val="lt1"/>
              </a:solidFill>
              <a:latin typeface="Roboto"/>
              <a:ea typeface="Roboto"/>
              <a:cs typeface="Roboto"/>
              <a:sym typeface="Roboto"/>
            </a:endParaRPr>
          </a:p>
        </p:txBody>
      </p:sp>
      <p:sp>
        <p:nvSpPr>
          <p:cNvPr id="141" name="Google Shape;141;g2ee15abed17_3_318"/>
          <p:cNvSpPr txBox="1"/>
          <p:nvPr/>
        </p:nvSpPr>
        <p:spPr>
          <a:xfrm>
            <a:off x="720000" y="1440000"/>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Present ages of Sameer and Anand are in the ratio of 5 : 4 respectively. Three years hence, the ratio of their ages will become 11 : 9 respectively. What is Anand's present age in years?</a:t>
            </a:r>
            <a:endParaRPr sz="1800">
              <a:solidFill>
                <a:schemeClr val="dk1"/>
              </a:solidFill>
            </a:endParaRPr>
          </a:p>
          <a:p>
            <a:pPr indent="-342900" lvl="0" marL="457200" rtl="0" algn="l">
              <a:lnSpc>
                <a:spcPct val="150000"/>
              </a:lnSpc>
              <a:spcBef>
                <a:spcPts val="800"/>
              </a:spcBef>
              <a:spcAft>
                <a:spcPts val="0"/>
              </a:spcAft>
              <a:buClr>
                <a:schemeClr val="dk1"/>
              </a:buClr>
              <a:buSzPts val="1800"/>
              <a:buAutoNum type="alphaUcPeriod"/>
            </a:pPr>
            <a:r>
              <a:rPr lang="en-GB" sz="1800">
                <a:solidFill>
                  <a:schemeClr val="dk1"/>
                </a:solidFill>
              </a:rPr>
              <a:t>24</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27</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30</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None of these</a:t>
            </a:r>
            <a:endParaRPr/>
          </a:p>
        </p:txBody>
      </p:sp>
      <p:sp>
        <p:nvSpPr>
          <p:cNvPr id="142" name="Google Shape;142;g2ee15abed17_3_318"/>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A</a:t>
            </a:r>
            <a:endParaRPr b="1" i="0" sz="1600" u="none" cap="none" strike="noStrike">
              <a:solidFill>
                <a:srgbClr val="000000"/>
              </a:solidFill>
              <a:latin typeface="Roboto"/>
              <a:ea typeface="Roboto"/>
              <a:cs typeface="Roboto"/>
              <a:sym typeface="Roboto"/>
            </a:endParaRPr>
          </a:p>
        </p:txBody>
      </p:sp>
      <p:sp>
        <p:nvSpPr>
          <p:cNvPr id="143" name="Google Shape;143;g2ee15abed17_3_3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Effect filter="fade" transition="in">
                                      <p:cBhvr>
                                        <p:cTn dur="1000"/>
                                        <p:tgtEl>
                                          <p:spTgt spid="1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animEffect filter="fade" transition="in">
                                      <p:cBhvr>
                                        <p:cTn dur="1000"/>
                                        <p:tgtEl>
                                          <p:spTgt spid="1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animEffect filter="fade" transition="in">
                                      <p:cBhvr>
                                        <p:cTn dur="1000"/>
                                        <p:tgtEl>
                                          <p:spTgt spid="1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animEffect filter="fade" transition="in">
                                      <p:cBhvr>
                                        <p:cTn dur="1000"/>
                                        <p:tgtEl>
                                          <p:spTgt spid="1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animEffect filter="fade" transition="in">
                                      <p:cBhvr>
                                        <p:cTn dur="1000"/>
                                        <p:tgtEl>
                                          <p:spTgt spid="1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Effect filter="fade" transition="in">
                                      <p:cBhvr>
                                        <p:cTn dur="1000"/>
                                        <p:tgtEl>
                                          <p:spTgt spid="14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7" name="Shape 147"/>
        <p:cNvGrpSpPr/>
        <p:nvPr/>
      </p:nvGrpSpPr>
      <p:grpSpPr>
        <a:xfrm>
          <a:off x="0" y="0"/>
          <a:ext cx="0" cy="0"/>
          <a:chOff x="0" y="0"/>
          <a:chExt cx="0" cy="0"/>
        </a:xfrm>
      </p:grpSpPr>
      <p:sp>
        <p:nvSpPr>
          <p:cNvPr id="148" name="Google Shape;148;g2ee15abed17_3_325"/>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149" name="Google Shape;149;g2ee15abed17_3_325"/>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Let the present ages of Sameer and Anand be 5</a:t>
            </a:r>
            <a:r>
              <a:rPr i="1" lang="en-GB" sz="1800">
                <a:solidFill>
                  <a:schemeClr val="dk1"/>
                </a:solidFill>
              </a:rPr>
              <a:t>x</a:t>
            </a:r>
            <a:r>
              <a:rPr lang="en-GB" sz="1800">
                <a:solidFill>
                  <a:schemeClr val="dk1"/>
                </a:solidFill>
              </a:rPr>
              <a:t> years and 4</a:t>
            </a:r>
            <a:r>
              <a:rPr i="1" lang="en-GB" sz="1800">
                <a:solidFill>
                  <a:schemeClr val="dk1"/>
                </a:solidFill>
              </a:rPr>
              <a:t>x</a:t>
            </a:r>
            <a:r>
              <a:rPr lang="en-GB" sz="1800">
                <a:solidFill>
                  <a:schemeClr val="dk1"/>
                </a:solidFill>
              </a:rPr>
              <a:t> years respectively.</a:t>
            </a:r>
            <a:endParaRPr sz="18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GB" sz="1800">
                <a:solidFill>
                  <a:schemeClr val="dk1"/>
                </a:solidFill>
              </a:rPr>
              <a:t>Then,  (5</a:t>
            </a:r>
            <a:r>
              <a:rPr i="1" lang="en-GB" sz="1800">
                <a:solidFill>
                  <a:schemeClr val="dk1"/>
                </a:solidFill>
              </a:rPr>
              <a:t>x</a:t>
            </a:r>
            <a:r>
              <a:rPr lang="en-GB" sz="1800">
                <a:solidFill>
                  <a:schemeClr val="dk1"/>
                </a:solidFill>
              </a:rPr>
              <a:t> + 3)/ (4</a:t>
            </a:r>
            <a:r>
              <a:rPr i="1" lang="en-GB" sz="1800">
                <a:solidFill>
                  <a:schemeClr val="dk1"/>
                </a:solidFill>
              </a:rPr>
              <a:t>x</a:t>
            </a:r>
            <a:r>
              <a:rPr lang="en-GB" sz="1800">
                <a:solidFill>
                  <a:schemeClr val="dk1"/>
                </a:solidFill>
              </a:rPr>
              <a:t> + 3) = 11/ 9</a:t>
            </a:r>
            <a:endParaRPr sz="1800">
              <a:solidFill>
                <a:schemeClr val="dk1"/>
              </a:solidFill>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9(5</a:t>
            </a:r>
            <a:r>
              <a:rPr i="1" lang="en-GB" sz="1800">
                <a:solidFill>
                  <a:schemeClr val="dk1"/>
                </a:solidFill>
              </a:rPr>
              <a:t>x</a:t>
            </a:r>
            <a:r>
              <a:rPr lang="en-GB" sz="1800">
                <a:solidFill>
                  <a:schemeClr val="dk1"/>
                </a:solidFill>
              </a:rPr>
              <a:t> + 3) = 11(4</a:t>
            </a:r>
            <a:r>
              <a:rPr i="1" lang="en-GB" sz="1800">
                <a:solidFill>
                  <a:schemeClr val="dk1"/>
                </a:solidFill>
              </a:rPr>
              <a:t>x</a:t>
            </a:r>
            <a:r>
              <a:rPr lang="en-GB" sz="1800">
                <a:solidFill>
                  <a:schemeClr val="dk1"/>
                </a:solidFill>
              </a:rPr>
              <a:t> + 3)</a:t>
            </a:r>
            <a:endParaRPr sz="1800">
              <a:solidFill>
                <a:schemeClr val="dk1"/>
              </a:solidFill>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45</a:t>
            </a:r>
            <a:r>
              <a:rPr i="1" lang="en-GB" sz="1800">
                <a:solidFill>
                  <a:schemeClr val="dk1"/>
                </a:solidFill>
              </a:rPr>
              <a:t>x</a:t>
            </a:r>
            <a:r>
              <a:rPr lang="en-GB" sz="1800">
                <a:solidFill>
                  <a:schemeClr val="dk1"/>
                </a:solidFill>
              </a:rPr>
              <a:t> + 27 = 44</a:t>
            </a:r>
            <a:r>
              <a:rPr i="1" lang="en-GB" sz="1800">
                <a:solidFill>
                  <a:schemeClr val="dk1"/>
                </a:solidFill>
              </a:rPr>
              <a:t>x</a:t>
            </a:r>
            <a:r>
              <a:rPr lang="en-GB" sz="1800">
                <a:solidFill>
                  <a:schemeClr val="dk1"/>
                </a:solidFill>
              </a:rPr>
              <a:t> + 33</a:t>
            </a:r>
            <a:endParaRPr sz="1800">
              <a:solidFill>
                <a:schemeClr val="dk1"/>
              </a:solidFill>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45 </a:t>
            </a:r>
            <a:r>
              <a:rPr i="1" lang="en-GB" sz="1800">
                <a:solidFill>
                  <a:schemeClr val="dk1"/>
                </a:solidFill>
              </a:rPr>
              <a:t>x</a:t>
            </a:r>
            <a:r>
              <a:rPr lang="en-GB" sz="1800">
                <a:solidFill>
                  <a:schemeClr val="dk1"/>
                </a:solidFill>
              </a:rPr>
              <a:t> - 44 x = 33 - 27</a:t>
            </a:r>
            <a:endParaRPr sz="1800">
              <a:solidFill>
                <a:schemeClr val="dk1"/>
              </a:solidFill>
            </a:endParaRPr>
          </a:p>
          <a:p>
            <a:pPr indent="0" lvl="0" marL="0" rtl="0" algn="just">
              <a:lnSpc>
                <a:spcPct val="150000"/>
              </a:lnSpc>
              <a:spcBef>
                <a:spcPts val="0"/>
              </a:spcBef>
              <a:spcAft>
                <a:spcPts val="0"/>
              </a:spcAft>
              <a:buClr>
                <a:schemeClr val="dk1"/>
              </a:buClr>
              <a:buSzPts val="1400"/>
              <a:buFont typeface="Arial"/>
              <a:buNone/>
            </a:pPr>
            <a:r>
              <a:rPr i="1" lang="en-GB" sz="1800">
                <a:solidFill>
                  <a:schemeClr val="dk1"/>
                </a:solidFill>
              </a:rPr>
              <a:t>x</a:t>
            </a:r>
            <a:r>
              <a:rPr lang="en-GB" sz="1800">
                <a:solidFill>
                  <a:schemeClr val="dk1"/>
                </a:solidFill>
              </a:rPr>
              <a:t> = 6.</a:t>
            </a:r>
            <a:endParaRPr sz="1800">
              <a:solidFill>
                <a:schemeClr val="dk1"/>
              </a:solidFill>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Anand's present age = 4</a:t>
            </a:r>
            <a:r>
              <a:rPr i="1" lang="en-GB" sz="1800">
                <a:solidFill>
                  <a:schemeClr val="dk1"/>
                </a:solidFill>
              </a:rPr>
              <a:t>x</a:t>
            </a:r>
            <a:r>
              <a:rPr lang="en-GB" sz="1800">
                <a:solidFill>
                  <a:schemeClr val="dk1"/>
                </a:solidFill>
              </a:rPr>
              <a:t> = 24 years.</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333333"/>
              </a:solidFill>
              <a:highlight>
                <a:schemeClr val="lt1"/>
              </a:highlight>
              <a:latin typeface="Roboto"/>
              <a:ea typeface="Roboto"/>
              <a:cs typeface="Roboto"/>
              <a:sym typeface="Roboto"/>
            </a:endParaRPr>
          </a:p>
        </p:txBody>
      </p:sp>
      <p:sp>
        <p:nvSpPr>
          <p:cNvPr id="150" name="Google Shape;150;g2ee15abed17_3_32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151" name="Google Shape;151;g2ee15abed17_3_32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animEffect filter="fade" transition="in">
                                      <p:cBhvr>
                                        <p:cTn dur="1000"/>
                                        <p:tgtEl>
                                          <p:spTgt spid="1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animEffect filter="fade" transition="in">
                                      <p:cBhvr>
                                        <p:cTn dur="1000"/>
                                        <p:tgtEl>
                                          <p:spTgt spid="1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animEffect filter="fade" transition="in">
                                      <p:cBhvr>
                                        <p:cTn dur="1000"/>
                                        <p:tgtEl>
                                          <p:spTgt spid="1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animEffect filter="fade" transition="in">
                                      <p:cBhvr>
                                        <p:cTn dur="1000"/>
                                        <p:tgtEl>
                                          <p:spTgt spid="1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4" st="4"/>
                                            </p:txEl>
                                          </p:spTgt>
                                        </p:tgtEl>
                                        <p:attrNameLst>
                                          <p:attrName>style.visibility</p:attrName>
                                        </p:attrNameLst>
                                      </p:cBhvr>
                                      <p:to>
                                        <p:strVal val="visible"/>
                                      </p:to>
                                    </p:set>
                                    <p:animEffect filter="fade" transition="in">
                                      <p:cBhvr>
                                        <p:cTn dur="1000"/>
                                        <p:tgtEl>
                                          <p:spTgt spid="1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5" st="5"/>
                                            </p:txEl>
                                          </p:spTgt>
                                        </p:tgtEl>
                                        <p:attrNameLst>
                                          <p:attrName>style.visibility</p:attrName>
                                        </p:attrNameLst>
                                      </p:cBhvr>
                                      <p:to>
                                        <p:strVal val="visible"/>
                                      </p:to>
                                    </p:set>
                                    <p:animEffect filter="fade" transition="in">
                                      <p:cBhvr>
                                        <p:cTn dur="1000"/>
                                        <p:tgtEl>
                                          <p:spTgt spid="1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6" st="6"/>
                                            </p:txEl>
                                          </p:spTgt>
                                        </p:tgtEl>
                                        <p:attrNameLst>
                                          <p:attrName>style.visibility</p:attrName>
                                        </p:attrNameLst>
                                      </p:cBhvr>
                                      <p:to>
                                        <p:strVal val="visible"/>
                                      </p:to>
                                    </p:set>
                                    <p:animEffect filter="fade" transition="in">
                                      <p:cBhvr>
                                        <p:cTn dur="1000"/>
                                        <p:tgtEl>
                                          <p:spTgt spid="1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7" st="7"/>
                                            </p:txEl>
                                          </p:spTgt>
                                        </p:tgtEl>
                                        <p:attrNameLst>
                                          <p:attrName>style.visibility</p:attrName>
                                        </p:attrNameLst>
                                      </p:cBhvr>
                                      <p:to>
                                        <p:strVal val="visible"/>
                                      </p:to>
                                    </p:set>
                                    <p:animEffect filter="fade" transition="in">
                                      <p:cBhvr>
                                        <p:cTn dur="1000"/>
                                        <p:tgtEl>
                                          <p:spTgt spid="1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8" st="8"/>
                                            </p:txEl>
                                          </p:spTgt>
                                        </p:tgtEl>
                                        <p:attrNameLst>
                                          <p:attrName>style.visibility</p:attrName>
                                        </p:attrNameLst>
                                      </p:cBhvr>
                                      <p:to>
                                        <p:strVal val="visible"/>
                                      </p:to>
                                    </p:set>
                                    <p:animEffect filter="fade" transition="in">
                                      <p:cBhvr>
                                        <p:cTn dur="1000"/>
                                        <p:tgtEl>
                                          <p:spTgt spid="14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9" st="9"/>
                                            </p:txEl>
                                          </p:spTgt>
                                        </p:tgtEl>
                                        <p:attrNameLst>
                                          <p:attrName>style.visibility</p:attrName>
                                        </p:attrNameLst>
                                      </p:cBhvr>
                                      <p:to>
                                        <p:strVal val="visible"/>
                                      </p:to>
                                    </p:set>
                                    <p:animEffect filter="fade" transition="in">
                                      <p:cBhvr>
                                        <p:cTn dur="1000"/>
                                        <p:tgtEl>
                                          <p:spTgt spid="14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1000"/>
                                        <p:tgtEl>
                                          <p:spTgt spid="15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2ee15abed17_3_332"/>
          <p:cNvSpPr txBox="1"/>
          <p:nvPr/>
        </p:nvSpPr>
        <p:spPr>
          <a:xfrm>
            <a:off x="327600" y="386576"/>
            <a:ext cx="2827800" cy="44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02</a:t>
            </a:r>
            <a:endParaRPr b="0" i="0" sz="2000" u="none" cap="none" strike="noStrike">
              <a:solidFill>
                <a:schemeClr val="lt1"/>
              </a:solidFill>
              <a:latin typeface="Roboto"/>
              <a:ea typeface="Roboto"/>
              <a:cs typeface="Roboto"/>
              <a:sym typeface="Roboto"/>
            </a:endParaRPr>
          </a:p>
        </p:txBody>
      </p:sp>
      <p:sp>
        <p:nvSpPr>
          <p:cNvPr id="157" name="Google Shape;157;g2ee15abed17_3_332"/>
          <p:cNvSpPr txBox="1"/>
          <p:nvPr/>
        </p:nvSpPr>
        <p:spPr>
          <a:xfrm>
            <a:off x="720000" y="14242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A man is 24 years older than his son. In two years, his age will be twice the age of his son. The present age of his son is: </a:t>
            </a:r>
            <a:endParaRPr sz="1800">
              <a:solidFill>
                <a:schemeClr val="dk1"/>
              </a:solidFill>
            </a:endParaRPr>
          </a:p>
          <a:p>
            <a:pPr indent="-342900" lvl="0" marL="457200" rtl="0" algn="l">
              <a:lnSpc>
                <a:spcPct val="150000"/>
              </a:lnSpc>
              <a:spcBef>
                <a:spcPts val="800"/>
              </a:spcBef>
              <a:spcAft>
                <a:spcPts val="0"/>
              </a:spcAft>
              <a:buClr>
                <a:schemeClr val="dk1"/>
              </a:buClr>
              <a:buSzPts val="1800"/>
              <a:buAutoNum type="alphaUcPeriod"/>
            </a:pPr>
            <a:r>
              <a:rPr lang="en-GB" sz="1800">
                <a:solidFill>
                  <a:schemeClr val="dk1"/>
                </a:solidFill>
              </a:rPr>
              <a:t>14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18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20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22 years</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58" name="Google Shape;158;g2ee15abed17_3_33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D</a:t>
            </a:r>
            <a:endParaRPr b="1" i="0" sz="1600" u="none" cap="none" strike="noStrike">
              <a:solidFill>
                <a:srgbClr val="000000"/>
              </a:solidFill>
              <a:latin typeface="Roboto"/>
              <a:ea typeface="Roboto"/>
              <a:cs typeface="Roboto"/>
              <a:sym typeface="Roboto"/>
            </a:endParaRPr>
          </a:p>
        </p:txBody>
      </p:sp>
      <p:sp>
        <p:nvSpPr>
          <p:cNvPr id="159" name="Google Shape;159;g2ee15abed17_3_33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animEffect filter="fade" transition="in">
                                      <p:cBhvr>
                                        <p:cTn dur="1000"/>
                                        <p:tgtEl>
                                          <p:spTgt spid="1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animEffect filter="fade" transition="in">
                                      <p:cBhvr>
                                        <p:cTn dur="1000"/>
                                        <p:tgtEl>
                                          <p:spTgt spid="1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animEffect filter="fade" transition="in">
                                      <p:cBhvr>
                                        <p:cTn dur="1000"/>
                                        <p:tgtEl>
                                          <p:spTgt spid="1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3" st="3"/>
                                            </p:txEl>
                                          </p:spTgt>
                                        </p:tgtEl>
                                        <p:attrNameLst>
                                          <p:attrName>style.visibility</p:attrName>
                                        </p:attrNameLst>
                                      </p:cBhvr>
                                      <p:to>
                                        <p:strVal val="visible"/>
                                      </p:to>
                                    </p:set>
                                    <p:animEffect filter="fade" transition="in">
                                      <p:cBhvr>
                                        <p:cTn dur="1000"/>
                                        <p:tgtEl>
                                          <p:spTgt spid="1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4" st="4"/>
                                            </p:txEl>
                                          </p:spTgt>
                                        </p:tgtEl>
                                        <p:attrNameLst>
                                          <p:attrName>style.visibility</p:attrName>
                                        </p:attrNameLst>
                                      </p:cBhvr>
                                      <p:to>
                                        <p:strVal val="visible"/>
                                      </p:to>
                                    </p:set>
                                    <p:animEffect filter="fade" transition="in">
                                      <p:cBhvr>
                                        <p:cTn dur="1000"/>
                                        <p:tgtEl>
                                          <p:spTgt spid="1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5" st="5"/>
                                            </p:txEl>
                                          </p:spTgt>
                                        </p:tgtEl>
                                        <p:attrNameLst>
                                          <p:attrName>style.visibility</p:attrName>
                                        </p:attrNameLst>
                                      </p:cBhvr>
                                      <p:to>
                                        <p:strVal val="visible"/>
                                      </p:to>
                                    </p:set>
                                    <p:animEffect filter="fade" transition="in">
                                      <p:cBhvr>
                                        <p:cTn dur="1000"/>
                                        <p:tgtEl>
                                          <p:spTgt spid="1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1000"/>
                                        <p:tgtEl>
                                          <p:spTgt spid="15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 name="Shape 163"/>
        <p:cNvGrpSpPr/>
        <p:nvPr/>
      </p:nvGrpSpPr>
      <p:grpSpPr>
        <a:xfrm>
          <a:off x="0" y="0"/>
          <a:ext cx="0" cy="0"/>
          <a:chOff x="0" y="0"/>
          <a:chExt cx="0" cy="0"/>
        </a:xfrm>
      </p:grpSpPr>
      <p:sp>
        <p:nvSpPr>
          <p:cNvPr id="164" name="Google Shape;164;g2ee15abed17_3_339"/>
          <p:cNvSpPr txBox="1"/>
          <p:nvPr/>
        </p:nvSpPr>
        <p:spPr>
          <a:xfrm>
            <a:off x="720000" y="1440000"/>
            <a:ext cx="7028100" cy="305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Let the son's present age be </a:t>
            </a:r>
            <a:r>
              <a:rPr i="1" lang="en-GB" sz="1800">
                <a:solidFill>
                  <a:schemeClr val="dk1"/>
                </a:solidFill>
              </a:rPr>
              <a:t>x</a:t>
            </a:r>
            <a:r>
              <a:rPr lang="en-GB" sz="1800">
                <a:solidFill>
                  <a:schemeClr val="dk1"/>
                </a:solidFill>
              </a:rPr>
              <a:t> years. Then, man's present age = (</a:t>
            </a:r>
            <a:r>
              <a:rPr i="1" lang="en-GB" sz="1800">
                <a:solidFill>
                  <a:schemeClr val="dk1"/>
                </a:solidFill>
              </a:rPr>
              <a:t>x</a:t>
            </a:r>
            <a:r>
              <a:rPr lang="en-GB" sz="1800">
                <a:solidFill>
                  <a:schemeClr val="dk1"/>
                </a:solidFill>
              </a:rPr>
              <a:t> + 24) years.</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a:t>
            </a:r>
            <a:r>
              <a:rPr i="1" lang="en-GB" sz="1800">
                <a:solidFill>
                  <a:schemeClr val="dk1"/>
                </a:solidFill>
              </a:rPr>
              <a:t>x</a:t>
            </a:r>
            <a:r>
              <a:rPr lang="en-GB" sz="1800">
                <a:solidFill>
                  <a:schemeClr val="dk1"/>
                </a:solidFill>
              </a:rPr>
              <a:t> + 24) + 2 = 2(</a:t>
            </a:r>
            <a:r>
              <a:rPr i="1" lang="en-GB" sz="1800">
                <a:solidFill>
                  <a:schemeClr val="dk1"/>
                </a:solidFill>
              </a:rPr>
              <a:t>x</a:t>
            </a:r>
            <a:r>
              <a:rPr lang="en-GB" sz="1800">
                <a:solidFill>
                  <a:schemeClr val="dk1"/>
                </a:solidFill>
              </a:rPr>
              <a:t> + 2)</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i="1" lang="en-GB" sz="1800">
                <a:solidFill>
                  <a:schemeClr val="dk1"/>
                </a:solidFill>
              </a:rPr>
              <a:t>x</a:t>
            </a:r>
            <a:r>
              <a:rPr lang="en-GB" sz="1800">
                <a:solidFill>
                  <a:schemeClr val="dk1"/>
                </a:solidFill>
              </a:rPr>
              <a:t> + 26 = 2</a:t>
            </a:r>
            <a:r>
              <a:rPr i="1" lang="en-GB" sz="1800">
                <a:solidFill>
                  <a:schemeClr val="dk1"/>
                </a:solidFill>
              </a:rPr>
              <a:t>x</a:t>
            </a:r>
            <a:r>
              <a:rPr lang="en-GB" sz="1800">
                <a:solidFill>
                  <a:schemeClr val="dk1"/>
                </a:solidFill>
              </a:rPr>
              <a:t> + 4</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i="1" lang="en-GB" sz="1800">
                <a:solidFill>
                  <a:schemeClr val="dk1"/>
                </a:solidFill>
              </a:rPr>
              <a:t>x</a:t>
            </a:r>
            <a:r>
              <a:rPr lang="en-GB" sz="1800">
                <a:solidFill>
                  <a:schemeClr val="dk1"/>
                </a:solidFill>
              </a:rPr>
              <a:t> = 22.</a:t>
            </a:r>
            <a:endParaRPr sz="1800">
              <a:solidFill>
                <a:schemeClr val="dk1"/>
              </a:solidFill>
              <a:latin typeface="Roboto"/>
              <a:ea typeface="Roboto"/>
              <a:cs typeface="Roboto"/>
              <a:sym typeface="Roboto"/>
            </a:endParaRPr>
          </a:p>
        </p:txBody>
      </p:sp>
      <p:sp>
        <p:nvSpPr>
          <p:cNvPr id="165" name="Google Shape;165;g2ee15abed17_3_33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2ee15abed17_3_344"/>
          <p:cNvSpPr txBox="1"/>
          <p:nvPr/>
        </p:nvSpPr>
        <p:spPr>
          <a:xfrm>
            <a:off x="720000" y="1439875"/>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GB" sz="1800">
                <a:solidFill>
                  <a:schemeClr val="dk1"/>
                </a:solidFill>
              </a:rPr>
              <a:t>Six years ago, the ratio of the ages of Kunal and Sagar was 6 : 5. Four years hence, the ratio of their ages will be 11 : 10. What is Sagar's age at present?</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16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18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20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None of these</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71" name="Google Shape;171;g2ee15abed17_3_344"/>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a:t>
            </a:r>
            <a:r>
              <a:rPr b="1" lang="en-GB" sz="1600">
                <a:latin typeface="Roboto"/>
                <a:ea typeface="Roboto"/>
                <a:cs typeface="Roboto"/>
                <a:sym typeface="Roboto"/>
              </a:rPr>
              <a:t>A</a:t>
            </a:r>
            <a:endParaRPr b="1" i="0" sz="1700" u="none" cap="none" strike="noStrike">
              <a:solidFill>
                <a:srgbClr val="000000"/>
              </a:solidFill>
              <a:latin typeface="Roboto"/>
              <a:ea typeface="Roboto"/>
              <a:cs typeface="Roboto"/>
              <a:sym typeface="Roboto"/>
            </a:endParaRPr>
          </a:p>
        </p:txBody>
      </p:sp>
      <p:sp>
        <p:nvSpPr>
          <p:cNvPr id="172" name="Google Shape;172;g2ee15abed17_3_344"/>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Effect filter="fade" transition="in">
                                      <p:cBhvr>
                                        <p:cTn dur="1000"/>
                                        <p:tgtEl>
                                          <p:spTgt spid="1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Effect filter="fade" transition="in">
                                      <p:cBhvr>
                                        <p:cTn dur="1000"/>
                                        <p:tgtEl>
                                          <p:spTgt spid="1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Effect filter="fade" transition="in">
                                      <p:cBhvr>
                                        <p:cTn dur="1000"/>
                                        <p:tgtEl>
                                          <p:spTgt spid="1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animEffect filter="fade" transition="in">
                                      <p:cBhvr>
                                        <p:cTn dur="1000"/>
                                        <p:tgtEl>
                                          <p:spTgt spid="1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4" st="4"/>
                                            </p:txEl>
                                          </p:spTgt>
                                        </p:tgtEl>
                                        <p:attrNameLst>
                                          <p:attrName>style.visibility</p:attrName>
                                        </p:attrNameLst>
                                      </p:cBhvr>
                                      <p:to>
                                        <p:strVal val="visible"/>
                                      </p:to>
                                    </p:set>
                                    <p:animEffect filter="fade" transition="in">
                                      <p:cBhvr>
                                        <p:cTn dur="1000"/>
                                        <p:tgtEl>
                                          <p:spTgt spid="1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5" st="5"/>
                                            </p:txEl>
                                          </p:spTgt>
                                        </p:tgtEl>
                                        <p:attrNameLst>
                                          <p:attrName>style.visibility</p:attrName>
                                        </p:attrNameLst>
                                      </p:cBhvr>
                                      <p:to>
                                        <p:strVal val="visible"/>
                                      </p:to>
                                    </p:set>
                                    <p:animEffect filter="fade" transition="in">
                                      <p:cBhvr>
                                        <p:cTn dur="1000"/>
                                        <p:tgtEl>
                                          <p:spTgt spid="1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6" name="Shape 176"/>
        <p:cNvGrpSpPr/>
        <p:nvPr/>
      </p:nvGrpSpPr>
      <p:grpSpPr>
        <a:xfrm>
          <a:off x="0" y="0"/>
          <a:ext cx="0" cy="0"/>
          <a:chOff x="0" y="0"/>
          <a:chExt cx="0" cy="0"/>
        </a:xfrm>
      </p:grpSpPr>
      <p:sp>
        <p:nvSpPr>
          <p:cNvPr id="177" name="Google Shape;177;g2ee15abed17_3_350"/>
          <p:cNvSpPr txBox="1"/>
          <p:nvPr/>
        </p:nvSpPr>
        <p:spPr>
          <a:xfrm>
            <a:off x="720000" y="1439875"/>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Let the ages of Kunal and Sagar 6 years ago be 6</a:t>
            </a:r>
            <a:r>
              <a:rPr i="1" lang="en-GB" sz="1800">
                <a:solidFill>
                  <a:schemeClr val="dk1"/>
                </a:solidFill>
              </a:rPr>
              <a:t>x</a:t>
            </a:r>
            <a:r>
              <a:rPr lang="en-GB" sz="1800">
                <a:solidFill>
                  <a:schemeClr val="dk1"/>
                </a:solidFill>
              </a:rPr>
              <a:t> and 5</a:t>
            </a:r>
            <a:r>
              <a:rPr i="1" lang="en-GB" sz="1800">
                <a:solidFill>
                  <a:schemeClr val="dk1"/>
                </a:solidFill>
              </a:rPr>
              <a:t>x</a:t>
            </a:r>
            <a:r>
              <a:rPr lang="en-GB" sz="1800">
                <a:solidFill>
                  <a:schemeClr val="dk1"/>
                </a:solidFill>
              </a:rPr>
              <a:t> years respectively.</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Then, ((6</a:t>
            </a:r>
            <a:r>
              <a:rPr i="1" lang="en-GB" sz="1800">
                <a:solidFill>
                  <a:schemeClr val="dk1"/>
                </a:solidFill>
              </a:rPr>
              <a:t>x</a:t>
            </a:r>
            <a:r>
              <a:rPr lang="en-GB" sz="1800">
                <a:solidFill>
                  <a:schemeClr val="dk1"/>
                </a:solidFill>
              </a:rPr>
              <a:t> + 6) + 4 ) / ((5</a:t>
            </a:r>
            <a:r>
              <a:rPr i="1" lang="en-GB" sz="1800">
                <a:solidFill>
                  <a:schemeClr val="dk1"/>
                </a:solidFill>
              </a:rPr>
              <a:t>x</a:t>
            </a:r>
            <a:r>
              <a:rPr lang="en-GB" sz="1800">
                <a:solidFill>
                  <a:schemeClr val="dk1"/>
                </a:solidFill>
              </a:rPr>
              <a:t> + 6) + 4) = 11/10</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10(6</a:t>
            </a:r>
            <a:r>
              <a:rPr i="1" lang="en-GB" sz="1800">
                <a:solidFill>
                  <a:schemeClr val="dk1"/>
                </a:solidFill>
              </a:rPr>
              <a:t>x</a:t>
            </a:r>
            <a:r>
              <a:rPr lang="en-GB" sz="1800">
                <a:solidFill>
                  <a:schemeClr val="dk1"/>
                </a:solidFill>
              </a:rPr>
              <a:t> + 10) = 11(5</a:t>
            </a:r>
            <a:r>
              <a:rPr i="1" lang="en-GB" sz="1800">
                <a:solidFill>
                  <a:schemeClr val="dk1"/>
                </a:solidFill>
              </a:rPr>
              <a:t>x</a:t>
            </a:r>
            <a:r>
              <a:rPr lang="en-GB" sz="1800">
                <a:solidFill>
                  <a:schemeClr val="dk1"/>
                </a:solidFill>
              </a:rPr>
              <a:t> + 10)</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5</a:t>
            </a:r>
            <a:r>
              <a:rPr i="1" lang="en-GB" sz="1800">
                <a:solidFill>
                  <a:schemeClr val="dk1"/>
                </a:solidFill>
              </a:rPr>
              <a:t>x</a:t>
            </a:r>
            <a:r>
              <a:rPr lang="en-GB" sz="1800">
                <a:solidFill>
                  <a:schemeClr val="dk1"/>
                </a:solidFill>
              </a:rPr>
              <a:t> = 10</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i="1" lang="en-GB" sz="1800">
                <a:solidFill>
                  <a:schemeClr val="dk1"/>
                </a:solidFill>
              </a:rPr>
              <a:t>x</a:t>
            </a:r>
            <a:r>
              <a:rPr lang="en-GB" sz="1800">
                <a:solidFill>
                  <a:schemeClr val="dk1"/>
                </a:solidFill>
              </a:rPr>
              <a:t> = 2.</a:t>
            </a:r>
            <a:endParaRPr sz="1800">
              <a:solidFill>
                <a:schemeClr val="dk1"/>
              </a:solidFill>
            </a:endParaRPr>
          </a:p>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Sagar's present age = (5</a:t>
            </a:r>
            <a:r>
              <a:rPr i="1" lang="en-GB" sz="1800">
                <a:solidFill>
                  <a:schemeClr val="dk1"/>
                </a:solidFill>
              </a:rPr>
              <a:t>x</a:t>
            </a:r>
            <a:r>
              <a:rPr lang="en-GB" sz="1800">
                <a:solidFill>
                  <a:schemeClr val="dk1"/>
                </a:solidFill>
              </a:rPr>
              <a:t> + 6) = 16 years.</a:t>
            </a:r>
            <a:endParaRPr sz="1800">
              <a:solidFill>
                <a:schemeClr val="dk1"/>
              </a:solidFill>
              <a:latin typeface="Roboto"/>
              <a:ea typeface="Roboto"/>
              <a:cs typeface="Roboto"/>
              <a:sym typeface="Roboto"/>
            </a:endParaRPr>
          </a:p>
        </p:txBody>
      </p:sp>
      <p:sp>
        <p:nvSpPr>
          <p:cNvPr id="178" name="Google Shape;178;g2ee15abed17_3_350"/>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ee15abed17_3_356"/>
          <p:cNvSpPr txBox="1"/>
          <p:nvPr/>
        </p:nvSpPr>
        <p:spPr>
          <a:xfrm>
            <a:off x="327600" y="402400"/>
            <a:ext cx="28278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04</a:t>
            </a:r>
            <a:endParaRPr b="0" i="0" sz="2000" u="none" cap="none" strike="noStrike">
              <a:solidFill>
                <a:schemeClr val="lt1"/>
              </a:solidFill>
              <a:latin typeface="Roboto"/>
              <a:ea typeface="Roboto"/>
              <a:cs typeface="Roboto"/>
              <a:sym typeface="Roboto"/>
            </a:endParaRPr>
          </a:p>
        </p:txBody>
      </p:sp>
      <p:sp>
        <p:nvSpPr>
          <p:cNvPr id="184" name="Google Shape;184;g2ee15abed17_3_356"/>
          <p:cNvSpPr txBox="1"/>
          <p:nvPr/>
        </p:nvSpPr>
        <p:spPr>
          <a:xfrm>
            <a:off x="720000" y="1440000"/>
            <a:ext cx="75441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lang="en-GB" sz="1800">
                <a:solidFill>
                  <a:schemeClr val="dk1"/>
                </a:solidFill>
                <a:highlight>
                  <a:schemeClr val="lt1"/>
                </a:highlight>
              </a:rPr>
              <a:t>The sum of the present ages of a father and his son is 60 years. Six years ago, father's age was five times the age of the son. After 6 years, son's age will be:</a:t>
            </a:r>
            <a:endParaRPr sz="1800">
              <a:solidFill>
                <a:schemeClr val="dk1"/>
              </a:solidFill>
              <a:highlight>
                <a:schemeClr val="lt1"/>
              </a:highlight>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highlight>
                  <a:schemeClr val="lt1"/>
                </a:highlight>
              </a:rPr>
              <a:t>12 years</a:t>
            </a:r>
            <a:endParaRPr sz="1800">
              <a:solidFill>
                <a:schemeClr val="dk1"/>
              </a:solidFill>
              <a:highlight>
                <a:schemeClr val="lt1"/>
              </a:highlight>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highlight>
                  <a:schemeClr val="lt1"/>
                </a:highlight>
              </a:rPr>
              <a:t>14 years</a:t>
            </a:r>
            <a:endParaRPr sz="1800">
              <a:solidFill>
                <a:schemeClr val="dk1"/>
              </a:solidFill>
              <a:highlight>
                <a:schemeClr val="lt1"/>
              </a:highlight>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highlight>
                  <a:schemeClr val="lt1"/>
                </a:highlight>
              </a:rPr>
              <a:t>18 years</a:t>
            </a:r>
            <a:endParaRPr sz="1800">
              <a:solidFill>
                <a:schemeClr val="dk1"/>
              </a:solidFill>
              <a:highlight>
                <a:schemeClr val="lt1"/>
              </a:highlight>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highlight>
                  <a:schemeClr val="lt1"/>
                </a:highlight>
              </a:rPr>
              <a:t>20 years</a:t>
            </a:r>
            <a:endParaRPr sz="18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800"/>
              </a:spcAft>
              <a:buClr>
                <a:srgbClr val="000000"/>
              </a:buClr>
              <a:buSzPts val="105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85" name="Google Shape;185;g2ee15abed17_3_356"/>
          <p:cNvSpPr txBox="1"/>
          <p:nvPr/>
        </p:nvSpPr>
        <p:spPr>
          <a:xfrm>
            <a:off x="7189500" y="4171350"/>
            <a:ext cx="16254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a:t>
            </a:r>
            <a:r>
              <a:rPr b="1" lang="en-GB" sz="1600">
                <a:latin typeface="Roboto"/>
                <a:ea typeface="Roboto"/>
                <a:cs typeface="Roboto"/>
                <a:sym typeface="Roboto"/>
              </a:rPr>
              <a:t> D</a:t>
            </a:r>
            <a:endParaRPr b="1" i="0" sz="1600" u="none" cap="none" strike="noStrike">
              <a:solidFill>
                <a:srgbClr val="000000"/>
              </a:solidFill>
              <a:latin typeface="Roboto"/>
              <a:ea typeface="Roboto"/>
              <a:cs typeface="Roboto"/>
              <a:sym typeface="Roboto"/>
            </a:endParaRPr>
          </a:p>
        </p:txBody>
      </p:sp>
      <p:sp>
        <p:nvSpPr>
          <p:cNvPr id="186" name="Google Shape;186;g2ee15abed17_3_35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animEffect filter="fade" transition="in">
                                      <p:cBhvr>
                                        <p:cTn dur="1000"/>
                                        <p:tgtEl>
                                          <p:spTgt spid="1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animEffect filter="fade" transition="in">
                                      <p:cBhvr>
                                        <p:cTn dur="1000"/>
                                        <p:tgtEl>
                                          <p:spTgt spid="1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animEffect filter="fade" transition="in">
                                      <p:cBhvr>
                                        <p:cTn dur="1000"/>
                                        <p:tgtEl>
                                          <p:spTgt spid="1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animEffect filter="fade" transition="in">
                                      <p:cBhvr>
                                        <p:cTn dur="1000"/>
                                        <p:tgtEl>
                                          <p:spTgt spid="1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animEffect filter="fade" transition="in">
                                      <p:cBhvr>
                                        <p:cTn dur="1000"/>
                                        <p:tgtEl>
                                          <p:spTgt spid="1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5" st="5"/>
                                            </p:txEl>
                                          </p:spTgt>
                                        </p:tgtEl>
                                        <p:attrNameLst>
                                          <p:attrName>style.visibility</p:attrName>
                                        </p:attrNameLst>
                                      </p:cBhvr>
                                      <p:to>
                                        <p:strVal val="visible"/>
                                      </p:to>
                                    </p:set>
                                    <p:animEffect filter="fade" transition="in">
                                      <p:cBhvr>
                                        <p:cTn dur="1000"/>
                                        <p:tgtEl>
                                          <p:spTgt spid="1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6" st="6"/>
                                            </p:txEl>
                                          </p:spTgt>
                                        </p:tgtEl>
                                        <p:attrNameLst>
                                          <p:attrName>style.visibility</p:attrName>
                                        </p:attrNameLst>
                                      </p:cBhvr>
                                      <p:to>
                                        <p:strVal val="visible"/>
                                      </p:to>
                                    </p:set>
                                    <p:animEffect filter="fade" transition="in">
                                      <p:cBhvr>
                                        <p:cTn dur="1000"/>
                                        <p:tgtEl>
                                          <p:spTgt spid="18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animEffect filter="fade" transition="in">
                                      <p:cBhvr>
                                        <p:cTn dur="1000"/>
                                        <p:tgtEl>
                                          <p:spTgt spid="18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0" name="Shape 190"/>
        <p:cNvGrpSpPr/>
        <p:nvPr/>
      </p:nvGrpSpPr>
      <p:grpSpPr>
        <a:xfrm>
          <a:off x="0" y="0"/>
          <a:ext cx="0" cy="0"/>
          <a:chOff x="0" y="0"/>
          <a:chExt cx="0" cy="0"/>
        </a:xfrm>
      </p:grpSpPr>
      <p:sp>
        <p:nvSpPr>
          <p:cNvPr id="191" name="Google Shape;191;g2ee15abed17_3_363"/>
          <p:cNvSpPr txBox="1"/>
          <p:nvPr/>
        </p:nvSpPr>
        <p:spPr>
          <a:xfrm>
            <a:off x="720000" y="1439875"/>
            <a:ext cx="7265400" cy="27900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15000"/>
              </a:lnSpc>
              <a:spcBef>
                <a:spcPts val="1200"/>
              </a:spcBef>
              <a:spcAft>
                <a:spcPts val="0"/>
              </a:spcAft>
              <a:buClr>
                <a:schemeClr val="dk1"/>
              </a:buClr>
              <a:buSzPts val="1100"/>
              <a:buFont typeface="Arial"/>
              <a:buNone/>
            </a:pPr>
            <a:r>
              <a:rPr lang="en-GB" sz="1800">
                <a:solidFill>
                  <a:schemeClr val="dk1"/>
                </a:solidFill>
              </a:rPr>
              <a:t>Let the present ages of son and father be </a:t>
            </a:r>
            <a:r>
              <a:rPr i="1" lang="en-GB" sz="1800">
                <a:solidFill>
                  <a:schemeClr val="dk1"/>
                </a:solidFill>
              </a:rPr>
              <a:t>x</a:t>
            </a:r>
            <a:r>
              <a:rPr lang="en-GB" sz="1800">
                <a:solidFill>
                  <a:schemeClr val="dk1"/>
                </a:solidFill>
              </a:rPr>
              <a:t> and (60 -</a:t>
            </a:r>
            <a:r>
              <a:rPr i="1" lang="en-GB" sz="1800">
                <a:solidFill>
                  <a:schemeClr val="dk1"/>
                </a:solidFill>
              </a:rPr>
              <a:t>x</a:t>
            </a:r>
            <a:r>
              <a:rPr lang="en-GB" sz="1800">
                <a:solidFill>
                  <a:schemeClr val="dk1"/>
                </a:solidFill>
              </a:rPr>
              <a:t>) years respectively.</a:t>
            </a:r>
            <a:endParaRPr sz="1800">
              <a:solidFill>
                <a:schemeClr val="dk1"/>
              </a:solidFill>
            </a:endParaRPr>
          </a:p>
          <a:p>
            <a:pPr indent="0" lvl="0" marL="0" rtl="0" algn="just">
              <a:lnSpc>
                <a:spcPct val="115000"/>
              </a:lnSpc>
              <a:spcBef>
                <a:spcPts val="1200"/>
              </a:spcBef>
              <a:spcAft>
                <a:spcPts val="0"/>
              </a:spcAft>
              <a:buClr>
                <a:schemeClr val="dk1"/>
              </a:buClr>
              <a:buSzPts val="1400"/>
              <a:buFont typeface="Arial"/>
              <a:buNone/>
            </a:pPr>
            <a:r>
              <a:rPr lang="en-GB" sz="1800">
                <a:solidFill>
                  <a:schemeClr val="dk1"/>
                </a:solidFill>
              </a:rPr>
              <a:t>Then, (60 - </a:t>
            </a:r>
            <a:r>
              <a:rPr i="1" lang="en-GB" sz="1800">
                <a:solidFill>
                  <a:schemeClr val="dk1"/>
                </a:solidFill>
              </a:rPr>
              <a:t>x</a:t>
            </a:r>
            <a:r>
              <a:rPr lang="en-GB" sz="1800">
                <a:solidFill>
                  <a:schemeClr val="dk1"/>
                </a:solidFill>
              </a:rPr>
              <a:t>) - 6 = 5(</a:t>
            </a:r>
            <a:r>
              <a:rPr i="1" lang="en-GB" sz="1800">
                <a:solidFill>
                  <a:schemeClr val="dk1"/>
                </a:solidFill>
              </a:rPr>
              <a:t>x</a:t>
            </a:r>
            <a:r>
              <a:rPr lang="en-GB" sz="1800">
                <a:solidFill>
                  <a:schemeClr val="dk1"/>
                </a:solidFill>
              </a:rPr>
              <a:t> - 6)</a:t>
            </a:r>
            <a:endParaRPr sz="1800">
              <a:solidFill>
                <a:schemeClr val="dk1"/>
              </a:solidFill>
            </a:endParaRPr>
          </a:p>
          <a:p>
            <a:pPr indent="0" lvl="0" marL="0" rtl="0" algn="just">
              <a:lnSpc>
                <a:spcPct val="115000"/>
              </a:lnSpc>
              <a:spcBef>
                <a:spcPts val="1200"/>
              </a:spcBef>
              <a:spcAft>
                <a:spcPts val="0"/>
              </a:spcAft>
              <a:buClr>
                <a:schemeClr val="dk1"/>
              </a:buClr>
              <a:buSzPts val="1400"/>
              <a:buFont typeface="Arial"/>
              <a:buNone/>
            </a:pPr>
            <a:r>
              <a:rPr lang="en-GB" sz="1800">
                <a:solidFill>
                  <a:schemeClr val="dk1"/>
                </a:solidFill>
              </a:rPr>
              <a:t>54 - </a:t>
            </a:r>
            <a:r>
              <a:rPr i="1" lang="en-GB" sz="1800">
                <a:solidFill>
                  <a:schemeClr val="dk1"/>
                </a:solidFill>
              </a:rPr>
              <a:t>x</a:t>
            </a:r>
            <a:r>
              <a:rPr lang="en-GB" sz="1800">
                <a:solidFill>
                  <a:schemeClr val="dk1"/>
                </a:solidFill>
              </a:rPr>
              <a:t> = 5</a:t>
            </a:r>
            <a:r>
              <a:rPr i="1" lang="en-GB" sz="1800">
                <a:solidFill>
                  <a:schemeClr val="dk1"/>
                </a:solidFill>
              </a:rPr>
              <a:t>x</a:t>
            </a:r>
            <a:r>
              <a:rPr lang="en-GB" sz="1800">
                <a:solidFill>
                  <a:schemeClr val="dk1"/>
                </a:solidFill>
              </a:rPr>
              <a:t> - 30</a:t>
            </a:r>
            <a:endParaRPr sz="1800">
              <a:solidFill>
                <a:schemeClr val="dk1"/>
              </a:solidFill>
            </a:endParaRPr>
          </a:p>
          <a:p>
            <a:pPr indent="0" lvl="0" marL="0" rtl="0" algn="just">
              <a:lnSpc>
                <a:spcPct val="115000"/>
              </a:lnSpc>
              <a:spcBef>
                <a:spcPts val="1200"/>
              </a:spcBef>
              <a:spcAft>
                <a:spcPts val="0"/>
              </a:spcAft>
              <a:buClr>
                <a:schemeClr val="dk1"/>
              </a:buClr>
              <a:buSzPts val="1400"/>
              <a:buFont typeface="Arial"/>
              <a:buNone/>
            </a:pPr>
            <a:r>
              <a:rPr lang="en-GB" sz="1800">
                <a:solidFill>
                  <a:schemeClr val="dk1"/>
                </a:solidFill>
              </a:rPr>
              <a:t>6</a:t>
            </a:r>
            <a:r>
              <a:rPr i="1" lang="en-GB" sz="1800">
                <a:solidFill>
                  <a:schemeClr val="dk1"/>
                </a:solidFill>
              </a:rPr>
              <a:t>x</a:t>
            </a:r>
            <a:r>
              <a:rPr lang="en-GB" sz="1800">
                <a:solidFill>
                  <a:schemeClr val="dk1"/>
                </a:solidFill>
              </a:rPr>
              <a:t> = 84</a:t>
            </a:r>
            <a:endParaRPr sz="1800">
              <a:solidFill>
                <a:schemeClr val="dk1"/>
              </a:solidFill>
            </a:endParaRPr>
          </a:p>
          <a:p>
            <a:pPr indent="0" lvl="0" marL="0" rtl="0" algn="just">
              <a:lnSpc>
                <a:spcPct val="115000"/>
              </a:lnSpc>
              <a:spcBef>
                <a:spcPts val="1200"/>
              </a:spcBef>
              <a:spcAft>
                <a:spcPts val="0"/>
              </a:spcAft>
              <a:buClr>
                <a:schemeClr val="dk1"/>
              </a:buClr>
              <a:buSzPts val="1400"/>
              <a:buFont typeface="Arial"/>
              <a:buNone/>
            </a:pPr>
            <a:r>
              <a:rPr i="1" lang="en-GB" sz="1800">
                <a:solidFill>
                  <a:schemeClr val="dk1"/>
                </a:solidFill>
              </a:rPr>
              <a:t>x</a:t>
            </a:r>
            <a:r>
              <a:rPr lang="en-GB" sz="1800">
                <a:solidFill>
                  <a:schemeClr val="dk1"/>
                </a:solidFill>
              </a:rPr>
              <a:t> = 14.</a:t>
            </a:r>
            <a:endParaRPr sz="1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800">
                <a:solidFill>
                  <a:schemeClr val="dk1"/>
                </a:solidFill>
              </a:rPr>
              <a:t>Son's age after 6 years = (</a:t>
            </a:r>
            <a:r>
              <a:rPr i="1" lang="en-GB" sz="1800">
                <a:solidFill>
                  <a:schemeClr val="dk1"/>
                </a:solidFill>
              </a:rPr>
              <a:t>x</a:t>
            </a:r>
            <a:r>
              <a:rPr lang="en-GB" sz="1800">
                <a:solidFill>
                  <a:schemeClr val="dk1"/>
                </a:solidFill>
              </a:rPr>
              <a:t>+ 6) = 20 years.</a:t>
            </a:r>
            <a:endParaRPr sz="1800">
              <a:solidFill>
                <a:schemeClr val="dk1"/>
              </a:solidFill>
              <a:latin typeface="Roboto"/>
              <a:ea typeface="Roboto"/>
              <a:cs typeface="Roboto"/>
              <a:sym typeface="Roboto"/>
            </a:endParaRPr>
          </a:p>
        </p:txBody>
      </p:sp>
      <p:sp>
        <p:nvSpPr>
          <p:cNvPr id="192" name="Google Shape;192;g2ee15abed17_3_36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2ee15abed17_3_369"/>
          <p:cNvSpPr txBox="1"/>
          <p:nvPr/>
        </p:nvSpPr>
        <p:spPr>
          <a:xfrm>
            <a:off x="327600" y="396716"/>
            <a:ext cx="2827800" cy="43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05</a:t>
            </a:r>
            <a:endParaRPr b="0" i="0" sz="2000" u="none" cap="none" strike="noStrike">
              <a:solidFill>
                <a:schemeClr val="lt1"/>
              </a:solidFill>
              <a:latin typeface="Roboto"/>
              <a:ea typeface="Roboto"/>
              <a:cs typeface="Roboto"/>
              <a:sym typeface="Roboto"/>
            </a:endParaRPr>
          </a:p>
        </p:txBody>
      </p:sp>
      <p:sp>
        <p:nvSpPr>
          <p:cNvPr id="198" name="Google Shape;198;g2ee15abed17_3_369"/>
          <p:cNvSpPr txBox="1"/>
          <p:nvPr/>
        </p:nvSpPr>
        <p:spPr>
          <a:xfrm>
            <a:off x="746400" y="1439875"/>
            <a:ext cx="7862400" cy="357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At present, the ratio between the ages of Arun and Deepak is 4 : 3. After 6 years, Arun's age will be 26 years. What is the age of Deepak at present ? </a:t>
            </a:r>
            <a:endParaRPr sz="1800">
              <a:solidFill>
                <a:schemeClr val="dk1"/>
              </a:solidFill>
            </a:endParaRPr>
          </a:p>
          <a:p>
            <a:pPr indent="-342900" lvl="0" marL="457200" rtl="0" algn="just">
              <a:lnSpc>
                <a:spcPct val="150000"/>
              </a:lnSpc>
              <a:spcBef>
                <a:spcPts val="800"/>
              </a:spcBef>
              <a:spcAft>
                <a:spcPts val="0"/>
              </a:spcAft>
              <a:buClr>
                <a:schemeClr val="dk1"/>
              </a:buClr>
              <a:buSzPts val="1800"/>
              <a:buAutoNum type="alphaUcPeriod"/>
            </a:pPr>
            <a:r>
              <a:rPr lang="en-GB" sz="1800">
                <a:solidFill>
                  <a:schemeClr val="dk1"/>
                </a:solidFill>
              </a:rPr>
              <a:t>12 years</a:t>
            </a:r>
            <a:endParaRPr sz="1800">
              <a:solidFill>
                <a:schemeClr val="dk1"/>
              </a:solidFill>
            </a:endParaRPr>
          </a:p>
          <a:p>
            <a:pPr indent="-342900" lvl="0" marL="457200" rtl="0" algn="just">
              <a:lnSpc>
                <a:spcPct val="150000"/>
              </a:lnSpc>
              <a:spcBef>
                <a:spcPts val="0"/>
              </a:spcBef>
              <a:spcAft>
                <a:spcPts val="0"/>
              </a:spcAft>
              <a:buClr>
                <a:schemeClr val="dk1"/>
              </a:buClr>
              <a:buSzPts val="1800"/>
              <a:buAutoNum type="alphaUcPeriod"/>
            </a:pPr>
            <a:r>
              <a:rPr lang="en-GB" sz="1800">
                <a:solidFill>
                  <a:schemeClr val="dk1"/>
                </a:solidFill>
              </a:rPr>
              <a:t>15 years</a:t>
            </a:r>
            <a:endParaRPr sz="1800">
              <a:solidFill>
                <a:schemeClr val="dk1"/>
              </a:solidFill>
            </a:endParaRPr>
          </a:p>
          <a:p>
            <a:pPr indent="-342900" lvl="0" marL="457200" rtl="0" algn="just">
              <a:lnSpc>
                <a:spcPct val="150000"/>
              </a:lnSpc>
              <a:spcBef>
                <a:spcPts val="0"/>
              </a:spcBef>
              <a:spcAft>
                <a:spcPts val="0"/>
              </a:spcAft>
              <a:buClr>
                <a:schemeClr val="dk1"/>
              </a:buClr>
              <a:buSzPts val="1800"/>
              <a:buAutoNum type="alphaUcPeriod"/>
            </a:pPr>
            <a:r>
              <a:rPr lang="en-GB" sz="1800">
                <a:solidFill>
                  <a:schemeClr val="dk1"/>
                </a:solidFill>
              </a:rPr>
              <a:t>19 and half</a:t>
            </a:r>
            <a:endParaRPr sz="1800">
              <a:solidFill>
                <a:schemeClr val="dk1"/>
              </a:solidFill>
            </a:endParaRPr>
          </a:p>
          <a:p>
            <a:pPr indent="-342900" lvl="0" marL="457200" rtl="0" algn="just">
              <a:lnSpc>
                <a:spcPct val="150000"/>
              </a:lnSpc>
              <a:spcBef>
                <a:spcPts val="0"/>
              </a:spcBef>
              <a:spcAft>
                <a:spcPts val="0"/>
              </a:spcAft>
              <a:buClr>
                <a:schemeClr val="dk1"/>
              </a:buClr>
              <a:buSzPts val="1800"/>
              <a:buAutoNum type="alphaUcPeriod"/>
            </a:pPr>
            <a:r>
              <a:rPr lang="en-GB" sz="1800">
                <a:solidFill>
                  <a:schemeClr val="dk1"/>
                </a:solidFill>
              </a:rPr>
              <a:t>21 years</a:t>
            </a:r>
            <a:endParaRPr sz="18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199" name="Google Shape;199;g2ee15abed17_3_36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B</a:t>
            </a:r>
            <a:endParaRPr b="1" i="0" sz="1600" u="none" cap="none" strike="noStrike">
              <a:solidFill>
                <a:srgbClr val="000000"/>
              </a:solidFill>
              <a:latin typeface="Roboto"/>
              <a:ea typeface="Roboto"/>
              <a:cs typeface="Roboto"/>
              <a:sym typeface="Roboto"/>
            </a:endParaRPr>
          </a:p>
        </p:txBody>
      </p:sp>
      <p:sp>
        <p:nvSpPr>
          <p:cNvPr id="200" name="Google Shape;200;g2ee15abed17_3_36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animEffect filter="fade" transition="in">
                                      <p:cBhvr>
                                        <p:cTn dur="1000"/>
                                        <p:tgtEl>
                                          <p:spTgt spid="1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animEffect filter="fade" transition="in">
                                      <p:cBhvr>
                                        <p:cTn dur="1000"/>
                                        <p:tgtEl>
                                          <p:spTgt spid="1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animEffect filter="fade" transition="in">
                                      <p:cBhvr>
                                        <p:cTn dur="1000"/>
                                        <p:tgtEl>
                                          <p:spTgt spid="1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animEffect filter="fade" transition="in">
                                      <p:cBhvr>
                                        <p:cTn dur="1000"/>
                                        <p:tgtEl>
                                          <p:spTgt spid="1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animEffect filter="fade" transition="in">
                                      <p:cBhvr>
                                        <p:cTn dur="1000"/>
                                        <p:tgtEl>
                                          <p:spTgt spid="1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animEffect filter="fade" transition="in">
                                      <p:cBhvr>
                                        <p:cTn dur="1000"/>
                                        <p:tgtEl>
                                          <p:spTgt spid="1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Effect filter="fade" transition="in">
                                      <p:cBhvr>
                                        <p:cTn dur="1000"/>
                                        <p:tgtEl>
                                          <p:spTgt spid="19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 name="Shape 204"/>
        <p:cNvGrpSpPr/>
        <p:nvPr/>
      </p:nvGrpSpPr>
      <p:grpSpPr>
        <a:xfrm>
          <a:off x="0" y="0"/>
          <a:ext cx="0" cy="0"/>
          <a:chOff x="0" y="0"/>
          <a:chExt cx="0" cy="0"/>
        </a:xfrm>
      </p:grpSpPr>
      <p:sp>
        <p:nvSpPr>
          <p:cNvPr id="205" name="Google Shape;205;g2ee15abed17_3_376"/>
          <p:cNvSpPr txBox="1"/>
          <p:nvPr/>
        </p:nvSpPr>
        <p:spPr>
          <a:xfrm>
            <a:off x="327600" y="7781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06" name="Google Shape;206;g2ee15abed17_3_376"/>
          <p:cNvSpPr txBox="1"/>
          <p:nvPr/>
        </p:nvSpPr>
        <p:spPr>
          <a:xfrm>
            <a:off x="1066875" y="1640550"/>
            <a:ext cx="7221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07" name="Google Shape;207;g2ee15abed17_3_376"/>
          <p:cNvSpPr txBox="1"/>
          <p:nvPr/>
        </p:nvSpPr>
        <p:spPr>
          <a:xfrm>
            <a:off x="630000" y="1354400"/>
            <a:ext cx="7474200" cy="25398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Let the present ages of Arun and Deepak be 4</a:t>
            </a:r>
            <a:r>
              <a:rPr i="1" lang="en-GB" sz="1800">
                <a:solidFill>
                  <a:schemeClr val="dk1"/>
                </a:solidFill>
              </a:rPr>
              <a:t>x</a:t>
            </a:r>
            <a:r>
              <a:rPr lang="en-GB" sz="1800">
                <a:solidFill>
                  <a:schemeClr val="dk1"/>
                </a:solidFill>
              </a:rPr>
              <a:t> years and 3</a:t>
            </a:r>
            <a:r>
              <a:rPr i="1" lang="en-GB" sz="1800">
                <a:solidFill>
                  <a:schemeClr val="dk1"/>
                </a:solidFill>
              </a:rPr>
              <a:t>x</a:t>
            </a:r>
            <a:r>
              <a:rPr lang="en-GB" sz="1800">
                <a:solidFill>
                  <a:schemeClr val="dk1"/>
                </a:solidFill>
              </a:rPr>
              <a:t> years respectively. Then,</a:t>
            </a:r>
            <a:endParaRPr sz="1800">
              <a:solidFill>
                <a:schemeClr val="dk1"/>
              </a:solidFill>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4</a:t>
            </a:r>
            <a:r>
              <a:rPr i="1" lang="en-GB" sz="1800">
                <a:solidFill>
                  <a:schemeClr val="dk1"/>
                </a:solidFill>
              </a:rPr>
              <a:t>x</a:t>
            </a:r>
            <a:r>
              <a:rPr lang="en-GB" sz="1800">
                <a:solidFill>
                  <a:schemeClr val="dk1"/>
                </a:solidFill>
              </a:rPr>
              <a:t> + 6 = 26 </a:t>
            </a:r>
            <a:endParaRPr sz="1800">
              <a:solidFill>
                <a:schemeClr val="dk1"/>
              </a:solidFill>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4</a:t>
            </a:r>
            <a:r>
              <a:rPr i="1" lang="en-GB" sz="1800">
                <a:solidFill>
                  <a:schemeClr val="dk1"/>
                </a:solidFill>
              </a:rPr>
              <a:t>x</a:t>
            </a:r>
            <a:r>
              <a:rPr lang="en-GB" sz="1800">
                <a:solidFill>
                  <a:schemeClr val="dk1"/>
                </a:solidFill>
              </a:rPr>
              <a:t> = 20</a:t>
            </a:r>
            <a:endParaRPr sz="1800">
              <a:solidFill>
                <a:schemeClr val="dk1"/>
              </a:solidFill>
            </a:endParaRPr>
          </a:p>
          <a:p>
            <a:pPr indent="0" lvl="0" marL="0" rtl="0" algn="just">
              <a:lnSpc>
                <a:spcPct val="150000"/>
              </a:lnSpc>
              <a:spcBef>
                <a:spcPts val="0"/>
              </a:spcBef>
              <a:spcAft>
                <a:spcPts val="0"/>
              </a:spcAft>
              <a:buClr>
                <a:schemeClr val="dk1"/>
              </a:buClr>
              <a:buSzPts val="1400"/>
              <a:buFont typeface="Arial"/>
              <a:buNone/>
            </a:pPr>
            <a:r>
              <a:rPr i="1" lang="en-GB" sz="1800">
                <a:solidFill>
                  <a:schemeClr val="dk1"/>
                </a:solidFill>
              </a:rPr>
              <a:t>x</a:t>
            </a:r>
            <a:r>
              <a:rPr lang="en-GB" sz="1800">
                <a:solidFill>
                  <a:schemeClr val="dk1"/>
                </a:solidFill>
              </a:rPr>
              <a:t> = 5.</a:t>
            </a:r>
            <a:endParaRPr sz="1800">
              <a:solidFill>
                <a:schemeClr val="dk1"/>
              </a:solidFill>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Deepak's age = 3</a:t>
            </a:r>
            <a:r>
              <a:rPr i="1" lang="en-GB" sz="1800">
                <a:solidFill>
                  <a:schemeClr val="dk1"/>
                </a:solidFill>
              </a:rPr>
              <a:t>x</a:t>
            </a:r>
            <a:r>
              <a:rPr lang="en-GB" sz="1800">
                <a:solidFill>
                  <a:schemeClr val="dk1"/>
                </a:solidFill>
              </a:rPr>
              <a:t> = 15 years.</a:t>
            </a:r>
            <a:endParaRPr sz="1800">
              <a:solidFill>
                <a:schemeClr val="dk1"/>
              </a:solidFill>
              <a:latin typeface="Roboto"/>
              <a:ea typeface="Roboto"/>
              <a:cs typeface="Roboto"/>
              <a:sym typeface="Roboto"/>
            </a:endParaRPr>
          </a:p>
        </p:txBody>
      </p:sp>
      <p:sp>
        <p:nvSpPr>
          <p:cNvPr id="208" name="Google Shape;208;g2ee15abed17_3_37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2ee15abed17_3_383"/>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Sachin is younger than Rahul by 7 years. If their ages are in the respective ratio of 7 : 9, how old is Sachin? </a:t>
            </a:r>
            <a:endParaRPr sz="1800">
              <a:solidFill>
                <a:schemeClr val="dk1"/>
              </a:solidFill>
            </a:endParaRPr>
          </a:p>
          <a:p>
            <a:pPr indent="-342900" lvl="0" marL="457200" rtl="0" algn="l">
              <a:lnSpc>
                <a:spcPct val="150000"/>
              </a:lnSpc>
              <a:spcBef>
                <a:spcPts val="800"/>
              </a:spcBef>
              <a:spcAft>
                <a:spcPts val="0"/>
              </a:spcAft>
              <a:buClr>
                <a:schemeClr val="dk1"/>
              </a:buClr>
              <a:buSzPts val="1800"/>
              <a:buAutoNum type="alphaUcPeriod"/>
            </a:pPr>
            <a:r>
              <a:rPr lang="en-GB" sz="1800">
                <a:solidFill>
                  <a:schemeClr val="dk1"/>
                </a:solidFill>
              </a:rPr>
              <a:t>16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18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28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24.5 years</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214" name="Google Shape;214;g2ee15abed17_3_38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D</a:t>
            </a:r>
            <a:endParaRPr b="1" i="0" sz="1600" u="none" cap="none" strike="noStrike">
              <a:solidFill>
                <a:srgbClr val="000000"/>
              </a:solidFill>
              <a:latin typeface="Roboto"/>
              <a:ea typeface="Roboto"/>
              <a:cs typeface="Roboto"/>
              <a:sym typeface="Roboto"/>
            </a:endParaRPr>
          </a:p>
        </p:txBody>
      </p:sp>
      <p:sp>
        <p:nvSpPr>
          <p:cNvPr id="215" name="Google Shape;215;g2ee15abed17_3_3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animEffect filter="fade" transition="in">
                                      <p:cBhvr>
                                        <p:cTn dur="1000"/>
                                        <p:tgtEl>
                                          <p:spTgt spid="2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animEffect filter="fade" transition="in">
                                      <p:cBhvr>
                                        <p:cTn dur="1000"/>
                                        <p:tgtEl>
                                          <p:spTgt spid="2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animEffect filter="fade" transition="in">
                                      <p:cBhvr>
                                        <p:cTn dur="1000"/>
                                        <p:tgtEl>
                                          <p:spTgt spid="2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animEffect filter="fade" transition="in">
                                      <p:cBhvr>
                                        <p:cTn dur="1000"/>
                                        <p:tgtEl>
                                          <p:spTgt spid="2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4" st="4"/>
                                            </p:txEl>
                                          </p:spTgt>
                                        </p:tgtEl>
                                        <p:attrNameLst>
                                          <p:attrName>style.visibility</p:attrName>
                                        </p:attrNameLst>
                                      </p:cBhvr>
                                      <p:to>
                                        <p:strVal val="visible"/>
                                      </p:to>
                                    </p:set>
                                    <p:animEffect filter="fade" transition="in">
                                      <p:cBhvr>
                                        <p:cTn dur="1000"/>
                                        <p:tgtEl>
                                          <p:spTgt spid="2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5" st="5"/>
                                            </p:txEl>
                                          </p:spTgt>
                                        </p:tgtEl>
                                        <p:attrNameLst>
                                          <p:attrName>style.visibility</p:attrName>
                                        </p:attrNameLst>
                                      </p:cBhvr>
                                      <p:to>
                                        <p:strVal val="visible"/>
                                      </p:to>
                                    </p:set>
                                    <p:animEffect filter="fade" transition="in">
                                      <p:cBhvr>
                                        <p:cTn dur="1000"/>
                                        <p:tgtEl>
                                          <p:spTgt spid="2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Effect filter="fade" transition="in">
                                      <p:cBhvr>
                                        <p:cTn dur="1000"/>
                                        <p:tgtEl>
                                          <p:spTgt spid="21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9" name="Shape 219"/>
        <p:cNvGrpSpPr/>
        <p:nvPr/>
      </p:nvGrpSpPr>
      <p:grpSpPr>
        <a:xfrm>
          <a:off x="0" y="0"/>
          <a:ext cx="0" cy="0"/>
          <a:chOff x="0" y="0"/>
          <a:chExt cx="0" cy="0"/>
        </a:xfrm>
      </p:grpSpPr>
      <p:pic>
        <p:nvPicPr>
          <p:cNvPr id="220" name="Google Shape;220;g2ee15abed17_3_389"/>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21" name="Google Shape;221;g2ee15abed17_3_389"/>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22" name="Google Shape;222;g2ee15abed17_3_389"/>
          <p:cNvSpPr txBox="1"/>
          <p:nvPr/>
        </p:nvSpPr>
        <p:spPr>
          <a:xfrm>
            <a:off x="327600" y="8427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23" name="Google Shape;223;g2ee15abed17_3_38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sp>
        <p:nvSpPr>
          <p:cNvPr id="224" name="Google Shape;224;g2ee15abed17_3_389"/>
          <p:cNvSpPr txBox="1"/>
          <p:nvPr/>
        </p:nvSpPr>
        <p:spPr>
          <a:xfrm>
            <a:off x="630000" y="1354400"/>
            <a:ext cx="7474200" cy="35709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Clr>
                <a:schemeClr val="dk1"/>
              </a:buClr>
              <a:buSzPts val="1100"/>
              <a:buFont typeface="Arial"/>
              <a:buNone/>
            </a:pPr>
            <a:r>
              <a:rPr lang="en-GB" sz="1800">
                <a:solidFill>
                  <a:schemeClr val="dk1"/>
                </a:solidFill>
              </a:rPr>
              <a:t>Let Rahul's age be </a:t>
            </a:r>
            <a:r>
              <a:rPr i="1" lang="en-GB" sz="1800">
                <a:solidFill>
                  <a:schemeClr val="dk1"/>
                </a:solidFill>
              </a:rPr>
              <a:t>x</a:t>
            </a:r>
            <a:r>
              <a:rPr lang="en-GB" sz="1800">
                <a:solidFill>
                  <a:schemeClr val="dk1"/>
                </a:solidFill>
              </a:rPr>
              <a:t> years.</a:t>
            </a:r>
            <a:endParaRPr sz="1800">
              <a:solidFill>
                <a:schemeClr val="dk1"/>
              </a:solidFill>
            </a:endParaRPr>
          </a:p>
          <a:p>
            <a:pPr indent="0" lvl="0" marL="0" rtl="0" algn="just">
              <a:lnSpc>
                <a:spcPct val="150000"/>
              </a:lnSpc>
              <a:spcBef>
                <a:spcPts val="1200"/>
              </a:spcBef>
              <a:spcAft>
                <a:spcPts val="0"/>
              </a:spcAft>
              <a:buClr>
                <a:schemeClr val="dk1"/>
              </a:buClr>
              <a:buSzPts val="1400"/>
              <a:buFont typeface="Arial"/>
              <a:buNone/>
            </a:pPr>
            <a:r>
              <a:rPr lang="en-GB" sz="1800">
                <a:solidFill>
                  <a:schemeClr val="dk1"/>
                </a:solidFill>
              </a:rPr>
              <a:t>Then, Sachin's age = (</a:t>
            </a:r>
            <a:r>
              <a:rPr i="1" lang="en-GB" sz="1800">
                <a:solidFill>
                  <a:schemeClr val="dk1"/>
                </a:solidFill>
              </a:rPr>
              <a:t>x</a:t>
            </a:r>
            <a:r>
              <a:rPr lang="en-GB" sz="1800">
                <a:solidFill>
                  <a:schemeClr val="dk1"/>
                </a:solidFill>
              </a:rPr>
              <a:t> - 7) years.</a:t>
            </a:r>
            <a:endParaRPr sz="1800">
              <a:solidFill>
                <a:schemeClr val="dk1"/>
              </a:solidFill>
            </a:endParaRPr>
          </a:p>
          <a:p>
            <a:pPr indent="0" lvl="0" marL="0" rtl="0" algn="just">
              <a:lnSpc>
                <a:spcPct val="150000"/>
              </a:lnSpc>
              <a:spcBef>
                <a:spcPts val="1200"/>
              </a:spcBef>
              <a:spcAft>
                <a:spcPts val="0"/>
              </a:spcAft>
              <a:buClr>
                <a:schemeClr val="dk1"/>
              </a:buClr>
              <a:buSzPts val="1400"/>
              <a:buFont typeface="Arial"/>
              <a:buNone/>
            </a:pPr>
            <a:r>
              <a:rPr i="1" lang="en-GB" sz="1800">
                <a:solidFill>
                  <a:schemeClr val="dk1"/>
                </a:solidFill>
              </a:rPr>
              <a:t>x</a:t>
            </a:r>
            <a:r>
              <a:rPr lang="en-GB" sz="1800">
                <a:solidFill>
                  <a:schemeClr val="dk1"/>
                </a:solidFill>
              </a:rPr>
              <a:t> - 7/x=7</a:t>
            </a:r>
            <a:r>
              <a:rPr i="1" lang="en-GB" sz="1800">
                <a:solidFill>
                  <a:schemeClr val="dk1"/>
                </a:solidFill>
              </a:rPr>
              <a:t>/ </a:t>
            </a:r>
            <a:r>
              <a:rPr lang="en-GB" sz="1800">
                <a:solidFill>
                  <a:schemeClr val="dk1"/>
                </a:solidFill>
              </a:rPr>
              <a:t>9</a:t>
            </a:r>
            <a:endParaRPr sz="1800">
              <a:solidFill>
                <a:schemeClr val="dk1"/>
              </a:solidFill>
            </a:endParaRPr>
          </a:p>
          <a:p>
            <a:pPr indent="0" lvl="0" marL="0" rtl="0" algn="just">
              <a:lnSpc>
                <a:spcPct val="150000"/>
              </a:lnSpc>
              <a:spcBef>
                <a:spcPts val="1200"/>
              </a:spcBef>
              <a:spcAft>
                <a:spcPts val="0"/>
              </a:spcAft>
              <a:buClr>
                <a:schemeClr val="dk1"/>
              </a:buClr>
              <a:buSzPts val="1400"/>
              <a:buFont typeface="Arial"/>
              <a:buNone/>
            </a:pPr>
            <a:r>
              <a:rPr lang="en-GB" sz="1800">
                <a:solidFill>
                  <a:schemeClr val="dk1"/>
                </a:solidFill>
              </a:rPr>
              <a:t>9</a:t>
            </a:r>
            <a:r>
              <a:rPr i="1" lang="en-GB" sz="1800">
                <a:solidFill>
                  <a:schemeClr val="dk1"/>
                </a:solidFill>
              </a:rPr>
              <a:t>x</a:t>
            </a:r>
            <a:r>
              <a:rPr lang="en-GB" sz="1800">
                <a:solidFill>
                  <a:schemeClr val="dk1"/>
                </a:solidFill>
              </a:rPr>
              <a:t> - 63 = 7</a:t>
            </a:r>
            <a:r>
              <a:rPr i="1" lang="en-GB" sz="1800">
                <a:solidFill>
                  <a:schemeClr val="dk1"/>
                </a:solidFill>
              </a:rPr>
              <a:t>x</a:t>
            </a:r>
            <a:endParaRPr i="1" sz="1800">
              <a:solidFill>
                <a:schemeClr val="dk1"/>
              </a:solidFill>
            </a:endParaRPr>
          </a:p>
          <a:p>
            <a:pPr indent="0" lvl="0" marL="0" rtl="0" algn="just">
              <a:lnSpc>
                <a:spcPct val="150000"/>
              </a:lnSpc>
              <a:spcBef>
                <a:spcPts val="1200"/>
              </a:spcBef>
              <a:spcAft>
                <a:spcPts val="0"/>
              </a:spcAft>
              <a:buClr>
                <a:schemeClr val="dk1"/>
              </a:buClr>
              <a:buSzPts val="1400"/>
              <a:buFont typeface="Arial"/>
              <a:buNone/>
            </a:pPr>
            <a:r>
              <a:rPr lang="en-GB" sz="1800">
                <a:solidFill>
                  <a:schemeClr val="dk1"/>
                </a:solidFill>
              </a:rPr>
              <a:t>2</a:t>
            </a:r>
            <a:r>
              <a:rPr i="1" lang="en-GB" sz="1800">
                <a:solidFill>
                  <a:schemeClr val="dk1"/>
                </a:solidFill>
              </a:rPr>
              <a:t>x</a:t>
            </a:r>
            <a:r>
              <a:rPr lang="en-GB" sz="1800">
                <a:solidFill>
                  <a:schemeClr val="dk1"/>
                </a:solidFill>
              </a:rPr>
              <a:t> = 63</a:t>
            </a:r>
            <a:endParaRPr sz="1800">
              <a:solidFill>
                <a:schemeClr val="dk1"/>
              </a:solidFill>
            </a:endParaRPr>
          </a:p>
          <a:p>
            <a:pPr indent="0" lvl="0" marL="0" rtl="0" algn="just">
              <a:lnSpc>
                <a:spcPct val="150000"/>
              </a:lnSpc>
              <a:spcBef>
                <a:spcPts val="0"/>
              </a:spcBef>
              <a:spcAft>
                <a:spcPts val="0"/>
              </a:spcAft>
              <a:buClr>
                <a:schemeClr val="dk1"/>
              </a:buClr>
              <a:buSzPts val="1400"/>
              <a:buFont typeface="Arial"/>
              <a:buNone/>
            </a:pPr>
            <a:r>
              <a:rPr i="1" lang="en-GB" sz="1800">
                <a:solidFill>
                  <a:schemeClr val="dk1"/>
                </a:solidFill>
              </a:rPr>
              <a:t>x</a:t>
            </a:r>
            <a:r>
              <a:rPr lang="en-GB" sz="1800">
                <a:solidFill>
                  <a:schemeClr val="dk1"/>
                </a:solidFill>
              </a:rPr>
              <a:t> = 31.5</a:t>
            </a:r>
            <a:endParaRPr sz="1800">
              <a:solidFill>
                <a:schemeClr val="dk1"/>
              </a:solidFill>
            </a:endParaRPr>
          </a:p>
          <a:p>
            <a:pPr indent="0" lvl="0" marL="0" rtl="0" algn="just">
              <a:lnSpc>
                <a:spcPct val="150000"/>
              </a:lnSpc>
              <a:spcBef>
                <a:spcPts val="0"/>
              </a:spcBef>
              <a:spcAft>
                <a:spcPts val="0"/>
              </a:spcAft>
              <a:buClr>
                <a:schemeClr val="dk1"/>
              </a:buClr>
              <a:buSzPts val="1400"/>
              <a:buFont typeface="Arial"/>
              <a:buNone/>
            </a:pPr>
            <a:r>
              <a:rPr lang="en-GB" sz="1800">
                <a:solidFill>
                  <a:schemeClr val="dk1"/>
                </a:solidFill>
              </a:rPr>
              <a:t>Hence, Sachin's age =(</a:t>
            </a:r>
            <a:r>
              <a:rPr i="1" lang="en-GB" sz="1800">
                <a:solidFill>
                  <a:schemeClr val="dk1"/>
                </a:solidFill>
              </a:rPr>
              <a:t>x</a:t>
            </a:r>
            <a:r>
              <a:rPr lang="en-GB" sz="1800">
                <a:solidFill>
                  <a:schemeClr val="dk1"/>
                </a:solidFill>
              </a:rPr>
              <a:t> - 7) = 24.5 years.</a:t>
            </a:r>
            <a:endParaRPr sz="1800">
              <a:solidFill>
                <a:schemeClr val="dk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ee15abed17_3_39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700" u="none" cap="none" strike="noStrike">
                <a:solidFill>
                  <a:srgbClr val="000000"/>
                </a:solidFill>
                <a:latin typeface="Roboto"/>
                <a:ea typeface="Roboto"/>
                <a:cs typeface="Roboto"/>
                <a:sym typeface="Roboto"/>
              </a:rPr>
              <a:t>A</a:t>
            </a:r>
            <a:r>
              <a:rPr b="1" i="0" lang="en-GB" sz="1600" u="none" cap="none" strike="noStrike">
                <a:solidFill>
                  <a:srgbClr val="000000"/>
                </a:solidFill>
                <a:latin typeface="Roboto"/>
                <a:ea typeface="Roboto"/>
                <a:cs typeface="Roboto"/>
                <a:sym typeface="Roboto"/>
              </a:rPr>
              <a:t>nswer: </a:t>
            </a:r>
            <a:r>
              <a:rPr b="1" lang="en-GB" sz="1600">
                <a:latin typeface="Roboto"/>
                <a:ea typeface="Roboto"/>
                <a:cs typeface="Roboto"/>
                <a:sym typeface="Roboto"/>
              </a:rPr>
              <a:t>B</a:t>
            </a:r>
            <a:endParaRPr b="1" i="0" sz="1600" u="none" cap="none" strike="noStrike">
              <a:solidFill>
                <a:srgbClr val="000000"/>
              </a:solidFill>
              <a:latin typeface="Roboto"/>
              <a:ea typeface="Roboto"/>
              <a:cs typeface="Roboto"/>
              <a:sym typeface="Roboto"/>
            </a:endParaRPr>
          </a:p>
        </p:txBody>
      </p:sp>
      <p:sp>
        <p:nvSpPr>
          <p:cNvPr id="230" name="Google Shape;230;g2ee15abed17_3_3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
        <p:nvSpPr>
          <p:cNvPr id="231" name="Google Shape;231;g2ee15abed17_3_397"/>
          <p:cNvSpPr txBox="1"/>
          <p:nvPr/>
        </p:nvSpPr>
        <p:spPr>
          <a:xfrm>
            <a:off x="630000" y="1354400"/>
            <a:ext cx="7338000" cy="2693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Clr>
                <a:schemeClr val="dk1"/>
              </a:buClr>
              <a:buSzPts val="1400"/>
              <a:buFont typeface="Arial"/>
              <a:buNone/>
            </a:pPr>
            <a:r>
              <a:rPr lang="en-GB" sz="1800">
                <a:solidFill>
                  <a:schemeClr val="dk1"/>
                </a:solidFill>
              </a:rPr>
              <a:t>The present ages of three persons in proportions 4 : 7 : 9. Eight years ago, the sum of their ages was 56. Find their present ages (in years).</a:t>
            </a:r>
            <a:endParaRPr sz="1800">
              <a:solidFill>
                <a:schemeClr val="dk1"/>
              </a:solidFill>
            </a:endParaRPr>
          </a:p>
          <a:p>
            <a:pPr indent="-342900" lvl="0" marL="457200" rtl="0" algn="just">
              <a:lnSpc>
                <a:spcPct val="150000"/>
              </a:lnSpc>
              <a:spcBef>
                <a:spcPts val="1200"/>
              </a:spcBef>
              <a:spcAft>
                <a:spcPts val="0"/>
              </a:spcAft>
              <a:buClr>
                <a:schemeClr val="dk1"/>
              </a:buClr>
              <a:buSzPts val="1800"/>
              <a:buAutoNum type="alphaUcPeriod"/>
            </a:pPr>
            <a:r>
              <a:rPr lang="en-GB" sz="1800">
                <a:solidFill>
                  <a:schemeClr val="dk1"/>
                </a:solidFill>
              </a:rPr>
              <a:t>8, 20, 28</a:t>
            </a:r>
            <a:endParaRPr sz="1800">
              <a:solidFill>
                <a:schemeClr val="dk1"/>
              </a:solidFill>
            </a:endParaRPr>
          </a:p>
          <a:p>
            <a:pPr indent="-342900" lvl="0" marL="457200" rtl="0" algn="just">
              <a:lnSpc>
                <a:spcPct val="150000"/>
              </a:lnSpc>
              <a:spcBef>
                <a:spcPts val="0"/>
              </a:spcBef>
              <a:spcAft>
                <a:spcPts val="0"/>
              </a:spcAft>
              <a:buClr>
                <a:schemeClr val="dk1"/>
              </a:buClr>
              <a:buSzPts val="1800"/>
              <a:buAutoNum type="alphaUcPeriod"/>
            </a:pPr>
            <a:r>
              <a:rPr lang="en-GB" sz="1800">
                <a:solidFill>
                  <a:schemeClr val="dk1"/>
                </a:solidFill>
              </a:rPr>
              <a:t>16, 28, 36</a:t>
            </a:r>
            <a:endParaRPr sz="1800">
              <a:solidFill>
                <a:schemeClr val="dk1"/>
              </a:solidFill>
            </a:endParaRPr>
          </a:p>
          <a:p>
            <a:pPr indent="-342900" lvl="0" marL="457200" rtl="0" algn="just">
              <a:lnSpc>
                <a:spcPct val="150000"/>
              </a:lnSpc>
              <a:spcBef>
                <a:spcPts val="0"/>
              </a:spcBef>
              <a:spcAft>
                <a:spcPts val="0"/>
              </a:spcAft>
              <a:buClr>
                <a:schemeClr val="dk1"/>
              </a:buClr>
              <a:buSzPts val="1800"/>
              <a:buAutoNum type="alphaUcPeriod"/>
            </a:pPr>
            <a:r>
              <a:rPr lang="en-GB" sz="1800">
                <a:solidFill>
                  <a:schemeClr val="dk1"/>
                </a:solidFill>
              </a:rPr>
              <a:t>20, 35, 45</a:t>
            </a:r>
            <a:endParaRPr sz="1800">
              <a:solidFill>
                <a:schemeClr val="dk1"/>
              </a:solidFill>
            </a:endParaRPr>
          </a:p>
          <a:p>
            <a:pPr indent="-342900" lvl="0" marL="457200" rtl="0" algn="just">
              <a:lnSpc>
                <a:spcPct val="150000"/>
              </a:lnSpc>
              <a:spcBef>
                <a:spcPts val="0"/>
              </a:spcBef>
              <a:spcAft>
                <a:spcPts val="0"/>
              </a:spcAft>
              <a:buClr>
                <a:schemeClr val="dk1"/>
              </a:buClr>
              <a:buSzPts val="1800"/>
              <a:buAutoNum type="alphaUcPeriod"/>
            </a:pPr>
            <a:r>
              <a:rPr lang="en-GB" sz="1800">
                <a:solidFill>
                  <a:schemeClr val="dk1"/>
                </a:solidFill>
              </a:rPr>
              <a:t>None of these</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5" name="Shape 235"/>
        <p:cNvGrpSpPr/>
        <p:nvPr/>
      </p:nvGrpSpPr>
      <p:grpSpPr>
        <a:xfrm>
          <a:off x="0" y="0"/>
          <a:ext cx="0" cy="0"/>
          <a:chOff x="0" y="0"/>
          <a:chExt cx="0" cy="0"/>
        </a:xfrm>
      </p:grpSpPr>
      <p:pic>
        <p:nvPicPr>
          <p:cNvPr id="236" name="Google Shape;236;g2ee15abed17_3_403"/>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37" name="Google Shape;237;g2ee15abed17_3_403"/>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38" name="Google Shape;238;g2ee15abed17_3_403"/>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39" name="Google Shape;239;g2ee15abed17_3_403"/>
          <p:cNvSpPr txBox="1"/>
          <p:nvPr/>
        </p:nvSpPr>
        <p:spPr>
          <a:xfrm>
            <a:off x="630000" y="1250500"/>
            <a:ext cx="6995400" cy="3382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n-GB" sz="1800">
                <a:solidFill>
                  <a:schemeClr val="dk1"/>
                </a:solidFill>
              </a:rPr>
              <a:t>Let their present ages be 4</a:t>
            </a:r>
            <a:r>
              <a:rPr i="1" lang="en-GB" sz="1800">
                <a:solidFill>
                  <a:schemeClr val="dk1"/>
                </a:solidFill>
              </a:rPr>
              <a:t>x</a:t>
            </a:r>
            <a:r>
              <a:rPr lang="en-GB" sz="1800">
                <a:solidFill>
                  <a:schemeClr val="dk1"/>
                </a:solidFill>
              </a:rPr>
              <a:t>, 7</a:t>
            </a:r>
            <a:r>
              <a:rPr i="1" lang="en-GB" sz="1800">
                <a:solidFill>
                  <a:schemeClr val="dk1"/>
                </a:solidFill>
              </a:rPr>
              <a:t>x</a:t>
            </a:r>
            <a:r>
              <a:rPr lang="en-GB" sz="1800">
                <a:solidFill>
                  <a:schemeClr val="dk1"/>
                </a:solidFill>
              </a:rPr>
              <a:t> and 9</a:t>
            </a:r>
            <a:r>
              <a:rPr i="1" lang="en-GB" sz="1800">
                <a:solidFill>
                  <a:schemeClr val="dk1"/>
                </a:solidFill>
              </a:rPr>
              <a:t>x</a:t>
            </a:r>
            <a:r>
              <a:rPr lang="en-GB" sz="1800">
                <a:solidFill>
                  <a:schemeClr val="dk1"/>
                </a:solidFill>
              </a:rPr>
              <a:t> years respectively.</a:t>
            </a:r>
            <a:endParaRPr sz="1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800">
                <a:solidFill>
                  <a:schemeClr val="dk1"/>
                </a:solidFill>
              </a:rPr>
              <a:t>Then, (4</a:t>
            </a:r>
            <a:r>
              <a:rPr i="1" lang="en-GB" sz="1800">
                <a:solidFill>
                  <a:schemeClr val="dk1"/>
                </a:solidFill>
              </a:rPr>
              <a:t>x</a:t>
            </a:r>
            <a:r>
              <a:rPr lang="en-GB" sz="1800">
                <a:solidFill>
                  <a:schemeClr val="dk1"/>
                </a:solidFill>
              </a:rPr>
              <a:t> - 8) + (7</a:t>
            </a:r>
            <a:r>
              <a:rPr i="1" lang="en-GB" sz="1800">
                <a:solidFill>
                  <a:schemeClr val="dk1"/>
                </a:solidFill>
              </a:rPr>
              <a:t>x</a:t>
            </a:r>
            <a:r>
              <a:rPr lang="en-GB" sz="1800">
                <a:solidFill>
                  <a:schemeClr val="dk1"/>
                </a:solidFill>
              </a:rPr>
              <a:t> - 8) + (9</a:t>
            </a:r>
            <a:r>
              <a:rPr i="1" lang="en-GB" sz="1800">
                <a:solidFill>
                  <a:schemeClr val="dk1"/>
                </a:solidFill>
              </a:rPr>
              <a:t>x</a:t>
            </a:r>
            <a:r>
              <a:rPr lang="en-GB" sz="1800">
                <a:solidFill>
                  <a:schemeClr val="dk1"/>
                </a:solidFill>
              </a:rPr>
              <a:t> - 8) = 56</a:t>
            </a:r>
            <a:endParaRPr sz="1800">
              <a:solidFill>
                <a:schemeClr val="dk1"/>
              </a:solidFill>
            </a:endParaRPr>
          </a:p>
          <a:p>
            <a:pPr indent="0" lvl="0" marL="0" rtl="0" algn="just">
              <a:spcBef>
                <a:spcPts val="1200"/>
              </a:spcBef>
              <a:spcAft>
                <a:spcPts val="0"/>
              </a:spcAft>
              <a:buClr>
                <a:schemeClr val="dk1"/>
              </a:buClr>
              <a:buSzPts val="1400"/>
              <a:buFont typeface="Arial"/>
              <a:buNone/>
            </a:pPr>
            <a:r>
              <a:rPr lang="en-GB" sz="1800">
                <a:solidFill>
                  <a:schemeClr val="dk1"/>
                </a:solidFill>
              </a:rPr>
              <a:t>20</a:t>
            </a:r>
            <a:r>
              <a:rPr i="1" lang="en-GB" sz="1800">
                <a:solidFill>
                  <a:schemeClr val="dk1"/>
                </a:solidFill>
              </a:rPr>
              <a:t>x</a:t>
            </a:r>
            <a:r>
              <a:rPr lang="en-GB" sz="1800">
                <a:solidFill>
                  <a:schemeClr val="dk1"/>
                </a:solidFill>
              </a:rPr>
              <a:t> = 80</a:t>
            </a:r>
            <a:endParaRPr sz="1800">
              <a:solidFill>
                <a:schemeClr val="dk1"/>
              </a:solidFill>
            </a:endParaRPr>
          </a:p>
          <a:p>
            <a:pPr indent="0" lvl="0" marL="0" rtl="0" algn="just">
              <a:spcBef>
                <a:spcPts val="0"/>
              </a:spcBef>
              <a:spcAft>
                <a:spcPts val="0"/>
              </a:spcAft>
              <a:buClr>
                <a:schemeClr val="dk1"/>
              </a:buClr>
              <a:buSzPts val="1400"/>
              <a:buFont typeface="Arial"/>
              <a:buNone/>
            </a:pPr>
            <a:r>
              <a:t/>
            </a:r>
            <a:endParaRPr sz="1800">
              <a:solidFill>
                <a:schemeClr val="dk1"/>
              </a:solidFill>
            </a:endParaRPr>
          </a:p>
          <a:p>
            <a:pPr indent="0" lvl="0" marL="0" rtl="0" algn="just">
              <a:spcBef>
                <a:spcPts val="0"/>
              </a:spcBef>
              <a:spcAft>
                <a:spcPts val="0"/>
              </a:spcAft>
              <a:buClr>
                <a:schemeClr val="dk1"/>
              </a:buClr>
              <a:buSzPts val="1400"/>
              <a:buFont typeface="Arial"/>
              <a:buNone/>
            </a:pPr>
            <a:r>
              <a:rPr i="1" lang="en-GB" sz="1800">
                <a:solidFill>
                  <a:schemeClr val="dk1"/>
                </a:solidFill>
              </a:rPr>
              <a:t>x</a:t>
            </a:r>
            <a:r>
              <a:rPr lang="en-GB" sz="1800">
                <a:solidFill>
                  <a:schemeClr val="dk1"/>
                </a:solidFill>
              </a:rPr>
              <a:t> = 4.</a:t>
            </a:r>
            <a:endParaRPr sz="1800">
              <a:solidFill>
                <a:schemeClr val="dk1"/>
              </a:solidFill>
            </a:endParaRPr>
          </a:p>
          <a:p>
            <a:pPr indent="0" lvl="0" marL="0" rtl="0" algn="just">
              <a:spcBef>
                <a:spcPts val="0"/>
              </a:spcBef>
              <a:spcAft>
                <a:spcPts val="0"/>
              </a:spcAft>
              <a:buClr>
                <a:schemeClr val="dk1"/>
              </a:buClr>
              <a:buSzPts val="1400"/>
              <a:buFont typeface="Arial"/>
              <a:buNone/>
            </a:pPr>
            <a:r>
              <a:t/>
            </a:r>
            <a:endParaRPr sz="1800">
              <a:solidFill>
                <a:schemeClr val="dk1"/>
              </a:solidFill>
            </a:endParaRPr>
          </a:p>
          <a:p>
            <a:pPr indent="0" lvl="0" marL="0" rtl="0" algn="just">
              <a:spcBef>
                <a:spcPts val="0"/>
              </a:spcBef>
              <a:spcAft>
                <a:spcPts val="0"/>
              </a:spcAft>
              <a:buClr>
                <a:schemeClr val="dk1"/>
              </a:buClr>
              <a:buSzPts val="1400"/>
              <a:buFont typeface="Arial"/>
              <a:buNone/>
            </a:pPr>
            <a:r>
              <a:rPr lang="en-GB" sz="1800">
                <a:solidFill>
                  <a:schemeClr val="dk1"/>
                </a:solidFill>
              </a:rPr>
              <a:t>Their present ages are 4</a:t>
            </a:r>
            <a:r>
              <a:rPr i="1" lang="en-GB" sz="1800">
                <a:solidFill>
                  <a:schemeClr val="dk1"/>
                </a:solidFill>
              </a:rPr>
              <a:t>x</a:t>
            </a:r>
            <a:r>
              <a:rPr lang="en-GB" sz="1800">
                <a:solidFill>
                  <a:schemeClr val="dk1"/>
                </a:solidFill>
              </a:rPr>
              <a:t> = 16 years, 7</a:t>
            </a:r>
            <a:r>
              <a:rPr i="1" lang="en-GB" sz="1800">
                <a:solidFill>
                  <a:schemeClr val="dk1"/>
                </a:solidFill>
              </a:rPr>
              <a:t>x</a:t>
            </a:r>
            <a:r>
              <a:rPr lang="en-GB" sz="1800">
                <a:solidFill>
                  <a:schemeClr val="dk1"/>
                </a:solidFill>
              </a:rPr>
              <a:t> = 28 years and 9</a:t>
            </a:r>
            <a:r>
              <a:rPr i="1" lang="en-GB" sz="1800">
                <a:solidFill>
                  <a:schemeClr val="dk1"/>
                </a:solidFill>
              </a:rPr>
              <a:t>x</a:t>
            </a:r>
            <a:r>
              <a:rPr lang="en-GB" sz="1800">
                <a:solidFill>
                  <a:schemeClr val="dk1"/>
                </a:solidFill>
              </a:rPr>
              <a:t> = 36 years respectively.</a:t>
            </a:r>
            <a:endParaRPr sz="1800">
              <a:solidFill>
                <a:schemeClr val="dk1"/>
              </a:solidFill>
            </a:endParaRPr>
          </a:p>
          <a:p>
            <a:pPr indent="0" lvl="0" marL="0" marR="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100"/>
              <a:buFont typeface="Arial"/>
              <a:buNone/>
            </a:pPr>
            <a:r>
              <a:t/>
            </a:r>
            <a:endParaRPr b="0" i="0" sz="1100" u="none" cap="none" strike="noStrike">
              <a:solidFill>
                <a:schemeClr val="dk1"/>
              </a:solidFill>
              <a:latin typeface="Roboto"/>
              <a:ea typeface="Roboto"/>
              <a:cs typeface="Roboto"/>
              <a:sym typeface="Roboto"/>
            </a:endParaRPr>
          </a:p>
        </p:txBody>
      </p:sp>
      <p:sp>
        <p:nvSpPr>
          <p:cNvPr id="240" name="Google Shape;240;g2ee15abed17_3_40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2ee15abed17_3_411"/>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08</a:t>
            </a:r>
            <a:endParaRPr b="0" i="0" sz="2000" u="none" cap="none" strike="noStrike">
              <a:solidFill>
                <a:schemeClr val="lt1"/>
              </a:solidFill>
              <a:latin typeface="Roboto"/>
              <a:ea typeface="Roboto"/>
              <a:cs typeface="Roboto"/>
              <a:sym typeface="Roboto"/>
            </a:endParaRPr>
          </a:p>
        </p:txBody>
      </p:sp>
      <p:sp>
        <p:nvSpPr>
          <p:cNvPr id="246" name="Google Shape;246;g2ee15abed17_3_411"/>
          <p:cNvSpPr txBox="1"/>
          <p:nvPr/>
        </p:nvSpPr>
        <p:spPr>
          <a:xfrm>
            <a:off x="720000" y="1439875"/>
            <a:ext cx="7650000" cy="31305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rPr>
              <a:t>Ayesha's father was 38 years of age when she was born while her mother was 36 years old when her brother four years younger to her was born. What is the difference between the ages of her parents? </a:t>
            </a:r>
            <a:endParaRPr sz="1800">
              <a:solidFill>
                <a:schemeClr val="dk1"/>
              </a:solidFill>
            </a:endParaRPr>
          </a:p>
          <a:p>
            <a:pPr indent="-342900" lvl="0" marL="457200" rtl="0" algn="l">
              <a:lnSpc>
                <a:spcPct val="150000"/>
              </a:lnSpc>
              <a:spcBef>
                <a:spcPts val="800"/>
              </a:spcBef>
              <a:spcAft>
                <a:spcPts val="0"/>
              </a:spcAft>
              <a:buClr>
                <a:schemeClr val="dk1"/>
              </a:buClr>
              <a:buSzPts val="1800"/>
              <a:buAutoNum type="alphaUcPeriod"/>
            </a:pPr>
            <a:r>
              <a:rPr lang="en-GB" sz="1800">
                <a:solidFill>
                  <a:schemeClr val="dk1"/>
                </a:solidFill>
              </a:rPr>
              <a:t>2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4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6 years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lphaUcPeriod"/>
            </a:pPr>
            <a:r>
              <a:rPr lang="en-GB" sz="1800">
                <a:solidFill>
                  <a:schemeClr val="dk1"/>
                </a:solidFill>
              </a:rPr>
              <a:t>8 years</a:t>
            </a:r>
            <a:endParaRPr sz="1800">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p:txBody>
      </p:sp>
      <p:sp>
        <p:nvSpPr>
          <p:cNvPr id="247" name="Google Shape;247;g2ee15abed17_3_41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
        <p:nvSpPr>
          <p:cNvPr id="248" name="Google Shape;248;g2ee15abed17_3_411"/>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0" st="0"/>
                                            </p:txEl>
                                          </p:spTgt>
                                        </p:tgtEl>
                                        <p:attrNameLst>
                                          <p:attrName>style.visibility</p:attrName>
                                        </p:attrNameLst>
                                      </p:cBhvr>
                                      <p:to>
                                        <p:strVal val="visible"/>
                                      </p:to>
                                    </p:set>
                                    <p:animEffect filter="fade" transition="in">
                                      <p:cBhvr>
                                        <p:cTn dur="1000"/>
                                        <p:tgtEl>
                                          <p:spTgt spid="2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1" st="1"/>
                                            </p:txEl>
                                          </p:spTgt>
                                        </p:tgtEl>
                                        <p:attrNameLst>
                                          <p:attrName>style.visibility</p:attrName>
                                        </p:attrNameLst>
                                      </p:cBhvr>
                                      <p:to>
                                        <p:strVal val="visible"/>
                                      </p:to>
                                    </p:set>
                                    <p:animEffect filter="fade" transition="in">
                                      <p:cBhvr>
                                        <p:cTn dur="1000"/>
                                        <p:tgtEl>
                                          <p:spTgt spid="2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2" st="2"/>
                                            </p:txEl>
                                          </p:spTgt>
                                        </p:tgtEl>
                                        <p:attrNameLst>
                                          <p:attrName>style.visibility</p:attrName>
                                        </p:attrNameLst>
                                      </p:cBhvr>
                                      <p:to>
                                        <p:strVal val="visible"/>
                                      </p:to>
                                    </p:set>
                                    <p:animEffect filter="fade" transition="in">
                                      <p:cBhvr>
                                        <p:cTn dur="1000"/>
                                        <p:tgtEl>
                                          <p:spTgt spid="2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3" st="3"/>
                                            </p:txEl>
                                          </p:spTgt>
                                        </p:tgtEl>
                                        <p:attrNameLst>
                                          <p:attrName>style.visibility</p:attrName>
                                        </p:attrNameLst>
                                      </p:cBhvr>
                                      <p:to>
                                        <p:strVal val="visible"/>
                                      </p:to>
                                    </p:set>
                                    <p:animEffect filter="fade" transition="in">
                                      <p:cBhvr>
                                        <p:cTn dur="1000"/>
                                        <p:tgtEl>
                                          <p:spTgt spid="2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4" st="4"/>
                                            </p:txEl>
                                          </p:spTgt>
                                        </p:tgtEl>
                                        <p:attrNameLst>
                                          <p:attrName>style.visibility</p:attrName>
                                        </p:attrNameLst>
                                      </p:cBhvr>
                                      <p:to>
                                        <p:strVal val="visible"/>
                                      </p:to>
                                    </p:set>
                                    <p:animEffect filter="fade" transition="in">
                                      <p:cBhvr>
                                        <p:cTn dur="1000"/>
                                        <p:tgtEl>
                                          <p:spTgt spid="2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5" st="5"/>
                                            </p:txEl>
                                          </p:spTgt>
                                        </p:tgtEl>
                                        <p:attrNameLst>
                                          <p:attrName>style.visibility</p:attrName>
                                        </p:attrNameLst>
                                      </p:cBhvr>
                                      <p:to>
                                        <p:strVal val="visible"/>
                                      </p:to>
                                    </p:set>
                                    <p:animEffect filter="fade" transition="in">
                                      <p:cBhvr>
                                        <p:cTn dur="1000"/>
                                        <p:tgtEl>
                                          <p:spTgt spid="2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animEffect filter="fade" transition="in">
                                      <p:cBhvr>
                                        <p:cTn dur="1000"/>
                                        <p:tgtEl>
                                          <p:spTgt spid="24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2" name="Shape 252"/>
        <p:cNvGrpSpPr/>
        <p:nvPr/>
      </p:nvGrpSpPr>
      <p:grpSpPr>
        <a:xfrm>
          <a:off x="0" y="0"/>
          <a:ext cx="0" cy="0"/>
          <a:chOff x="0" y="0"/>
          <a:chExt cx="0" cy="0"/>
        </a:xfrm>
      </p:grpSpPr>
      <p:pic>
        <p:nvPicPr>
          <p:cNvPr id="253" name="Google Shape;253;g2ee15abed17_3_418"/>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54" name="Google Shape;254;g2ee15abed17_3_418"/>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55" name="Google Shape;255;g2ee15abed17_3_418"/>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56" name="Google Shape;256;g2ee15abed17_3_418"/>
          <p:cNvSpPr txBox="1"/>
          <p:nvPr/>
        </p:nvSpPr>
        <p:spPr>
          <a:xfrm>
            <a:off x="630000" y="1354400"/>
            <a:ext cx="7303500" cy="2541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n-GB" sz="1800">
                <a:solidFill>
                  <a:schemeClr val="dk1"/>
                </a:solidFill>
              </a:rPr>
              <a:t>Mother's age when Ayesha's brother was born = 36 years.</a:t>
            </a:r>
            <a:endParaRPr sz="1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800">
                <a:solidFill>
                  <a:schemeClr val="dk1"/>
                </a:solidFill>
              </a:rPr>
              <a:t>Father's age when Ayesha's brother was born = (38 + 4) years = 42 years.</a:t>
            </a:r>
            <a:endParaRPr sz="1800">
              <a:solidFill>
                <a:schemeClr val="dk1"/>
              </a:solidFill>
            </a:endParaRPr>
          </a:p>
          <a:p>
            <a:pPr indent="0" lvl="0" marL="0" rtl="0" algn="just">
              <a:spcBef>
                <a:spcPts val="1200"/>
              </a:spcBef>
              <a:spcAft>
                <a:spcPts val="0"/>
              </a:spcAft>
              <a:buClr>
                <a:schemeClr val="dk1"/>
              </a:buClr>
              <a:buSzPts val="1400"/>
              <a:buFont typeface="Arial"/>
              <a:buNone/>
            </a:pPr>
            <a:r>
              <a:rPr lang="en-GB" sz="1800">
                <a:solidFill>
                  <a:schemeClr val="dk1"/>
                </a:solidFill>
              </a:rPr>
              <a:t>Required difference = (42 - 36) years = 6 years.</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57" name="Google Shape;257;g2ee15abed17_3_4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2ee15abed17_3_426"/>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63" name="Google Shape;263;g2ee15abed17_3_426"/>
          <p:cNvSpPr txBox="1"/>
          <p:nvPr/>
        </p:nvSpPr>
        <p:spPr>
          <a:xfrm>
            <a:off x="720000" y="138805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50000"/>
              </a:lnSpc>
              <a:spcBef>
                <a:spcPts val="1200"/>
              </a:spcBef>
              <a:spcAft>
                <a:spcPts val="0"/>
              </a:spcAft>
              <a:buClr>
                <a:schemeClr val="dk1"/>
              </a:buClr>
              <a:buSzPts val="1100"/>
              <a:buFont typeface="Arial"/>
              <a:buNone/>
            </a:pPr>
            <a:r>
              <a:rPr lang="en-GB" sz="1800">
                <a:solidFill>
                  <a:schemeClr val="dk1"/>
                </a:solidFill>
                <a:latin typeface="Roboto"/>
                <a:ea typeface="Roboto"/>
                <a:cs typeface="Roboto"/>
                <a:sym typeface="Roboto"/>
              </a:rPr>
              <a:t>A person's present age is two-fifth of the age of his mother. After 8 years, he will be one-half of the age of his mother. How old is the mother at present?</a:t>
            </a:r>
            <a:endParaRPr sz="1800">
              <a:solidFill>
                <a:schemeClr val="dk1"/>
              </a:solidFill>
              <a:latin typeface="Roboto"/>
              <a:ea typeface="Roboto"/>
              <a:cs typeface="Roboto"/>
              <a:sym typeface="Roboto"/>
            </a:endParaRPr>
          </a:p>
          <a:p>
            <a:pPr indent="-342900" lvl="0" marL="457200" rtl="0" algn="just">
              <a:lnSpc>
                <a:spcPct val="150000"/>
              </a:lnSpc>
              <a:spcBef>
                <a:spcPts val="120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32 years</a:t>
            </a:r>
            <a:endParaRPr sz="1800">
              <a:solidFill>
                <a:schemeClr val="dk1"/>
              </a:solidFill>
              <a:latin typeface="Roboto"/>
              <a:ea typeface="Roboto"/>
              <a:cs typeface="Roboto"/>
              <a:sym typeface="Roboto"/>
            </a:endParaRPr>
          </a:p>
          <a:p>
            <a:pPr indent="-342900" lvl="0" marL="457200" rtl="0" algn="just">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36 years</a:t>
            </a:r>
            <a:endParaRPr sz="1800">
              <a:solidFill>
                <a:schemeClr val="dk1"/>
              </a:solidFill>
              <a:latin typeface="Roboto"/>
              <a:ea typeface="Roboto"/>
              <a:cs typeface="Roboto"/>
              <a:sym typeface="Roboto"/>
            </a:endParaRPr>
          </a:p>
          <a:p>
            <a:pPr indent="-342900" lvl="0" marL="457200" rtl="0" algn="just">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40 years </a:t>
            </a:r>
            <a:endParaRPr sz="1800">
              <a:solidFill>
                <a:schemeClr val="dk1"/>
              </a:solidFill>
              <a:latin typeface="Roboto"/>
              <a:ea typeface="Roboto"/>
              <a:cs typeface="Roboto"/>
              <a:sym typeface="Roboto"/>
            </a:endParaRPr>
          </a:p>
          <a:p>
            <a:pPr indent="-342900" lvl="0" marL="457200" rtl="0" algn="just">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48 years</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800">
              <a:solidFill>
                <a:schemeClr val="dk1"/>
              </a:solidFill>
              <a:latin typeface="Roboto"/>
              <a:ea typeface="Roboto"/>
              <a:cs typeface="Roboto"/>
              <a:sym typeface="Roboto"/>
            </a:endParaRPr>
          </a:p>
        </p:txBody>
      </p:sp>
      <p:sp>
        <p:nvSpPr>
          <p:cNvPr id="264" name="Google Shape;264;g2ee15abed17_3_426"/>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C</a:t>
            </a:r>
            <a:endParaRPr b="1" i="0" sz="1600" u="none" cap="none" strike="noStrike">
              <a:solidFill>
                <a:srgbClr val="000000"/>
              </a:solidFill>
              <a:latin typeface="Roboto"/>
              <a:ea typeface="Roboto"/>
              <a:cs typeface="Roboto"/>
              <a:sym typeface="Roboto"/>
            </a:endParaRPr>
          </a:p>
        </p:txBody>
      </p:sp>
      <p:sp>
        <p:nvSpPr>
          <p:cNvPr id="265" name="Google Shape;265;g2ee15abed17_3_42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animEffect filter="fade" transition="in">
                                      <p:cBhvr>
                                        <p:cTn dur="1000"/>
                                        <p:tgtEl>
                                          <p:spTgt spid="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animEffect filter="fade" transition="in">
                                      <p:cBhvr>
                                        <p:cTn dur="1000"/>
                                        <p:tgtEl>
                                          <p:spTgt spid="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animEffect filter="fade" transition="in">
                                      <p:cBhvr>
                                        <p:cTn dur="1000"/>
                                        <p:tgtEl>
                                          <p:spTgt spid="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animEffect filter="fade" transition="in">
                                      <p:cBhvr>
                                        <p:cTn dur="1000"/>
                                        <p:tgtEl>
                                          <p:spTgt spid="2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4" st="4"/>
                                            </p:txEl>
                                          </p:spTgt>
                                        </p:tgtEl>
                                        <p:attrNameLst>
                                          <p:attrName>style.visibility</p:attrName>
                                        </p:attrNameLst>
                                      </p:cBhvr>
                                      <p:to>
                                        <p:strVal val="visible"/>
                                      </p:to>
                                    </p:set>
                                    <p:animEffect filter="fade" transition="in">
                                      <p:cBhvr>
                                        <p:cTn dur="1000"/>
                                        <p:tgtEl>
                                          <p:spTgt spid="2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5" st="5"/>
                                            </p:txEl>
                                          </p:spTgt>
                                        </p:tgtEl>
                                        <p:attrNameLst>
                                          <p:attrName>style.visibility</p:attrName>
                                        </p:attrNameLst>
                                      </p:cBhvr>
                                      <p:to>
                                        <p:strVal val="visible"/>
                                      </p:to>
                                    </p:set>
                                    <p:animEffect filter="fade" transition="in">
                                      <p:cBhvr>
                                        <p:cTn dur="1000"/>
                                        <p:tgtEl>
                                          <p:spTgt spid="2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Effect filter="fade" transition="in">
                                      <p:cBhvr>
                                        <p:cTn dur="1000"/>
                                        <p:tgtEl>
                                          <p:spTgt spid="26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9" name="Shape 269"/>
        <p:cNvGrpSpPr/>
        <p:nvPr/>
      </p:nvGrpSpPr>
      <p:grpSpPr>
        <a:xfrm>
          <a:off x="0" y="0"/>
          <a:ext cx="0" cy="0"/>
          <a:chOff x="0" y="0"/>
          <a:chExt cx="0" cy="0"/>
        </a:xfrm>
      </p:grpSpPr>
      <p:sp>
        <p:nvSpPr>
          <p:cNvPr id="270" name="Google Shape;270;g2ee15abed17_3_433"/>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71" name="Google Shape;271;g2ee15abed17_3_433"/>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400"/>
              <a:buFont typeface="Arial"/>
              <a:buNone/>
            </a:pPr>
            <a:r>
              <a:rPr lang="en-GB" sz="1800">
                <a:solidFill>
                  <a:schemeClr val="dk1"/>
                </a:solidFill>
              </a:rPr>
              <a:t>Let the mother's present age be x years.</a:t>
            </a:r>
            <a:endParaRPr sz="1800">
              <a:solidFill>
                <a:schemeClr val="dk1"/>
              </a:solidFill>
            </a:endParaRPr>
          </a:p>
          <a:p>
            <a:pPr indent="0" lvl="0" marL="0" rtl="0" algn="just">
              <a:spcBef>
                <a:spcPts val="0"/>
              </a:spcBef>
              <a:spcAft>
                <a:spcPts val="0"/>
              </a:spcAft>
              <a:buClr>
                <a:schemeClr val="dk1"/>
              </a:buClr>
              <a:buSzPts val="1400"/>
              <a:buFont typeface="Arial"/>
              <a:buNone/>
            </a:pPr>
            <a:r>
              <a:t/>
            </a:r>
            <a:endParaRPr sz="1800">
              <a:solidFill>
                <a:schemeClr val="dk1"/>
              </a:solidFill>
            </a:endParaRPr>
          </a:p>
          <a:p>
            <a:pPr indent="0" lvl="0" marL="0" rtl="0" algn="just">
              <a:spcBef>
                <a:spcPts val="0"/>
              </a:spcBef>
              <a:spcAft>
                <a:spcPts val="0"/>
              </a:spcAft>
              <a:buClr>
                <a:schemeClr val="dk1"/>
              </a:buClr>
              <a:buSzPts val="1400"/>
              <a:buFont typeface="Arial"/>
              <a:buNone/>
            </a:pPr>
            <a:r>
              <a:rPr lang="en-GB" sz="1800">
                <a:solidFill>
                  <a:schemeClr val="dk1"/>
                </a:solidFill>
              </a:rPr>
              <a:t>Then, the person's present age = 2/5x years.</a:t>
            </a:r>
            <a:endParaRPr sz="1800">
              <a:solidFill>
                <a:schemeClr val="dk1"/>
              </a:solidFill>
            </a:endParaRPr>
          </a:p>
          <a:p>
            <a:pPr indent="0" lvl="0" marL="0" rtl="0" algn="just">
              <a:spcBef>
                <a:spcPts val="0"/>
              </a:spcBef>
              <a:spcAft>
                <a:spcPts val="0"/>
              </a:spcAft>
              <a:buClr>
                <a:schemeClr val="dk1"/>
              </a:buClr>
              <a:buSzPts val="1400"/>
              <a:buFont typeface="Arial"/>
              <a:buNone/>
            </a:pPr>
            <a:r>
              <a:t/>
            </a:r>
            <a:endParaRPr sz="1800">
              <a:solidFill>
                <a:schemeClr val="dk1"/>
              </a:solidFill>
            </a:endParaRPr>
          </a:p>
          <a:p>
            <a:pPr indent="0" lvl="0" marL="0" rtl="0" algn="just">
              <a:spcBef>
                <a:spcPts val="0"/>
              </a:spcBef>
              <a:spcAft>
                <a:spcPts val="0"/>
              </a:spcAft>
              <a:buClr>
                <a:schemeClr val="dk1"/>
              </a:buClr>
              <a:buSzPts val="1400"/>
              <a:buFont typeface="Arial"/>
              <a:buNone/>
            </a:pPr>
            <a:r>
              <a:rPr lang="en-GB" sz="1800">
                <a:solidFill>
                  <a:schemeClr val="dk1"/>
                </a:solidFill>
              </a:rPr>
              <a:t>{2/5x+8} = ½{x+8}</a:t>
            </a:r>
            <a:endParaRPr sz="1800">
              <a:solidFill>
                <a:schemeClr val="dk1"/>
              </a:solidFill>
            </a:endParaRPr>
          </a:p>
          <a:p>
            <a:pPr indent="0" lvl="0" marL="0" rtl="0" algn="just">
              <a:spcBef>
                <a:spcPts val="0"/>
              </a:spcBef>
              <a:spcAft>
                <a:spcPts val="0"/>
              </a:spcAft>
              <a:buClr>
                <a:schemeClr val="dk1"/>
              </a:buClr>
              <a:buSzPts val="1400"/>
              <a:buFont typeface="Arial"/>
              <a:buNone/>
            </a:pPr>
            <a:r>
              <a:t/>
            </a:r>
            <a:endParaRPr sz="1800">
              <a:solidFill>
                <a:schemeClr val="dk1"/>
              </a:solidFill>
            </a:endParaRPr>
          </a:p>
          <a:p>
            <a:pPr indent="0" lvl="0" marL="0" rtl="0" algn="just">
              <a:spcBef>
                <a:spcPts val="0"/>
              </a:spcBef>
              <a:spcAft>
                <a:spcPts val="0"/>
              </a:spcAft>
              <a:buClr>
                <a:schemeClr val="dk1"/>
              </a:buClr>
              <a:buSzPts val="1400"/>
              <a:buFont typeface="Arial"/>
              <a:buNone/>
            </a:pPr>
            <a:r>
              <a:rPr lang="en-GB" sz="1800">
                <a:solidFill>
                  <a:schemeClr val="dk1"/>
                </a:solidFill>
              </a:rPr>
              <a:t>2(2</a:t>
            </a:r>
            <a:r>
              <a:rPr i="1" lang="en-GB" sz="1800">
                <a:solidFill>
                  <a:schemeClr val="dk1"/>
                </a:solidFill>
              </a:rPr>
              <a:t>x</a:t>
            </a:r>
            <a:r>
              <a:rPr lang="en-GB" sz="1800">
                <a:solidFill>
                  <a:schemeClr val="dk1"/>
                </a:solidFill>
              </a:rPr>
              <a:t> + 40) = 5(</a:t>
            </a:r>
            <a:r>
              <a:rPr i="1" lang="en-GB" sz="1800">
                <a:solidFill>
                  <a:schemeClr val="dk1"/>
                </a:solidFill>
              </a:rPr>
              <a:t>x</a:t>
            </a:r>
            <a:r>
              <a:rPr lang="en-GB" sz="1800">
                <a:solidFill>
                  <a:schemeClr val="dk1"/>
                </a:solidFill>
              </a:rPr>
              <a:t> + 8)</a:t>
            </a:r>
            <a:endParaRPr sz="1800">
              <a:solidFill>
                <a:schemeClr val="dk1"/>
              </a:solidFill>
            </a:endParaRPr>
          </a:p>
          <a:p>
            <a:pPr indent="0" lvl="0" marL="0" rtl="0" algn="just">
              <a:spcBef>
                <a:spcPts val="0"/>
              </a:spcBef>
              <a:spcAft>
                <a:spcPts val="0"/>
              </a:spcAft>
              <a:buClr>
                <a:schemeClr val="dk1"/>
              </a:buClr>
              <a:buSzPts val="1400"/>
              <a:buFont typeface="Arial"/>
              <a:buNone/>
            </a:pPr>
            <a:r>
              <a:t/>
            </a:r>
            <a:endParaRPr sz="1800">
              <a:solidFill>
                <a:schemeClr val="dk1"/>
              </a:solidFill>
            </a:endParaRPr>
          </a:p>
          <a:p>
            <a:pPr indent="0" lvl="0" marL="0" rtl="0" algn="just">
              <a:spcBef>
                <a:spcPts val="0"/>
              </a:spcBef>
              <a:spcAft>
                <a:spcPts val="0"/>
              </a:spcAft>
              <a:buClr>
                <a:schemeClr val="dk1"/>
              </a:buClr>
              <a:buSzPts val="1400"/>
              <a:buFont typeface="Arial"/>
              <a:buNone/>
            </a:pPr>
            <a:r>
              <a:rPr i="1" lang="en-GB" sz="1800">
                <a:solidFill>
                  <a:schemeClr val="dk1"/>
                </a:solidFill>
              </a:rPr>
              <a:t>x</a:t>
            </a:r>
            <a:r>
              <a:rPr lang="en-GB" sz="1800">
                <a:solidFill>
                  <a:schemeClr val="dk1"/>
                </a:solidFill>
              </a:rPr>
              <a:t> = 40.</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272" name="Google Shape;272;g2ee15abed17_3_43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1000"/>
                                        <p:tgtEl>
                                          <p:spTgt spid="2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animEffect filter="fade" transition="in">
                                      <p:cBhvr>
                                        <p:cTn dur="1000"/>
                                        <p:tgtEl>
                                          <p:spTgt spid="2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animEffect filter="fade" transition="in">
                                      <p:cBhvr>
                                        <p:cTn dur="1000"/>
                                        <p:tgtEl>
                                          <p:spTgt spid="2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3" st="3"/>
                                            </p:txEl>
                                          </p:spTgt>
                                        </p:tgtEl>
                                        <p:attrNameLst>
                                          <p:attrName>style.visibility</p:attrName>
                                        </p:attrNameLst>
                                      </p:cBhvr>
                                      <p:to>
                                        <p:strVal val="visible"/>
                                      </p:to>
                                    </p:set>
                                    <p:animEffect filter="fade" transition="in">
                                      <p:cBhvr>
                                        <p:cTn dur="1000"/>
                                        <p:tgtEl>
                                          <p:spTgt spid="2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4" st="4"/>
                                            </p:txEl>
                                          </p:spTgt>
                                        </p:tgtEl>
                                        <p:attrNameLst>
                                          <p:attrName>style.visibility</p:attrName>
                                        </p:attrNameLst>
                                      </p:cBhvr>
                                      <p:to>
                                        <p:strVal val="visible"/>
                                      </p:to>
                                    </p:set>
                                    <p:animEffect filter="fade" transition="in">
                                      <p:cBhvr>
                                        <p:cTn dur="1000"/>
                                        <p:tgtEl>
                                          <p:spTgt spid="2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5" st="5"/>
                                            </p:txEl>
                                          </p:spTgt>
                                        </p:tgtEl>
                                        <p:attrNameLst>
                                          <p:attrName>style.visibility</p:attrName>
                                        </p:attrNameLst>
                                      </p:cBhvr>
                                      <p:to>
                                        <p:strVal val="visible"/>
                                      </p:to>
                                    </p:set>
                                    <p:animEffect filter="fade" transition="in">
                                      <p:cBhvr>
                                        <p:cTn dur="1000"/>
                                        <p:tgtEl>
                                          <p:spTgt spid="2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6" st="6"/>
                                            </p:txEl>
                                          </p:spTgt>
                                        </p:tgtEl>
                                        <p:attrNameLst>
                                          <p:attrName>style.visibility</p:attrName>
                                        </p:attrNameLst>
                                      </p:cBhvr>
                                      <p:to>
                                        <p:strVal val="visible"/>
                                      </p:to>
                                    </p:set>
                                    <p:animEffect filter="fade" transition="in">
                                      <p:cBhvr>
                                        <p:cTn dur="1000"/>
                                        <p:tgtEl>
                                          <p:spTgt spid="27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7" st="7"/>
                                            </p:txEl>
                                          </p:spTgt>
                                        </p:tgtEl>
                                        <p:attrNameLst>
                                          <p:attrName>style.visibility</p:attrName>
                                        </p:attrNameLst>
                                      </p:cBhvr>
                                      <p:to>
                                        <p:strVal val="visible"/>
                                      </p:to>
                                    </p:set>
                                    <p:animEffect filter="fade" transition="in">
                                      <p:cBhvr>
                                        <p:cTn dur="1000"/>
                                        <p:tgtEl>
                                          <p:spTgt spid="27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8" st="8"/>
                                            </p:txEl>
                                          </p:spTgt>
                                        </p:tgtEl>
                                        <p:attrNameLst>
                                          <p:attrName>style.visibility</p:attrName>
                                        </p:attrNameLst>
                                      </p:cBhvr>
                                      <p:to>
                                        <p:strVal val="visible"/>
                                      </p:to>
                                    </p:set>
                                    <p:animEffect filter="fade" transition="in">
                                      <p:cBhvr>
                                        <p:cTn dur="1000"/>
                                        <p:tgtEl>
                                          <p:spTgt spid="27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9" st="9"/>
                                            </p:txEl>
                                          </p:spTgt>
                                        </p:tgtEl>
                                        <p:attrNameLst>
                                          <p:attrName>style.visibility</p:attrName>
                                        </p:attrNameLst>
                                      </p:cBhvr>
                                      <p:to>
                                        <p:strVal val="visible"/>
                                      </p:to>
                                    </p:set>
                                    <p:animEffect filter="fade" transition="in">
                                      <p:cBhvr>
                                        <p:cTn dur="1000"/>
                                        <p:tgtEl>
                                          <p:spTgt spid="27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10" st="10"/>
                                            </p:txEl>
                                          </p:spTgt>
                                        </p:tgtEl>
                                        <p:attrNameLst>
                                          <p:attrName>style.visibility</p:attrName>
                                        </p:attrNameLst>
                                      </p:cBhvr>
                                      <p:to>
                                        <p:strVal val="visible"/>
                                      </p:to>
                                    </p:set>
                                    <p:animEffect filter="fade" transition="in">
                                      <p:cBhvr>
                                        <p:cTn dur="1000"/>
                                        <p:tgtEl>
                                          <p:spTgt spid="271">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2ee15abed17_3_440"/>
          <p:cNvSpPr txBox="1"/>
          <p:nvPr/>
        </p:nvSpPr>
        <p:spPr>
          <a:xfrm>
            <a:off x="720000" y="1440004"/>
            <a:ext cx="7384200" cy="2598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Q is as much younger than R as he is older than T. If the sum of the ages of R and T is 50 years, what is definitely the difference between R and Q's age?</a:t>
            </a:r>
            <a:endParaRPr sz="1800">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400"/>
              <a:buFont typeface="Arial"/>
              <a:buNone/>
            </a:pPr>
            <a:r>
              <a:t/>
            </a:r>
            <a:endParaRPr sz="1800">
              <a:solidFill>
                <a:schemeClr val="dk1"/>
              </a:solidFill>
              <a:latin typeface="Roboto"/>
              <a:ea typeface="Roboto"/>
              <a:cs typeface="Roboto"/>
              <a:sym typeface="Roboto"/>
            </a:endParaRPr>
          </a:p>
          <a:p>
            <a:pPr indent="-342900" lvl="0" marL="457200" rtl="0" algn="l">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1 year</a:t>
            </a:r>
            <a:endParaRPr sz="1800">
              <a:solidFill>
                <a:schemeClr val="dk1"/>
              </a:solidFill>
              <a:latin typeface="Roboto"/>
              <a:ea typeface="Roboto"/>
              <a:cs typeface="Roboto"/>
              <a:sym typeface="Roboto"/>
            </a:endParaRPr>
          </a:p>
          <a:p>
            <a:pPr indent="-342900" lvl="0" marL="457200" rtl="0" algn="l">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2 years</a:t>
            </a:r>
            <a:endParaRPr sz="1800">
              <a:solidFill>
                <a:schemeClr val="dk1"/>
              </a:solidFill>
              <a:latin typeface="Roboto"/>
              <a:ea typeface="Roboto"/>
              <a:cs typeface="Roboto"/>
              <a:sym typeface="Roboto"/>
            </a:endParaRPr>
          </a:p>
          <a:p>
            <a:pPr indent="-342900" lvl="0" marL="457200" rtl="0" algn="l">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25 years</a:t>
            </a:r>
            <a:endParaRPr sz="1800">
              <a:solidFill>
                <a:schemeClr val="dk1"/>
              </a:solidFill>
              <a:latin typeface="Roboto"/>
              <a:ea typeface="Roboto"/>
              <a:cs typeface="Roboto"/>
              <a:sym typeface="Roboto"/>
            </a:endParaRPr>
          </a:p>
          <a:p>
            <a:pPr indent="-342900" lvl="0" marL="457200" rtl="0" algn="l">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Data inadequate</a:t>
            </a:r>
            <a:endParaRPr sz="18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200"/>
              <a:buFont typeface="Arial"/>
              <a:buNone/>
            </a:pPr>
            <a:r>
              <a:t/>
            </a:r>
            <a:endParaRPr b="0" i="0" sz="1600" u="none" cap="none" strike="noStrike">
              <a:solidFill>
                <a:srgbClr val="666666"/>
              </a:solidFill>
              <a:highlight>
                <a:srgbClr val="F8F8F8"/>
              </a:highlight>
              <a:latin typeface="Roboto"/>
              <a:ea typeface="Roboto"/>
              <a:cs typeface="Roboto"/>
              <a:sym typeface="Roboto"/>
            </a:endParaRPr>
          </a:p>
        </p:txBody>
      </p:sp>
      <p:sp>
        <p:nvSpPr>
          <p:cNvPr id="278" name="Google Shape;278;g2ee15abed17_3_440"/>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D</a:t>
            </a:r>
            <a:r>
              <a:rPr b="1" i="0" lang="en-GB" sz="1600" u="none" cap="none" strike="noStrike">
                <a:solidFill>
                  <a:srgbClr val="000000"/>
                </a:solidFill>
                <a:latin typeface="Roboto"/>
                <a:ea typeface="Roboto"/>
                <a:cs typeface="Roboto"/>
                <a:sym typeface="Roboto"/>
              </a:rPr>
              <a:t> </a:t>
            </a:r>
            <a:endParaRPr b="1" i="0" sz="1600" u="none" cap="none" strike="noStrike">
              <a:solidFill>
                <a:srgbClr val="000000"/>
              </a:solidFill>
              <a:latin typeface="Roboto"/>
              <a:ea typeface="Roboto"/>
              <a:cs typeface="Roboto"/>
              <a:sym typeface="Roboto"/>
            </a:endParaRPr>
          </a:p>
        </p:txBody>
      </p:sp>
      <p:sp>
        <p:nvSpPr>
          <p:cNvPr id="279" name="Google Shape;279;g2ee15abed17_3_440"/>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Effect filter="fade" transition="in">
                                      <p:cBhvr>
                                        <p:cTn dur="1000"/>
                                        <p:tgtEl>
                                          <p:spTgt spid="2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Effect filter="fade" transition="in">
                                      <p:cBhvr>
                                        <p:cTn dur="1000"/>
                                        <p:tgtEl>
                                          <p:spTgt spid="2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Effect filter="fade" transition="in">
                                      <p:cBhvr>
                                        <p:cTn dur="1000"/>
                                        <p:tgtEl>
                                          <p:spTgt spid="2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Effect filter="fade" transition="in">
                                      <p:cBhvr>
                                        <p:cTn dur="1000"/>
                                        <p:tgtEl>
                                          <p:spTgt spid="2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Effect filter="fade" transition="in">
                                      <p:cBhvr>
                                        <p:cTn dur="1000"/>
                                        <p:tgtEl>
                                          <p:spTgt spid="2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5" st="5"/>
                                            </p:txEl>
                                          </p:spTgt>
                                        </p:tgtEl>
                                        <p:attrNameLst>
                                          <p:attrName>style.visibility</p:attrName>
                                        </p:attrNameLst>
                                      </p:cBhvr>
                                      <p:to>
                                        <p:strVal val="visible"/>
                                      </p:to>
                                    </p:set>
                                    <p:animEffect filter="fade" transition="in">
                                      <p:cBhvr>
                                        <p:cTn dur="1000"/>
                                        <p:tgtEl>
                                          <p:spTgt spid="27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6" st="6"/>
                                            </p:txEl>
                                          </p:spTgt>
                                        </p:tgtEl>
                                        <p:attrNameLst>
                                          <p:attrName>style.visibility</p:attrName>
                                        </p:attrNameLst>
                                      </p:cBhvr>
                                      <p:to>
                                        <p:strVal val="visible"/>
                                      </p:to>
                                    </p:set>
                                    <p:animEffect filter="fade" transition="in">
                                      <p:cBhvr>
                                        <p:cTn dur="1000"/>
                                        <p:tgtEl>
                                          <p:spTgt spid="27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7" st="7"/>
                                            </p:txEl>
                                          </p:spTgt>
                                        </p:tgtEl>
                                        <p:attrNameLst>
                                          <p:attrName>style.visibility</p:attrName>
                                        </p:attrNameLst>
                                      </p:cBhvr>
                                      <p:to>
                                        <p:strVal val="visible"/>
                                      </p:to>
                                    </p:set>
                                    <p:animEffect filter="fade" transition="in">
                                      <p:cBhvr>
                                        <p:cTn dur="1000"/>
                                        <p:tgtEl>
                                          <p:spTgt spid="27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8" st="8"/>
                                            </p:txEl>
                                          </p:spTgt>
                                        </p:tgtEl>
                                        <p:attrNameLst>
                                          <p:attrName>style.visibility</p:attrName>
                                        </p:attrNameLst>
                                      </p:cBhvr>
                                      <p:to>
                                        <p:strVal val="visible"/>
                                      </p:to>
                                    </p:set>
                                    <p:animEffect filter="fade" transition="in">
                                      <p:cBhvr>
                                        <p:cTn dur="1000"/>
                                        <p:tgtEl>
                                          <p:spTgt spid="27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animEffect filter="fade" transition="in">
                                      <p:cBhvr>
                                        <p:cTn dur="1000"/>
                                        <p:tgtEl>
                                          <p:spTgt spid="27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3" name="Shape 283"/>
        <p:cNvGrpSpPr/>
        <p:nvPr/>
      </p:nvGrpSpPr>
      <p:grpSpPr>
        <a:xfrm>
          <a:off x="0" y="0"/>
          <a:ext cx="0" cy="0"/>
          <a:chOff x="0" y="0"/>
          <a:chExt cx="0" cy="0"/>
        </a:xfrm>
      </p:grpSpPr>
      <p:pic>
        <p:nvPicPr>
          <p:cNvPr id="284" name="Google Shape;284;g2ee15abed17_3_447"/>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85" name="Google Shape;285;g2ee15abed17_3_447"/>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86" name="Google Shape;286;g2ee15abed17_3_447"/>
          <p:cNvSpPr txBox="1"/>
          <p:nvPr/>
        </p:nvSpPr>
        <p:spPr>
          <a:xfrm>
            <a:off x="327600" y="10713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87" name="Google Shape;287;g2ee15abed17_3_447"/>
          <p:cNvSpPr txBox="1"/>
          <p:nvPr/>
        </p:nvSpPr>
        <p:spPr>
          <a:xfrm>
            <a:off x="630000" y="1337100"/>
            <a:ext cx="6974400" cy="381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500">
                <a:solidFill>
                  <a:schemeClr val="dk1"/>
                </a:solidFill>
                <a:latin typeface="Roboto"/>
                <a:ea typeface="Roboto"/>
                <a:cs typeface="Roboto"/>
                <a:sym typeface="Roboto"/>
              </a:rPr>
              <a:t>1. The difference of age b/w R and Q = The difference of age b/w Q and T.</a:t>
            </a:r>
            <a:endParaRPr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500">
                <a:solidFill>
                  <a:schemeClr val="dk1"/>
                </a:solidFill>
                <a:latin typeface="Roboto"/>
                <a:ea typeface="Roboto"/>
                <a:cs typeface="Roboto"/>
                <a:sym typeface="Roboto"/>
              </a:rPr>
              <a:t>2. Sum of age of R and T is 50 i.e. (R + T) = 50.</a:t>
            </a:r>
            <a:endParaRPr b="1"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500">
                <a:solidFill>
                  <a:schemeClr val="dk1"/>
                </a:solidFill>
                <a:latin typeface="Roboto"/>
                <a:ea typeface="Roboto"/>
                <a:cs typeface="Roboto"/>
                <a:sym typeface="Roboto"/>
              </a:rPr>
              <a:t>R - Q = Q - T</a:t>
            </a:r>
            <a:endParaRPr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500">
                <a:solidFill>
                  <a:schemeClr val="dk1"/>
                </a:solidFill>
                <a:latin typeface="Roboto"/>
                <a:ea typeface="Roboto"/>
                <a:cs typeface="Roboto"/>
                <a:sym typeface="Roboto"/>
              </a:rPr>
              <a:t>(R + T) = 2Q</a:t>
            </a:r>
            <a:endParaRPr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500">
                <a:solidFill>
                  <a:schemeClr val="dk1"/>
                </a:solidFill>
                <a:latin typeface="Roboto"/>
                <a:ea typeface="Roboto"/>
                <a:cs typeface="Roboto"/>
                <a:sym typeface="Roboto"/>
              </a:rPr>
              <a:t>Now given that, (R + T) = 50</a:t>
            </a:r>
            <a:endParaRPr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t/>
            </a:r>
            <a:endParaRPr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500">
                <a:solidFill>
                  <a:schemeClr val="dk1"/>
                </a:solidFill>
                <a:latin typeface="Roboto"/>
                <a:ea typeface="Roboto"/>
                <a:cs typeface="Roboto"/>
                <a:sym typeface="Roboto"/>
              </a:rPr>
              <a:t>So, 50 = 2Q and therefore Q = 25.</a:t>
            </a:r>
            <a:endParaRPr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500">
              <a:solidFill>
                <a:schemeClr val="dk1"/>
              </a:solidFill>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500">
                <a:solidFill>
                  <a:schemeClr val="dk1"/>
                </a:solidFill>
                <a:latin typeface="Roboto"/>
                <a:ea typeface="Roboto"/>
                <a:cs typeface="Roboto"/>
                <a:sym typeface="Roboto"/>
              </a:rPr>
              <a:t>Here we know the value(age) of Q (25), but we don't know the age of R.Therefore, (R-Q) cannot be determine</a:t>
            </a:r>
            <a:endParaRPr sz="15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chemeClr val="dk1"/>
              </a:solidFill>
              <a:latin typeface="Roboto"/>
              <a:ea typeface="Roboto"/>
              <a:cs typeface="Roboto"/>
              <a:sym typeface="Roboto"/>
            </a:endParaRPr>
          </a:p>
        </p:txBody>
      </p:sp>
      <p:sp>
        <p:nvSpPr>
          <p:cNvPr id="288" name="Google Shape;288;g2ee15abed17_3_44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2ee15abed17_3_455"/>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11</a:t>
            </a:r>
            <a:endParaRPr b="0" i="0" sz="2000" u="none" cap="none" strike="noStrike">
              <a:solidFill>
                <a:schemeClr val="lt1"/>
              </a:solidFill>
              <a:latin typeface="Roboto"/>
              <a:ea typeface="Roboto"/>
              <a:cs typeface="Roboto"/>
              <a:sym typeface="Roboto"/>
            </a:endParaRPr>
          </a:p>
        </p:txBody>
      </p:sp>
      <p:sp>
        <p:nvSpPr>
          <p:cNvPr id="294" name="Google Shape;294;g2ee15abed17_3_455"/>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The age of father 10 years ago was thrice the age of his son. Ten years hence, father's age will be twice that of his son. The ratio of their present ages is:</a:t>
            </a:r>
            <a:endParaRPr sz="1800">
              <a:solidFill>
                <a:schemeClr val="dk1"/>
              </a:solidFill>
              <a:latin typeface="Roboto"/>
              <a:ea typeface="Roboto"/>
              <a:cs typeface="Roboto"/>
              <a:sym typeface="Roboto"/>
            </a:endParaRPr>
          </a:p>
          <a:p>
            <a:pPr indent="-342900" lvl="0" marL="457200" rtl="0" algn="l">
              <a:lnSpc>
                <a:spcPct val="150000"/>
              </a:lnSpc>
              <a:spcBef>
                <a:spcPts val="80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5 : 2</a:t>
            </a:r>
            <a:endParaRPr sz="1800">
              <a:solidFill>
                <a:schemeClr val="dk1"/>
              </a:solidFill>
              <a:latin typeface="Roboto"/>
              <a:ea typeface="Roboto"/>
              <a:cs typeface="Roboto"/>
              <a:sym typeface="Roboto"/>
            </a:endParaRPr>
          </a:p>
          <a:p>
            <a:pPr indent="-342900" lvl="0" marL="457200" rtl="0" algn="l">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7 : 3</a:t>
            </a:r>
            <a:endParaRPr sz="1800">
              <a:solidFill>
                <a:schemeClr val="dk1"/>
              </a:solidFill>
              <a:latin typeface="Roboto"/>
              <a:ea typeface="Roboto"/>
              <a:cs typeface="Roboto"/>
              <a:sym typeface="Roboto"/>
            </a:endParaRPr>
          </a:p>
          <a:p>
            <a:pPr indent="-342900" lvl="0" marL="457200" rtl="0" algn="l">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9 : 2</a:t>
            </a:r>
            <a:endParaRPr sz="1800">
              <a:solidFill>
                <a:schemeClr val="dk1"/>
              </a:solidFill>
              <a:latin typeface="Roboto"/>
              <a:ea typeface="Roboto"/>
              <a:cs typeface="Roboto"/>
              <a:sym typeface="Roboto"/>
            </a:endParaRPr>
          </a:p>
          <a:p>
            <a:pPr indent="-342900" lvl="0" marL="457200" rtl="0" algn="l">
              <a:lnSpc>
                <a:spcPct val="150000"/>
              </a:lnSpc>
              <a:spcBef>
                <a:spcPts val="0"/>
              </a:spcBef>
              <a:spcAft>
                <a:spcPts val="0"/>
              </a:spcAft>
              <a:buClr>
                <a:schemeClr val="dk1"/>
              </a:buClr>
              <a:buSzPts val="1800"/>
              <a:buFont typeface="Roboto"/>
              <a:buAutoNum type="alphaUcPeriod"/>
            </a:pPr>
            <a:r>
              <a:rPr lang="en-GB" sz="1800">
                <a:solidFill>
                  <a:schemeClr val="dk1"/>
                </a:solidFill>
                <a:latin typeface="Roboto"/>
                <a:ea typeface="Roboto"/>
                <a:cs typeface="Roboto"/>
                <a:sym typeface="Roboto"/>
              </a:rPr>
              <a:t>13 : 4</a:t>
            </a:r>
            <a:endParaRPr sz="1800">
              <a:solidFill>
                <a:schemeClr val="dk1"/>
              </a:solidFill>
              <a:latin typeface="Roboto"/>
              <a:ea typeface="Roboto"/>
              <a:cs typeface="Roboto"/>
              <a:sym typeface="Roboto"/>
            </a:endParaRPr>
          </a:p>
        </p:txBody>
      </p:sp>
      <p:sp>
        <p:nvSpPr>
          <p:cNvPr id="295" name="Google Shape;295;g2ee15abed17_3_45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B</a:t>
            </a:r>
            <a:endParaRPr b="1" i="0" sz="1600" u="none" cap="none" strike="noStrike">
              <a:solidFill>
                <a:srgbClr val="000000"/>
              </a:solidFill>
              <a:latin typeface="Roboto"/>
              <a:ea typeface="Roboto"/>
              <a:cs typeface="Roboto"/>
              <a:sym typeface="Roboto"/>
            </a:endParaRPr>
          </a:p>
        </p:txBody>
      </p:sp>
      <p:sp>
        <p:nvSpPr>
          <p:cNvPr id="296" name="Google Shape;296;g2ee15abed17_3_45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animEffect filter="fade" transition="in">
                                      <p:cBhvr>
                                        <p:cTn dur="1000"/>
                                        <p:tgtEl>
                                          <p:spTgt spid="2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animEffect filter="fade" transition="in">
                                      <p:cBhvr>
                                        <p:cTn dur="1000"/>
                                        <p:tgtEl>
                                          <p:spTgt spid="2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animEffect filter="fade" transition="in">
                                      <p:cBhvr>
                                        <p:cTn dur="1000"/>
                                        <p:tgtEl>
                                          <p:spTgt spid="2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animEffect filter="fade" transition="in">
                                      <p:cBhvr>
                                        <p:cTn dur="1000"/>
                                        <p:tgtEl>
                                          <p:spTgt spid="2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animEffect filter="fade" transition="in">
                                      <p:cBhvr>
                                        <p:cTn dur="1000"/>
                                        <p:tgtEl>
                                          <p:spTgt spid="2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0" name="Shape 300"/>
        <p:cNvGrpSpPr/>
        <p:nvPr/>
      </p:nvGrpSpPr>
      <p:grpSpPr>
        <a:xfrm>
          <a:off x="0" y="0"/>
          <a:ext cx="0" cy="0"/>
          <a:chOff x="0" y="0"/>
          <a:chExt cx="0" cy="0"/>
        </a:xfrm>
      </p:grpSpPr>
      <p:sp>
        <p:nvSpPr>
          <p:cNvPr id="301" name="Google Shape;301;g2ee15abed17_3_462"/>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302" name="Google Shape;302;g2ee15abed17_3_462"/>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15000"/>
              </a:lnSpc>
              <a:spcBef>
                <a:spcPts val="1200"/>
              </a:spcBef>
              <a:spcAft>
                <a:spcPts val="0"/>
              </a:spcAft>
              <a:buClr>
                <a:schemeClr val="dk1"/>
              </a:buClr>
              <a:buSzPts val="1100"/>
              <a:buFont typeface="Arial"/>
              <a:buNone/>
            </a:pPr>
            <a:r>
              <a:rPr lang="en-GB" sz="1800">
                <a:solidFill>
                  <a:schemeClr val="dk1"/>
                </a:solidFill>
                <a:latin typeface="Roboto"/>
                <a:ea typeface="Roboto"/>
                <a:cs typeface="Roboto"/>
                <a:sym typeface="Roboto"/>
              </a:rPr>
              <a:t>Let the ages of father and son 10 years ago be 3</a:t>
            </a:r>
            <a:r>
              <a:rPr i="1" lang="en-GB" sz="1800">
                <a:solidFill>
                  <a:schemeClr val="dk1"/>
                </a:solidFill>
                <a:latin typeface="Roboto"/>
                <a:ea typeface="Roboto"/>
                <a:cs typeface="Roboto"/>
                <a:sym typeface="Roboto"/>
              </a:rPr>
              <a:t>x</a:t>
            </a:r>
            <a:r>
              <a:rPr lang="en-GB" sz="1800">
                <a:solidFill>
                  <a:schemeClr val="dk1"/>
                </a:solidFill>
                <a:latin typeface="Roboto"/>
                <a:ea typeface="Roboto"/>
                <a:cs typeface="Roboto"/>
                <a:sym typeface="Roboto"/>
              </a:rPr>
              <a:t> and </a:t>
            </a:r>
            <a:r>
              <a:rPr i="1" lang="en-GB" sz="1800">
                <a:solidFill>
                  <a:schemeClr val="dk1"/>
                </a:solidFill>
                <a:latin typeface="Roboto"/>
                <a:ea typeface="Roboto"/>
                <a:cs typeface="Roboto"/>
                <a:sym typeface="Roboto"/>
              </a:rPr>
              <a:t>x</a:t>
            </a:r>
            <a:r>
              <a:rPr lang="en-GB" sz="1800">
                <a:solidFill>
                  <a:schemeClr val="dk1"/>
                </a:solidFill>
                <a:latin typeface="Roboto"/>
                <a:ea typeface="Roboto"/>
                <a:cs typeface="Roboto"/>
                <a:sym typeface="Roboto"/>
              </a:rPr>
              <a:t> years respectively.</a:t>
            </a:r>
            <a:endParaRPr sz="1800">
              <a:solidFill>
                <a:schemeClr val="dk1"/>
              </a:solidFill>
              <a:latin typeface="Roboto"/>
              <a:ea typeface="Roboto"/>
              <a:cs typeface="Roboto"/>
              <a:sym typeface="Roboto"/>
            </a:endParaRPr>
          </a:p>
          <a:p>
            <a:pPr indent="0" lvl="0" marL="0" rtl="0" algn="just">
              <a:lnSpc>
                <a:spcPct val="115000"/>
              </a:lnSpc>
              <a:spcBef>
                <a:spcPts val="1200"/>
              </a:spcBef>
              <a:spcAft>
                <a:spcPts val="0"/>
              </a:spcAft>
              <a:buClr>
                <a:schemeClr val="dk1"/>
              </a:buClr>
              <a:buSzPts val="1100"/>
              <a:buFont typeface="Arial"/>
              <a:buNone/>
            </a:pPr>
            <a:r>
              <a:rPr lang="en-GB" sz="1800">
                <a:solidFill>
                  <a:schemeClr val="dk1"/>
                </a:solidFill>
                <a:latin typeface="Roboto"/>
                <a:ea typeface="Roboto"/>
                <a:cs typeface="Roboto"/>
                <a:sym typeface="Roboto"/>
              </a:rPr>
              <a:t>Then, (3</a:t>
            </a:r>
            <a:r>
              <a:rPr i="1" lang="en-GB" sz="1800">
                <a:solidFill>
                  <a:schemeClr val="dk1"/>
                </a:solidFill>
                <a:latin typeface="Roboto"/>
                <a:ea typeface="Roboto"/>
                <a:cs typeface="Roboto"/>
                <a:sym typeface="Roboto"/>
              </a:rPr>
              <a:t>x</a:t>
            </a:r>
            <a:r>
              <a:rPr lang="en-GB" sz="1800">
                <a:solidFill>
                  <a:schemeClr val="dk1"/>
                </a:solidFill>
                <a:latin typeface="Roboto"/>
                <a:ea typeface="Roboto"/>
                <a:cs typeface="Roboto"/>
                <a:sym typeface="Roboto"/>
              </a:rPr>
              <a:t> + 10) + 10 = 2[(</a:t>
            </a:r>
            <a:r>
              <a:rPr i="1" lang="en-GB" sz="1800">
                <a:solidFill>
                  <a:schemeClr val="dk1"/>
                </a:solidFill>
                <a:latin typeface="Roboto"/>
                <a:ea typeface="Roboto"/>
                <a:cs typeface="Roboto"/>
                <a:sym typeface="Roboto"/>
              </a:rPr>
              <a:t>x</a:t>
            </a:r>
            <a:r>
              <a:rPr lang="en-GB" sz="1800">
                <a:solidFill>
                  <a:schemeClr val="dk1"/>
                </a:solidFill>
                <a:latin typeface="Roboto"/>
                <a:ea typeface="Roboto"/>
                <a:cs typeface="Roboto"/>
                <a:sym typeface="Roboto"/>
              </a:rPr>
              <a:t> + 10) + 10]</a:t>
            </a:r>
            <a:endParaRPr sz="1800">
              <a:solidFill>
                <a:schemeClr val="dk1"/>
              </a:solidFill>
              <a:latin typeface="Roboto"/>
              <a:ea typeface="Roboto"/>
              <a:cs typeface="Roboto"/>
              <a:sym typeface="Roboto"/>
            </a:endParaRPr>
          </a:p>
          <a:p>
            <a:pPr indent="0" lvl="0" marL="0" rtl="0" algn="just">
              <a:spcBef>
                <a:spcPts val="1200"/>
              </a:spcBef>
              <a:spcAft>
                <a:spcPts val="0"/>
              </a:spcAft>
              <a:buClr>
                <a:schemeClr val="dk1"/>
              </a:buClr>
              <a:buSzPts val="1400"/>
              <a:buFont typeface="Arial"/>
              <a:buNone/>
            </a:pPr>
            <a:r>
              <a:rPr lang="en-GB" sz="1800">
                <a:solidFill>
                  <a:schemeClr val="dk1"/>
                </a:solidFill>
                <a:latin typeface="Roboto"/>
                <a:ea typeface="Roboto"/>
                <a:cs typeface="Roboto"/>
                <a:sym typeface="Roboto"/>
              </a:rPr>
              <a:t>3</a:t>
            </a:r>
            <a:r>
              <a:rPr i="1" lang="en-GB" sz="1800">
                <a:solidFill>
                  <a:schemeClr val="dk1"/>
                </a:solidFill>
                <a:latin typeface="Roboto"/>
                <a:ea typeface="Roboto"/>
                <a:cs typeface="Roboto"/>
                <a:sym typeface="Roboto"/>
              </a:rPr>
              <a:t>x</a:t>
            </a:r>
            <a:r>
              <a:rPr lang="en-GB" sz="1800">
                <a:solidFill>
                  <a:schemeClr val="dk1"/>
                </a:solidFill>
                <a:latin typeface="Roboto"/>
                <a:ea typeface="Roboto"/>
                <a:cs typeface="Roboto"/>
                <a:sym typeface="Roboto"/>
              </a:rPr>
              <a:t> + 20 = 2</a:t>
            </a:r>
            <a:r>
              <a:rPr i="1" lang="en-GB" sz="1800">
                <a:solidFill>
                  <a:schemeClr val="dk1"/>
                </a:solidFill>
                <a:latin typeface="Roboto"/>
                <a:ea typeface="Roboto"/>
                <a:cs typeface="Roboto"/>
                <a:sym typeface="Roboto"/>
              </a:rPr>
              <a:t>x</a:t>
            </a:r>
            <a:r>
              <a:rPr lang="en-GB" sz="1800">
                <a:solidFill>
                  <a:schemeClr val="dk1"/>
                </a:solidFill>
                <a:latin typeface="Roboto"/>
                <a:ea typeface="Roboto"/>
                <a:cs typeface="Roboto"/>
                <a:sym typeface="Roboto"/>
              </a:rPr>
              <a:t> + 40</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400"/>
              <a:buFont typeface="Arial"/>
              <a:buNone/>
            </a:pPr>
            <a:r>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400"/>
              <a:buFont typeface="Arial"/>
              <a:buNone/>
            </a:pPr>
            <a:r>
              <a:rPr i="1" lang="en-GB" sz="1800">
                <a:solidFill>
                  <a:schemeClr val="dk1"/>
                </a:solidFill>
                <a:latin typeface="Roboto"/>
                <a:ea typeface="Roboto"/>
                <a:cs typeface="Roboto"/>
                <a:sym typeface="Roboto"/>
              </a:rPr>
              <a:t>x</a:t>
            </a:r>
            <a:r>
              <a:rPr lang="en-GB" sz="1800">
                <a:solidFill>
                  <a:schemeClr val="dk1"/>
                </a:solidFill>
                <a:latin typeface="Roboto"/>
                <a:ea typeface="Roboto"/>
                <a:cs typeface="Roboto"/>
                <a:sym typeface="Roboto"/>
              </a:rPr>
              <a:t> = 20.</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400"/>
              <a:buFont typeface="Arial"/>
              <a:buNone/>
            </a:pPr>
            <a:r>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400"/>
              <a:buFont typeface="Arial"/>
              <a:buNone/>
            </a:pPr>
            <a:r>
              <a:rPr lang="en-GB" sz="1800">
                <a:solidFill>
                  <a:schemeClr val="dk1"/>
                </a:solidFill>
                <a:latin typeface="Roboto"/>
                <a:ea typeface="Roboto"/>
                <a:cs typeface="Roboto"/>
                <a:sym typeface="Roboto"/>
              </a:rPr>
              <a:t>Required ratio = (3</a:t>
            </a:r>
            <a:r>
              <a:rPr i="1" lang="en-GB" sz="1800">
                <a:solidFill>
                  <a:schemeClr val="dk1"/>
                </a:solidFill>
                <a:latin typeface="Roboto"/>
                <a:ea typeface="Roboto"/>
                <a:cs typeface="Roboto"/>
                <a:sym typeface="Roboto"/>
              </a:rPr>
              <a:t>x</a:t>
            </a:r>
            <a:r>
              <a:rPr lang="en-GB" sz="1800">
                <a:solidFill>
                  <a:schemeClr val="dk1"/>
                </a:solidFill>
                <a:latin typeface="Roboto"/>
                <a:ea typeface="Roboto"/>
                <a:cs typeface="Roboto"/>
                <a:sym typeface="Roboto"/>
              </a:rPr>
              <a:t> + 10) : (</a:t>
            </a:r>
            <a:r>
              <a:rPr i="1" lang="en-GB" sz="1800">
                <a:solidFill>
                  <a:schemeClr val="dk1"/>
                </a:solidFill>
                <a:latin typeface="Roboto"/>
                <a:ea typeface="Roboto"/>
                <a:cs typeface="Roboto"/>
                <a:sym typeface="Roboto"/>
              </a:rPr>
              <a:t>x</a:t>
            </a:r>
            <a:r>
              <a:rPr lang="en-GB" sz="1800">
                <a:solidFill>
                  <a:schemeClr val="dk1"/>
                </a:solidFill>
                <a:latin typeface="Roboto"/>
                <a:ea typeface="Roboto"/>
                <a:cs typeface="Roboto"/>
                <a:sym typeface="Roboto"/>
              </a:rPr>
              <a:t> + 10) = 70 : 30 = 7 : 3</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p:txBody>
      </p:sp>
      <p:sp>
        <p:nvSpPr>
          <p:cNvPr id="303" name="Google Shape;303;g2ee15abed17_3_46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304" name="Google Shape;304;g2ee15abed17_3_46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0" st="0"/>
                                            </p:txEl>
                                          </p:spTgt>
                                        </p:tgtEl>
                                        <p:attrNameLst>
                                          <p:attrName>style.visibility</p:attrName>
                                        </p:attrNameLst>
                                      </p:cBhvr>
                                      <p:to>
                                        <p:strVal val="visible"/>
                                      </p:to>
                                    </p:set>
                                    <p:animEffect filter="fade" transition="in">
                                      <p:cBhvr>
                                        <p:cTn dur="1000"/>
                                        <p:tgtEl>
                                          <p:spTgt spid="3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1" st="1"/>
                                            </p:txEl>
                                          </p:spTgt>
                                        </p:tgtEl>
                                        <p:attrNameLst>
                                          <p:attrName>style.visibility</p:attrName>
                                        </p:attrNameLst>
                                      </p:cBhvr>
                                      <p:to>
                                        <p:strVal val="visible"/>
                                      </p:to>
                                    </p:set>
                                    <p:animEffect filter="fade" transition="in">
                                      <p:cBhvr>
                                        <p:cTn dur="1000"/>
                                        <p:tgtEl>
                                          <p:spTgt spid="3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2" st="2"/>
                                            </p:txEl>
                                          </p:spTgt>
                                        </p:tgtEl>
                                        <p:attrNameLst>
                                          <p:attrName>style.visibility</p:attrName>
                                        </p:attrNameLst>
                                      </p:cBhvr>
                                      <p:to>
                                        <p:strVal val="visible"/>
                                      </p:to>
                                    </p:set>
                                    <p:animEffect filter="fade" transition="in">
                                      <p:cBhvr>
                                        <p:cTn dur="1000"/>
                                        <p:tgtEl>
                                          <p:spTgt spid="3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3" st="3"/>
                                            </p:txEl>
                                          </p:spTgt>
                                        </p:tgtEl>
                                        <p:attrNameLst>
                                          <p:attrName>style.visibility</p:attrName>
                                        </p:attrNameLst>
                                      </p:cBhvr>
                                      <p:to>
                                        <p:strVal val="visible"/>
                                      </p:to>
                                    </p:set>
                                    <p:animEffect filter="fade" transition="in">
                                      <p:cBhvr>
                                        <p:cTn dur="1000"/>
                                        <p:tgtEl>
                                          <p:spTgt spid="3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4" st="4"/>
                                            </p:txEl>
                                          </p:spTgt>
                                        </p:tgtEl>
                                        <p:attrNameLst>
                                          <p:attrName>style.visibility</p:attrName>
                                        </p:attrNameLst>
                                      </p:cBhvr>
                                      <p:to>
                                        <p:strVal val="visible"/>
                                      </p:to>
                                    </p:set>
                                    <p:animEffect filter="fade" transition="in">
                                      <p:cBhvr>
                                        <p:cTn dur="1000"/>
                                        <p:tgtEl>
                                          <p:spTgt spid="3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5" st="5"/>
                                            </p:txEl>
                                          </p:spTgt>
                                        </p:tgtEl>
                                        <p:attrNameLst>
                                          <p:attrName>style.visibility</p:attrName>
                                        </p:attrNameLst>
                                      </p:cBhvr>
                                      <p:to>
                                        <p:strVal val="visible"/>
                                      </p:to>
                                    </p:set>
                                    <p:animEffect filter="fade" transition="in">
                                      <p:cBhvr>
                                        <p:cTn dur="1000"/>
                                        <p:tgtEl>
                                          <p:spTgt spid="3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6" st="6"/>
                                            </p:txEl>
                                          </p:spTgt>
                                        </p:tgtEl>
                                        <p:attrNameLst>
                                          <p:attrName>style.visibility</p:attrName>
                                        </p:attrNameLst>
                                      </p:cBhvr>
                                      <p:to>
                                        <p:strVal val="visible"/>
                                      </p:to>
                                    </p:set>
                                    <p:animEffect filter="fade" transition="in">
                                      <p:cBhvr>
                                        <p:cTn dur="1000"/>
                                        <p:tgtEl>
                                          <p:spTgt spid="30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7" st="7"/>
                                            </p:txEl>
                                          </p:spTgt>
                                        </p:tgtEl>
                                        <p:attrNameLst>
                                          <p:attrName>style.visibility</p:attrName>
                                        </p:attrNameLst>
                                      </p:cBhvr>
                                      <p:to>
                                        <p:strVal val="visible"/>
                                      </p:to>
                                    </p:set>
                                    <p:animEffect filter="fade" transition="in">
                                      <p:cBhvr>
                                        <p:cTn dur="1000"/>
                                        <p:tgtEl>
                                          <p:spTgt spid="30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8" st="8"/>
                                            </p:txEl>
                                          </p:spTgt>
                                        </p:tgtEl>
                                        <p:attrNameLst>
                                          <p:attrName>style.visibility</p:attrName>
                                        </p:attrNameLst>
                                      </p:cBhvr>
                                      <p:to>
                                        <p:strVal val="visible"/>
                                      </p:to>
                                    </p:set>
                                    <p:animEffect filter="fade" transition="in">
                                      <p:cBhvr>
                                        <p:cTn dur="1000"/>
                                        <p:tgtEl>
                                          <p:spTgt spid="30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9" st="9"/>
                                            </p:txEl>
                                          </p:spTgt>
                                        </p:tgtEl>
                                        <p:attrNameLst>
                                          <p:attrName>style.visibility</p:attrName>
                                        </p:attrNameLst>
                                      </p:cBhvr>
                                      <p:to>
                                        <p:strVal val="visible"/>
                                      </p:to>
                                    </p:set>
                                    <p:animEffect filter="fade" transition="in">
                                      <p:cBhvr>
                                        <p:cTn dur="1000"/>
                                        <p:tgtEl>
                                          <p:spTgt spid="30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animEffect filter="fade" transition="in">
                                      <p:cBhvr>
                                        <p:cTn dur="1000"/>
                                        <p:tgtEl>
                                          <p:spTgt spid="30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g2ee15abed17_3_53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10" name="Google Shape;310;g2ee15abed17_3_531"/>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311" name="Google Shape;311;g2ee15abed17_3_53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12" name="Google Shape;312;g2ee15abed17_3_53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13" name="Google Shape;313;g2ee15abed17_3_531"/>
          <p:cNvSpPr txBox="1"/>
          <p:nvPr/>
        </p:nvSpPr>
        <p:spPr>
          <a:xfrm>
            <a:off x="1980750" y="4590801"/>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314" name="Google Shape;314;g2ee15abed17_3_53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15" name="Google Shape;315;g2ee15abed17_3_531"/>
          <p:cNvSpPr txBox="1"/>
          <p:nvPr/>
        </p:nvSpPr>
        <p:spPr>
          <a:xfrm>
            <a:off x="3519050"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316" name="Google Shape;316;g2ee15abed17_3_53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17" name="Google Shape;317;g2ee15abed17_3_531"/>
          <p:cNvSpPr txBox="1"/>
          <p:nvPr/>
        </p:nvSpPr>
        <p:spPr>
          <a:xfrm>
            <a:off x="5457275"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318" name="Google Shape;318;g2ee15abed17_3_53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