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80" r:id="rId6"/>
    <p:sldId id="261" r:id="rId7"/>
    <p:sldId id="275" r:id="rId8"/>
    <p:sldId id="262" r:id="rId9"/>
    <p:sldId id="263" r:id="rId10"/>
    <p:sldId id="276" r:id="rId11"/>
    <p:sldId id="265" r:id="rId12"/>
    <p:sldId id="264" r:id="rId13"/>
    <p:sldId id="277" r:id="rId14"/>
    <p:sldId id="267" r:id="rId15"/>
    <p:sldId id="266" r:id="rId16"/>
    <p:sldId id="279" r:id="rId17"/>
    <p:sldId id="268" r:id="rId18"/>
    <p:sldId id="278" r:id="rId19"/>
    <p:sldId id="269" r:id="rId20"/>
    <p:sldId id="270" r:id="rId21"/>
    <p:sldId id="281" r:id="rId22"/>
    <p:sldId id="271" r:id="rId23"/>
    <p:sldId id="272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94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3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2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4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9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3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4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2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3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41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2120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83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01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18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65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6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3864744-DDF2-4566-87B9-07AA4C85D15A}" type="datetimeFigureOut">
              <a:rPr lang="en-US" smtClean="0"/>
              <a:t>07-Apr-26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AFDC022-685D-4EB9-910C-D4F637AD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99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vijayrajeshr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vijayrajeshr" TargetMode="External"/><Relationship Id="rId5" Type="http://schemas.openxmlformats.org/officeDocument/2006/relationships/hyperlink" Target="https://vijayrajeshr.vercel.app/" TargetMode="External"/><Relationship Id="rId4" Type="http://schemas.openxmlformats.org/officeDocument/2006/relationships/hyperlink" Target="https://github.com/vijayrajeshr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415E-5F11-5457-71E5-A6A7F1EB0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423736"/>
            <a:ext cx="9440034" cy="1828801"/>
          </a:xfrm>
        </p:spPr>
        <p:txBody>
          <a:bodyPr>
            <a:normAutofit/>
          </a:bodyPr>
          <a:lstStyle/>
          <a:p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: Humanoids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D28EE-A2BC-C4D9-D5E4-2A67E2997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605464"/>
            <a:ext cx="9440034" cy="2321198"/>
          </a:xfrm>
        </p:spPr>
        <p:txBody>
          <a:bodyPr>
            <a:noAutofit/>
          </a:bodyPr>
          <a:lstStyle/>
          <a:p>
            <a:r>
              <a:rPr lang="en-US" sz="2800" dirty="0"/>
              <a:t>Presented by :</a:t>
            </a:r>
          </a:p>
          <a:p>
            <a:r>
              <a:rPr lang="en-US" sz="4000" dirty="0"/>
              <a:t>23BAI10917 – Vijay Rajesh R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74921521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D122-E55D-5AB2-341E-6D2694ABF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Humanoids:</a:t>
            </a:r>
            <a:br>
              <a:rPr lang="en-US" b="1" dirty="0"/>
            </a:br>
            <a:r>
              <a:rPr lang="en-US" b="1" dirty="0"/>
              <a:t> From Science Fiction to Factory Floor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D437-F2DE-3609-3170-C2472A632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Case Study in the Most Transformative Technology of Our Time </a:t>
            </a:r>
            <a:r>
              <a:rPr lang="en-US" sz="2400" b="1" dirty="0"/>
              <a:t>Speaker note:</a:t>
            </a:r>
            <a:r>
              <a:rPr lang="en-US" sz="2400" dirty="0"/>
              <a:t> Hook the audience — "By 2035, your coworker might not be human."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D3614-8F03-B5A5-0D57-4D6078A99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24" y="2773052"/>
            <a:ext cx="4286653" cy="366175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07AB7-F856-99C0-2D7E-C1A3F4059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572" y="2697189"/>
            <a:ext cx="4463633" cy="37376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89506636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DDCE-0C2B-B58F-6D47-08D15E43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HUMANOID ROBOT?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C891-0EB6-1855-7895-16DF9C3AC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robot built to mimic the human body — bipedal, dexterous, sensor-equipped.</a:t>
            </a:r>
          </a:p>
          <a:p>
            <a:r>
              <a:rPr lang="en-US" sz="2400" dirty="0"/>
              <a:t>Powered by AI, actuators, cameras, LiDAR, force sensors &amp; LLMs.</a:t>
            </a:r>
          </a:p>
          <a:p>
            <a:r>
              <a:rPr lang="en-US" sz="2400" dirty="0"/>
              <a:t>Can perceive surroundings, make decisions, and carry out complex tasks autonomously.</a:t>
            </a:r>
          </a:p>
          <a:p>
            <a:r>
              <a:rPr lang="en-US" sz="2400" dirty="0"/>
              <a:t>The key differentiator from traditional robots: human-designed environments don't need to be redesigned.</a:t>
            </a:r>
          </a:p>
        </p:txBody>
      </p:sp>
    </p:spTree>
    <p:extLst>
      <p:ext uri="{BB962C8B-B14F-4D97-AF65-F5344CB8AC3E}">
        <p14:creationId xmlns:p14="http://schemas.microsoft.com/office/powerpoint/2010/main" val="1714157522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499BF-A304-A418-B914-670296A0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TIMELINE: </a:t>
            </a:r>
            <a:br>
              <a:rPr lang="en-US" b="1" dirty="0"/>
            </a:br>
            <a:r>
              <a:rPr lang="en-US" b="1" dirty="0"/>
              <a:t>HUMANOIDS THROUGH THE 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FBA9D-8321-584D-8FD5-D0371712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44744"/>
            <a:ext cx="10353762" cy="4515951"/>
          </a:xfrm>
        </p:spPr>
        <p:txBody>
          <a:bodyPr>
            <a:noAutofit/>
          </a:bodyPr>
          <a:lstStyle/>
          <a:p>
            <a:r>
              <a:rPr lang="en-US" sz="2400" dirty="0"/>
              <a:t>1973 — WABOT-1 (Japan) — first full-scale humanoid.</a:t>
            </a:r>
          </a:p>
          <a:p>
            <a:r>
              <a:rPr lang="en-US" sz="2400" dirty="0"/>
              <a:t>2000 — Honda's ASIMO debuts.</a:t>
            </a:r>
          </a:p>
          <a:p>
            <a:r>
              <a:rPr lang="en-US" sz="2400" dirty="0"/>
              <a:t>2013 — DARPA funds Boston Dynamics Atlas.</a:t>
            </a:r>
          </a:p>
          <a:p>
            <a:r>
              <a:rPr lang="en-US" sz="2400" dirty="0"/>
              <a:t>2021 — Tesla announces Optimus.</a:t>
            </a:r>
          </a:p>
          <a:p>
            <a:r>
              <a:rPr lang="en-US" sz="2400" dirty="0"/>
              <a:t>2024 — Figure AI raises $675M; Atlas goes fully electric.</a:t>
            </a:r>
          </a:p>
          <a:p>
            <a:r>
              <a:rPr lang="en-US" sz="2400" dirty="0"/>
              <a:t>2025 — Humanoid robots compete in the inaugural 2025 Robot Olympics in Beijing Recorded Future.</a:t>
            </a:r>
          </a:p>
          <a:p>
            <a:r>
              <a:rPr lang="en-US" sz="2400" dirty="0"/>
              <a:t>2026 — Boston Dynamics begins commercial production of Atlas; Hyundai commits tens of thousands of units</a:t>
            </a:r>
          </a:p>
        </p:txBody>
      </p:sp>
    </p:spTree>
    <p:extLst>
      <p:ext uri="{BB962C8B-B14F-4D97-AF65-F5344CB8AC3E}">
        <p14:creationId xmlns:p14="http://schemas.microsoft.com/office/powerpoint/2010/main" val="390568286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umanoid Robots. “Empathy will set us free. I hope to… | by Rancho Labs |  Medium">
            <a:extLst>
              <a:ext uri="{FF2B5EF4-FFF2-40B4-BE49-F238E27FC236}">
                <a16:creationId xmlns:a16="http://schemas.microsoft.com/office/drawing/2014/main" id="{ED35C4B7-D184-AB51-CE11-22A5B01B2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16" y="802558"/>
            <a:ext cx="10505768" cy="525288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063798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6EE70-1DBC-0F48-FE11-767DF3C7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D2CF3-B57D-EC47-D7DE-A0383D49E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Locomotion: Actuators + IMUs maintaining balance at 500–1000 Hz control loops.</a:t>
            </a:r>
          </a:p>
          <a:p>
            <a:r>
              <a:rPr lang="en-US" sz="2400" dirty="0"/>
              <a:t>Vision: Cameras, LiDAR, radar for 360° environmental awareness.</a:t>
            </a:r>
          </a:p>
          <a:p>
            <a:r>
              <a:rPr lang="en-US" sz="2400" dirty="0"/>
              <a:t>Touch: Tactile sensors — e.g., the Shadow Hand uses 34 sensors per fingertip to prevent crushing or dropping objects.</a:t>
            </a:r>
          </a:p>
          <a:p>
            <a:r>
              <a:rPr lang="en-US" sz="2400" dirty="0"/>
              <a:t>ArticsledgeBrain: Large Language Models (LLMs) + Large Behavior Models (LBMs) for task understanding.</a:t>
            </a:r>
          </a:p>
          <a:p>
            <a:r>
              <a:rPr lang="en-US" sz="2400" dirty="0"/>
              <a:t>Training: Simulation-to-reality via platforms like NVIDIA Isaac Sim.</a:t>
            </a:r>
          </a:p>
        </p:txBody>
      </p:sp>
    </p:spTree>
    <p:extLst>
      <p:ext uri="{BB962C8B-B14F-4D97-AF65-F5344CB8AC3E}">
        <p14:creationId xmlns:p14="http://schemas.microsoft.com/office/powerpoint/2010/main" val="3192225090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Robotic end-effectors for manufacturing: Recent developments and future  research challenges - ScienceDirect">
            <a:extLst>
              <a:ext uri="{FF2B5EF4-FFF2-40B4-BE49-F238E27FC236}">
                <a16:creationId xmlns:a16="http://schemas.microsoft.com/office/drawing/2014/main" id="{5E21D9A4-977C-7BB1-767C-7EBF033A0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409" y="262067"/>
            <a:ext cx="7981181" cy="633386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956792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8F7B-C413-BD30-D042-C47BBC16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03524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STUDY #1: </a:t>
            </a:r>
            <a:br>
              <a:rPr lang="en-US" b="1" dirty="0"/>
            </a:br>
            <a:r>
              <a:rPr lang="en-US" b="1" dirty="0"/>
              <a:t>BOSTON DYNAMICS —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3AA7D-DD27-4D99-0D84-DCCA45CA9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5725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dirty="0"/>
              <a:t>30+ years of R&amp;D; now fully electric (2024)56 degrees of freedom, 50 kg lift capacity; partners with Google DeepMind on foundation models.</a:t>
            </a:r>
          </a:p>
          <a:p>
            <a:r>
              <a:rPr lang="en-US" sz="2400" dirty="0"/>
              <a:t> Robozaps Autonomous capability: Atlas can learn from its environment and push knowledge to other units in a fleet.</a:t>
            </a:r>
          </a:p>
          <a:p>
            <a:r>
              <a:rPr lang="en-US" sz="2400" dirty="0"/>
              <a:t>The Register Killer feature: Autonomous battery swapping = 24/7 industrial uptime.</a:t>
            </a:r>
          </a:p>
          <a:p>
            <a:r>
              <a:rPr lang="en-US" sz="2400" dirty="0"/>
              <a:t>Deployed at Hyundai's Georgia facility; estimated ~$140,000/unit</a:t>
            </a:r>
          </a:p>
        </p:txBody>
      </p:sp>
    </p:spTree>
    <p:extLst>
      <p:ext uri="{BB962C8B-B14F-4D97-AF65-F5344CB8AC3E}">
        <p14:creationId xmlns:p14="http://schemas.microsoft.com/office/powerpoint/2010/main" val="3028954599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21BA-C48D-CEF7-68CA-C1C65571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STUDY #2: </a:t>
            </a:r>
            <a:br>
              <a:rPr lang="en-US" b="1" dirty="0"/>
            </a:br>
            <a:r>
              <a:rPr lang="en-US" b="1" dirty="0"/>
              <a:t>TESLA — OPTIMUS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FB37-4433-39F5-FD23-48BB94267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73081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dirty="0"/>
              <a:t>Built on Tesla's FSD (Full Self-Driving) neural networks + xAI's Grok LLM.</a:t>
            </a:r>
          </a:p>
          <a:p>
            <a:r>
              <a:rPr lang="en-US" sz="2400" dirty="0"/>
              <a:t>Gen 3 hands feature 25 actuators per arm — a 4.5x increase from Gen 2 — enabling precision grip BotinfoTarget price: $20,000–$30,000 — "less than a car" (Elon Musk).</a:t>
            </a:r>
          </a:p>
          <a:p>
            <a:r>
              <a:rPr lang="en-US" sz="2400" dirty="0"/>
              <a:t>Reality check: Manufacturing costs dropped 40% year-over-year per Goldman Sachs, far exceeding expected 15–20% annual decline.</a:t>
            </a:r>
          </a:p>
          <a:p>
            <a:r>
              <a:rPr lang="en-US" sz="2400" dirty="0"/>
              <a:t> AwesomerobotsConsumer sales targeted: End of 2027.</a:t>
            </a:r>
          </a:p>
        </p:txBody>
      </p:sp>
    </p:spTree>
    <p:extLst>
      <p:ext uri="{BB962C8B-B14F-4D97-AF65-F5344CB8AC3E}">
        <p14:creationId xmlns:p14="http://schemas.microsoft.com/office/powerpoint/2010/main" val="2098372012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0E1844-1149-29A8-1FA9-502D25D9A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717" y="305994"/>
            <a:ext cx="7168566" cy="560788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537B19-451A-759B-2B4D-476745D6762F}"/>
              </a:ext>
            </a:extLst>
          </p:cNvPr>
          <p:cNvSpPr txBox="1"/>
          <p:nvPr/>
        </p:nvSpPr>
        <p:spPr>
          <a:xfrm>
            <a:off x="4709652" y="6127641"/>
            <a:ext cx="2625214" cy="3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Tesla’s Optimus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28560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B223-157A-4CB7-3ABA-7EC6739F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58760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STUDY #3:</a:t>
            </a:r>
            <a:br>
              <a:rPr lang="en-US" b="1" dirty="0"/>
            </a:br>
            <a:r>
              <a:rPr lang="en-US" b="1" dirty="0"/>
              <a:t> AGILITY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A321-C35E-A709-69B0-7E2FB777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04522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dirty="0"/>
              <a:t>Agility positions Digit as "the world's first commercially deployed humanoid robot," with a dedicated RoboFab factory in Oregon targeting 10,000+ units annually.</a:t>
            </a:r>
          </a:p>
          <a:p>
            <a:r>
              <a:rPr lang="en-US" sz="2400" dirty="0"/>
              <a:t>Deployed with Amazon for tote handling, bin moving, container unloading.</a:t>
            </a:r>
          </a:p>
          <a:p>
            <a:r>
              <a:rPr lang="en-US" sz="2400" dirty="0"/>
              <a:t>Not a sci-fi android — purpose-built for logistics, not general purpose.</a:t>
            </a:r>
          </a:p>
          <a:p>
            <a:r>
              <a:rPr lang="en-US" sz="2400" dirty="0"/>
              <a:t>Proven real-world work in structured warehouse environments today</a:t>
            </a:r>
          </a:p>
        </p:txBody>
      </p:sp>
    </p:spTree>
    <p:extLst>
      <p:ext uri="{BB962C8B-B14F-4D97-AF65-F5344CB8AC3E}">
        <p14:creationId xmlns:p14="http://schemas.microsoft.com/office/powerpoint/2010/main" val="1101807469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A7A2E-5BF8-FE61-3668-8B65E3B2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STUDY #4: </a:t>
            </a:r>
            <a:br>
              <a:rPr lang="en-US" b="1" dirty="0"/>
            </a:br>
            <a:r>
              <a:rPr lang="en-US" b="1" dirty="0"/>
              <a:t>UNITREE - THE AFFORDABLE DISRUPTOR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C3A3E-C550-648E-E5A6-D2C98632A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89649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dirty="0"/>
              <a:t>Unitree achieved unicorn status ($1.3B valuation) after a funding round backed by ByteDance, Alibaba, and Tencent.</a:t>
            </a:r>
          </a:p>
          <a:p>
            <a:r>
              <a:rPr lang="en-US" sz="2400" dirty="0"/>
              <a:t>H1 humanoid robots performed live at China's primetime Spring Festival Gala 2025 — watched by billions.</a:t>
            </a:r>
          </a:p>
          <a:p>
            <a:r>
              <a:rPr lang="en-US" sz="2400" dirty="0"/>
              <a:t>Open-source alternatives like K-Scale's K-Bot are priced at $8,000, while Z-Bot starts under $1,000 - democratizing robotics.</a:t>
            </a:r>
          </a:p>
          <a:p>
            <a:r>
              <a:rPr lang="en-US" sz="2400" dirty="0"/>
              <a:t>China's strategy: volume + affordability (mirroring its EV playbook)</a:t>
            </a:r>
          </a:p>
        </p:txBody>
      </p:sp>
    </p:spTree>
    <p:extLst>
      <p:ext uri="{BB962C8B-B14F-4D97-AF65-F5344CB8AC3E}">
        <p14:creationId xmlns:p14="http://schemas.microsoft.com/office/powerpoint/2010/main" val="684422761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Meet Unitree R1: World's Most Affordable Humanoid Robot at Just $5,900">
            <a:extLst>
              <a:ext uri="{FF2B5EF4-FFF2-40B4-BE49-F238E27FC236}">
                <a16:creationId xmlns:a16="http://schemas.microsoft.com/office/drawing/2014/main" id="{9DC638EC-BC19-B9EC-DB8D-2495D4899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418" y="561975"/>
            <a:ext cx="9351164" cy="51898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9386BB-B758-4546-F1BC-781AD979FD42}"/>
              </a:ext>
            </a:extLst>
          </p:cNvPr>
          <p:cNvSpPr txBox="1"/>
          <p:nvPr/>
        </p:nvSpPr>
        <p:spPr>
          <a:xfrm>
            <a:off x="4685070" y="6032700"/>
            <a:ext cx="282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UniTree’s</a:t>
            </a:r>
            <a:r>
              <a:rPr lang="en-US" b="1" dirty="0"/>
              <a:t> Humanoid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51003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9E1F4-1233-97AE-0989-F0E101D0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9CB0-25E7-0689-C9A7-54B82DF3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INDUSTRY APPLICATIONS: </a:t>
            </a:r>
            <a:br>
              <a:rPr lang="en-US" b="1" dirty="0"/>
            </a:br>
            <a:r>
              <a:rPr lang="en-US" b="1" dirty="0"/>
              <a:t>WHERE ARE THEY WORKING?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7E9FF-E775-753B-1B23-9A2B9F553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53291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dirty="0"/>
              <a:t>Manufacturing — BMW (Apptronik Apollo), Hyundai (Atlas), BYD (in-house robots).</a:t>
            </a:r>
          </a:p>
          <a:p>
            <a:r>
              <a:rPr lang="en-US" sz="2400" dirty="0"/>
              <a:t>Logistics/Warehousing — Amazon (Digit), tote picking, palletizing</a:t>
            </a:r>
          </a:p>
          <a:p>
            <a:r>
              <a:rPr lang="en-US" sz="2400" dirty="0"/>
              <a:t>Healthcare — Elder care, patient assistance (emerging).</a:t>
            </a:r>
          </a:p>
          <a:p>
            <a:r>
              <a:rPr lang="en-US" sz="2400" dirty="0"/>
              <a:t>Heavy Industry — Persona AI deploying welding robots in shipyards (HD Hyundai partnership).</a:t>
            </a:r>
          </a:p>
          <a:p>
            <a:r>
              <a:rPr lang="en-US" sz="2400" dirty="0"/>
              <a:t>Consumer/Home — 1X NEO testing in homes; target price ~cost of a non-luxury car.</a:t>
            </a:r>
          </a:p>
        </p:txBody>
      </p:sp>
    </p:spTree>
    <p:extLst>
      <p:ext uri="{BB962C8B-B14F-4D97-AF65-F5344CB8AC3E}">
        <p14:creationId xmlns:p14="http://schemas.microsoft.com/office/powerpoint/2010/main" val="2213234353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6158-EDE8-1A09-FD9E-76E6929C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SIZE &amp;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89DAC-3440-7936-141E-8F0873DD3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2870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dirty="0"/>
              <a:t>Market in 2025: $2.92 Billion → projected $15.26 Billion by 2030 (CAGR: 39.2%).</a:t>
            </a:r>
          </a:p>
          <a:p>
            <a:r>
              <a:rPr lang="en-US" sz="2400" dirty="0"/>
              <a:t>Yole Group projects the market reaching $51 billion by 2035, with shipments exceeding 2 million units.</a:t>
            </a:r>
          </a:p>
          <a:p>
            <a:r>
              <a:rPr lang="en-US" sz="2400" dirty="0"/>
              <a:t>Goldman Sachs estimates $38B by 2035; </a:t>
            </a:r>
          </a:p>
          <a:p>
            <a:r>
              <a:rPr lang="en-US" sz="2400" dirty="0"/>
              <a:t>Fortune Business Insights projects nearly 50% annual growth to $66B by 2032 World Economic Forum.</a:t>
            </a:r>
          </a:p>
          <a:p>
            <a:r>
              <a:rPr lang="en-US" sz="2400" dirty="0"/>
              <a:t>VC funding in 2024 alone: $2.5 Billion.</a:t>
            </a:r>
          </a:p>
        </p:txBody>
      </p:sp>
    </p:spTree>
    <p:extLst>
      <p:ext uri="{BB962C8B-B14F-4D97-AF65-F5344CB8AC3E}">
        <p14:creationId xmlns:p14="http://schemas.microsoft.com/office/powerpoint/2010/main" val="2889373453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umanoid Robots 2026-2036: Technologies, Markets, and Opportunities:  IDTechEx">
            <a:extLst>
              <a:ext uri="{FF2B5EF4-FFF2-40B4-BE49-F238E27FC236}">
                <a16:creationId xmlns:a16="http://schemas.microsoft.com/office/drawing/2014/main" id="{AE108950-C461-516D-7C9C-3A13F1CC3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99" y="159774"/>
            <a:ext cx="11622401" cy="65384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387004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873C-7688-2EEB-84F0-A96BB569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CHINA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0B6D-C217-49A4-048B-FFA6A762E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China has filed 5,688 humanoid robotics patents in five years — nearly four times the US total of 1,483.</a:t>
            </a:r>
          </a:p>
          <a:p>
            <a:r>
              <a:rPr lang="en-US" sz="2400" dirty="0"/>
              <a:t>Government-backed 2023–2025 plan to build a complete humanoid innovation ecosystem.</a:t>
            </a:r>
          </a:p>
          <a:p>
            <a:r>
              <a:rPr lang="en-US" sz="2400" dirty="0"/>
              <a:t>China faces acute labor shortages due to population decline — humanoids are a national economic strategy, not just a tech trend.</a:t>
            </a:r>
          </a:p>
          <a:p>
            <a:r>
              <a:rPr lang="en-US" sz="2400" dirty="0"/>
              <a:t>BYD plans to scale to 20,000 humanoid robots by 2026; Unitree expanding factories across China.</a:t>
            </a:r>
          </a:p>
          <a:p>
            <a:r>
              <a:rPr lang="en-US" sz="2400" dirty="0"/>
              <a:t>Likely trajectory: Low-cost Chinese robots dominate developing markets (just like EVs)</a:t>
            </a:r>
          </a:p>
        </p:txBody>
      </p:sp>
    </p:spTree>
    <p:extLst>
      <p:ext uri="{BB962C8B-B14F-4D97-AF65-F5344CB8AC3E}">
        <p14:creationId xmlns:p14="http://schemas.microsoft.com/office/powerpoint/2010/main" val="3937257072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No photo description available.">
            <a:extLst>
              <a:ext uri="{FF2B5EF4-FFF2-40B4-BE49-F238E27FC236}">
                <a16:creationId xmlns:a16="http://schemas.microsoft.com/office/drawing/2014/main" id="{EAEEE21C-7141-67E8-1105-1C3E46245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578" y="352578"/>
            <a:ext cx="6152844" cy="615284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404926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C6FB-3DC0-41F8-E718-73A57406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ETHICS, JOBS &amp; SOCIETY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3A00-E29B-302F-3F85-5F0A6D067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Workers stand to benefit as robots handle hazardous tasks — but the workforce faces disruption and displacement simultaneously World Economic Forum.</a:t>
            </a:r>
          </a:p>
          <a:p>
            <a:r>
              <a:rPr lang="en-US" sz="2400" dirty="0"/>
              <a:t>New roles emerging: robot trainers, supervisors, fleet managers, AI-human coordinators.</a:t>
            </a:r>
          </a:p>
          <a:p>
            <a:r>
              <a:rPr lang="en-US" sz="2400" dirty="0"/>
              <a:t>By 2060, studies project up to 3 billion humanoid robots could coexist with humans mostly in household/personal roles.</a:t>
            </a:r>
          </a:p>
          <a:p>
            <a:r>
              <a:rPr lang="en-US" sz="2400" dirty="0"/>
              <a:t>Key societal questions: Who owns the robot's labor? Who is liable when it fails?</a:t>
            </a:r>
          </a:p>
          <a:p>
            <a:r>
              <a:rPr lang="en-US" sz="2400" dirty="0"/>
              <a:t>Public trust = the most underrated bottleneck.</a:t>
            </a:r>
          </a:p>
        </p:txBody>
      </p:sp>
    </p:spTree>
    <p:extLst>
      <p:ext uri="{BB962C8B-B14F-4D97-AF65-F5344CB8AC3E}">
        <p14:creationId xmlns:p14="http://schemas.microsoft.com/office/powerpoint/2010/main" val="4179872500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3151-0A44-55FE-302B-3AD5CC4F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2504E-FA63-9AA6-FBD2-6F706BA3F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Humanoids are real, deployed, and improving fast.</a:t>
            </a:r>
          </a:p>
          <a:p>
            <a:r>
              <a:rPr lang="en-US" sz="2400" dirty="0"/>
              <a:t>Also that hype still runs ahead of reality.</a:t>
            </a:r>
          </a:p>
          <a:p>
            <a:r>
              <a:rPr lang="en-US" sz="2400" dirty="0"/>
              <a:t>The winners will be companies that pilot early, build workforce trust, and solve energy + dexterity.</a:t>
            </a:r>
          </a:p>
          <a:p>
            <a:r>
              <a:rPr lang="en-US" sz="2400" dirty="0"/>
              <a:t>Companies that invest in infrastructure and build workforce acceptance now will be well positioned when robots are truly read.</a:t>
            </a:r>
          </a:p>
        </p:txBody>
      </p:sp>
    </p:spTree>
    <p:extLst>
      <p:ext uri="{BB962C8B-B14F-4D97-AF65-F5344CB8AC3E}">
        <p14:creationId xmlns:p14="http://schemas.microsoft.com/office/powerpoint/2010/main" val="555186302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5789-7AC6-6BDF-3312-AA0FB3BC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en-US" dirty="0"/>
              <a:t>Now A Little About me …</a:t>
            </a:r>
          </a:p>
        </p:txBody>
      </p:sp>
    </p:spTree>
    <p:extLst>
      <p:ext uri="{BB962C8B-B14F-4D97-AF65-F5344CB8AC3E}">
        <p14:creationId xmlns:p14="http://schemas.microsoft.com/office/powerpoint/2010/main" val="32019749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9437-868E-09C9-2B72-4581A77D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12351"/>
            <a:ext cx="10353762" cy="970450"/>
          </a:xfrm>
        </p:spPr>
        <p:txBody>
          <a:bodyPr/>
          <a:lstStyle/>
          <a:p>
            <a:r>
              <a:rPr lang="en-US" b="1" dirty="0"/>
              <a:t>About Myself 😊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03118-D560-B463-07E0-54868B4BC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533" y="1371445"/>
            <a:ext cx="8825240" cy="217118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809C6-AD8F-A453-87A4-3D4350B66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979" y="3862591"/>
            <a:ext cx="5730039" cy="24007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0B1D96-7839-4980-7369-139053CCF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70" y="3964525"/>
            <a:ext cx="4494906" cy="21968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26540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81720A4-48A1-BA7F-564E-2C8315824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883" y="1599379"/>
            <a:ext cx="6004358" cy="3625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A1BE67-CB95-2951-112C-34C0A88F1862}"/>
              </a:ext>
            </a:extLst>
          </p:cNvPr>
          <p:cNvSpPr txBox="1"/>
          <p:nvPr/>
        </p:nvSpPr>
        <p:spPr>
          <a:xfrm>
            <a:off x="6587614" y="1642170"/>
            <a:ext cx="55014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LinkedIn Profile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E9805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</a:t>
            </a:r>
            <a:r>
              <a:rPr lang="en-US" sz="3200" dirty="0" err="1">
                <a:solidFill>
                  <a:srgbClr val="E9805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Profile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Portfolio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E9805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</a:t>
            </a:r>
            <a:r>
              <a:rPr lang="en-US" sz="3200" dirty="0" err="1">
                <a:solidFill>
                  <a:srgbClr val="E9805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787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7588-10FC-0E44-C4EC-E8FC5DFEE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868" y="2218301"/>
            <a:ext cx="6268263" cy="2421397"/>
          </a:xfrm>
        </p:spPr>
        <p:txBody>
          <a:bodyPr>
            <a:normAutofit/>
          </a:bodyPr>
          <a:lstStyle/>
          <a:p>
            <a:r>
              <a:rPr lang="en-US" sz="7200" dirty="0"/>
              <a:t>Thank You ✨</a:t>
            </a:r>
            <a:br>
              <a:rPr lang="en-US" sz="7200" dirty="0"/>
            </a:br>
            <a:r>
              <a:rPr lang="en-US" sz="7200" dirty="0"/>
              <a:t>		       </a:t>
            </a:r>
            <a:r>
              <a:rPr lang="en-US" sz="2000" dirty="0"/>
              <a:t>- Vijay Rajesh R ( 23BAI10917 )</a:t>
            </a:r>
          </a:p>
        </p:txBody>
      </p:sp>
    </p:spTree>
    <p:extLst>
      <p:ext uri="{BB962C8B-B14F-4D97-AF65-F5344CB8AC3E}">
        <p14:creationId xmlns:p14="http://schemas.microsoft.com/office/powerpoint/2010/main" val="13856163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100</TotalTime>
  <Words>1040</Words>
  <Application>Microsoft Office PowerPoint</Application>
  <PresentationFormat>Widescreen</PresentationFormat>
  <Paragraphs>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Calisto MT</vt:lpstr>
      <vt:lpstr>Wingdings</vt:lpstr>
      <vt:lpstr>Wingdings 2</vt:lpstr>
      <vt:lpstr>Slate</vt:lpstr>
      <vt:lpstr>Case Study : Humanoids</vt:lpstr>
      <vt:lpstr>Humanoids:  From Science Fiction to Factory Floor</vt:lpstr>
      <vt:lpstr>WHAT IS A HUMANOID ROBOT?</vt:lpstr>
      <vt:lpstr>TIMELINE:  HUMANOIDS THROUGH THE AGES</vt:lpstr>
      <vt:lpstr>PowerPoint Presentation</vt:lpstr>
      <vt:lpstr>THE TECHNOLOGY STACK</vt:lpstr>
      <vt:lpstr>PowerPoint Presentation</vt:lpstr>
      <vt:lpstr>STUDY #1:  BOSTON DYNAMICS — ATLAS</vt:lpstr>
      <vt:lpstr>STUDY #2:  TESLA — OPTIMUS</vt:lpstr>
      <vt:lpstr>PowerPoint Presentation</vt:lpstr>
      <vt:lpstr>STUDY #3:  AGILITY ROBOTICS</vt:lpstr>
      <vt:lpstr>STUDY #4:  UNITREE - THE AFFORDABLE DISRUPTOR</vt:lpstr>
      <vt:lpstr>PowerPoint Presentation</vt:lpstr>
      <vt:lpstr>INDUSTRY APPLICATIONS:  WHERE ARE THEY WORKING? </vt:lpstr>
      <vt:lpstr>MARKET SIZE &amp; GROWTH</vt:lpstr>
      <vt:lpstr>PowerPoint Presentation</vt:lpstr>
      <vt:lpstr>THE CHINA FACTOR</vt:lpstr>
      <vt:lpstr>PowerPoint Presentation</vt:lpstr>
      <vt:lpstr>ETHICS, JOBS &amp; SOCIETY </vt:lpstr>
      <vt:lpstr>CONCLUSION</vt:lpstr>
      <vt:lpstr>Now A Little About me …</vt:lpstr>
      <vt:lpstr>About Myself 😊</vt:lpstr>
      <vt:lpstr>PowerPoint Presentation</vt:lpstr>
      <vt:lpstr>Thank You ✨          - Vijay Rajesh R ( 23BAI10917 )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RAJESH R</dc:creator>
  <cp:lastModifiedBy>VIJAY RAJESH R</cp:lastModifiedBy>
  <cp:revision>1</cp:revision>
  <dcterms:created xsi:type="dcterms:W3CDTF">2026-04-07T13:08:34Z</dcterms:created>
  <dcterms:modified xsi:type="dcterms:W3CDTF">2026-04-07T14:48:54Z</dcterms:modified>
</cp:coreProperties>
</file>