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22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1620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76FA-B55E-BC62-ED3B-92812ED3F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2CCE5-1123-CE5C-C527-1FC520C8F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4D34F-F20A-A519-E116-7278065FF4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76D3AC-E9CE-E92D-210C-4092AC98A82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10212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2185-C2D5-E37A-7BAE-ADAA33246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16D2F-D7DB-DD9B-6354-B58AADB04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FFFD6-5623-9138-6901-5FB54AE7A4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8CDA5D-B155-E412-A5D6-D14434AA1F7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87050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7132320" y="-1097280"/>
            <a:ext cx="3657600" cy="3657600"/>
          </a:xfrm>
          <a:prstGeom prst="ellipse">
            <a:avLst/>
          </a:prstGeom>
          <a:solidFill>
            <a:srgbClr val="0E7C7B">
              <a:alpha val="15000"/>
            </a:srgbClr>
          </a:solidFill>
          <a:ln w="12700">
            <a:solidFill>
              <a:srgbClr val="0E7C7B">
                <a:alpha val="15000"/>
              </a:srgbClr>
            </a:solidFill>
            <a:prstDash val="solid"/>
          </a:ln>
        </p:spPr>
      </p:sp>
      <p:sp>
        <p:nvSpPr>
          <p:cNvPr id="4" name="Shape 2"/>
          <p:cNvSpPr/>
          <p:nvPr/>
        </p:nvSpPr>
        <p:spPr>
          <a:xfrm>
            <a:off x="7589520" y="-640080"/>
            <a:ext cx="2560320" cy="2560320"/>
          </a:xfrm>
          <a:prstGeom prst="ellipse">
            <a:avLst/>
          </a:prstGeom>
          <a:solidFill>
            <a:srgbClr val="F6AE2D">
              <a:alpha val="12000"/>
            </a:srgbClr>
          </a:solidFill>
          <a:ln w="12700">
            <a:solidFill>
              <a:srgbClr val="F6AE2D">
                <a:alpha val="12000"/>
              </a:srgbClr>
            </a:solidFill>
            <a:prstDash val="solid"/>
          </a:ln>
        </p:spPr>
      </p:sp>
      <p:sp>
        <p:nvSpPr>
          <p:cNvPr id="5" name="Shape 3"/>
          <p:cNvSpPr/>
          <p:nvPr/>
        </p:nvSpPr>
        <p:spPr>
          <a:xfrm>
            <a:off x="502920" y="548640"/>
            <a:ext cx="1645920" cy="256032"/>
          </a:xfrm>
          <a:prstGeom prst="roundRect">
            <a:avLst>
              <a:gd name="adj" fmla="val 17857"/>
            </a:avLst>
          </a:prstGeom>
          <a:solidFill>
            <a:srgbClr val="0E7C7B"/>
          </a:solidFill>
          <a:ln w="12700">
            <a:solidFill>
              <a:srgbClr val="0E7C7B"/>
            </a:solidFill>
            <a:prstDash val="solid"/>
          </a:ln>
        </p:spPr>
      </p:sp>
      <p:sp>
        <p:nvSpPr>
          <p:cNvPr id="6" name="Text 4"/>
          <p:cNvSpPr/>
          <p:nvPr/>
        </p:nvSpPr>
        <p:spPr>
          <a:xfrm>
            <a:off x="502920" y="548640"/>
            <a:ext cx="1645920" cy="256032"/>
          </a:xfrm>
          <a:prstGeom prst="rect">
            <a:avLst/>
          </a:prstGeom>
          <a:noFill/>
          <a:ln/>
        </p:spPr>
        <p:txBody>
          <a:bodyPr wrap="square" rtlCol="0" anchor="ctr"/>
          <a:lstStyle/>
          <a:p>
            <a:pPr marL="0" indent="0" algn="ctr">
              <a:buNone/>
            </a:pPr>
            <a:r>
              <a:rPr lang="en-US" sz="800" b="1" dirty="0">
                <a:solidFill>
                  <a:srgbClr val="FFFFFF"/>
                </a:solidFill>
              </a:rPr>
              <a:t>RESEARCH × PROJECT</a:t>
            </a:r>
            <a:endParaRPr lang="en-US" sz="800" dirty="0"/>
          </a:p>
        </p:txBody>
      </p:sp>
      <p:sp>
        <p:nvSpPr>
          <p:cNvPr id="7" name="Text 5"/>
          <p:cNvSpPr/>
          <p:nvPr/>
        </p:nvSpPr>
        <p:spPr>
          <a:xfrm>
            <a:off x="411480" y="960120"/>
            <a:ext cx="6858000" cy="1920240"/>
          </a:xfrm>
          <a:prstGeom prst="rect">
            <a:avLst/>
          </a:prstGeom>
          <a:noFill/>
          <a:ln/>
        </p:spPr>
        <p:txBody>
          <a:bodyPr wrap="square"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Flow-Based</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Reinforcement Learning</a:t>
            </a:r>
            <a:endParaRPr lang="en-US" sz="4000" dirty="0"/>
          </a:p>
        </p:txBody>
      </p:sp>
      <p:sp>
        <p:nvSpPr>
          <p:cNvPr id="8" name="Text 6"/>
          <p:cNvSpPr/>
          <p:nvPr/>
        </p:nvSpPr>
        <p:spPr>
          <a:xfrm>
            <a:off x="411480" y="2971800"/>
            <a:ext cx="6858000" cy="457200"/>
          </a:xfrm>
          <a:prstGeom prst="rect">
            <a:avLst/>
          </a:prstGeom>
          <a:noFill/>
          <a:ln/>
        </p:spPr>
        <p:txBody>
          <a:bodyPr wrap="square" rtlCol="0" anchor="ctr"/>
          <a:lstStyle/>
          <a:p>
            <a:pPr marL="0" indent="0" algn="l">
              <a:buNone/>
            </a:pPr>
            <a:r>
              <a:rPr lang="en-US" sz="1500" dirty="0">
                <a:solidFill>
                  <a:srgbClr val="D8EFFE"/>
                </a:solidFill>
                <a:latin typeface="Calibri" pitchFamily="34" charset="0"/>
                <a:ea typeface="Calibri" pitchFamily="34" charset="-122"/>
                <a:cs typeface="Calibri" pitchFamily="34" charset="-120"/>
              </a:rPr>
              <a:t>Linked with DocuSense AI — Semantic Document Intelligence</a:t>
            </a:r>
            <a:endParaRPr lang="en-US" sz="1500" dirty="0"/>
          </a:p>
        </p:txBody>
      </p:sp>
      <p:sp>
        <p:nvSpPr>
          <p:cNvPr id="9" name="Shape 7"/>
          <p:cNvSpPr/>
          <p:nvPr/>
        </p:nvSpPr>
        <p:spPr>
          <a:xfrm>
            <a:off x="411480" y="3520440"/>
            <a:ext cx="5029200" cy="0"/>
          </a:xfrm>
          <a:prstGeom prst="line">
            <a:avLst/>
          </a:prstGeom>
          <a:noFill/>
          <a:ln w="19050">
            <a:solidFill>
              <a:srgbClr val="14A5A4"/>
            </a:solidFill>
            <a:prstDash val="solid"/>
          </a:ln>
        </p:spPr>
      </p:sp>
      <p:sp>
        <p:nvSpPr>
          <p:cNvPr id="10" name="Text 8"/>
          <p:cNvSpPr/>
          <p:nvPr/>
        </p:nvSpPr>
        <p:spPr>
          <a:xfrm>
            <a:off x="411480" y="3611881"/>
            <a:ext cx="8229600" cy="1143000"/>
          </a:xfrm>
          <a:prstGeom prst="rect">
            <a:avLst/>
          </a:prstGeom>
          <a:noFill/>
          <a:ln/>
        </p:spPr>
        <p:txBody>
          <a:bodyPr wrap="square" rtlCol="0" anchor="ctr"/>
          <a:lstStyle/>
          <a:p>
            <a:pPr marL="0" indent="0" algn="l">
              <a:buNone/>
            </a:pPr>
            <a:r>
              <a:rPr lang="en-US" sz="1200" dirty="0">
                <a:solidFill>
                  <a:schemeClr val="bg1"/>
                </a:solidFill>
              </a:rPr>
              <a:t>23BAI10917 – Vijay Rajesh R</a:t>
            </a:r>
          </a:p>
          <a:p>
            <a:r>
              <a:rPr lang="en-US" sz="1200" dirty="0">
                <a:solidFill>
                  <a:schemeClr val="bg1"/>
                </a:solidFill>
              </a:rPr>
              <a:t>23BAI10891 – Ayushmaan Gupta</a:t>
            </a:r>
            <a:endParaRPr lang="en-IN" sz="1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IN" sz="1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Harshal</a:t>
            </a:r>
            <a:r>
              <a:rPr lang="en-IN" sz="1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Jain 23BAI10895</a:t>
            </a:r>
          </a:p>
          <a:p>
            <a:pPr marL="0" marR="0">
              <a:lnSpc>
                <a:spcPct val="107000"/>
              </a:lnSpc>
              <a:spcBef>
                <a:spcPts val="0"/>
              </a:spcBef>
              <a:spcAft>
                <a:spcPts val="800"/>
              </a:spcAft>
            </a:pPr>
            <a:r>
              <a:rPr lang="en-IN" sz="1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Akhil </a:t>
            </a:r>
            <a:r>
              <a:rPr lang="en-IN" sz="1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joshi</a:t>
            </a:r>
            <a:r>
              <a:rPr lang="en-IN" sz="1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23BAI10913 </a:t>
            </a:r>
            <a:br>
              <a:rPr lang="en-IN" sz="1100" dirty="0">
                <a:solidFill>
                  <a:schemeClr val="bg1"/>
                </a:solidFill>
                <a:latin typeface="Aptos" panose="020B0004020202020204" pitchFamily="34" charset="0"/>
                <a:ea typeface="Aptos" panose="020B0004020202020204" pitchFamily="34" charset="0"/>
                <a:cs typeface="Times New Roman" panose="02020603050405020304" pitchFamily="18" charset="0"/>
              </a:rPr>
            </a:br>
            <a:r>
              <a:rPr lang="en-IN" sz="1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Aryan Singh 23BAI10893</a:t>
            </a:r>
          </a:p>
        </p:txBody>
      </p:sp>
      <p:sp>
        <p:nvSpPr>
          <p:cNvPr id="11" name="Text 9"/>
          <p:cNvSpPr/>
          <p:nvPr/>
        </p:nvSpPr>
        <p:spPr>
          <a:xfrm>
            <a:off x="411480" y="4754881"/>
            <a:ext cx="8229600" cy="274320"/>
          </a:xfrm>
          <a:prstGeom prst="rect">
            <a:avLst/>
          </a:prstGeom>
          <a:noFill/>
          <a:ln/>
        </p:spPr>
        <p:txBody>
          <a:bodyPr wrap="square" rtlCol="0" anchor="ctr"/>
          <a:lstStyle/>
          <a:p>
            <a:pPr marL="0" indent="0" algn="l">
              <a:buNone/>
            </a:pPr>
            <a:r>
              <a:rPr lang="en-US" sz="900" dirty="0">
                <a:solidFill>
                  <a:srgbClr val="F6AE2D"/>
                </a:solidFill>
              </a:rPr>
              <a:t>github.com/vijayrajeshr/DocuSense-AI   |   docusense-ai-2026.streamlit.app</a:t>
            </a:r>
            <a:endParaRPr lang="en-US" sz="900" dirty="0"/>
          </a:p>
        </p:txBody>
      </p:sp>
      <p:sp>
        <p:nvSpPr>
          <p:cNvPr id="13" name="TextBox 12">
            <a:extLst>
              <a:ext uri="{FF2B5EF4-FFF2-40B4-BE49-F238E27FC236}">
                <a16:creationId xmlns:a16="http://schemas.microsoft.com/office/drawing/2014/main" id="{C1C58517-8176-A3FD-4411-E413CCDFA9F1}"/>
              </a:ext>
            </a:extLst>
          </p:cNvPr>
          <p:cNvSpPr txBox="1"/>
          <p:nvPr/>
        </p:nvSpPr>
        <p:spPr>
          <a:xfrm>
            <a:off x="1581912" y="2318445"/>
            <a:ext cx="2029968" cy="584775"/>
          </a:xfrm>
          <a:prstGeom prst="rect">
            <a:avLst/>
          </a:prstGeom>
          <a:noFill/>
        </p:spPr>
        <p:txBody>
          <a:bodyPr wrap="square">
            <a:spAutoFit/>
          </a:bodyPr>
          <a:lstStyle/>
          <a:p>
            <a:pPr marL="0" indent="0" algn="l">
              <a:buNone/>
            </a:pPr>
            <a:r>
              <a:rPr lang="en-US" sz="3200" b="1" dirty="0">
                <a:solidFill>
                  <a:schemeClr val="bg1"/>
                </a:solidFill>
              </a:rPr>
              <a:t>Group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Text 1"/>
          <p:cNvSpPr/>
          <p:nvPr/>
        </p:nvSpPr>
        <p:spPr>
          <a:xfrm>
            <a:off x="502920" y="274320"/>
            <a:ext cx="7772400" cy="50292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Abstract</a:t>
            </a:r>
            <a:endParaRPr lang="en-US" sz="2800" dirty="0"/>
          </a:p>
        </p:txBody>
      </p:sp>
      <p:sp>
        <p:nvSpPr>
          <p:cNvPr id="4" name="Text 2"/>
          <p:cNvSpPr/>
          <p:nvPr/>
        </p:nvSpPr>
        <p:spPr>
          <a:xfrm>
            <a:off x="502920" y="960120"/>
            <a:ext cx="8138160" cy="3749040"/>
          </a:xfrm>
          <a:prstGeom prst="rect">
            <a:avLst/>
          </a:prstGeom>
          <a:noFill/>
          <a:ln/>
        </p:spPr>
        <p:txBody>
          <a:bodyPr wrap="square" rtlCol="0" anchor="t"/>
          <a:lstStyle/>
          <a:p>
            <a:pPr marL="342900" indent="-342900">
              <a:spcAft>
                <a:spcPts val="600"/>
              </a:spcAft>
              <a:buSzPct val="100000"/>
              <a:buChar char="•"/>
            </a:pPr>
            <a:r>
              <a:rPr lang="en-US" sz="1350" dirty="0">
                <a:solidFill>
                  <a:srgbClr val="4A5568"/>
                </a:solidFill>
                <a:latin typeface="Calibri" pitchFamily="34" charset="0"/>
                <a:ea typeface="Calibri" pitchFamily="34" charset="-122"/>
                <a:cs typeface="Calibri" pitchFamily="34" charset="-120"/>
              </a:rPr>
              <a:t>The paper presents a novel Flow-Based Reinforcement Learning (RL) strategy inspired by the psychological concept of Flow — the optimal mental state of full immersion and intrinsic motivation in a task.</a:t>
            </a:r>
            <a:endParaRPr lang="en-US" sz="1350" dirty="0"/>
          </a:p>
          <a:p>
            <a:pPr marL="342900" indent="-342900">
              <a:spcAft>
                <a:spcPts val="600"/>
              </a:spcAft>
              <a:buSzPct val="100000"/>
              <a:buChar char="•"/>
            </a:pPr>
            <a:r>
              <a:rPr lang="en-US" sz="1350" dirty="0">
                <a:solidFill>
                  <a:srgbClr val="4A5568"/>
                </a:solidFill>
                <a:latin typeface="Calibri" pitchFamily="34" charset="0"/>
                <a:ea typeface="Calibri" pitchFamily="34" charset="-122"/>
                <a:cs typeface="Calibri" pitchFamily="34" charset="-120"/>
              </a:rPr>
              <a:t>Flow was first defined by psychologist Mihaly Csikszentmihalyi as the balance between an individual's skill level and the challenge at hand within a goal-oriented, rule-bound action system.</a:t>
            </a:r>
            <a:endParaRPr lang="en-US" sz="1350" dirty="0"/>
          </a:p>
          <a:p>
            <a:pPr marL="342900" indent="-342900">
              <a:spcAft>
                <a:spcPts val="600"/>
              </a:spcAft>
              <a:buSzPct val="100000"/>
              <a:buChar char="•"/>
            </a:pPr>
            <a:r>
              <a:rPr lang="en-US" sz="1350" dirty="0">
                <a:solidFill>
                  <a:srgbClr val="4A5568"/>
                </a:solidFill>
                <a:latin typeface="Calibri" pitchFamily="34" charset="0"/>
                <a:ea typeface="Calibri" pitchFamily="34" charset="-122"/>
                <a:cs typeface="Calibri" pitchFamily="34" charset="-120"/>
              </a:rPr>
              <a:t>The proposed model maintains AI agents in a 'Flow zone' by incrementally increasing challenge levels and using a novelty-based boredom detection mechanism to trigger difficulty escalation.</a:t>
            </a:r>
            <a:endParaRPr lang="en-US" sz="1350" dirty="0"/>
          </a:p>
          <a:p>
            <a:pPr marL="342900" indent="-342900">
              <a:spcAft>
                <a:spcPts val="600"/>
              </a:spcAft>
              <a:buSzPct val="100000"/>
              <a:buChar char="•"/>
            </a:pPr>
            <a:r>
              <a:rPr lang="en-US" sz="1350" dirty="0">
                <a:solidFill>
                  <a:srgbClr val="4A5568"/>
                </a:solidFill>
                <a:latin typeface="Calibri" pitchFamily="34" charset="0"/>
                <a:ea typeface="Calibri" pitchFamily="34" charset="-122"/>
                <a:cs typeface="Calibri" pitchFamily="34" charset="-120"/>
              </a:rPr>
              <a:t>It addresses two critical limitations of existing RL — overfitting and catastrophic forgetting — by driving agents not just through external goals but through intrinsic curiosity and continuous skill development.</a:t>
            </a:r>
            <a:endParaRPr lang="en-US" sz="1350" dirty="0"/>
          </a:p>
          <a:p>
            <a:pPr marL="342900" indent="-342900">
              <a:buSzPct val="100000"/>
              <a:buChar char="•"/>
            </a:pPr>
            <a:r>
              <a:rPr lang="en-US" sz="1350" dirty="0">
                <a:solidFill>
                  <a:srgbClr val="4A5568"/>
                </a:solidFill>
                <a:latin typeface="Calibri" pitchFamily="34" charset="0"/>
                <a:ea typeface="Calibri" pitchFamily="34" charset="-122"/>
                <a:cs typeface="Calibri" pitchFamily="34" charset="-120"/>
              </a:rPr>
              <a:t>Experiments across a maze navigation task and a reward collection task demonstrate that Flow-based RL outperforms both traditional RL and incremental RL in dynamic and uncertain environments.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BACKGROUND</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600" b="1" dirty="0">
                <a:solidFill>
                  <a:srgbClr val="0D1B2A"/>
                </a:solidFill>
              </a:rPr>
              <a:t>The Psychological Concept of Flow</a:t>
            </a:r>
            <a:endParaRPr lang="en-US" sz="2600" dirty="0"/>
          </a:p>
        </p:txBody>
      </p:sp>
      <p:sp>
        <p:nvSpPr>
          <p:cNvPr id="6" name="Shape 4"/>
          <p:cNvSpPr/>
          <p:nvPr/>
        </p:nvSpPr>
        <p:spPr>
          <a:xfrm>
            <a:off x="502920" y="1097280"/>
            <a:ext cx="8138160" cy="960120"/>
          </a:xfrm>
          <a:prstGeom prst="rect">
            <a:avLst/>
          </a:prstGeom>
          <a:solidFill>
            <a:srgbClr val="0E7C7B">
              <a:alpha val="12000"/>
            </a:srgbClr>
          </a:solidFill>
          <a:ln w="12700">
            <a:solidFill>
              <a:srgbClr val="0E7C7B"/>
            </a:solidFill>
            <a:prstDash val="solid"/>
          </a:ln>
        </p:spPr>
      </p:sp>
      <p:sp>
        <p:nvSpPr>
          <p:cNvPr id="7" name="Text 5"/>
          <p:cNvSpPr/>
          <p:nvPr/>
        </p:nvSpPr>
        <p:spPr>
          <a:xfrm>
            <a:off x="685800" y="1143000"/>
            <a:ext cx="7772400" cy="868680"/>
          </a:xfrm>
          <a:prstGeom prst="rect">
            <a:avLst/>
          </a:prstGeom>
          <a:noFill/>
          <a:ln/>
        </p:spPr>
        <p:txBody>
          <a:bodyPr wrap="square" rtlCol="0" anchor="ctr"/>
          <a:lstStyle/>
          <a:p>
            <a:pPr marL="0" indent="0">
              <a:buNone/>
            </a:pPr>
            <a:r>
              <a:rPr lang="en-US" sz="1250" i="1" dirty="0">
                <a:solidFill>
                  <a:srgbClr val="0D1B2A"/>
                </a:solidFill>
              </a:rPr>
              <a:t>"Flow is a sense that one's skills and the challenges at hand are felt to be in balance in an action system that is goal-oriented and rule-bound, where clear clues are provided for how well one is performing."</a:t>
            </a:r>
            <a:endParaRPr lang="en-US" sz="1250" dirty="0"/>
          </a:p>
        </p:txBody>
      </p:sp>
      <p:sp>
        <p:nvSpPr>
          <p:cNvPr id="8" name="Text 6"/>
          <p:cNvSpPr/>
          <p:nvPr/>
        </p:nvSpPr>
        <p:spPr>
          <a:xfrm>
            <a:off x="685800" y="2103120"/>
            <a:ext cx="7772400" cy="228600"/>
          </a:xfrm>
          <a:prstGeom prst="rect">
            <a:avLst/>
          </a:prstGeom>
          <a:noFill/>
          <a:ln/>
        </p:spPr>
        <p:txBody>
          <a:bodyPr wrap="square" rtlCol="0" anchor="ctr"/>
          <a:lstStyle/>
          <a:p>
            <a:pPr marL="0" indent="0">
              <a:buNone/>
            </a:pPr>
            <a:r>
              <a:rPr lang="en-US" sz="900" dirty="0">
                <a:solidFill>
                  <a:srgbClr val="718096"/>
                </a:solidFill>
              </a:rPr>
              <a:t>— Csikszentmihalyi, Flow: The Psychology of Optimal Experience (1990)  •  Cited in paper Section III-A, p.102249</a:t>
            </a:r>
            <a:endParaRPr lang="en-US" sz="900" dirty="0"/>
          </a:p>
        </p:txBody>
      </p:sp>
      <p:sp>
        <p:nvSpPr>
          <p:cNvPr id="9" name="Shape 7"/>
          <p:cNvSpPr/>
          <p:nvPr/>
        </p:nvSpPr>
        <p:spPr>
          <a:xfrm>
            <a:off x="502920" y="2514600"/>
            <a:ext cx="2651760" cy="2286000"/>
          </a:xfrm>
          <a:prstGeom prst="rect">
            <a:avLst/>
          </a:prstGeom>
          <a:solidFill>
            <a:srgbClr val="E63946">
              <a:alpha val="12000"/>
            </a:srgbClr>
          </a:solidFill>
          <a:ln w="12700">
            <a:solidFill>
              <a:srgbClr val="E63946"/>
            </a:solidFill>
            <a:prstDash val="solid"/>
          </a:ln>
          <a:effectLst>
            <a:outerShdw blurRad="101600" dist="38100" dir="8100000" algn="bl" rotWithShape="0">
              <a:srgbClr val="000000">
                <a:alpha val="18000"/>
              </a:srgbClr>
            </a:outerShdw>
          </a:effectLst>
        </p:spPr>
      </p:sp>
      <p:sp>
        <p:nvSpPr>
          <p:cNvPr id="10" name="Text 8"/>
          <p:cNvSpPr/>
          <p:nvPr/>
        </p:nvSpPr>
        <p:spPr>
          <a:xfrm>
            <a:off x="502920" y="2633472"/>
            <a:ext cx="2651760" cy="365760"/>
          </a:xfrm>
          <a:prstGeom prst="rect">
            <a:avLst/>
          </a:prstGeom>
          <a:noFill/>
          <a:ln/>
        </p:spPr>
        <p:txBody>
          <a:bodyPr wrap="square" rtlCol="0" anchor="ctr"/>
          <a:lstStyle/>
          <a:p>
            <a:pPr marL="0" indent="0" algn="ctr">
              <a:buNone/>
            </a:pPr>
            <a:r>
              <a:rPr lang="en-US" sz="1200" b="1" dirty="0">
                <a:solidFill>
                  <a:srgbClr val="E63946"/>
                </a:solidFill>
              </a:rPr>
              <a:t>ANXIETY</a:t>
            </a:r>
            <a:endParaRPr lang="en-US" sz="1200" dirty="0"/>
          </a:p>
        </p:txBody>
      </p:sp>
      <p:sp>
        <p:nvSpPr>
          <p:cNvPr id="11" name="Text 9"/>
          <p:cNvSpPr/>
          <p:nvPr/>
        </p:nvSpPr>
        <p:spPr>
          <a:xfrm>
            <a:off x="594360" y="3090672"/>
            <a:ext cx="2468880" cy="1463040"/>
          </a:xfrm>
          <a:prstGeom prst="rect">
            <a:avLst/>
          </a:prstGeom>
          <a:noFill/>
          <a:ln/>
        </p:spPr>
        <p:txBody>
          <a:bodyPr wrap="square" rtlCol="0" anchor="t"/>
          <a:lstStyle/>
          <a:p>
            <a:pPr marL="0" indent="0" algn="ctr">
              <a:buNone/>
            </a:pPr>
            <a:r>
              <a:rPr lang="en-US" sz="1150" dirty="0">
                <a:solidFill>
                  <a:srgbClr val="4A5568"/>
                </a:solidFill>
              </a:rPr>
              <a:t>Challenge far exceeds current skill level</a:t>
            </a:r>
            <a:endParaRPr lang="en-US" sz="1150" dirty="0"/>
          </a:p>
        </p:txBody>
      </p:sp>
      <p:sp>
        <p:nvSpPr>
          <p:cNvPr id="12" name="Shape 10"/>
          <p:cNvSpPr/>
          <p:nvPr/>
        </p:nvSpPr>
        <p:spPr>
          <a:xfrm>
            <a:off x="3383280" y="2514600"/>
            <a:ext cx="2651760" cy="2286000"/>
          </a:xfrm>
          <a:prstGeom prst="rect">
            <a:avLst/>
          </a:prstGeom>
          <a:solidFill>
            <a:srgbClr val="0E7C7B">
              <a:alpha val="25000"/>
            </a:srgbClr>
          </a:solidFill>
          <a:ln w="12700">
            <a:solidFill>
              <a:srgbClr val="0E7C7B"/>
            </a:solidFill>
            <a:prstDash val="solid"/>
          </a:ln>
          <a:effectLst>
            <a:outerShdw blurRad="101600" dist="38100" dir="8100000" algn="bl" rotWithShape="0">
              <a:srgbClr val="000000">
                <a:alpha val="18000"/>
              </a:srgbClr>
            </a:outerShdw>
          </a:effectLst>
        </p:spPr>
      </p:sp>
      <p:sp>
        <p:nvSpPr>
          <p:cNvPr id="13" name="Text 11"/>
          <p:cNvSpPr/>
          <p:nvPr/>
        </p:nvSpPr>
        <p:spPr>
          <a:xfrm>
            <a:off x="3383280" y="2633472"/>
            <a:ext cx="2651760" cy="365760"/>
          </a:xfrm>
          <a:prstGeom prst="rect">
            <a:avLst/>
          </a:prstGeom>
          <a:noFill/>
          <a:ln/>
        </p:spPr>
        <p:txBody>
          <a:bodyPr wrap="square" rtlCol="0" anchor="ctr"/>
          <a:lstStyle/>
          <a:p>
            <a:pPr marL="0" indent="0" algn="ctr">
              <a:buNone/>
            </a:pPr>
            <a:r>
              <a:rPr lang="en-US" sz="1200" b="1" dirty="0">
                <a:solidFill>
                  <a:srgbClr val="0E7C7B"/>
                </a:solidFill>
              </a:rPr>
              <a:t>FLOW ZONE</a:t>
            </a:r>
            <a:endParaRPr lang="en-US" sz="1200" dirty="0"/>
          </a:p>
        </p:txBody>
      </p:sp>
      <p:sp>
        <p:nvSpPr>
          <p:cNvPr id="14" name="Text 12"/>
          <p:cNvSpPr/>
          <p:nvPr/>
        </p:nvSpPr>
        <p:spPr>
          <a:xfrm>
            <a:off x="3474720" y="3090672"/>
            <a:ext cx="2468880" cy="1463040"/>
          </a:xfrm>
          <a:prstGeom prst="rect">
            <a:avLst/>
          </a:prstGeom>
          <a:noFill/>
          <a:ln/>
        </p:spPr>
        <p:txBody>
          <a:bodyPr wrap="square" rtlCol="0" anchor="t"/>
          <a:lstStyle/>
          <a:p>
            <a:pPr marL="0" indent="0" algn="ctr">
              <a:buNone/>
            </a:pPr>
            <a:r>
              <a:rPr lang="en-US" sz="1150" dirty="0">
                <a:solidFill>
                  <a:srgbClr val="4A5568"/>
                </a:solidFill>
              </a:rPr>
              <a:t>Skills and challenges grow proportionally — optimal experience</a:t>
            </a:r>
            <a:endParaRPr lang="en-US" sz="1150" dirty="0"/>
          </a:p>
        </p:txBody>
      </p:sp>
      <p:sp>
        <p:nvSpPr>
          <p:cNvPr id="15" name="Shape 13"/>
          <p:cNvSpPr/>
          <p:nvPr/>
        </p:nvSpPr>
        <p:spPr>
          <a:xfrm>
            <a:off x="6263640" y="2514600"/>
            <a:ext cx="2651760" cy="2286000"/>
          </a:xfrm>
          <a:prstGeom prst="rect">
            <a:avLst/>
          </a:prstGeom>
          <a:solidFill>
            <a:srgbClr val="F6AE2D">
              <a:alpha val="12000"/>
            </a:srgbClr>
          </a:solidFill>
          <a:ln w="12700">
            <a:solidFill>
              <a:srgbClr val="F6AE2D"/>
            </a:solidFill>
            <a:prstDash val="solid"/>
          </a:ln>
          <a:effectLst>
            <a:outerShdw blurRad="101600" dist="38100" dir="8100000" algn="bl" rotWithShape="0">
              <a:srgbClr val="000000">
                <a:alpha val="18000"/>
              </a:srgbClr>
            </a:outerShdw>
          </a:effectLst>
        </p:spPr>
      </p:sp>
      <p:sp>
        <p:nvSpPr>
          <p:cNvPr id="16" name="Text 14"/>
          <p:cNvSpPr/>
          <p:nvPr/>
        </p:nvSpPr>
        <p:spPr>
          <a:xfrm>
            <a:off x="6263640" y="2633472"/>
            <a:ext cx="2651760" cy="365760"/>
          </a:xfrm>
          <a:prstGeom prst="rect">
            <a:avLst/>
          </a:prstGeom>
          <a:noFill/>
          <a:ln/>
        </p:spPr>
        <p:txBody>
          <a:bodyPr wrap="square" rtlCol="0" anchor="ctr"/>
          <a:lstStyle/>
          <a:p>
            <a:pPr marL="0" indent="0" algn="ctr">
              <a:buNone/>
            </a:pPr>
            <a:r>
              <a:rPr lang="en-US" sz="1200" b="1" dirty="0">
                <a:solidFill>
                  <a:srgbClr val="F6AE2D"/>
                </a:solidFill>
              </a:rPr>
              <a:t>BOREDOM</a:t>
            </a:r>
            <a:endParaRPr lang="en-US" sz="1200" dirty="0"/>
          </a:p>
        </p:txBody>
      </p:sp>
      <p:sp>
        <p:nvSpPr>
          <p:cNvPr id="17" name="Text 15"/>
          <p:cNvSpPr/>
          <p:nvPr/>
        </p:nvSpPr>
        <p:spPr>
          <a:xfrm>
            <a:off x="6355080" y="3090672"/>
            <a:ext cx="2468880" cy="1463040"/>
          </a:xfrm>
          <a:prstGeom prst="rect">
            <a:avLst/>
          </a:prstGeom>
          <a:noFill/>
          <a:ln/>
        </p:spPr>
        <p:txBody>
          <a:bodyPr wrap="square" rtlCol="0" anchor="t"/>
          <a:lstStyle/>
          <a:p>
            <a:pPr marL="0" indent="0" algn="ctr">
              <a:buNone/>
            </a:pPr>
            <a:r>
              <a:rPr lang="en-US" sz="1150" dirty="0">
                <a:solidFill>
                  <a:srgbClr val="4A5568"/>
                </a:solidFill>
              </a:rPr>
              <a:t>Skill level surpasses challenge — no novelty, no growth</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6AE2D"/>
          </a:solidFill>
          <a:ln w="12700">
            <a:solidFill>
              <a:srgbClr val="F6AE2D"/>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PROBLEM STATEMENT</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800" b="1" dirty="0">
                <a:solidFill>
                  <a:srgbClr val="FFFFFF"/>
                </a:solidFill>
              </a:rPr>
              <a:t>Statement of the Problem</a:t>
            </a:r>
            <a:endParaRPr lang="en-US" sz="2800" dirty="0"/>
          </a:p>
        </p:txBody>
      </p:sp>
      <p:sp>
        <p:nvSpPr>
          <p:cNvPr id="6" name="Shape 4"/>
          <p:cNvSpPr/>
          <p:nvPr/>
        </p:nvSpPr>
        <p:spPr>
          <a:xfrm>
            <a:off x="502920" y="1097280"/>
            <a:ext cx="8138160" cy="777240"/>
          </a:xfrm>
          <a:prstGeom prst="rect">
            <a:avLst/>
          </a:prstGeom>
          <a:solidFill>
            <a:srgbClr val="F6AE2D">
              <a:alpha val="18000"/>
            </a:srgbClr>
          </a:solidFill>
          <a:ln w="12700">
            <a:solidFill>
              <a:srgbClr val="F6AE2D"/>
            </a:solidFill>
            <a:prstDash val="solid"/>
          </a:ln>
        </p:spPr>
      </p:sp>
      <p:sp>
        <p:nvSpPr>
          <p:cNvPr id="7" name="Text 5"/>
          <p:cNvSpPr/>
          <p:nvPr/>
        </p:nvSpPr>
        <p:spPr>
          <a:xfrm>
            <a:off x="685800" y="1143000"/>
            <a:ext cx="7772400" cy="685800"/>
          </a:xfrm>
          <a:prstGeom prst="rect">
            <a:avLst/>
          </a:prstGeom>
          <a:noFill/>
          <a:ln/>
        </p:spPr>
        <p:txBody>
          <a:bodyPr wrap="square" rtlCol="0" anchor="ctr"/>
          <a:lstStyle/>
          <a:p>
            <a:pPr marL="0" indent="0">
              <a:buNone/>
            </a:pPr>
            <a:r>
              <a:rPr lang="en-US" sz="1150" i="1" dirty="0">
                <a:solidFill>
                  <a:srgbClr val="FFFFFF"/>
                </a:solidFill>
              </a:rPr>
              <a:t>"A known limitation of existing RL-based agent models is the difficulty in adapting to dynamic and uncertain conditions — primarily caused by increased complexity of operation associated with changes in the environment."</a:t>
            </a:r>
            <a:endParaRPr lang="en-US" sz="1150" dirty="0"/>
          </a:p>
        </p:txBody>
      </p:sp>
      <p:sp>
        <p:nvSpPr>
          <p:cNvPr id="8" name="Text 6"/>
          <p:cNvSpPr/>
          <p:nvPr/>
        </p:nvSpPr>
        <p:spPr>
          <a:xfrm>
            <a:off x="685800" y="1920240"/>
            <a:ext cx="7772400" cy="201168"/>
          </a:xfrm>
          <a:prstGeom prst="rect">
            <a:avLst/>
          </a:prstGeom>
          <a:noFill/>
          <a:ln/>
        </p:spPr>
        <p:txBody>
          <a:bodyPr wrap="square" rtlCol="0" anchor="ctr"/>
          <a:lstStyle/>
          <a:p>
            <a:pPr marL="0" indent="0">
              <a:buNone/>
            </a:pPr>
            <a:r>
              <a:rPr lang="en-US" sz="900" dirty="0">
                <a:solidFill>
                  <a:srgbClr val="F6AE2D"/>
                </a:solidFill>
              </a:rPr>
              <a:t>— Paper Introduction, p.102247</a:t>
            </a:r>
            <a:endParaRPr lang="en-US" sz="900" dirty="0"/>
          </a:p>
        </p:txBody>
      </p:sp>
      <p:sp>
        <p:nvSpPr>
          <p:cNvPr id="9" name="Shape 7"/>
          <p:cNvSpPr/>
          <p:nvPr/>
        </p:nvSpPr>
        <p:spPr>
          <a:xfrm>
            <a:off x="502920" y="2286000"/>
            <a:ext cx="3886200" cy="1097280"/>
          </a:xfrm>
          <a:prstGeom prst="rect">
            <a:avLst/>
          </a:prstGeom>
          <a:solidFill>
            <a:srgbClr val="172636"/>
          </a:solidFill>
          <a:ln w="6350">
            <a:solidFill>
              <a:srgbClr val="E2E8F0"/>
            </a:solidFill>
            <a:prstDash val="solid"/>
          </a:ln>
          <a:effectLst>
            <a:outerShdw blurRad="101600" dist="38100" dir="8100000" algn="bl" rotWithShape="0">
              <a:srgbClr val="000000">
                <a:alpha val="18000"/>
              </a:srgbClr>
            </a:outerShdw>
          </a:effectLst>
        </p:spPr>
      </p:sp>
      <p:sp>
        <p:nvSpPr>
          <p:cNvPr id="10" name="Shape 8"/>
          <p:cNvSpPr/>
          <p:nvPr/>
        </p:nvSpPr>
        <p:spPr>
          <a:xfrm>
            <a:off x="502920" y="2286000"/>
            <a:ext cx="64008" cy="1097280"/>
          </a:xfrm>
          <a:prstGeom prst="rect">
            <a:avLst/>
          </a:prstGeom>
          <a:solidFill>
            <a:srgbClr val="0E7C7B"/>
          </a:solidFill>
          <a:ln w="12700">
            <a:solidFill>
              <a:srgbClr val="0E7C7B"/>
            </a:solidFill>
            <a:prstDash val="solid"/>
          </a:ln>
        </p:spPr>
      </p:sp>
      <p:sp>
        <p:nvSpPr>
          <p:cNvPr id="11" name="Text 9"/>
          <p:cNvSpPr/>
          <p:nvPr/>
        </p:nvSpPr>
        <p:spPr>
          <a:xfrm>
            <a:off x="685800" y="2377440"/>
            <a:ext cx="3611880" cy="320040"/>
          </a:xfrm>
          <a:prstGeom prst="rect">
            <a:avLst/>
          </a:prstGeom>
          <a:noFill/>
          <a:ln/>
        </p:spPr>
        <p:txBody>
          <a:bodyPr wrap="square" rtlCol="0" anchor="ctr"/>
          <a:lstStyle/>
          <a:p>
            <a:pPr marL="0" indent="0">
              <a:buNone/>
            </a:pPr>
            <a:r>
              <a:rPr lang="en-US" sz="1200" b="1" dirty="0">
                <a:solidFill>
                  <a:srgbClr val="F6AE2D"/>
                </a:solidFill>
              </a:rPr>
              <a:t>Traditional RL Overfits</a:t>
            </a:r>
            <a:endParaRPr lang="en-US" sz="1200" dirty="0"/>
          </a:p>
        </p:txBody>
      </p:sp>
      <p:sp>
        <p:nvSpPr>
          <p:cNvPr id="12" name="Text 10"/>
          <p:cNvSpPr/>
          <p:nvPr/>
        </p:nvSpPr>
        <p:spPr>
          <a:xfrm>
            <a:off x="685800" y="2724912"/>
            <a:ext cx="3611880" cy="594360"/>
          </a:xfrm>
          <a:prstGeom prst="rect">
            <a:avLst/>
          </a:prstGeom>
          <a:noFill/>
          <a:ln/>
        </p:spPr>
        <p:txBody>
          <a:bodyPr wrap="square" rtlCol="0" anchor="ctr"/>
          <a:lstStyle/>
          <a:p>
            <a:pPr marL="0" indent="0">
              <a:buNone/>
            </a:pPr>
            <a:r>
              <a:rPr lang="en-US" sz="1100" dirty="0">
                <a:solidFill>
                  <a:srgbClr val="D8EFFE"/>
                </a:solidFill>
              </a:rPr>
              <a:t>Agents memorise specific solutions and fail when the environment changes even slightly.</a:t>
            </a:r>
            <a:endParaRPr lang="en-US" sz="1100" dirty="0"/>
          </a:p>
        </p:txBody>
      </p:sp>
      <p:sp>
        <p:nvSpPr>
          <p:cNvPr id="13" name="Shape 11"/>
          <p:cNvSpPr/>
          <p:nvPr/>
        </p:nvSpPr>
        <p:spPr>
          <a:xfrm>
            <a:off x="4800600" y="2286000"/>
            <a:ext cx="3886200" cy="1097280"/>
          </a:xfrm>
          <a:prstGeom prst="rect">
            <a:avLst/>
          </a:prstGeom>
          <a:solidFill>
            <a:srgbClr val="172636"/>
          </a:solidFill>
          <a:ln w="6350">
            <a:solidFill>
              <a:srgbClr val="E2E8F0"/>
            </a:solidFill>
            <a:prstDash val="solid"/>
          </a:ln>
          <a:effectLst>
            <a:outerShdw blurRad="101600" dist="38100" dir="8100000" algn="bl" rotWithShape="0">
              <a:srgbClr val="000000">
                <a:alpha val="18000"/>
              </a:srgbClr>
            </a:outerShdw>
          </a:effectLst>
        </p:spPr>
      </p:sp>
      <p:sp>
        <p:nvSpPr>
          <p:cNvPr id="14" name="Shape 12"/>
          <p:cNvSpPr/>
          <p:nvPr/>
        </p:nvSpPr>
        <p:spPr>
          <a:xfrm>
            <a:off x="4800600" y="2286000"/>
            <a:ext cx="64008" cy="1097280"/>
          </a:xfrm>
          <a:prstGeom prst="rect">
            <a:avLst/>
          </a:prstGeom>
          <a:solidFill>
            <a:srgbClr val="0E7C7B"/>
          </a:solidFill>
          <a:ln w="12700">
            <a:solidFill>
              <a:srgbClr val="0E7C7B"/>
            </a:solidFill>
            <a:prstDash val="solid"/>
          </a:ln>
        </p:spPr>
      </p:sp>
      <p:sp>
        <p:nvSpPr>
          <p:cNvPr id="15" name="Text 13"/>
          <p:cNvSpPr/>
          <p:nvPr/>
        </p:nvSpPr>
        <p:spPr>
          <a:xfrm>
            <a:off x="4983480" y="2377440"/>
            <a:ext cx="3611880" cy="320040"/>
          </a:xfrm>
          <a:prstGeom prst="rect">
            <a:avLst/>
          </a:prstGeom>
          <a:noFill/>
          <a:ln/>
        </p:spPr>
        <p:txBody>
          <a:bodyPr wrap="square" rtlCol="0" anchor="ctr"/>
          <a:lstStyle/>
          <a:p>
            <a:pPr marL="0" indent="0">
              <a:buNone/>
            </a:pPr>
            <a:r>
              <a:rPr lang="en-US" sz="1200" b="1" dirty="0">
                <a:solidFill>
                  <a:srgbClr val="F6AE2D"/>
                </a:solidFill>
              </a:rPr>
              <a:t>Goal-Only Orientation</a:t>
            </a:r>
            <a:endParaRPr lang="en-US" sz="1200" dirty="0"/>
          </a:p>
        </p:txBody>
      </p:sp>
      <p:sp>
        <p:nvSpPr>
          <p:cNvPr id="16" name="Text 14"/>
          <p:cNvSpPr/>
          <p:nvPr/>
        </p:nvSpPr>
        <p:spPr>
          <a:xfrm>
            <a:off x="4983480" y="2724912"/>
            <a:ext cx="3611880" cy="594360"/>
          </a:xfrm>
          <a:prstGeom prst="rect">
            <a:avLst/>
          </a:prstGeom>
          <a:noFill/>
          <a:ln/>
        </p:spPr>
        <p:txBody>
          <a:bodyPr wrap="square" rtlCol="0" anchor="ctr"/>
          <a:lstStyle/>
          <a:p>
            <a:pPr marL="0" indent="0">
              <a:buNone/>
            </a:pPr>
            <a:r>
              <a:rPr lang="en-US" sz="1100" dirty="0">
                <a:solidFill>
                  <a:srgbClr val="D8EFFE"/>
                </a:solidFill>
              </a:rPr>
              <a:t>Existing models stop exploring once a basic goal is achieved — no internal curiosity.</a:t>
            </a:r>
            <a:endParaRPr lang="en-US" sz="1100" dirty="0"/>
          </a:p>
        </p:txBody>
      </p:sp>
      <p:sp>
        <p:nvSpPr>
          <p:cNvPr id="17" name="Shape 15"/>
          <p:cNvSpPr/>
          <p:nvPr/>
        </p:nvSpPr>
        <p:spPr>
          <a:xfrm>
            <a:off x="502920" y="3566160"/>
            <a:ext cx="3886200" cy="1097280"/>
          </a:xfrm>
          <a:prstGeom prst="rect">
            <a:avLst/>
          </a:prstGeom>
          <a:solidFill>
            <a:srgbClr val="172636"/>
          </a:solidFill>
          <a:ln w="6350">
            <a:solidFill>
              <a:srgbClr val="E2E8F0"/>
            </a:solidFill>
            <a:prstDash val="solid"/>
          </a:ln>
          <a:effectLst>
            <a:outerShdw blurRad="101600" dist="38100" dir="8100000" algn="bl" rotWithShape="0">
              <a:srgbClr val="000000">
                <a:alpha val="18000"/>
              </a:srgbClr>
            </a:outerShdw>
          </a:effectLst>
        </p:spPr>
      </p:sp>
      <p:sp>
        <p:nvSpPr>
          <p:cNvPr id="18" name="Shape 16"/>
          <p:cNvSpPr/>
          <p:nvPr/>
        </p:nvSpPr>
        <p:spPr>
          <a:xfrm>
            <a:off x="502920" y="3566160"/>
            <a:ext cx="64008" cy="1097280"/>
          </a:xfrm>
          <a:prstGeom prst="rect">
            <a:avLst/>
          </a:prstGeom>
          <a:solidFill>
            <a:srgbClr val="0E7C7B"/>
          </a:solidFill>
          <a:ln w="12700">
            <a:solidFill>
              <a:srgbClr val="0E7C7B"/>
            </a:solidFill>
            <a:prstDash val="solid"/>
          </a:ln>
        </p:spPr>
      </p:sp>
      <p:sp>
        <p:nvSpPr>
          <p:cNvPr id="19" name="Text 17"/>
          <p:cNvSpPr/>
          <p:nvPr/>
        </p:nvSpPr>
        <p:spPr>
          <a:xfrm>
            <a:off x="685800" y="3657600"/>
            <a:ext cx="3611880" cy="320040"/>
          </a:xfrm>
          <a:prstGeom prst="rect">
            <a:avLst/>
          </a:prstGeom>
          <a:noFill/>
          <a:ln/>
        </p:spPr>
        <p:txBody>
          <a:bodyPr wrap="square" rtlCol="0" anchor="ctr"/>
          <a:lstStyle/>
          <a:p>
            <a:pPr marL="0" indent="0">
              <a:buNone/>
            </a:pPr>
            <a:r>
              <a:rPr lang="en-US" sz="1200" b="1" dirty="0">
                <a:solidFill>
                  <a:srgbClr val="F6AE2D"/>
                </a:solidFill>
              </a:rPr>
              <a:t>Catastrophic Forgetting</a:t>
            </a:r>
            <a:endParaRPr lang="en-US" sz="1200" dirty="0"/>
          </a:p>
        </p:txBody>
      </p:sp>
      <p:sp>
        <p:nvSpPr>
          <p:cNvPr id="20" name="Text 18"/>
          <p:cNvSpPr/>
          <p:nvPr/>
        </p:nvSpPr>
        <p:spPr>
          <a:xfrm>
            <a:off x="685800" y="4005072"/>
            <a:ext cx="3611880" cy="594360"/>
          </a:xfrm>
          <a:prstGeom prst="rect">
            <a:avLst/>
          </a:prstGeom>
          <a:noFill/>
          <a:ln/>
        </p:spPr>
        <p:txBody>
          <a:bodyPr wrap="square" rtlCol="0" anchor="ctr"/>
          <a:lstStyle/>
          <a:p>
            <a:pPr marL="0" indent="0">
              <a:buNone/>
            </a:pPr>
            <a:r>
              <a:rPr lang="en-US" sz="1100" dirty="0">
                <a:solidFill>
                  <a:srgbClr val="D8EFFE"/>
                </a:solidFill>
              </a:rPr>
              <a:t>Incremental learning agents lose previously acquired knowledge when challenged with new tasks.</a:t>
            </a:r>
            <a:endParaRPr lang="en-US" sz="1100" dirty="0"/>
          </a:p>
        </p:txBody>
      </p:sp>
      <p:sp>
        <p:nvSpPr>
          <p:cNvPr id="21" name="Shape 19"/>
          <p:cNvSpPr/>
          <p:nvPr/>
        </p:nvSpPr>
        <p:spPr>
          <a:xfrm>
            <a:off x="4800600" y="3566160"/>
            <a:ext cx="3886200" cy="1097280"/>
          </a:xfrm>
          <a:prstGeom prst="rect">
            <a:avLst/>
          </a:prstGeom>
          <a:solidFill>
            <a:srgbClr val="172636"/>
          </a:solidFill>
          <a:ln w="6350">
            <a:solidFill>
              <a:srgbClr val="E2E8F0"/>
            </a:solidFill>
            <a:prstDash val="solid"/>
          </a:ln>
          <a:effectLst>
            <a:outerShdw blurRad="101600" dist="38100" dir="8100000" algn="bl" rotWithShape="0">
              <a:srgbClr val="000000">
                <a:alpha val="18000"/>
              </a:srgbClr>
            </a:outerShdw>
          </a:effectLst>
        </p:spPr>
      </p:sp>
      <p:sp>
        <p:nvSpPr>
          <p:cNvPr id="22" name="Shape 20"/>
          <p:cNvSpPr/>
          <p:nvPr/>
        </p:nvSpPr>
        <p:spPr>
          <a:xfrm>
            <a:off x="4800600" y="3566160"/>
            <a:ext cx="64008" cy="1097280"/>
          </a:xfrm>
          <a:prstGeom prst="rect">
            <a:avLst/>
          </a:prstGeom>
          <a:solidFill>
            <a:srgbClr val="0E7C7B"/>
          </a:solidFill>
          <a:ln w="12700">
            <a:solidFill>
              <a:srgbClr val="0E7C7B"/>
            </a:solidFill>
            <a:prstDash val="solid"/>
          </a:ln>
        </p:spPr>
      </p:sp>
      <p:sp>
        <p:nvSpPr>
          <p:cNvPr id="23" name="Text 21"/>
          <p:cNvSpPr/>
          <p:nvPr/>
        </p:nvSpPr>
        <p:spPr>
          <a:xfrm>
            <a:off x="4983480" y="3657600"/>
            <a:ext cx="3611880" cy="320040"/>
          </a:xfrm>
          <a:prstGeom prst="rect">
            <a:avLst/>
          </a:prstGeom>
          <a:noFill/>
          <a:ln/>
        </p:spPr>
        <p:txBody>
          <a:bodyPr wrap="square" rtlCol="0" anchor="ctr"/>
          <a:lstStyle/>
          <a:p>
            <a:pPr marL="0" indent="0">
              <a:buNone/>
            </a:pPr>
            <a:r>
              <a:rPr lang="en-US" sz="1200" b="1" dirty="0">
                <a:solidFill>
                  <a:srgbClr val="F6AE2D"/>
                </a:solidFill>
              </a:rPr>
              <a:t>No Environmental Awareness</a:t>
            </a:r>
            <a:endParaRPr lang="en-US" sz="1200" dirty="0"/>
          </a:p>
        </p:txBody>
      </p:sp>
      <p:sp>
        <p:nvSpPr>
          <p:cNvPr id="24" name="Text 22"/>
          <p:cNvSpPr/>
          <p:nvPr/>
        </p:nvSpPr>
        <p:spPr>
          <a:xfrm>
            <a:off x="4983480" y="4005072"/>
            <a:ext cx="3611880" cy="594360"/>
          </a:xfrm>
          <a:prstGeom prst="rect">
            <a:avLst/>
          </a:prstGeom>
          <a:noFill/>
          <a:ln/>
        </p:spPr>
        <p:txBody>
          <a:bodyPr wrap="square" rtlCol="0" anchor="ctr"/>
          <a:lstStyle/>
          <a:p>
            <a:pPr marL="0" indent="0">
              <a:buNone/>
            </a:pPr>
            <a:r>
              <a:rPr lang="en-US" sz="1100" dirty="0">
                <a:solidFill>
                  <a:srgbClr val="D8EFFE"/>
                </a:solidFill>
              </a:rPr>
              <a:t>Models cannot build a broad understanding of the problem space — only narrow, task-specific knowledge.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RESEARCH GAP</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800" b="1" dirty="0">
                <a:solidFill>
                  <a:srgbClr val="0D1B2A"/>
                </a:solidFill>
              </a:rPr>
              <a:t>Research Gap</a:t>
            </a:r>
            <a:endParaRPr lang="en-US" sz="2800" dirty="0"/>
          </a:p>
        </p:txBody>
      </p:sp>
      <p:sp>
        <p:nvSpPr>
          <p:cNvPr id="6" name="Text 4"/>
          <p:cNvSpPr/>
          <p:nvPr/>
        </p:nvSpPr>
        <p:spPr>
          <a:xfrm>
            <a:off x="502920" y="1005840"/>
            <a:ext cx="8138160" cy="685800"/>
          </a:xfrm>
          <a:prstGeom prst="rect">
            <a:avLst/>
          </a:prstGeom>
          <a:noFill/>
          <a:ln/>
        </p:spPr>
        <p:txBody>
          <a:bodyPr wrap="square" rtlCol="0" anchor="ctr"/>
          <a:lstStyle/>
          <a:p>
            <a:pPr marL="0" indent="0">
              <a:buNone/>
            </a:pPr>
            <a:r>
              <a:rPr lang="en-US" sz="1200" i="1" dirty="0">
                <a:solidFill>
                  <a:srgbClr val="0E7C7B"/>
                </a:solidFill>
              </a:rPr>
              <a:t>"Flow has not received attention in the domains of agent systems and AI models. It has characteristics to be explored as a potential alternative to overcome the learning issues in dynamic environments."</a:t>
            </a:r>
            <a:endParaRPr lang="en-US" sz="1200" dirty="0"/>
          </a:p>
        </p:txBody>
      </p:sp>
      <p:sp>
        <p:nvSpPr>
          <p:cNvPr id="7" name="Text 5"/>
          <p:cNvSpPr/>
          <p:nvPr/>
        </p:nvSpPr>
        <p:spPr>
          <a:xfrm>
            <a:off x="502920" y="1691640"/>
            <a:ext cx="8138160" cy="201168"/>
          </a:xfrm>
          <a:prstGeom prst="rect">
            <a:avLst/>
          </a:prstGeom>
          <a:noFill/>
          <a:ln/>
        </p:spPr>
        <p:txBody>
          <a:bodyPr wrap="square" rtlCol="0" anchor="ctr"/>
          <a:lstStyle/>
          <a:p>
            <a:pPr marL="0" indent="0">
              <a:buNone/>
            </a:pPr>
            <a:r>
              <a:rPr lang="en-US" sz="900" dirty="0">
                <a:solidFill>
                  <a:srgbClr val="718096"/>
                </a:solidFill>
              </a:rPr>
              <a:t>— Related Work, Section II, p.102248</a:t>
            </a:r>
            <a:endParaRPr lang="en-US" sz="900" dirty="0"/>
          </a:p>
        </p:txBody>
      </p:sp>
      <p:sp>
        <p:nvSpPr>
          <p:cNvPr id="8" name="Shape 6"/>
          <p:cNvSpPr/>
          <p:nvPr/>
        </p:nvSpPr>
        <p:spPr>
          <a:xfrm>
            <a:off x="502920" y="2057400"/>
            <a:ext cx="3886200" cy="12344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9" name="Shape 7"/>
          <p:cNvSpPr/>
          <p:nvPr/>
        </p:nvSpPr>
        <p:spPr>
          <a:xfrm>
            <a:off x="502920" y="2057400"/>
            <a:ext cx="64008" cy="1234440"/>
          </a:xfrm>
          <a:prstGeom prst="rect">
            <a:avLst/>
          </a:prstGeom>
          <a:solidFill>
            <a:srgbClr val="0E7C7B"/>
          </a:solidFill>
          <a:ln w="12700">
            <a:solidFill>
              <a:srgbClr val="0E7C7B"/>
            </a:solidFill>
            <a:prstDash val="solid"/>
          </a:ln>
        </p:spPr>
      </p:sp>
      <p:sp>
        <p:nvSpPr>
          <p:cNvPr id="10" name="Text 8"/>
          <p:cNvSpPr/>
          <p:nvPr/>
        </p:nvSpPr>
        <p:spPr>
          <a:xfrm>
            <a:off x="685800" y="2148840"/>
            <a:ext cx="3611880" cy="347472"/>
          </a:xfrm>
          <a:prstGeom prst="rect">
            <a:avLst/>
          </a:prstGeom>
          <a:noFill/>
          <a:ln/>
        </p:spPr>
        <p:txBody>
          <a:bodyPr wrap="square" rtlCol="0" anchor="ctr"/>
          <a:lstStyle/>
          <a:p>
            <a:pPr marL="0" indent="0">
              <a:buNone/>
            </a:pPr>
            <a:r>
              <a:rPr lang="en-US" sz="1200" b="1" dirty="0">
                <a:solidFill>
                  <a:srgbClr val="0E7C7B"/>
                </a:solidFill>
              </a:rPr>
              <a:t>No Intrinsic Motivation in RL</a:t>
            </a:r>
            <a:endParaRPr lang="en-US" sz="1200" dirty="0"/>
          </a:p>
        </p:txBody>
      </p:sp>
      <p:sp>
        <p:nvSpPr>
          <p:cNvPr id="11" name="Text 9"/>
          <p:cNvSpPr/>
          <p:nvPr/>
        </p:nvSpPr>
        <p:spPr>
          <a:xfrm>
            <a:off x="685800" y="2532888"/>
            <a:ext cx="3611880" cy="685800"/>
          </a:xfrm>
          <a:prstGeom prst="rect">
            <a:avLst/>
          </a:prstGeom>
          <a:noFill/>
          <a:ln/>
        </p:spPr>
        <p:txBody>
          <a:bodyPr wrap="square" rtlCol="0" anchor="ctr"/>
          <a:lstStyle/>
          <a:p>
            <a:pPr marL="0" indent="0">
              <a:buNone/>
            </a:pPr>
            <a:r>
              <a:rPr lang="en-US" sz="1100" dirty="0">
                <a:solidFill>
                  <a:srgbClr val="4A5568"/>
                </a:solidFill>
              </a:rPr>
              <a:t>All existing approaches are purely goal-driven with no internal curiosity mechanism to regulate the depth of learning.</a:t>
            </a:r>
            <a:endParaRPr lang="en-US" sz="1100" dirty="0"/>
          </a:p>
        </p:txBody>
      </p:sp>
      <p:sp>
        <p:nvSpPr>
          <p:cNvPr id="12" name="Shape 10"/>
          <p:cNvSpPr/>
          <p:nvPr/>
        </p:nvSpPr>
        <p:spPr>
          <a:xfrm>
            <a:off x="4800600" y="2057400"/>
            <a:ext cx="3886200" cy="12344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3" name="Shape 11"/>
          <p:cNvSpPr/>
          <p:nvPr/>
        </p:nvSpPr>
        <p:spPr>
          <a:xfrm>
            <a:off x="4800600" y="2057400"/>
            <a:ext cx="64008" cy="1234440"/>
          </a:xfrm>
          <a:prstGeom prst="rect">
            <a:avLst/>
          </a:prstGeom>
          <a:solidFill>
            <a:srgbClr val="0E7C7B"/>
          </a:solidFill>
          <a:ln w="12700">
            <a:solidFill>
              <a:srgbClr val="0E7C7B"/>
            </a:solidFill>
            <a:prstDash val="solid"/>
          </a:ln>
        </p:spPr>
      </p:sp>
      <p:sp>
        <p:nvSpPr>
          <p:cNvPr id="14" name="Text 12"/>
          <p:cNvSpPr/>
          <p:nvPr/>
        </p:nvSpPr>
        <p:spPr>
          <a:xfrm>
            <a:off x="4983480" y="2148840"/>
            <a:ext cx="3611880" cy="347472"/>
          </a:xfrm>
          <a:prstGeom prst="rect">
            <a:avLst/>
          </a:prstGeom>
          <a:noFill/>
          <a:ln/>
        </p:spPr>
        <p:txBody>
          <a:bodyPr wrap="square" rtlCol="0" anchor="ctr"/>
          <a:lstStyle/>
          <a:p>
            <a:pPr marL="0" indent="0">
              <a:buNone/>
            </a:pPr>
            <a:r>
              <a:rPr lang="en-US" sz="1200" b="1" dirty="0">
                <a:solidFill>
                  <a:srgbClr val="0E7C7B"/>
                </a:solidFill>
              </a:rPr>
              <a:t>Flow Unexplored in AI</a:t>
            </a:r>
            <a:endParaRPr lang="en-US" sz="1200" dirty="0"/>
          </a:p>
        </p:txBody>
      </p:sp>
      <p:sp>
        <p:nvSpPr>
          <p:cNvPr id="15" name="Text 13"/>
          <p:cNvSpPr/>
          <p:nvPr/>
        </p:nvSpPr>
        <p:spPr>
          <a:xfrm>
            <a:off x="4983480" y="2532888"/>
            <a:ext cx="3611880" cy="685800"/>
          </a:xfrm>
          <a:prstGeom prst="rect">
            <a:avLst/>
          </a:prstGeom>
          <a:noFill/>
          <a:ln/>
        </p:spPr>
        <p:txBody>
          <a:bodyPr wrap="square" rtlCol="0" anchor="ctr"/>
          <a:lstStyle/>
          <a:p>
            <a:pPr marL="0" indent="0">
              <a:buNone/>
            </a:pPr>
            <a:r>
              <a:rPr lang="en-US" sz="1100" dirty="0">
                <a:solidFill>
                  <a:srgbClr val="4A5568"/>
                </a:solidFill>
              </a:rPr>
              <a:t>While Flow is studied in education and gamification, it had never been applied to reinforcement learning agent systems.</a:t>
            </a:r>
            <a:endParaRPr lang="en-US" sz="1100" dirty="0"/>
          </a:p>
        </p:txBody>
      </p:sp>
      <p:sp>
        <p:nvSpPr>
          <p:cNvPr id="16" name="Shape 14"/>
          <p:cNvSpPr/>
          <p:nvPr/>
        </p:nvSpPr>
        <p:spPr>
          <a:xfrm>
            <a:off x="502920" y="3474720"/>
            <a:ext cx="3886200" cy="12344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7" name="Shape 15"/>
          <p:cNvSpPr/>
          <p:nvPr/>
        </p:nvSpPr>
        <p:spPr>
          <a:xfrm>
            <a:off x="502920" y="3474720"/>
            <a:ext cx="64008" cy="1234440"/>
          </a:xfrm>
          <a:prstGeom prst="rect">
            <a:avLst/>
          </a:prstGeom>
          <a:solidFill>
            <a:srgbClr val="0E7C7B"/>
          </a:solidFill>
          <a:ln w="12700">
            <a:solidFill>
              <a:srgbClr val="0E7C7B"/>
            </a:solidFill>
            <a:prstDash val="solid"/>
          </a:ln>
        </p:spPr>
      </p:sp>
      <p:sp>
        <p:nvSpPr>
          <p:cNvPr id="18" name="Text 16"/>
          <p:cNvSpPr/>
          <p:nvPr/>
        </p:nvSpPr>
        <p:spPr>
          <a:xfrm>
            <a:off x="685800" y="3566160"/>
            <a:ext cx="3611880" cy="347472"/>
          </a:xfrm>
          <a:prstGeom prst="rect">
            <a:avLst/>
          </a:prstGeom>
          <a:noFill/>
          <a:ln/>
        </p:spPr>
        <p:txBody>
          <a:bodyPr wrap="square" rtlCol="0" anchor="ctr"/>
          <a:lstStyle/>
          <a:p>
            <a:pPr marL="0" indent="0">
              <a:buNone/>
            </a:pPr>
            <a:r>
              <a:rPr lang="en-US" sz="1200" b="1" dirty="0">
                <a:solidFill>
                  <a:srgbClr val="0E7C7B"/>
                </a:solidFill>
              </a:rPr>
              <a:t>No Novelty-Based Learning Regulation</a:t>
            </a:r>
            <a:endParaRPr lang="en-US" sz="1200" dirty="0"/>
          </a:p>
        </p:txBody>
      </p:sp>
      <p:sp>
        <p:nvSpPr>
          <p:cNvPr id="19" name="Text 17"/>
          <p:cNvSpPr/>
          <p:nvPr/>
        </p:nvSpPr>
        <p:spPr>
          <a:xfrm>
            <a:off x="685800" y="3950208"/>
            <a:ext cx="3611880" cy="685800"/>
          </a:xfrm>
          <a:prstGeom prst="rect">
            <a:avLst/>
          </a:prstGeom>
          <a:noFill/>
          <a:ln/>
        </p:spPr>
        <p:txBody>
          <a:bodyPr wrap="square" rtlCol="0" anchor="ctr"/>
          <a:lstStyle/>
          <a:p>
            <a:pPr marL="0" indent="0">
              <a:buNone/>
            </a:pPr>
            <a:r>
              <a:rPr lang="en-US" sz="1100" dirty="0">
                <a:solidFill>
                  <a:srgbClr val="4A5568"/>
                </a:solidFill>
              </a:rPr>
              <a:t>No prior work used novelty detection (boredom thresholds) to determine when an agent should escalate to the next difficulty level.</a:t>
            </a:r>
            <a:endParaRPr lang="en-US" sz="1100" dirty="0"/>
          </a:p>
        </p:txBody>
      </p:sp>
      <p:sp>
        <p:nvSpPr>
          <p:cNvPr id="20" name="Shape 18"/>
          <p:cNvSpPr/>
          <p:nvPr/>
        </p:nvSpPr>
        <p:spPr>
          <a:xfrm>
            <a:off x="4800600" y="3474720"/>
            <a:ext cx="3886200" cy="12344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21" name="Shape 19"/>
          <p:cNvSpPr/>
          <p:nvPr/>
        </p:nvSpPr>
        <p:spPr>
          <a:xfrm>
            <a:off x="4800600" y="3474720"/>
            <a:ext cx="64008" cy="1234440"/>
          </a:xfrm>
          <a:prstGeom prst="rect">
            <a:avLst/>
          </a:prstGeom>
          <a:solidFill>
            <a:srgbClr val="0E7C7B"/>
          </a:solidFill>
          <a:ln w="12700">
            <a:solidFill>
              <a:srgbClr val="0E7C7B"/>
            </a:solidFill>
            <a:prstDash val="solid"/>
          </a:ln>
        </p:spPr>
      </p:sp>
      <p:sp>
        <p:nvSpPr>
          <p:cNvPr id="22" name="Text 20"/>
          <p:cNvSpPr/>
          <p:nvPr/>
        </p:nvSpPr>
        <p:spPr>
          <a:xfrm>
            <a:off x="4983480" y="3566160"/>
            <a:ext cx="3611880" cy="347472"/>
          </a:xfrm>
          <a:prstGeom prst="rect">
            <a:avLst/>
          </a:prstGeom>
          <a:noFill/>
          <a:ln/>
        </p:spPr>
        <p:txBody>
          <a:bodyPr wrap="square" rtlCol="0" anchor="ctr"/>
          <a:lstStyle/>
          <a:p>
            <a:pPr marL="0" indent="0">
              <a:buNone/>
            </a:pPr>
            <a:r>
              <a:rPr lang="en-US" sz="1200" b="1" dirty="0">
                <a:solidFill>
                  <a:srgbClr val="0E7C7B"/>
                </a:solidFill>
              </a:rPr>
              <a:t>Overfitting vs. Generalisation</a:t>
            </a:r>
            <a:endParaRPr lang="en-US" sz="1200" dirty="0"/>
          </a:p>
        </p:txBody>
      </p:sp>
      <p:sp>
        <p:nvSpPr>
          <p:cNvPr id="23" name="Text 21"/>
          <p:cNvSpPr/>
          <p:nvPr/>
        </p:nvSpPr>
        <p:spPr>
          <a:xfrm>
            <a:off x="4983480" y="3950208"/>
            <a:ext cx="3611880" cy="685800"/>
          </a:xfrm>
          <a:prstGeom prst="rect">
            <a:avLst/>
          </a:prstGeom>
          <a:noFill/>
          <a:ln/>
        </p:spPr>
        <p:txBody>
          <a:bodyPr wrap="square" rtlCol="0" anchor="ctr"/>
          <a:lstStyle/>
          <a:p>
            <a:pPr marL="0" indent="0">
              <a:buNone/>
            </a:pPr>
            <a:r>
              <a:rPr lang="en-US" sz="1100" dirty="0">
                <a:solidFill>
                  <a:srgbClr val="4A5568"/>
                </a:solidFill>
              </a:rPr>
              <a:t>A gap existed between agents that overfit to training conditions and agents capable of generalising across dynamic environments.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METHODOLOGY</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600" b="1" dirty="0">
                <a:solidFill>
                  <a:srgbClr val="0D1B2A"/>
                </a:solidFill>
              </a:rPr>
              <a:t>Methodology — Flow-Based RL Algorithm</a:t>
            </a:r>
            <a:endParaRPr lang="en-US" sz="2600" dirty="0"/>
          </a:p>
        </p:txBody>
      </p:sp>
      <p:sp>
        <p:nvSpPr>
          <p:cNvPr id="6" name="Shape 4"/>
          <p:cNvSpPr/>
          <p:nvPr/>
        </p:nvSpPr>
        <p:spPr>
          <a:xfrm>
            <a:off x="502920" y="1143000"/>
            <a:ext cx="1481328" cy="3566160"/>
          </a:xfrm>
          <a:prstGeom prst="rect">
            <a:avLst/>
          </a:prstGeom>
          <a:solidFill>
            <a:srgbClr val="0E7C7B">
              <a:alpha val="20000"/>
            </a:srgbClr>
          </a:solidFill>
          <a:ln w="12700">
            <a:solidFill>
              <a:srgbClr val="0E7C7B"/>
            </a:solidFill>
            <a:prstDash val="solid"/>
          </a:ln>
          <a:effectLst>
            <a:outerShdw blurRad="101600" dist="38100" dir="8100000" algn="bl" rotWithShape="0">
              <a:srgbClr val="000000">
                <a:alpha val="18000"/>
              </a:srgbClr>
            </a:outerShdw>
          </a:effectLst>
        </p:spPr>
      </p:sp>
      <p:sp>
        <p:nvSpPr>
          <p:cNvPr id="7" name="Shape 5"/>
          <p:cNvSpPr/>
          <p:nvPr/>
        </p:nvSpPr>
        <p:spPr>
          <a:xfrm>
            <a:off x="969264" y="1188720"/>
            <a:ext cx="548640" cy="548640"/>
          </a:xfrm>
          <a:prstGeom prst="ellipse">
            <a:avLst/>
          </a:prstGeom>
          <a:solidFill>
            <a:srgbClr val="0E7C7B"/>
          </a:solidFill>
          <a:ln w="12700">
            <a:solidFill>
              <a:srgbClr val="0E7C7B"/>
            </a:solidFill>
            <a:prstDash val="solid"/>
          </a:ln>
        </p:spPr>
      </p:sp>
      <p:sp>
        <p:nvSpPr>
          <p:cNvPr id="8" name="Text 6"/>
          <p:cNvSpPr/>
          <p:nvPr/>
        </p:nvSpPr>
        <p:spPr>
          <a:xfrm>
            <a:off x="969264" y="1188720"/>
            <a:ext cx="548640" cy="54864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9" name="Text 7"/>
          <p:cNvSpPr/>
          <p:nvPr/>
        </p:nvSpPr>
        <p:spPr>
          <a:xfrm>
            <a:off x="576072" y="1874520"/>
            <a:ext cx="1371600" cy="411480"/>
          </a:xfrm>
          <a:prstGeom prst="rect">
            <a:avLst/>
          </a:prstGeom>
          <a:noFill/>
          <a:ln/>
        </p:spPr>
        <p:txBody>
          <a:bodyPr wrap="square" rtlCol="0" anchor="ctr"/>
          <a:lstStyle/>
          <a:p>
            <a:pPr marL="0" indent="0" algn="ctr">
              <a:buNone/>
            </a:pPr>
            <a:r>
              <a:rPr lang="en-US" sz="1150" b="1" dirty="0">
                <a:solidFill>
                  <a:srgbClr val="0D1B2A"/>
                </a:solidFill>
              </a:rPr>
              <a:t>Initialise</a:t>
            </a:r>
            <a:endParaRPr lang="en-US" sz="1150" dirty="0"/>
          </a:p>
        </p:txBody>
      </p:sp>
      <p:sp>
        <p:nvSpPr>
          <p:cNvPr id="10" name="Text 8"/>
          <p:cNvSpPr/>
          <p:nvPr/>
        </p:nvSpPr>
        <p:spPr>
          <a:xfrm>
            <a:off x="594360" y="2377440"/>
            <a:ext cx="1325880" cy="2194560"/>
          </a:xfrm>
          <a:prstGeom prst="rect">
            <a:avLst/>
          </a:prstGeom>
          <a:noFill/>
          <a:ln/>
        </p:spPr>
        <p:txBody>
          <a:bodyPr wrap="square" rtlCol="0" anchor="t"/>
          <a:lstStyle/>
          <a:p>
            <a:pPr marL="0" indent="0" algn="ctr">
              <a:buNone/>
            </a:pPr>
            <a:r>
              <a:rPr lang="en-US" sz="1000" dirty="0">
                <a:solidFill>
                  <a:srgbClr val="4A5568"/>
                </a:solidFill>
              </a:rPr>
              <a:t>Set up Q-table, challenge level ς, boredom threshold φ, and decay constants λ₁, λ₂</a:t>
            </a:r>
            <a:endParaRPr lang="en-US" sz="1000" dirty="0"/>
          </a:p>
        </p:txBody>
      </p:sp>
      <p:sp>
        <p:nvSpPr>
          <p:cNvPr id="11" name="Shape 9"/>
          <p:cNvSpPr/>
          <p:nvPr/>
        </p:nvSpPr>
        <p:spPr>
          <a:xfrm>
            <a:off x="1984248" y="2011680"/>
            <a:ext cx="182880" cy="0"/>
          </a:xfrm>
          <a:prstGeom prst="line">
            <a:avLst/>
          </a:prstGeom>
          <a:noFill/>
          <a:ln w="25400">
            <a:solidFill>
              <a:srgbClr val="0E7C7B"/>
            </a:solidFill>
            <a:prstDash val="solid"/>
          </a:ln>
        </p:spPr>
      </p:sp>
      <p:sp>
        <p:nvSpPr>
          <p:cNvPr id="12" name="Shape 10"/>
          <p:cNvSpPr/>
          <p:nvPr/>
        </p:nvSpPr>
        <p:spPr>
          <a:xfrm>
            <a:off x="2167128" y="1143000"/>
            <a:ext cx="1481328" cy="3566160"/>
          </a:xfrm>
          <a:prstGeom prst="rect">
            <a:avLst/>
          </a:prstGeom>
          <a:solidFill>
            <a:srgbClr val="0E7C7B">
              <a:alpha val="20000"/>
            </a:srgbClr>
          </a:solidFill>
          <a:ln w="12700">
            <a:solidFill>
              <a:srgbClr val="0E7C7B"/>
            </a:solidFill>
            <a:prstDash val="solid"/>
          </a:ln>
          <a:effectLst>
            <a:outerShdw blurRad="101600" dist="38100" dir="8100000" algn="bl" rotWithShape="0">
              <a:srgbClr val="000000">
                <a:alpha val="18000"/>
              </a:srgbClr>
            </a:outerShdw>
          </a:effectLst>
        </p:spPr>
      </p:sp>
      <p:sp>
        <p:nvSpPr>
          <p:cNvPr id="13" name="Shape 11"/>
          <p:cNvSpPr/>
          <p:nvPr/>
        </p:nvSpPr>
        <p:spPr>
          <a:xfrm>
            <a:off x="2633472" y="1188720"/>
            <a:ext cx="548640" cy="548640"/>
          </a:xfrm>
          <a:prstGeom prst="ellipse">
            <a:avLst/>
          </a:prstGeom>
          <a:solidFill>
            <a:srgbClr val="0E7C7B"/>
          </a:solidFill>
          <a:ln w="12700">
            <a:solidFill>
              <a:srgbClr val="0E7C7B"/>
            </a:solidFill>
            <a:prstDash val="solid"/>
          </a:ln>
        </p:spPr>
      </p:sp>
      <p:sp>
        <p:nvSpPr>
          <p:cNvPr id="14" name="Text 12"/>
          <p:cNvSpPr/>
          <p:nvPr/>
        </p:nvSpPr>
        <p:spPr>
          <a:xfrm>
            <a:off x="2633472" y="1188720"/>
            <a:ext cx="548640" cy="54864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5" name="Text 13"/>
          <p:cNvSpPr/>
          <p:nvPr/>
        </p:nvSpPr>
        <p:spPr>
          <a:xfrm>
            <a:off x="2240280" y="1874520"/>
            <a:ext cx="1371600" cy="411480"/>
          </a:xfrm>
          <a:prstGeom prst="rect">
            <a:avLst/>
          </a:prstGeom>
          <a:noFill/>
          <a:ln/>
        </p:spPr>
        <p:txBody>
          <a:bodyPr wrap="square" rtlCol="0" anchor="ctr"/>
          <a:lstStyle/>
          <a:p>
            <a:pPr marL="0" indent="0" algn="ctr">
              <a:buNone/>
            </a:pPr>
            <a:r>
              <a:rPr lang="en-US" sz="1150" b="1" dirty="0">
                <a:solidFill>
                  <a:srgbClr val="0D1B2A"/>
                </a:solidFill>
              </a:rPr>
              <a:t>Learn Episode</a:t>
            </a:r>
            <a:endParaRPr lang="en-US" sz="1150" dirty="0"/>
          </a:p>
        </p:txBody>
      </p:sp>
      <p:sp>
        <p:nvSpPr>
          <p:cNvPr id="16" name="Text 14"/>
          <p:cNvSpPr/>
          <p:nvPr/>
        </p:nvSpPr>
        <p:spPr>
          <a:xfrm>
            <a:off x="2258568" y="2377440"/>
            <a:ext cx="1325880" cy="2194560"/>
          </a:xfrm>
          <a:prstGeom prst="rect">
            <a:avLst/>
          </a:prstGeom>
          <a:noFill/>
          <a:ln/>
        </p:spPr>
        <p:txBody>
          <a:bodyPr wrap="square" rtlCol="0" anchor="t"/>
          <a:lstStyle/>
          <a:p>
            <a:pPr marL="0" indent="0" algn="ctr">
              <a:buNone/>
            </a:pPr>
            <a:r>
              <a:rPr lang="en-US" sz="1000" dirty="0">
                <a:solidFill>
                  <a:srgbClr val="4A5568"/>
                </a:solidFill>
              </a:rPr>
              <a:t>Agent runs ε-greedy Q-learning; records all (state, action) pairs ρ visited in solution</a:t>
            </a:r>
            <a:endParaRPr lang="en-US" sz="1000" dirty="0"/>
          </a:p>
        </p:txBody>
      </p:sp>
      <p:sp>
        <p:nvSpPr>
          <p:cNvPr id="17" name="Shape 15"/>
          <p:cNvSpPr/>
          <p:nvPr/>
        </p:nvSpPr>
        <p:spPr>
          <a:xfrm>
            <a:off x="3648456" y="2011680"/>
            <a:ext cx="182880" cy="0"/>
          </a:xfrm>
          <a:prstGeom prst="line">
            <a:avLst/>
          </a:prstGeom>
          <a:noFill/>
          <a:ln w="25400">
            <a:solidFill>
              <a:srgbClr val="0E7C7B"/>
            </a:solidFill>
            <a:prstDash val="solid"/>
          </a:ln>
        </p:spPr>
      </p:sp>
      <p:sp>
        <p:nvSpPr>
          <p:cNvPr id="18" name="Shape 16"/>
          <p:cNvSpPr/>
          <p:nvPr/>
        </p:nvSpPr>
        <p:spPr>
          <a:xfrm>
            <a:off x="3831336" y="1143000"/>
            <a:ext cx="1481328" cy="3566160"/>
          </a:xfrm>
          <a:prstGeom prst="rect">
            <a:avLst/>
          </a:prstGeom>
          <a:solidFill>
            <a:srgbClr val="0E7C7B">
              <a:alpha val="35000"/>
            </a:srgbClr>
          </a:solidFill>
          <a:ln w="12700">
            <a:solidFill>
              <a:srgbClr val="0E7C7B"/>
            </a:solidFill>
            <a:prstDash val="solid"/>
          </a:ln>
          <a:effectLst>
            <a:outerShdw blurRad="101600" dist="38100" dir="8100000" algn="bl" rotWithShape="0">
              <a:srgbClr val="000000">
                <a:alpha val="18000"/>
              </a:srgbClr>
            </a:outerShdw>
          </a:effectLst>
        </p:spPr>
      </p:sp>
      <p:sp>
        <p:nvSpPr>
          <p:cNvPr id="19" name="Shape 17"/>
          <p:cNvSpPr/>
          <p:nvPr/>
        </p:nvSpPr>
        <p:spPr>
          <a:xfrm>
            <a:off x="4297680" y="1188720"/>
            <a:ext cx="548640" cy="548640"/>
          </a:xfrm>
          <a:prstGeom prst="ellipse">
            <a:avLst/>
          </a:prstGeom>
          <a:solidFill>
            <a:srgbClr val="0E7C7B"/>
          </a:solidFill>
          <a:ln w="12700">
            <a:solidFill>
              <a:srgbClr val="0E7C7B"/>
            </a:solidFill>
            <a:prstDash val="solid"/>
          </a:ln>
        </p:spPr>
      </p:sp>
      <p:sp>
        <p:nvSpPr>
          <p:cNvPr id="20" name="Text 18"/>
          <p:cNvSpPr/>
          <p:nvPr/>
        </p:nvSpPr>
        <p:spPr>
          <a:xfrm>
            <a:off x="4297680" y="1188720"/>
            <a:ext cx="548640" cy="54864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3904488" y="1874520"/>
            <a:ext cx="1371600" cy="411480"/>
          </a:xfrm>
          <a:prstGeom prst="rect">
            <a:avLst/>
          </a:prstGeom>
          <a:noFill/>
          <a:ln/>
        </p:spPr>
        <p:txBody>
          <a:bodyPr wrap="square" rtlCol="0" anchor="ctr"/>
          <a:lstStyle/>
          <a:p>
            <a:pPr marL="0" indent="0" algn="ctr">
              <a:buNone/>
            </a:pPr>
            <a:r>
              <a:rPr lang="en-US" sz="1150" b="1" dirty="0">
                <a:solidFill>
                  <a:srgbClr val="0D1B2A"/>
                </a:solidFill>
              </a:rPr>
              <a:t>Calculate Boredom</a:t>
            </a:r>
            <a:endParaRPr lang="en-US" sz="1150" dirty="0"/>
          </a:p>
        </p:txBody>
      </p:sp>
      <p:sp>
        <p:nvSpPr>
          <p:cNvPr id="22" name="Text 20"/>
          <p:cNvSpPr/>
          <p:nvPr/>
        </p:nvSpPr>
        <p:spPr>
          <a:xfrm>
            <a:off x="3922776" y="2377440"/>
            <a:ext cx="1325880" cy="2194560"/>
          </a:xfrm>
          <a:prstGeom prst="rect">
            <a:avLst/>
          </a:prstGeom>
          <a:noFill/>
          <a:ln/>
        </p:spPr>
        <p:txBody>
          <a:bodyPr wrap="square" rtlCol="0" anchor="t"/>
          <a:lstStyle/>
          <a:p>
            <a:pPr marL="0" indent="0" algn="ctr">
              <a:buNone/>
            </a:pPr>
            <a:r>
              <a:rPr lang="en-US" sz="1000" dirty="0">
                <a:solidFill>
                  <a:srgbClr val="4A5568"/>
                </a:solidFill>
              </a:rPr>
              <a:t>Novelty function: β(s,a) = (λ₁^η(s) + λ₂^η(s,a)) / 2 − 1   Range: [−1, 0]</a:t>
            </a:r>
            <a:endParaRPr lang="en-US" sz="1000" dirty="0"/>
          </a:p>
        </p:txBody>
      </p:sp>
      <p:sp>
        <p:nvSpPr>
          <p:cNvPr id="23" name="Shape 21"/>
          <p:cNvSpPr/>
          <p:nvPr/>
        </p:nvSpPr>
        <p:spPr>
          <a:xfrm>
            <a:off x="5312664" y="2011680"/>
            <a:ext cx="182880" cy="0"/>
          </a:xfrm>
          <a:prstGeom prst="line">
            <a:avLst/>
          </a:prstGeom>
          <a:noFill/>
          <a:ln w="25400">
            <a:solidFill>
              <a:srgbClr val="0E7C7B"/>
            </a:solidFill>
            <a:prstDash val="solid"/>
          </a:ln>
        </p:spPr>
      </p:sp>
      <p:sp>
        <p:nvSpPr>
          <p:cNvPr id="24" name="Shape 22"/>
          <p:cNvSpPr/>
          <p:nvPr/>
        </p:nvSpPr>
        <p:spPr>
          <a:xfrm>
            <a:off x="5495544" y="1143000"/>
            <a:ext cx="1481328" cy="3566160"/>
          </a:xfrm>
          <a:prstGeom prst="rect">
            <a:avLst/>
          </a:prstGeom>
          <a:solidFill>
            <a:srgbClr val="0E7C7B">
              <a:alpha val="20000"/>
            </a:srgbClr>
          </a:solidFill>
          <a:ln w="12700">
            <a:solidFill>
              <a:srgbClr val="0E7C7B"/>
            </a:solidFill>
            <a:prstDash val="solid"/>
          </a:ln>
          <a:effectLst>
            <a:outerShdw blurRad="101600" dist="38100" dir="8100000" algn="bl" rotWithShape="0">
              <a:srgbClr val="000000">
                <a:alpha val="18000"/>
              </a:srgbClr>
            </a:outerShdw>
          </a:effectLst>
        </p:spPr>
      </p:sp>
      <p:sp>
        <p:nvSpPr>
          <p:cNvPr id="25" name="Shape 23"/>
          <p:cNvSpPr/>
          <p:nvPr/>
        </p:nvSpPr>
        <p:spPr>
          <a:xfrm>
            <a:off x="5961888" y="1188720"/>
            <a:ext cx="548640" cy="548640"/>
          </a:xfrm>
          <a:prstGeom prst="ellipse">
            <a:avLst/>
          </a:prstGeom>
          <a:solidFill>
            <a:srgbClr val="0E7C7B"/>
          </a:solidFill>
          <a:ln w="12700">
            <a:solidFill>
              <a:srgbClr val="0E7C7B"/>
            </a:solidFill>
            <a:prstDash val="solid"/>
          </a:ln>
        </p:spPr>
      </p:sp>
      <p:sp>
        <p:nvSpPr>
          <p:cNvPr id="26" name="Text 24"/>
          <p:cNvSpPr/>
          <p:nvPr/>
        </p:nvSpPr>
        <p:spPr>
          <a:xfrm>
            <a:off x="5961888" y="1188720"/>
            <a:ext cx="548640" cy="54864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7" name="Text 25"/>
          <p:cNvSpPr/>
          <p:nvPr/>
        </p:nvSpPr>
        <p:spPr>
          <a:xfrm>
            <a:off x="5568696" y="1874520"/>
            <a:ext cx="1371600" cy="411480"/>
          </a:xfrm>
          <a:prstGeom prst="rect">
            <a:avLst/>
          </a:prstGeom>
          <a:noFill/>
          <a:ln/>
        </p:spPr>
        <p:txBody>
          <a:bodyPr wrap="square" rtlCol="0" anchor="ctr"/>
          <a:lstStyle/>
          <a:p>
            <a:pPr marL="0" indent="0" algn="ctr">
              <a:buNone/>
            </a:pPr>
            <a:r>
              <a:rPr lang="en-US" sz="1150" b="1" dirty="0">
                <a:solidFill>
                  <a:srgbClr val="0D1B2A"/>
                </a:solidFill>
              </a:rPr>
              <a:t>Check Threshold</a:t>
            </a:r>
            <a:endParaRPr lang="en-US" sz="1150" dirty="0"/>
          </a:p>
        </p:txBody>
      </p:sp>
      <p:sp>
        <p:nvSpPr>
          <p:cNvPr id="28" name="Text 26"/>
          <p:cNvSpPr/>
          <p:nvPr/>
        </p:nvSpPr>
        <p:spPr>
          <a:xfrm>
            <a:off x="5586984" y="2377440"/>
            <a:ext cx="1325880" cy="2194560"/>
          </a:xfrm>
          <a:prstGeom prst="rect">
            <a:avLst/>
          </a:prstGeom>
          <a:noFill/>
          <a:ln/>
        </p:spPr>
        <p:txBody>
          <a:bodyPr wrap="square" rtlCol="0" anchor="t"/>
          <a:lstStyle/>
          <a:p>
            <a:pPr marL="0" indent="0" algn="ctr">
              <a:buNone/>
            </a:pPr>
            <a:r>
              <a:rPr lang="en-US" sz="1000" dirty="0">
                <a:solidFill>
                  <a:srgbClr val="4A5568"/>
                </a:solidFill>
              </a:rPr>
              <a:t>If average boredom β &gt; φ (−1): agent has peaked at this level → escalate challenge</a:t>
            </a:r>
            <a:endParaRPr lang="en-US" sz="1000" dirty="0"/>
          </a:p>
        </p:txBody>
      </p:sp>
      <p:sp>
        <p:nvSpPr>
          <p:cNvPr id="29" name="Shape 27"/>
          <p:cNvSpPr/>
          <p:nvPr/>
        </p:nvSpPr>
        <p:spPr>
          <a:xfrm>
            <a:off x="6976872" y="2011680"/>
            <a:ext cx="182880" cy="0"/>
          </a:xfrm>
          <a:prstGeom prst="line">
            <a:avLst/>
          </a:prstGeom>
          <a:noFill/>
          <a:ln w="25400">
            <a:solidFill>
              <a:srgbClr val="0E7C7B"/>
            </a:solidFill>
            <a:prstDash val="solid"/>
          </a:ln>
        </p:spPr>
      </p:sp>
      <p:sp>
        <p:nvSpPr>
          <p:cNvPr id="30" name="Shape 28"/>
          <p:cNvSpPr/>
          <p:nvPr/>
        </p:nvSpPr>
        <p:spPr>
          <a:xfrm>
            <a:off x="7159752" y="1143000"/>
            <a:ext cx="1481328" cy="3566160"/>
          </a:xfrm>
          <a:prstGeom prst="rect">
            <a:avLst/>
          </a:prstGeom>
          <a:solidFill>
            <a:srgbClr val="0E7C7B">
              <a:alpha val="20000"/>
            </a:srgbClr>
          </a:solidFill>
          <a:ln w="12700">
            <a:solidFill>
              <a:srgbClr val="0E7C7B"/>
            </a:solidFill>
            <a:prstDash val="solid"/>
          </a:ln>
          <a:effectLst>
            <a:outerShdw blurRad="101600" dist="38100" dir="8100000" algn="bl" rotWithShape="0">
              <a:srgbClr val="000000">
                <a:alpha val="18000"/>
              </a:srgbClr>
            </a:outerShdw>
          </a:effectLst>
        </p:spPr>
      </p:sp>
      <p:sp>
        <p:nvSpPr>
          <p:cNvPr id="31" name="Shape 29"/>
          <p:cNvSpPr/>
          <p:nvPr/>
        </p:nvSpPr>
        <p:spPr>
          <a:xfrm>
            <a:off x="7626096" y="1188720"/>
            <a:ext cx="548640" cy="548640"/>
          </a:xfrm>
          <a:prstGeom prst="ellipse">
            <a:avLst/>
          </a:prstGeom>
          <a:solidFill>
            <a:srgbClr val="0E7C7B"/>
          </a:solidFill>
          <a:ln w="12700">
            <a:solidFill>
              <a:srgbClr val="0E7C7B"/>
            </a:solidFill>
            <a:prstDash val="solid"/>
          </a:ln>
        </p:spPr>
      </p:sp>
      <p:sp>
        <p:nvSpPr>
          <p:cNvPr id="32" name="Text 30"/>
          <p:cNvSpPr/>
          <p:nvPr/>
        </p:nvSpPr>
        <p:spPr>
          <a:xfrm>
            <a:off x="7626096" y="1188720"/>
            <a:ext cx="548640" cy="54864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33" name="Text 31"/>
          <p:cNvSpPr/>
          <p:nvPr/>
        </p:nvSpPr>
        <p:spPr>
          <a:xfrm>
            <a:off x="7232904" y="1874520"/>
            <a:ext cx="1371600" cy="411480"/>
          </a:xfrm>
          <a:prstGeom prst="rect">
            <a:avLst/>
          </a:prstGeom>
          <a:noFill/>
          <a:ln/>
        </p:spPr>
        <p:txBody>
          <a:bodyPr wrap="square" rtlCol="0" anchor="ctr"/>
          <a:lstStyle/>
          <a:p>
            <a:pPr marL="0" indent="0" algn="ctr">
              <a:buNone/>
            </a:pPr>
            <a:r>
              <a:rPr lang="en-US" sz="1150" b="1" dirty="0">
                <a:solidFill>
                  <a:srgbClr val="0D1B2A"/>
                </a:solidFill>
              </a:rPr>
              <a:t>Escalate Challenge</a:t>
            </a:r>
            <a:endParaRPr lang="en-US" sz="1150" dirty="0"/>
          </a:p>
        </p:txBody>
      </p:sp>
      <p:sp>
        <p:nvSpPr>
          <p:cNvPr id="34" name="Text 32"/>
          <p:cNvSpPr/>
          <p:nvPr/>
        </p:nvSpPr>
        <p:spPr>
          <a:xfrm>
            <a:off x="7251192" y="2377440"/>
            <a:ext cx="1325880" cy="2194560"/>
          </a:xfrm>
          <a:prstGeom prst="rect">
            <a:avLst/>
          </a:prstGeom>
          <a:noFill/>
          <a:ln/>
        </p:spPr>
        <p:txBody>
          <a:bodyPr wrap="square" rtlCol="0" anchor="t"/>
          <a:lstStyle/>
          <a:p>
            <a:pPr marL="0" indent="0" algn="ctr">
              <a:buNone/>
            </a:pPr>
            <a:r>
              <a:rPr lang="en-US" sz="1000" dirty="0">
                <a:solidFill>
                  <a:srgbClr val="4A5568"/>
                </a:solidFill>
              </a:rPr>
              <a:t>Increment ς → ς + ε_ς; reset boredom tracking; agent re-enters Flow zone</a:t>
            </a:r>
            <a:endParaRPr lang="en-US" sz="1000" dirty="0"/>
          </a:p>
        </p:txBody>
      </p:sp>
      <p:sp>
        <p:nvSpPr>
          <p:cNvPr id="35" name="Text 33"/>
          <p:cNvSpPr/>
          <p:nvPr/>
        </p:nvSpPr>
        <p:spPr>
          <a:xfrm>
            <a:off x="502920" y="4736592"/>
            <a:ext cx="8138160" cy="274320"/>
          </a:xfrm>
          <a:prstGeom prst="rect">
            <a:avLst/>
          </a:prstGeom>
          <a:noFill/>
          <a:ln/>
        </p:spPr>
        <p:txBody>
          <a:bodyPr wrap="square" rtlCol="0" anchor="ctr"/>
          <a:lstStyle/>
          <a:p>
            <a:pPr marL="0" indent="0" algn="ctr">
              <a:buNone/>
            </a:pPr>
            <a:r>
              <a:rPr lang="en-US" sz="1050" i="1" dirty="0">
                <a:solidFill>
                  <a:srgbClr val="0E7C7B"/>
                </a:solidFill>
              </a:rPr>
              <a:t>Key Insight: Agent stays in each challenge until boredom (no novelty) is detected — then and only then does difficulty escalate.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A5A4"/>
          </a:solidFill>
          <a:ln w="12700">
            <a:solidFill>
              <a:srgbClr val="14A5A4"/>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METHODOLOGY DETAIL</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600" b="1" dirty="0">
                <a:solidFill>
                  <a:srgbClr val="FFFFFF"/>
                </a:solidFill>
              </a:rPr>
              <a:t>Boredom Detection — The Novelty Engine</a:t>
            </a:r>
            <a:endParaRPr lang="en-US" sz="2600" dirty="0"/>
          </a:p>
        </p:txBody>
      </p:sp>
      <p:sp>
        <p:nvSpPr>
          <p:cNvPr id="6" name="Shape 4"/>
          <p:cNvSpPr/>
          <p:nvPr/>
        </p:nvSpPr>
        <p:spPr>
          <a:xfrm>
            <a:off x="1828800" y="1097280"/>
            <a:ext cx="5486400" cy="777240"/>
          </a:xfrm>
          <a:prstGeom prst="rect">
            <a:avLst/>
          </a:prstGeom>
          <a:solidFill>
            <a:srgbClr val="0E7C7B">
              <a:alpha val="30000"/>
            </a:srgbClr>
          </a:solidFill>
          <a:ln w="12700">
            <a:solidFill>
              <a:srgbClr val="14A5A4"/>
            </a:solidFill>
            <a:prstDash val="solid"/>
          </a:ln>
        </p:spPr>
      </p:sp>
      <p:sp>
        <p:nvSpPr>
          <p:cNvPr id="7" name="Text 5"/>
          <p:cNvSpPr/>
          <p:nvPr/>
        </p:nvSpPr>
        <p:spPr>
          <a:xfrm>
            <a:off x="1828800" y="1143000"/>
            <a:ext cx="5486400" cy="685800"/>
          </a:xfrm>
          <a:prstGeom prst="rect">
            <a:avLst/>
          </a:prstGeom>
          <a:noFill/>
          <a:ln/>
        </p:spPr>
        <p:txBody>
          <a:bodyPr wrap="square" rtlCol="0" anchor="ctr"/>
          <a:lstStyle/>
          <a:p>
            <a:pPr marL="0" indent="0" algn="ctr">
              <a:buNone/>
            </a:pPr>
            <a:r>
              <a:rPr lang="en-US" sz="1800" b="1" dirty="0">
                <a:solidFill>
                  <a:srgbClr val="FFFFFF"/>
                </a:solidFill>
              </a:rPr>
              <a:t>β(s,a) = ( λ₁^η(s) + λ₂^η(s,a) ) / 2  −  1</a:t>
            </a:r>
            <a:endParaRPr lang="en-US" sz="1800" dirty="0"/>
          </a:p>
        </p:txBody>
      </p:sp>
      <p:sp>
        <p:nvSpPr>
          <p:cNvPr id="8" name="Shape 6"/>
          <p:cNvSpPr/>
          <p:nvPr/>
        </p:nvSpPr>
        <p:spPr>
          <a:xfrm>
            <a:off x="502920" y="20574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9" name="Text 7"/>
          <p:cNvSpPr/>
          <p:nvPr/>
        </p:nvSpPr>
        <p:spPr>
          <a:xfrm>
            <a:off x="612648" y="2130552"/>
            <a:ext cx="1280160" cy="594360"/>
          </a:xfrm>
          <a:prstGeom prst="rect">
            <a:avLst/>
          </a:prstGeom>
          <a:noFill/>
          <a:ln/>
        </p:spPr>
        <p:txBody>
          <a:bodyPr wrap="square" rtlCol="0" anchor="ctr"/>
          <a:lstStyle/>
          <a:p>
            <a:pPr marL="0" indent="0">
              <a:buNone/>
            </a:pPr>
            <a:r>
              <a:rPr lang="en-US" sz="1250" b="1" dirty="0">
                <a:solidFill>
                  <a:srgbClr val="F6AE2D"/>
                </a:solidFill>
              </a:rPr>
              <a:t>β(s,a)</a:t>
            </a:r>
            <a:endParaRPr lang="en-US" sz="1250" dirty="0"/>
          </a:p>
        </p:txBody>
      </p:sp>
      <p:sp>
        <p:nvSpPr>
          <p:cNvPr id="10" name="Text 8"/>
          <p:cNvSpPr/>
          <p:nvPr/>
        </p:nvSpPr>
        <p:spPr>
          <a:xfrm>
            <a:off x="1920240" y="2130552"/>
            <a:ext cx="2423160" cy="594360"/>
          </a:xfrm>
          <a:prstGeom prst="rect">
            <a:avLst/>
          </a:prstGeom>
          <a:noFill/>
          <a:ln/>
        </p:spPr>
        <p:txBody>
          <a:bodyPr wrap="square" rtlCol="0" anchor="ctr"/>
          <a:lstStyle/>
          <a:p>
            <a:pPr marL="0" indent="0">
              <a:buNone/>
            </a:pPr>
            <a:r>
              <a:rPr lang="en-US" sz="1150" dirty="0">
                <a:solidFill>
                  <a:srgbClr val="D8EFFE"/>
                </a:solidFill>
              </a:rPr>
              <a:t>Boredom value for state-action pair at episode t</a:t>
            </a:r>
            <a:endParaRPr lang="en-US" sz="1150" dirty="0"/>
          </a:p>
        </p:txBody>
      </p:sp>
      <p:sp>
        <p:nvSpPr>
          <p:cNvPr id="11" name="Shape 9"/>
          <p:cNvSpPr/>
          <p:nvPr/>
        </p:nvSpPr>
        <p:spPr>
          <a:xfrm>
            <a:off x="4800600" y="20574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12" name="Text 10"/>
          <p:cNvSpPr/>
          <p:nvPr/>
        </p:nvSpPr>
        <p:spPr>
          <a:xfrm>
            <a:off x="4910328" y="2130552"/>
            <a:ext cx="1280160" cy="594360"/>
          </a:xfrm>
          <a:prstGeom prst="rect">
            <a:avLst/>
          </a:prstGeom>
          <a:noFill/>
          <a:ln/>
        </p:spPr>
        <p:txBody>
          <a:bodyPr wrap="square" rtlCol="0" anchor="ctr"/>
          <a:lstStyle/>
          <a:p>
            <a:pPr marL="0" indent="0">
              <a:buNone/>
            </a:pPr>
            <a:r>
              <a:rPr lang="en-US" sz="1250" b="1" dirty="0">
                <a:solidFill>
                  <a:srgbClr val="F6AE2D"/>
                </a:solidFill>
              </a:rPr>
              <a:t>λ₁, λ₂</a:t>
            </a:r>
            <a:endParaRPr lang="en-US" sz="1250" dirty="0"/>
          </a:p>
        </p:txBody>
      </p:sp>
      <p:sp>
        <p:nvSpPr>
          <p:cNvPr id="13" name="Text 11"/>
          <p:cNvSpPr/>
          <p:nvPr/>
        </p:nvSpPr>
        <p:spPr>
          <a:xfrm>
            <a:off x="6217920" y="2130552"/>
            <a:ext cx="2423160" cy="594360"/>
          </a:xfrm>
          <a:prstGeom prst="rect">
            <a:avLst/>
          </a:prstGeom>
          <a:noFill/>
          <a:ln/>
        </p:spPr>
        <p:txBody>
          <a:bodyPr wrap="square" rtlCol="0" anchor="ctr"/>
          <a:lstStyle/>
          <a:p>
            <a:pPr marL="0" indent="0">
              <a:buNone/>
            </a:pPr>
            <a:r>
              <a:rPr lang="en-US" sz="1150" dirty="0">
                <a:solidFill>
                  <a:srgbClr val="D8EFFE"/>
                </a:solidFill>
              </a:rPr>
              <a:t>Decay constants (0 &lt; λ &lt; 1) — control how fast novelty fades</a:t>
            </a:r>
            <a:endParaRPr lang="en-US" sz="1150" dirty="0"/>
          </a:p>
        </p:txBody>
      </p:sp>
      <p:sp>
        <p:nvSpPr>
          <p:cNvPr id="14" name="Shape 12"/>
          <p:cNvSpPr/>
          <p:nvPr/>
        </p:nvSpPr>
        <p:spPr>
          <a:xfrm>
            <a:off x="502920" y="29718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15" name="Text 13"/>
          <p:cNvSpPr/>
          <p:nvPr/>
        </p:nvSpPr>
        <p:spPr>
          <a:xfrm>
            <a:off x="612648" y="3044952"/>
            <a:ext cx="1280160" cy="594360"/>
          </a:xfrm>
          <a:prstGeom prst="rect">
            <a:avLst/>
          </a:prstGeom>
          <a:noFill/>
          <a:ln/>
        </p:spPr>
        <p:txBody>
          <a:bodyPr wrap="square" rtlCol="0" anchor="ctr"/>
          <a:lstStyle/>
          <a:p>
            <a:pPr marL="0" indent="0">
              <a:buNone/>
            </a:pPr>
            <a:r>
              <a:rPr lang="en-US" sz="1250" b="1" dirty="0">
                <a:solidFill>
                  <a:srgbClr val="F6AE2D"/>
                </a:solidFill>
              </a:rPr>
              <a:t>η(s)</a:t>
            </a:r>
            <a:endParaRPr lang="en-US" sz="1250" dirty="0"/>
          </a:p>
        </p:txBody>
      </p:sp>
      <p:sp>
        <p:nvSpPr>
          <p:cNvPr id="16" name="Text 14"/>
          <p:cNvSpPr/>
          <p:nvPr/>
        </p:nvSpPr>
        <p:spPr>
          <a:xfrm>
            <a:off x="1920240" y="3044952"/>
            <a:ext cx="2423160" cy="594360"/>
          </a:xfrm>
          <a:prstGeom prst="rect">
            <a:avLst/>
          </a:prstGeom>
          <a:noFill/>
          <a:ln/>
        </p:spPr>
        <p:txBody>
          <a:bodyPr wrap="square" rtlCol="0" anchor="ctr"/>
          <a:lstStyle/>
          <a:p>
            <a:pPr marL="0" indent="0">
              <a:buNone/>
            </a:pPr>
            <a:r>
              <a:rPr lang="en-US" sz="1150" dirty="0">
                <a:solidFill>
                  <a:srgbClr val="D8EFFE"/>
                </a:solidFill>
              </a:rPr>
              <a:t>Total visits to state s up to current episode</a:t>
            </a:r>
            <a:endParaRPr lang="en-US" sz="1150" dirty="0"/>
          </a:p>
        </p:txBody>
      </p:sp>
      <p:sp>
        <p:nvSpPr>
          <p:cNvPr id="17" name="Shape 15"/>
          <p:cNvSpPr/>
          <p:nvPr/>
        </p:nvSpPr>
        <p:spPr>
          <a:xfrm>
            <a:off x="4800600" y="29718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18" name="Text 16"/>
          <p:cNvSpPr/>
          <p:nvPr/>
        </p:nvSpPr>
        <p:spPr>
          <a:xfrm>
            <a:off x="4910328" y="3044952"/>
            <a:ext cx="1280160" cy="594360"/>
          </a:xfrm>
          <a:prstGeom prst="rect">
            <a:avLst/>
          </a:prstGeom>
          <a:noFill/>
          <a:ln/>
        </p:spPr>
        <p:txBody>
          <a:bodyPr wrap="square" rtlCol="0" anchor="ctr"/>
          <a:lstStyle/>
          <a:p>
            <a:pPr marL="0" indent="0">
              <a:buNone/>
            </a:pPr>
            <a:r>
              <a:rPr lang="en-US" sz="1250" b="1" dirty="0">
                <a:solidFill>
                  <a:srgbClr val="F6AE2D"/>
                </a:solidFill>
              </a:rPr>
              <a:t>η(s,a)</a:t>
            </a:r>
            <a:endParaRPr lang="en-US" sz="1250" dirty="0"/>
          </a:p>
        </p:txBody>
      </p:sp>
      <p:sp>
        <p:nvSpPr>
          <p:cNvPr id="19" name="Text 17"/>
          <p:cNvSpPr/>
          <p:nvPr/>
        </p:nvSpPr>
        <p:spPr>
          <a:xfrm>
            <a:off x="6217920" y="3044952"/>
            <a:ext cx="2423160" cy="594360"/>
          </a:xfrm>
          <a:prstGeom prst="rect">
            <a:avLst/>
          </a:prstGeom>
          <a:noFill/>
          <a:ln/>
        </p:spPr>
        <p:txBody>
          <a:bodyPr wrap="square" rtlCol="0" anchor="ctr"/>
          <a:lstStyle/>
          <a:p>
            <a:pPr marL="0" indent="0">
              <a:buNone/>
            </a:pPr>
            <a:r>
              <a:rPr lang="en-US" sz="1150" dirty="0">
                <a:solidFill>
                  <a:srgbClr val="D8EFFE"/>
                </a:solidFill>
              </a:rPr>
              <a:t>Total visits to state-action pair (s,a) up to current episode</a:t>
            </a:r>
            <a:endParaRPr lang="en-US" sz="1150" dirty="0"/>
          </a:p>
        </p:txBody>
      </p:sp>
      <p:sp>
        <p:nvSpPr>
          <p:cNvPr id="20" name="Shape 18"/>
          <p:cNvSpPr/>
          <p:nvPr/>
        </p:nvSpPr>
        <p:spPr>
          <a:xfrm>
            <a:off x="502920" y="38862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21" name="Text 19"/>
          <p:cNvSpPr/>
          <p:nvPr/>
        </p:nvSpPr>
        <p:spPr>
          <a:xfrm>
            <a:off x="612648" y="3959352"/>
            <a:ext cx="1280160" cy="594360"/>
          </a:xfrm>
          <a:prstGeom prst="rect">
            <a:avLst/>
          </a:prstGeom>
          <a:noFill/>
          <a:ln/>
        </p:spPr>
        <p:txBody>
          <a:bodyPr wrap="square" rtlCol="0" anchor="ctr"/>
          <a:lstStyle/>
          <a:p>
            <a:pPr marL="0" indent="0">
              <a:buNone/>
            </a:pPr>
            <a:r>
              <a:rPr lang="en-US" sz="1250" b="1" dirty="0">
                <a:solidFill>
                  <a:srgbClr val="F6AE2D"/>
                </a:solidFill>
              </a:rPr>
              <a:t>Range [−1, 0]</a:t>
            </a:r>
            <a:endParaRPr lang="en-US" sz="1250" dirty="0"/>
          </a:p>
        </p:txBody>
      </p:sp>
      <p:sp>
        <p:nvSpPr>
          <p:cNvPr id="22" name="Text 20"/>
          <p:cNvSpPr/>
          <p:nvPr/>
        </p:nvSpPr>
        <p:spPr>
          <a:xfrm>
            <a:off x="1920240" y="3959352"/>
            <a:ext cx="2423160" cy="594360"/>
          </a:xfrm>
          <a:prstGeom prst="rect">
            <a:avLst/>
          </a:prstGeom>
          <a:noFill/>
          <a:ln/>
        </p:spPr>
        <p:txBody>
          <a:bodyPr wrap="square" rtlCol="0" anchor="ctr"/>
          <a:lstStyle/>
          <a:p>
            <a:pPr marL="0" indent="0">
              <a:buNone/>
            </a:pPr>
            <a:r>
              <a:rPr lang="en-US" sz="1150" dirty="0">
                <a:solidFill>
                  <a:srgbClr val="D8EFFE"/>
                </a:solidFill>
              </a:rPr>
              <a:t>0 = completely novel solution;  −1 = no novelty remaining (bored)</a:t>
            </a:r>
            <a:endParaRPr lang="en-US" sz="1150" dirty="0"/>
          </a:p>
        </p:txBody>
      </p:sp>
      <p:sp>
        <p:nvSpPr>
          <p:cNvPr id="23" name="Shape 21"/>
          <p:cNvSpPr/>
          <p:nvPr/>
        </p:nvSpPr>
        <p:spPr>
          <a:xfrm>
            <a:off x="4800600" y="3886200"/>
            <a:ext cx="3931920" cy="749808"/>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24" name="Text 22"/>
          <p:cNvSpPr/>
          <p:nvPr/>
        </p:nvSpPr>
        <p:spPr>
          <a:xfrm>
            <a:off x="4910328" y="3959352"/>
            <a:ext cx="1280160" cy="594360"/>
          </a:xfrm>
          <a:prstGeom prst="rect">
            <a:avLst/>
          </a:prstGeom>
          <a:noFill/>
          <a:ln/>
        </p:spPr>
        <p:txBody>
          <a:bodyPr wrap="square" rtlCol="0" anchor="ctr"/>
          <a:lstStyle/>
          <a:p>
            <a:pPr marL="0" indent="0">
              <a:buNone/>
            </a:pPr>
            <a:r>
              <a:rPr lang="en-US" sz="1250" b="1" dirty="0">
                <a:solidFill>
                  <a:srgbClr val="F6AE2D"/>
                </a:solidFill>
              </a:rPr>
              <a:t>Threshold φ = −1</a:t>
            </a:r>
            <a:endParaRPr lang="en-US" sz="1250" dirty="0"/>
          </a:p>
        </p:txBody>
      </p:sp>
      <p:sp>
        <p:nvSpPr>
          <p:cNvPr id="25" name="Text 23"/>
          <p:cNvSpPr/>
          <p:nvPr/>
        </p:nvSpPr>
        <p:spPr>
          <a:xfrm>
            <a:off x="6217920" y="3959352"/>
            <a:ext cx="2423160" cy="594360"/>
          </a:xfrm>
          <a:prstGeom prst="rect">
            <a:avLst/>
          </a:prstGeom>
          <a:noFill/>
          <a:ln/>
        </p:spPr>
        <p:txBody>
          <a:bodyPr wrap="square" rtlCol="0" anchor="ctr"/>
          <a:lstStyle/>
          <a:p>
            <a:pPr marL="0" indent="0">
              <a:buNone/>
            </a:pPr>
            <a:r>
              <a:rPr lang="en-US" sz="1150" dirty="0">
                <a:solidFill>
                  <a:srgbClr val="D8EFFE"/>
                </a:solidFill>
              </a:rPr>
              <a:t>Challenge escalates only when ALL solutions reach zero novelty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EXPERIMENTS</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800" b="1" dirty="0">
                <a:solidFill>
                  <a:srgbClr val="0D1B2A"/>
                </a:solidFill>
              </a:rPr>
              <a:t>Simulation Environments</a:t>
            </a:r>
            <a:endParaRPr lang="en-US" sz="2800" dirty="0"/>
          </a:p>
        </p:txBody>
      </p:sp>
      <p:sp>
        <p:nvSpPr>
          <p:cNvPr id="6" name="Shape 4"/>
          <p:cNvSpPr/>
          <p:nvPr/>
        </p:nvSpPr>
        <p:spPr>
          <a:xfrm>
            <a:off x="502920" y="1097280"/>
            <a:ext cx="3840480" cy="356616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7" name="Shape 5"/>
          <p:cNvSpPr/>
          <p:nvPr/>
        </p:nvSpPr>
        <p:spPr>
          <a:xfrm>
            <a:off x="502920" y="1097280"/>
            <a:ext cx="64008" cy="3566160"/>
          </a:xfrm>
          <a:prstGeom prst="rect">
            <a:avLst/>
          </a:prstGeom>
          <a:solidFill>
            <a:srgbClr val="0E7C7B"/>
          </a:solidFill>
          <a:ln w="12700">
            <a:solidFill>
              <a:srgbClr val="0E7C7B"/>
            </a:solidFill>
            <a:prstDash val="solid"/>
          </a:ln>
        </p:spPr>
      </p:sp>
      <p:sp>
        <p:nvSpPr>
          <p:cNvPr id="8" name="Text 6"/>
          <p:cNvSpPr/>
          <p:nvPr/>
        </p:nvSpPr>
        <p:spPr>
          <a:xfrm>
            <a:off x="685800" y="1234440"/>
            <a:ext cx="3566160" cy="411480"/>
          </a:xfrm>
          <a:prstGeom prst="rect">
            <a:avLst/>
          </a:prstGeom>
          <a:noFill/>
          <a:ln/>
        </p:spPr>
        <p:txBody>
          <a:bodyPr wrap="square" rtlCol="0" anchor="ctr"/>
          <a:lstStyle/>
          <a:p>
            <a:pPr marL="0" indent="0">
              <a:buNone/>
            </a:pPr>
            <a:r>
              <a:rPr lang="en-US" sz="1500" b="1" dirty="0">
                <a:solidFill>
                  <a:srgbClr val="0E7C7B"/>
                </a:solidFill>
              </a:rPr>
              <a:t>Task 1: Maze Navigation</a:t>
            </a:r>
            <a:endParaRPr lang="en-US" sz="1500" dirty="0"/>
          </a:p>
        </p:txBody>
      </p:sp>
      <p:sp>
        <p:nvSpPr>
          <p:cNvPr id="9" name="Text 7"/>
          <p:cNvSpPr/>
          <p:nvPr/>
        </p:nvSpPr>
        <p:spPr>
          <a:xfrm>
            <a:off x="685800" y="1737360"/>
            <a:ext cx="3520440" cy="2743200"/>
          </a:xfrm>
          <a:prstGeom prst="rect">
            <a:avLst/>
          </a:prstGeom>
          <a:noFill/>
          <a:ln/>
        </p:spPr>
        <p:txBody>
          <a:bodyPr wrap="square" rtlCol="0" anchor="t"/>
          <a:lstStyle/>
          <a:p>
            <a:pPr marL="342900" indent="-342900">
              <a:spcAft>
                <a:spcPts val="400"/>
              </a:spcAft>
              <a:buSzPct val="100000"/>
              <a:buChar char="•"/>
            </a:pPr>
            <a:r>
              <a:rPr lang="en-US" sz="1200" dirty="0">
                <a:solidFill>
                  <a:srgbClr val="4A5568"/>
                </a:solidFill>
              </a:rPr>
              <a:t>Grid-based navigation: start (red) → end (green)</a:t>
            </a:r>
            <a:endParaRPr lang="en-US" sz="1200" dirty="0"/>
          </a:p>
          <a:p>
            <a:pPr marL="342900" indent="-342900">
              <a:spcAft>
                <a:spcPts val="400"/>
              </a:spcAft>
              <a:buSzPct val="100000"/>
              <a:buChar char="•"/>
            </a:pPr>
            <a:r>
              <a:rPr lang="en-US" sz="1200" dirty="0">
                <a:solidFill>
                  <a:srgbClr val="4A5568"/>
                </a:solidFill>
              </a:rPr>
              <a:t>Agent avoids obstacles (black cells)</a:t>
            </a:r>
            <a:endParaRPr lang="en-US" sz="1200" dirty="0"/>
          </a:p>
          <a:p>
            <a:pPr marL="342900" indent="-342900">
              <a:spcAft>
                <a:spcPts val="400"/>
              </a:spcAft>
              <a:buSzPct val="100000"/>
              <a:buChar char="•"/>
            </a:pPr>
            <a:r>
              <a:rPr lang="en-US" sz="1200" dirty="0">
                <a:solidFill>
                  <a:srgbClr val="4A5568"/>
                </a:solidFill>
              </a:rPr>
              <a:t>51 challenge levels — each adds a new obstacle blocking the previous solution path</a:t>
            </a:r>
            <a:endParaRPr lang="en-US" sz="1200" dirty="0"/>
          </a:p>
          <a:p>
            <a:pPr marL="342900" indent="-342900">
              <a:spcAft>
                <a:spcPts val="400"/>
              </a:spcAft>
              <a:buSzPct val="100000"/>
              <a:buChar char="•"/>
            </a:pPr>
            <a:r>
              <a:rPr lang="en-US" sz="1200" dirty="0">
                <a:solidFill>
                  <a:srgbClr val="4A5568"/>
                </a:solidFill>
              </a:rPr>
              <a:t>Agent FORCED to use new knowledge at each level</a:t>
            </a:r>
            <a:endParaRPr lang="en-US" sz="1200" dirty="0"/>
          </a:p>
          <a:p>
            <a:pPr marL="342900" indent="-342900">
              <a:spcAft>
                <a:spcPts val="400"/>
              </a:spcAft>
              <a:buSzPct val="100000"/>
              <a:buChar char="•"/>
            </a:pPr>
            <a:r>
              <a:rPr lang="en-US" sz="1200" dirty="0">
                <a:solidFill>
                  <a:srgbClr val="4A5568"/>
                </a:solidFill>
              </a:rPr>
              <a:t>Goal: find the shortest path</a:t>
            </a:r>
            <a:endParaRPr lang="en-US" sz="1200" dirty="0"/>
          </a:p>
          <a:p>
            <a:pPr marL="342900" indent="-342900">
              <a:spcAft>
                <a:spcPts val="400"/>
              </a:spcAft>
              <a:buSzPct val="100000"/>
              <a:buChar char="•"/>
            </a:pPr>
            <a:r>
              <a:rPr lang="en-US" sz="1200" dirty="0">
                <a:solidFill>
                  <a:srgbClr val="4A5568"/>
                </a:solidFill>
              </a:rPr>
              <a:t>Von Neumann neighbourhood movement (4 adjacent cells)</a:t>
            </a:r>
            <a:endParaRPr lang="en-US" sz="1200" dirty="0"/>
          </a:p>
        </p:txBody>
      </p:sp>
      <p:sp>
        <p:nvSpPr>
          <p:cNvPr id="10" name="Shape 8"/>
          <p:cNvSpPr/>
          <p:nvPr/>
        </p:nvSpPr>
        <p:spPr>
          <a:xfrm>
            <a:off x="4800600" y="1097280"/>
            <a:ext cx="3840480" cy="356616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1" name="Shape 9"/>
          <p:cNvSpPr/>
          <p:nvPr/>
        </p:nvSpPr>
        <p:spPr>
          <a:xfrm>
            <a:off x="4800600" y="1097280"/>
            <a:ext cx="64008" cy="3566160"/>
          </a:xfrm>
          <a:prstGeom prst="rect">
            <a:avLst/>
          </a:prstGeom>
          <a:solidFill>
            <a:srgbClr val="0E7C7B"/>
          </a:solidFill>
          <a:ln w="12700">
            <a:solidFill>
              <a:srgbClr val="0E7C7B"/>
            </a:solidFill>
            <a:prstDash val="solid"/>
          </a:ln>
        </p:spPr>
      </p:sp>
      <p:sp>
        <p:nvSpPr>
          <p:cNvPr id="12" name="Text 10"/>
          <p:cNvSpPr/>
          <p:nvPr/>
        </p:nvSpPr>
        <p:spPr>
          <a:xfrm>
            <a:off x="4983480" y="1234440"/>
            <a:ext cx="3566160" cy="411480"/>
          </a:xfrm>
          <a:prstGeom prst="rect">
            <a:avLst/>
          </a:prstGeom>
          <a:noFill/>
          <a:ln/>
        </p:spPr>
        <p:txBody>
          <a:bodyPr wrap="square" rtlCol="0" anchor="ctr"/>
          <a:lstStyle/>
          <a:p>
            <a:pPr marL="0" indent="0">
              <a:buNone/>
            </a:pPr>
            <a:r>
              <a:rPr lang="en-US" sz="1500" b="1" dirty="0">
                <a:solidFill>
                  <a:srgbClr val="0E7C7B"/>
                </a:solidFill>
              </a:rPr>
              <a:t>Task 2: Reward Collection</a:t>
            </a:r>
            <a:endParaRPr lang="en-US" sz="1500" dirty="0"/>
          </a:p>
        </p:txBody>
      </p:sp>
      <p:sp>
        <p:nvSpPr>
          <p:cNvPr id="13" name="Text 11"/>
          <p:cNvSpPr/>
          <p:nvPr/>
        </p:nvSpPr>
        <p:spPr>
          <a:xfrm>
            <a:off x="4983480" y="1737360"/>
            <a:ext cx="3520440" cy="2743200"/>
          </a:xfrm>
          <a:prstGeom prst="rect">
            <a:avLst/>
          </a:prstGeom>
          <a:noFill/>
          <a:ln/>
        </p:spPr>
        <p:txBody>
          <a:bodyPr wrap="square" rtlCol="0" anchor="t"/>
          <a:lstStyle/>
          <a:p>
            <a:pPr marL="342900" indent="-342900">
              <a:spcAft>
                <a:spcPts val="400"/>
              </a:spcAft>
              <a:buSzPct val="100000"/>
              <a:buChar char="•"/>
            </a:pPr>
            <a:r>
              <a:rPr lang="en-US" sz="1200" dirty="0">
                <a:solidFill>
                  <a:srgbClr val="4A5568"/>
                </a:solidFill>
              </a:rPr>
              <a:t>52 channels, 100 cells each with reward values</a:t>
            </a:r>
            <a:endParaRPr lang="en-US" sz="1200" dirty="0"/>
          </a:p>
          <a:p>
            <a:pPr marL="342900" indent="-342900">
              <a:spcAft>
                <a:spcPts val="400"/>
              </a:spcAft>
              <a:buSzPct val="100000"/>
              <a:buChar char="•"/>
            </a:pPr>
            <a:r>
              <a:rPr lang="en-US" sz="1200" dirty="0">
                <a:solidFill>
                  <a:srgbClr val="4A5568"/>
                </a:solidFill>
              </a:rPr>
              <a:t>51 challenge levels — each adds a new channel</a:t>
            </a:r>
            <a:endParaRPr lang="en-US" sz="1200" dirty="0"/>
          </a:p>
          <a:p>
            <a:pPr marL="342900" indent="-342900">
              <a:spcAft>
                <a:spcPts val="400"/>
              </a:spcAft>
              <a:buSzPct val="100000"/>
              <a:buChar char="•"/>
            </a:pPr>
            <a:r>
              <a:rPr lang="en-US" sz="1200" dirty="0">
                <a:solidFill>
                  <a:srgbClr val="4A5568"/>
                </a:solidFill>
              </a:rPr>
              <a:t>Agent CHOOSES whether to use new knowledge</a:t>
            </a:r>
            <a:endParaRPr lang="en-US" sz="1200" dirty="0"/>
          </a:p>
          <a:p>
            <a:pPr marL="342900" indent="-342900">
              <a:spcAft>
                <a:spcPts val="400"/>
              </a:spcAft>
              <a:buSzPct val="100000"/>
              <a:buChar char="•"/>
            </a:pPr>
            <a:r>
              <a:rPr lang="en-US" sz="1200" dirty="0">
                <a:solidFill>
                  <a:srgbClr val="4A5568"/>
                </a:solidFill>
              </a:rPr>
              <a:t>Switching channels incurs a distance-based cost</a:t>
            </a:r>
            <a:endParaRPr lang="en-US" sz="1200" dirty="0"/>
          </a:p>
          <a:p>
            <a:pPr marL="342900" indent="-342900">
              <a:spcAft>
                <a:spcPts val="400"/>
              </a:spcAft>
              <a:buSzPct val="100000"/>
              <a:buChar char="•"/>
            </a:pPr>
            <a:r>
              <a:rPr lang="en-US" sz="1200" dirty="0">
                <a:solidFill>
                  <a:srgbClr val="4A5568"/>
                </a:solidFill>
              </a:rPr>
              <a:t>Goal: maximise total reward − switching costs</a:t>
            </a:r>
            <a:endParaRPr lang="en-US" sz="1200" dirty="0"/>
          </a:p>
          <a:p>
            <a:pPr marL="342900" indent="-342900">
              <a:spcAft>
                <a:spcPts val="400"/>
              </a:spcAft>
              <a:buSzPct val="100000"/>
              <a:buChar char="•"/>
            </a:pPr>
            <a:r>
              <a:rPr lang="en-US" sz="1200" dirty="0">
                <a:solidFill>
                  <a:srgbClr val="4A5568"/>
                </a:solidFill>
              </a:rPr>
              <a:t>Tests whether Flow agent self-explores without being forced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6AE2D"/>
          </a:solidFill>
          <a:ln w="12700">
            <a:solidFill>
              <a:srgbClr val="F6AE2D"/>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RESULTS</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800" b="1" dirty="0">
                <a:solidFill>
                  <a:srgbClr val="FFFFFF"/>
                </a:solidFill>
              </a:rPr>
              <a:t>Key Results &amp; Findings</a:t>
            </a:r>
            <a:endParaRPr lang="en-US" sz="2800" dirty="0"/>
          </a:p>
        </p:txBody>
      </p:sp>
      <p:sp>
        <p:nvSpPr>
          <p:cNvPr id="6" name="Shape 4"/>
          <p:cNvSpPr/>
          <p:nvPr/>
        </p:nvSpPr>
        <p:spPr>
          <a:xfrm>
            <a:off x="274320" y="1143000"/>
            <a:ext cx="1554480" cy="1005840"/>
          </a:xfrm>
          <a:prstGeom prst="rect">
            <a:avLst/>
          </a:prstGeom>
          <a:solidFill>
            <a:srgbClr val="0E7C7B">
              <a:alpha val="30000"/>
            </a:srgbClr>
          </a:solidFill>
          <a:ln w="12700">
            <a:solidFill>
              <a:srgbClr val="14A5A4"/>
            </a:solidFill>
            <a:prstDash val="solid"/>
          </a:ln>
          <a:effectLst>
            <a:outerShdw blurRad="101600" dist="38100" dir="8100000" algn="bl" rotWithShape="0">
              <a:srgbClr val="000000">
                <a:alpha val="18000"/>
              </a:srgbClr>
            </a:outerShdw>
          </a:effectLst>
        </p:spPr>
      </p:sp>
      <p:sp>
        <p:nvSpPr>
          <p:cNvPr id="7" name="Text 5"/>
          <p:cNvSpPr/>
          <p:nvPr/>
        </p:nvSpPr>
        <p:spPr>
          <a:xfrm>
            <a:off x="274320" y="1188720"/>
            <a:ext cx="1554480" cy="502920"/>
          </a:xfrm>
          <a:prstGeom prst="rect">
            <a:avLst/>
          </a:prstGeom>
          <a:noFill/>
          <a:ln/>
        </p:spPr>
        <p:txBody>
          <a:bodyPr wrap="square" rtlCol="0" anchor="ctr"/>
          <a:lstStyle/>
          <a:p>
            <a:pPr marL="0" indent="0" algn="ctr">
              <a:buNone/>
            </a:pPr>
            <a:r>
              <a:rPr lang="en-US" sz="1800" b="1" dirty="0">
                <a:solidFill>
                  <a:srgbClr val="F6AE2D"/>
                </a:solidFill>
              </a:rPr>
              <a:t>p &lt; 0.05</a:t>
            </a:r>
            <a:endParaRPr lang="en-US" sz="1800" dirty="0"/>
          </a:p>
        </p:txBody>
      </p:sp>
      <p:sp>
        <p:nvSpPr>
          <p:cNvPr id="8" name="Text 6"/>
          <p:cNvSpPr/>
          <p:nvPr/>
        </p:nvSpPr>
        <p:spPr>
          <a:xfrm>
            <a:off x="274320" y="1719072"/>
            <a:ext cx="1554480" cy="384048"/>
          </a:xfrm>
          <a:prstGeom prst="rect">
            <a:avLst/>
          </a:prstGeom>
          <a:noFill/>
          <a:ln/>
        </p:spPr>
        <p:txBody>
          <a:bodyPr wrap="square" rtlCol="0" anchor="ctr"/>
          <a:lstStyle/>
          <a:p>
            <a:pPr marL="0" indent="0" algn="ctr">
              <a:buNone/>
            </a:pPr>
            <a:r>
              <a:rPr lang="en-US" sz="950" dirty="0">
                <a:solidFill>
                  <a:srgbClr val="D8EFFE"/>
                </a:solidFill>
              </a:rPr>
              <a:t>Flow faster than</a:t>
            </a:r>
            <a:endParaRPr lang="en-US" sz="950" dirty="0"/>
          </a:p>
          <a:p>
            <a:pPr marL="0" indent="0" algn="ctr">
              <a:buNone/>
            </a:pPr>
            <a:r>
              <a:rPr lang="en-US" sz="950" dirty="0">
                <a:solidFill>
                  <a:srgbClr val="D8EFFE"/>
                </a:solidFill>
              </a:rPr>
              <a:t>Traditional RL</a:t>
            </a:r>
            <a:endParaRPr lang="en-US" sz="950" dirty="0"/>
          </a:p>
        </p:txBody>
      </p:sp>
      <p:sp>
        <p:nvSpPr>
          <p:cNvPr id="9" name="Shape 7"/>
          <p:cNvSpPr/>
          <p:nvPr/>
        </p:nvSpPr>
        <p:spPr>
          <a:xfrm>
            <a:off x="2011680" y="1143000"/>
            <a:ext cx="1554480" cy="1005840"/>
          </a:xfrm>
          <a:prstGeom prst="rect">
            <a:avLst/>
          </a:prstGeom>
          <a:solidFill>
            <a:srgbClr val="0E7C7B">
              <a:alpha val="30000"/>
            </a:srgbClr>
          </a:solidFill>
          <a:ln w="12700">
            <a:solidFill>
              <a:srgbClr val="14A5A4"/>
            </a:solidFill>
            <a:prstDash val="solid"/>
          </a:ln>
          <a:effectLst>
            <a:outerShdw blurRad="101600" dist="38100" dir="8100000" algn="bl" rotWithShape="0">
              <a:srgbClr val="000000">
                <a:alpha val="18000"/>
              </a:srgbClr>
            </a:outerShdw>
          </a:effectLst>
        </p:spPr>
      </p:sp>
      <p:sp>
        <p:nvSpPr>
          <p:cNvPr id="10" name="Text 8"/>
          <p:cNvSpPr/>
          <p:nvPr/>
        </p:nvSpPr>
        <p:spPr>
          <a:xfrm>
            <a:off x="2011680" y="1188720"/>
            <a:ext cx="1554480" cy="502920"/>
          </a:xfrm>
          <a:prstGeom prst="rect">
            <a:avLst/>
          </a:prstGeom>
          <a:noFill/>
          <a:ln/>
        </p:spPr>
        <p:txBody>
          <a:bodyPr wrap="square" rtlCol="0" anchor="ctr"/>
          <a:lstStyle/>
          <a:p>
            <a:pPr marL="0" indent="0" algn="ctr">
              <a:buNone/>
            </a:pPr>
            <a:r>
              <a:rPr lang="en-US" sz="1800" b="1" dirty="0">
                <a:solidFill>
                  <a:srgbClr val="F6AE2D"/>
                </a:solidFill>
              </a:rPr>
              <a:t>p &lt; 0.05</a:t>
            </a:r>
            <a:endParaRPr lang="en-US" sz="1800" dirty="0"/>
          </a:p>
        </p:txBody>
      </p:sp>
      <p:sp>
        <p:nvSpPr>
          <p:cNvPr id="11" name="Text 9"/>
          <p:cNvSpPr/>
          <p:nvPr/>
        </p:nvSpPr>
        <p:spPr>
          <a:xfrm>
            <a:off x="2011680" y="1719072"/>
            <a:ext cx="1554480" cy="384048"/>
          </a:xfrm>
          <a:prstGeom prst="rect">
            <a:avLst/>
          </a:prstGeom>
          <a:noFill/>
          <a:ln/>
        </p:spPr>
        <p:txBody>
          <a:bodyPr wrap="square" rtlCol="0" anchor="ctr"/>
          <a:lstStyle/>
          <a:p>
            <a:pPr marL="0" indent="0" algn="ctr">
              <a:buNone/>
            </a:pPr>
            <a:r>
              <a:rPr lang="en-US" sz="950" dirty="0">
                <a:solidFill>
                  <a:srgbClr val="D8EFFE"/>
                </a:solidFill>
              </a:rPr>
              <a:t>Flow faster than</a:t>
            </a:r>
            <a:endParaRPr lang="en-US" sz="950" dirty="0"/>
          </a:p>
          <a:p>
            <a:pPr marL="0" indent="0" algn="ctr">
              <a:buNone/>
            </a:pPr>
            <a:r>
              <a:rPr lang="en-US" sz="950" dirty="0">
                <a:solidFill>
                  <a:srgbClr val="D8EFFE"/>
                </a:solidFill>
              </a:rPr>
              <a:t>Incremental RL</a:t>
            </a:r>
            <a:endParaRPr lang="en-US" sz="950" dirty="0"/>
          </a:p>
        </p:txBody>
      </p:sp>
      <p:sp>
        <p:nvSpPr>
          <p:cNvPr id="12" name="Shape 10"/>
          <p:cNvSpPr/>
          <p:nvPr/>
        </p:nvSpPr>
        <p:spPr>
          <a:xfrm>
            <a:off x="3749040" y="1143000"/>
            <a:ext cx="1554480" cy="1005840"/>
          </a:xfrm>
          <a:prstGeom prst="rect">
            <a:avLst/>
          </a:prstGeom>
          <a:solidFill>
            <a:srgbClr val="0E7C7B">
              <a:alpha val="30000"/>
            </a:srgbClr>
          </a:solidFill>
          <a:ln w="12700">
            <a:solidFill>
              <a:srgbClr val="14A5A4"/>
            </a:solidFill>
            <a:prstDash val="solid"/>
          </a:ln>
          <a:effectLst>
            <a:outerShdw blurRad="101600" dist="38100" dir="8100000" algn="bl" rotWithShape="0">
              <a:srgbClr val="000000">
                <a:alpha val="18000"/>
              </a:srgbClr>
            </a:outerShdw>
          </a:effectLst>
        </p:spPr>
      </p:sp>
      <p:sp>
        <p:nvSpPr>
          <p:cNvPr id="13" name="Text 11"/>
          <p:cNvSpPr/>
          <p:nvPr/>
        </p:nvSpPr>
        <p:spPr>
          <a:xfrm>
            <a:off x="3749040" y="1188720"/>
            <a:ext cx="1554480" cy="502920"/>
          </a:xfrm>
          <a:prstGeom prst="rect">
            <a:avLst/>
          </a:prstGeom>
          <a:noFill/>
          <a:ln/>
        </p:spPr>
        <p:txBody>
          <a:bodyPr wrap="square" rtlCol="0" anchor="ctr"/>
          <a:lstStyle/>
          <a:p>
            <a:pPr marL="0" indent="0" algn="ctr">
              <a:buNone/>
            </a:pPr>
            <a:r>
              <a:rPr lang="en-US" sz="1800" b="1" dirty="0">
                <a:solidFill>
                  <a:srgbClr val="F6AE2D"/>
                </a:solidFill>
              </a:rPr>
              <a:t>~0</a:t>
            </a:r>
            <a:endParaRPr lang="en-US" sz="1800" dirty="0"/>
          </a:p>
        </p:txBody>
      </p:sp>
      <p:sp>
        <p:nvSpPr>
          <p:cNvPr id="14" name="Text 12"/>
          <p:cNvSpPr/>
          <p:nvPr/>
        </p:nvSpPr>
        <p:spPr>
          <a:xfrm>
            <a:off x="3749040" y="1719072"/>
            <a:ext cx="1554480" cy="384048"/>
          </a:xfrm>
          <a:prstGeom prst="rect">
            <a:avLst/>
          </a:prstGeom>
          <a:noFill/>
          <a:ln/>
        </p:spPr>
        <p:txBody>
          <a:bodyPr wrap="square" rtlCol="0" anchor="ctr"/>
          <a:lstStyle/>
          <a:p>
            <a:pPr marL="0" indent="0" algn="ctr">
              <a:buNone/>
            </a:pPr>
            <a:r>
              <a:rPr lang="en-US" sz="950" dirty="0">
                <a:solidFill>
                  <a:srgbClr val="D8EFFE"/>
                </a:solidFill>
              </a:rPr>
              <a:t>Boredom value</a:t>
            </a:r>
            <a:endParaRPr lang="en-US" sz="950" dirty="0"/>
          </a:p>
          <a:p>
            <a:pPr marL="0" indent="0" algn="ctr">
              <a:buNone/>
            </a:pPr>
            <a:r>
              <a:rPr lang="en-US" sz="950" dirty="0">
                <a:solidFill>
                  <a:srgbClr val="D8EFFE"/>
                </a:solidFill>
              </a:rPr>
              <a:t>at full novelty</a:t>
            </a:r>
            <a:endParaRPr lang="en-US" sz="950" dirty="0"/>
          </a:p>
        </p:txBody>
      </p:sp>
      <p:sp>
        <p:nvSpPr>
          <p:cNvPr id="15" name="Shape 13"/>
          <p:cNvSpPr/>
          <p:nvPr/>
        </p:nvSpPr>
        <p:spPr>
          <a:xfrm>
            <a:off x="5486400" y="1143000"/>
            <a:ext cx="1554480" cy="1005840"/>
          </a:xfrm>
          <a:prstGeom prst="rect">
            <a:avLst/>
          </a:prstGeom>
          <a:solidFill>
            <a:srgbClr val="0E7C7B">
              <a:alpha val="30000"/>
            </a:srgbClr>
          </a:solidFill>
          <a:ln w="12700">
            <a:solidFill>
              <a:srgbClr val="14A5A4"/>
            </a:solidFill>
            <a:prstDash val="solid"/>
          </a:ln>
          <a:effectLst>
            <a:outerShdw blurRad="101600" dist="38100" dir="8100000" algn="bl" rotWithShape="0">
              <a:srgbClr val="000000">
                <a:alpha val="18000"/>
              </a:srgbClr>
            </a:outerShdw>
          </a:effectLst>
        </p:spPr>
      </p:sp>
      <p:sp>
        <p:nvSpPr>
          <p:cNvPr id="16" name="Text 14"/>
          <p:cNvSpPr/>
          <p:nvPr/>
        </p:nvSpPr>
        <p:spPr>
          <a:xfrm>
            <a:off x="5486400" y="1188720"/>
            <a:ext cx="1554480" cy="502920"/>
          </a:xfrm>
          <a:prstGeom prst="rect">
            <a:avLst/>
          </a:prstGeom>
          <a:noFill/>
          <a:ln/>
        </p:spPr>
        <p:txBody>
          <a:bodyPr wrap="square" rtlCol="0" anchor="ctr"/>
          <a:lstStyle/>
          <a:p>
            <a:pPr marL="0" indent="0" algn="ctr">
              <a:buNone/>
            </a:pPr>
            <a:r>
              <a:rPr lang="en-US" sz="1800" b="1" dirty="0">
                <a:solidFill>
                  <a:srgbClr val="F6AE2D"/>
                </a:solidFill>
              </a:rPr>
              <a:t>−1</a:t>
            </a:r>
            <a:endParaRPr lang="en-US" sz="1800" dirty="0"/>
          </a:p>
        </p:txBody>
      </p:sp>
      <p:sp>
        <p:nvSpPr>
          <p:cNvPr id="17" name="Text 15"/>
          <p:cNvSpPr/>
          <p:nvPr/>
        </p:nvSpPr>
        <p:spPr>
          <a:xfrm>
            <a:off x="5486400" y="1719072"/>
            <a:ext cx="1554480" cy="384048"/>
          </a:xfrm>
          <a:prstGeom prst="rect">
            <a:avLst/>
          </a:prstGeom>
          <a:noFill/>
          <a:ln/>
        </p:spPr>
        <p:txBody>
          <a:bodyPr wrap="square" rtlCol="0" anchor="ctr"/>
          <a:lstStyle/>
          <a:p>
            <a:pPr marL="0" indent="0" algn="ctr">
              <a:buNone/>
            </a:pPr>
            <a:r>
              <a:rPr lang="en-US" sz="950" dirty="0">
                <a:solidFill>
                  <a:srgbClr val="D8EFFE"/>
                </a:solidFill>
              </a:rPr>
              <a:t>Boredom threshold</a:t>
            </a:r>
            <a:endParaRPr lang="en-US" sz="950" dirty="0"/>
          </a:p>
          <a:p>
            <a:pPr marL="0" indent="0" algn="ctr">
              <a:buNone/>
            </a:pPr>
            <a:r>
              <a:rPr lang="en-US" sz="950" dirty="0">
                <a:solidFill>
                  <a:srgbClr val="D8EFFE"/>
                </a:solidFill>
              </a:rPr>
              <a:t>for escalation</a:t>
            </a:r>
            <a:endParaRPr lang="en-US" sz="950" dirty="0"/>
          </a:p>
        </p:txBody>
      </p:sp>
      <p:sp>
        <p:nvSpPr>
          <p:cNvPr id="18" name="Shape 16"/>
          <p:cNvSpPr/>
          <p:nvPr/>
        </p:nvSpPr>
        <p:spPr>
          <a:xfrm>
            <a:off x="7223760" y="1143000"/>
            <a:ext cx="1554480" cy="1005840"/>
          </a:xfrm>
          <a:prstGeom prst="rect">
            <a:avLst/>
          </a:prstGeom>
          <a:solidFill>
            <a:srgbClr val="0E7C7B">
              <a:alpha val="30000"/>
            </a:srgbClr>
          </a:solidFill>
          <a:ln w="12700">
            <a:solidFill>
              <a:srgbClr val="14A5A4"/>
            </a:solidFill>
            <a:prstDash val="solid"/>
          </a:ln>
          <a:effectLst>
            <a:outerShdw blurRad="101600" dist="38100" dir="8100000" algn="bl" rotWithShape="0">
              <a:srgbClr val="000000">
                <a:alpha val="18000"/>
              </a:srgbClr>
            </a:outerShdw>
          </a:effectLst>
        </p:spPr>
      </p:sp>
      <p:sp>
        <p:nvSpPr>
          <p:cNvPr id="19" name="Text 17"/>
          <p:cNvSpPr/>
          <p:nvPr/>
        </p:nvSpPr>
        <p:spPr>
          <a:xfrm>
            <a:off x="7223760" y="1188720"/>
            <a:ext cx="1554480" cy="502920"/>
          </a:xfrm>
          <a:prstGeom prst="rect">
            <a:avLst/>
          </a:prstGeom>
          <a:noFill/>
          <a:ln/>
        </p:spPr>
        <p:txBody>
          <a:bodyPr wrap="square" rtlCol="0" anchor="ctr"/>
          <a:lstStyle/>
          <a:p>
            <a:pPr marL="0" indent="0" algn="ctr">
              <a:buNone/>
            </a:pPr>
            <a:r>
              <a:rPr lang="en-US" sz="1800" b="1" dirty="0">
                <a:solidFill>
                  <a:srgbClr val="F6AE2D"/>
                </a:solidFill>
              </a:rPr>
              <a:t>50</a:t>
            </a:r>
            <a:endParaRPr lang="en-US" sz="1800" dirty="0"/>
          </a:p>
        </p:txBody>
      </p:sp>
      <p:sp>
        <p:nvSpPr>
          <p:cNvPr id="20" name="Text 18"/>
          <p:cNvSpPr/>
          <p:nvPr/>
        </p:nvSpPr>
        <p:spPr>
          <a:xfrm>
            <a:off x="7223760" y="1719072"/>
            <a:ext cx="1554480" cy="384048"/>
          </a:xfrm>
          <a:prstGeom prst="rect">
            <a:avLst/>
          </a:prstGeom>
          <a:noFill/>
          <a:ln/>
        </p:spPr>
        <p:txBody>
          <a:bodyPr wrap="square" rtlCol="0" anchor="ctr"/>
          <a:lstStyle/>
          <a:p>
            <a:pPr marL="0" indent="0" algn="ctr">
              <a:buNone/>
            </a:pPr>
            <a:r>
              <a:rPr lang="en-US" sz="950" dirty="0">
                <a:solidFill>
                  <a:srgbClr val="D8EFFE"/>
                </a:solidFill>
              </a:rPr>
              <a:t>Challenge levels</a:t>
            </a:r>
            <a:endParaRPr lang="en-US" sz="950" dirty="0"/>
          </a:p>
          <a:p>
            <a:pPr marL="0" indent="0" algn="ctr">
              <a:buNone/>
            </a:pPr>
            <a:r>
              <a:rPr lang="en-US" sz="950" dirty="0">
                <a:solidFill>
                  <a:srgbClr val="D8EFFE"/>
                </a:solidFill>
              </a:rPr>
              <a:t>per environment</a:t>
            </a:r>
            <a:endParaRPr lang="en-US" sz="950" dirty="0"/>
          </a:p>
        </p:txBody>
      </p:sp>
      <p:sp>
        <p:nvSpPr>
          <p:cNvPr id="21" name="Shape 19"/>
          <p:cNvSpPr/>
          <p:nvPr/>
        </p:nvSpPr>
        <p:spPr>
          <a:xfrm>
            <a:off x="502920" y="2331720"/>
            <a:ext cx="3886200" cy="1188720"/>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22" name="Shape 20"/>
          <p:cNvSpPr/>
          <p:nvPr/>
        </p:nvSpPr>
        <p:spPr>
          <a:xfrm>
            <a:off x="502920" y="2331720"/>
            <a:ext cx="64008" cy="1188720"/>
          </a:xfrm>
          <a:prstGeom prst="rect">
            <a:avLst/>
          </a:prstGeom>
          <a:solidFill>
            <a:srgbClr val="F6AE2D"/>
          </a:solidFill>
          <a:ln w="12700">
            <a:solidFill>
              <a:srgbClr val="F6AE2D"/>
            </a:solidFill>
            <a:prstDash val="solid"/>
          </a:ln>
        </p:spPr>
      </p:sp>
      <p:sp>
        <p:nvSpPr>
          <p:cNvPr id="23" name="Text 21"/>
          <p:cNvSpPr/>
          <p:nvPr/>
        </p:nvSpPr>
        <p:spPr>
          <a:xfrm>
            <a:off x="667512" y="2423160"/>
            <a:ext cx="3566160" cy="320040"/>
          </a:xfrm>
          <a:prstGeom prst="rect">
            <a:avLst/>
          </a:prstGeom>
          <a:noFill/>
          <a:ln/>
        </p:spPr>
        <p:txBody>
          <a:bodyPr wrap="square" rtlCol="0" anchor="ctr"/>
          <a:lstStyle/>
          <a:p>
            <a:pPr marL="0" indent="0">
              <a:buNone/>
            </a:pPr>
            <a:r>
              <a:rPr lang="en-US" sz="1200" b="1" dirty="0">
                <a:solidFill>
                  <a:srgbClr val="F6AE2D"/>
                </a:solidFill>
              </a:rPr>
              <a:t>Maze Navigation</a:t>
            </a:r>
            <a:endParaRPr lang="en-US" sz="1200" dirty="0"/>
          </a:p>
        </p:txBody>
      </p:sp>
      <p:sp>
        <p:nvSpPr>
          <p:cNvPr id="24" name="Text 22"/>
          <p:cNvSpPr/>
          <p:nvPr/>
        </p:nvSpPr>
        <p:spPr>
          <a:xfrm>
            <a:off x="667512" y="2770632"/>
            <a:ext cx="3566160" cy="694944"/>
          </a:xfrm>
          <a:prstGeom prst="rect">
            <a:avLst/>
          </a:prstGeom>
          <a:noFill/>
          <a:ln/>
        </p:spPr>
        <p:txBody>
          <a:bodyPr wrap="square" rtlCol="0" anchor="ctr"/>
          <a:lstStyle/>
          <a:p>
            <a:pPr marL="0" indent="0">
              <a:buNone/>
            </a:pPr>
            <a:r>
              <a:rPr lang="en-US" sz="1050" dirty="0">
                <a:solidFill>
                  <a:srgbClr val="D8EFFE"/>
                </a:solidFill>
              </a:rPr>
              <a:t>Flow-based RL significantly outperformed traditional RL (p = 3.09e-24) and incremental RL (p = 8.27e-04) in total time taken. Traditional RL becomes increasingly slower after challenge level 20.</a:t>
            </a:r>
            <a:endParaRPr lang="en-US" sz="1050" dirty="0"/>
          </a:p>
        </p:txBody>
      </p:sp>
      <p:sp>
        <p:nvSpPr>
          <p:cNvPr id="25" name="Shape 23"/>
          <p:cNvSpPr/>
          <p:nvPr/>
        </p:nvSpPr>
        <p:spPr>
          <a:xfrm>
            <a:off x="4800600" y="2331720"/>
            <a:ext cx="3886200" cy="1188720"/>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26" name="Shape 24"/>
          <p:cNvSpPr/>
          <p:nvPr/>
        </p:nvSpPr>
        <p:spPr>
          <a:xfrm>
            <a:off x="4800600" y="2331720"/>
            <a:ext cx="64008" cy="1188720"/>
          </a:xfrm>
          <a:prstGeom prst="rect">
            <a:avLst/>
          </a:prstGeom>
          <a:solidFill>
            <a:srgbClr val="F6AE2D"/>
          </a:solidFill>
          <a:ln w="12700">
            <a:solidFill>
              <a:srgbClr val="F6AE2D"/>
            </a:solidFill>
            <a:prstDash val="solid"/>
          </a:ln>
        </p:spPr>
      </p:sp>
      <p:sp>
        <p:nvSpPr>
          <p:cNvPr id="27" name="Text 25"/>
          <p:cNvSpPr/>
          <p:nvPr/>
        </p:nvSpPr>
        <p:spPr>
          <a:xfrm>
            <a:off x="4965192" y="2423160"/>
            <a:ext cx="3566160" cy="320040"/>
          </a:xfrm>
          <a:prstGeom prst="rect">
            <a:avLst/>
          </a:prstGeom>
          <a:noFill/>
          <a:ln/>
        </p:spPr>
        <p:txBody>
          <a:bodyPr wrap="square" rtlCol="0" anchor="ctr"/>
          <a:lstStyle/>
          <a:p>
            <a:pPr marL="0" indent="0">
              <a:buNone/>
            </a:pPr>
            <a:r>
              <a:rPr lang="en-US" sz="1200" b="1" dirty="0">
                <a:solidFill>
                  <a:srgbClr val="F6AE2D"/>
                </a:solidFill>
              </a:rPr>
              <a:t>Reward Collection</a:t>
            </a:r>
            <a:endParaRPr lang="en-US" sz="1200" dirty="0"/>
          </a:p>
        </p:txBody>
      </p:sp>
      <p:sp>
        <p:nvSpPr>
          <p:cNvPr id="28" name="Text 26"/>
          <p:cNvSpPr/>
          <p:nvPr/>
        </p:nvSpPr>
        <p:spPr>
          <a:xfrm>
            <a:off x="4965192" y="2770632"/>
            <a:ext cx="3566160" cy="694944"/>
          </a:xfrm>
          <a:prstGeom prst="rect">
            <a:avLst/>
          </a:prstGeom>
          <a:noFill/>
          <a:ln/>
        </p:spPr>
        <p:txBody>
          <a:bodyPr wrap="square" rtlCol="0" anchor="ctr"/>
          <a:lstStyle/>
          <a:p>
            <a:pPr marL="0" indent="0">
              <a:buNone/>
            </a:pPr>
            <a:r>
              <a:rPr lang="en-US" sz="1050" dirty="0">
                <a:solidFill>
                  <a:srgbClr val="D8EFFE"/>
                </a:solidFill>
              </a:rPr>
              <a:t>Flow-based RL collected significantly higher total rewards than both traditional RL (p = 0.0) and incremental RL (p = 0.0). The incremental model overfits and misses higher-reward channels.</a:t>
            </a:r>
            <a:endParaRPr lang="en-US" sz="1050" dirty="0"/>
          </a:p>
        </p:txBody>
      </p:sp>
      <p:sp>
        <p:nvSpPr>
          <p:cNvPr id="29" name="Shape 27"/>
          <p:cNvSpPr/>
          <p:nvPr/>
        </p:nvSpPr>
        <p:spPr>
          <a:xfrm>
            <a:off x="502920" y="3685032"/>
            <a:ext cx="3886200" cy="1188720"/>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30" name="Shape 28"/>
          <p:cNvSpPr/>
          <p:nvPr/>
        </p:nvSpPr>
        <p:spPr>
          <a:xfrm>
            <a:off x="502920" y="3685032"/>
            <a:ext cx="64008" cy="1188720"/>
          </a:xfrm>
          <a:prstGeom prst="rect">
            <a:avLst/>
          </a:prstGeom>
          <a:solidFill>
            <a:srgbClr val="F6AE2D"/>
          </a:solidFill>
          <a:ln w="12700">
            <a:solidFill>
              <a:srgbClr val="F6AE2D"/>
            </a:solidFill>
            <a:prstDash val="solid"/>
          </a:ln>
        </p:spPr>
      </p:sp>
      <p:sp>
        <p:nvSpPr>
          <p:cNvPr id="31" name="Text 29"/>
          <p:cNvSpPr/>
          <p:nvPr/>
        </p:nvSpPr>
        <p:spPr>
          <a:xfrm>
            <a:off x="667512" y="3776472"/>
            <a:ext cx="3566160" cy="320040"/>
          </a:xfrm>
          <a:prstGeom prst="rect">
            <a:avLst/>
          </a:prstGeom>
          <a:noFill/>
          <a:ln/>
        </p:spPr>
        <p:txBody>
          <a:bodyPr wrap="square" rtlCol="0" anchor="ctr"/>
          <a:lstStyle/>
          <a:p>
            <a:pPr marL="0" indent="0">
              <a:buNone/>
            </a:pPr>
            <a:r>
              <a:rPr lang="en-US" sz="1200" b="1" dirty="0">
                <a:solidFill>
                  <a:srgbClr val="F6AE2D"/>
                </a:solidFill>
              </a:rPr>
              <a:t>Dynamic Scenarios</a:t>
            </a:r>
            <a:endParaRPr lang="en-US" sz="1200" dirty="0"/>
          </a:p>
        </p:txBody>
      </p:sp>
      <p:sp>
        <p:nvSpPr>
          <p:cNvPr id="32" name="Text 30"/>
          <p:cNvSpPr/>
          <p:nvPr/>
        </p:nvSpPr>
        <p:spPr>
          <a:xfrm>
            <a:off x="667512" y="4123944"/>
            <a:ext cx="3566160" cy="694944"/>
          </a:xfrm>
          <a:prstGeom prst="rect">
            <a:avLst/>
          </a:prstGeom>
          <a:noFill/>
          <a:ln/>
        </p:spPr>
        <p:txBody>
          <a:bodyPr wrap="square" rtlCol="0" anchor="ctr"/>
          <a:lstStyle/>
          <a:p>
            <a:pPr marL="0" indent="0">
              <a:buNone/>
            </a:pPr>
            <a:r>
              <a:rPr lang="en-US" sz="1050" dirty="0">
                <a:solidFill>
                  <a:srgbClr val="D8EFFE"/>
                </a:solidFill>
              </a:rPr>
              <a:t>When obstacles/channels were removed in reverse or random order after level 50, the Flow model adapted and maintained performance. Traditional RL was unable to find shorter paths — it had overfitted.</a:t>
            </a:r>
            <a:endParaRPr lang="en-US" sz="1050" dirty="0"/>
          </a:p>
        </p:txBody>
      </p:sp>
      <p:sp>
        <p:nvSpPr>
          <p:cNvPr id="33" name="Shape 31"/>
          <p:cNvSpPr/>
          <p:nvPr/>
        </p:nvSpPr>
        <p:spPr>
          <a:xfrm>
            <a:off x="4800600" y="3685032"/>
            <a:ext cx="3886200" cy="1188720"/>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34" name="Shape 32"/>
          <p:cNvSpPr/>
          <p:nvPr/>
        </p:nvSpPr>
        <p:spPr>
          <a:xfrm>
            <a:off x="4800600" y="3685032"/>
            <a:ext cx="64008" cy="1188720"/>
          </a:xfrm>
          <a:prstGeom prst="rect">
            <a:avLst/>
          </a:prstGeom>
          <a:solidFill>
            <a:srgbClr val="F6AE2D"/>
          </a:solidFill>
          <a:ln w="12700">
            <a:solidFill>
              <a:srgbClr val="F6AE2D"/>
            </a:solidFill>
            <a:prstDash val="solid"/>
          </a:ln>
        </p:spPr>
      </p:sp>
      <p:sp>
        <p:nvSpPr>
          <p:cNvPr id="35" name="Text 33"/>
          <p:cNvSpPr/>
          <p:nvPr/>
        </p:nvSpPr>
        <p:spPr>
          <a:xfrm>
            <a:off x="4965192" y="3776472"/>
            <a:ext cx="3566160" cy="320040"/>
          </a:xfrm>
          <a:prstGeom prst="rect">
            <a:avLst/>
          </a:prstGeom>
          <a:noFill/>
          <a:ln/>
        </p:spPr>
        <p:txBody>
          <a:bodyPr wrap="square" rtlCol="0" anchor="ctr"/>
          <a:lstStyle/>
          <a:p>
            <a:pPr marL="0" indent="0">
              <a:buNone/>
            </a:pPr>
            <a:r>
              <a:rPr lang="en-US" sz="1200" b="1" dirty="0">
                <a:solidFill>
                  <a:srgbClr val="F6AE2D"/>
                </a:solidFill>
              </a:rPr>
              <a:t>Generalisation</a:t>
            </a:r>
            <a:endParaRPr lang="en-US" sz="1200" dirty="0"/>
          </a:p>
        </p:txBody>
      </p:sp>
      <p:sp>
        <p:nvSpPr>
          <p:cNvPr id="36" name="Text 34"/>
          <p:cNvSpPr/>
          <p:nvPr/>
        </p:nvSpPr>
        <p:spPr>
          <a:xfrm>
            <a:off x="4965192" y="4123944"/>
            <a:ext cx="3566160" cy="694944"/>
          </a:xfrm>
          <a:prstGeom prst="rect">
            <a:avLst/>
          </a:prstGeom>
          <a:noFill/>
          <a:ln/>
        </p:spPr>
        <p:txBody>
          <a:bodyPr wrap="square" rtlCol="0" anchor="ctr"/>
          <a:lstStyle/>
          <a:p>
            <a:pPr marL="0" indent="0">
              <a:buNone/>
            </a:pPr>
            <a:r>
              <a:rPr lang="en-US" sz="1050" dirty="0">
                <a:solidFill>
                  <a:srgbClr val="D8EFFE"/>
                </a:solidFill>
              </a:rPr>
              <a:t>Flow and incremental models maintained shorter paths even when obstacles were randomly placed — showing genuine generalised skills, not memorised routes.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PROJECT</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800" b="1" dirty="0">
                <a:solidFill>
                  <a:srgbClr val="0D1B2A"/>
                </a:solidFill>
              </a:rPr>
              <a:t>DocuSense AI — Project Overview</a:t>
            </a:r>
            <a:endParaRPr lang="en-US" sz="2800" dirty="0"/>
          </a:p>
        </p:txBody>
      </p:sp>
      <p:sp>
        <p:nvSpPr>
          <p:cNvPr id="6" name="Text 4"/>
          <p:cNvSpPr/>
          <p:nvPr/>
        </p:nvSpPr>
        <p:spPr>
          <a:xfrm>
            <a:off x="502920" y="1143000"/>
            <a:ext cx="3931920" cy="347472"/>
          </a:xfrm>
          <a:prstGeom prst="rect">
            <a:avLst/>
          </a:prstGeom>
          <a:noFill/>
          <a:ln/>
        </p:spPr>
        <p:txBody>
          <a:bodyPr wrap="square" rtlCol="0" anchor="ctr"/>
          <a:lstStyle/>
          <a:p>
            <a:pPr marL="0" indent="0">
              <a:buNone/>
            </a:pPr>
            <a:r>
              <a:rPr lang="en-US" sz="1500" b="1" dirty="0">
                <a:solidFill>
                  <a:srgbClr val="0E7C7B"/>
                </a:solidFill>
              </a:rPr>
              <a:t>What is DocuSense AI?</a:t>
            </a:r>
            <a:endParaRPr lang="en-US" sz="1500" dirty="0"/>
          </a:p>
        </p:txBody>
      </p:sp>
      <p:sp>
        <p:nvSpPr>
          <p:cNvPr id="7" name="Text 5"/>
          <p:cNvSpPr/>
          <p:nvPr/>
        </p:nvSpPr>
        <p:spPr>
          <a:xfrm>
            <a:off x="502920" y="1554480"/>
            <a:ext cx="3931920" cy="1371600"/>
          </a:xfrm>
          <a:prstGeom prst="rect">
            <a:avLst/>
          </a:prstGeom>
          <a:noFill/>
          <a:ln/>
        </p:spPr>
        <p:txBody>
          <a:bodyPr wrap="square" rtlCol="0" anchor="ctr"/>
          <a:lstStyle/>
          <a:p>
            <a:pPr marL="0" indent="0">
              <a:buNone/>
            </a:pPr>
            <a:r>
              <a:rPr lang="en-US" sz="1200" dirty="0">
                <a:solidFill>
                  <a:srgbClr val="4A5568"/>
                </a:solidFill>
              </a:rPr>
              <a:t>DocuSense AI is a Semantic Document Intelligence system built in Python. It allows users to upload any PDF and query it using conversational natural language. The system retrieves the most contextually relevant passages using a multi-stage neural pipeline — not simple keyword matching.</a:t>
            </a:r>
            <a:endParaRPr lang="en-US" sz="1200" dirty="0"/>
          </a:p>
        </p:txBody>
      </p:sp>
      <p:sp>
        <p:nvSpPr>
          <p:cNvPr id="8" name="Text 6"/>
          <p:cNvSpPr/>
          <p:nvPr/>
        </p:nvSpPr>
        <p:spPr>
          <a:xfrm>
            <a:off x="502920" y="3017520"/>
            <a:ext cx="3931920" cy="347472"/>
          </a:xfrm>
          <a:prstGeom prst="rect">
            <a:avLst/>
          </a:prstGeom>
          <a:noFill/>
          <a:ln/>
        </p:spPr>
        <p:txBody>
          <a:bodyPr wrap="square" rtlCol="0" anchor="ctr"/>
          <a:lstStyle/>
          <a:p>
            <a:pPr marL="0" indent="0">
              <a:buNone/>
            </a:pPr>
            <a:r>
              <a:rPr lang="en-US" sz="1400" b="1" dirty="0">
                <a:solidFill>
                  <a:srgbClr val="0D1B2A"/>
                </a:solidFill>
              </a:rPr>
              <a:t>Technology Stack</a:t>
            </a:r>
            <a:endParaRPr lang="en-US" sz="1400" dirty="0"/>
          </a:p>
        </p:txBody>
      </p:sp>
      <p:sp>
        <p:nvSpPr>
          <p:cNvPr id="9" name="Shape 7"/>
          <p:cNvSpPr/>
          <p:nvPr/>
        </p:nvSpPr>
        <p:spPr>
          <a:xfrm>
            <a:off x="502920" y="3456432"/>
            <a:ext cx="3886200" cy="237744"/>
          </a:xfrm>
          <a:prstGeom prst="rect">
            <a:avLst/>
          </a:prstGeom>
          <a:solidFill>
            <a:srgbClr val="D8EFFE"/>
          </a:solidFill>
          <a:ln w="12700">
            <a:solidFill>
              <a:srgbClr val="E2E8F0"/>
            </a:solidFill>
            <a:prstDash val="solid"/>
          </a:ln>
        </p:spPr>
      </p:sp>
      <p:sp>
        <p:nvSpPr>
          <p:cNvPr id="10" name="Text 8"/>
          <p:cNvSpPr/>
          <p:nvPr/>
        </p:nvSpPr>
        <p:spPr>
          <a:xfrm>
            <a:off x="594360" y="3456432"/>
            <a:ext cx="1737360" cy="237744"/>
          </a:xfrm>
          <a:prstGeom prst="rect">
            <a:avLst/>
          </a:prstGeom>
          <a:noFill/>
          <a:ln/>
        </p:spPr>
        <p:txBody>
          <a:bodyPr wrap="square" rtlCol="0" anchor="ctr"/>
          <a:lstStyle/>
          <a:p>
            <a:pPr marL="0" indent="0">
              <a:buNone/>
            </a:pPr>
            <a:r>
              <a:rPr lang="en-US" sz="1050" b="1" dirty="0">
                <a:solidFill>
                  <a:srgbClr val="0E7C7B"/>
                </a:solidFill>
              </a:rPr>
              <a:t>Framework</a:t>
            </a:r>
            <a:endParaRPr lang="en-US" sz="1050" dirty="0"/>
          </a:p>
        </p:txBody>
      </p:sp>
      <p:sp>
        <p:nvSpPr>
          <p:cNvPr id="11" name="Text 9"/>
          <p:cNvSpPr/>
          <p:nvPr/>
        </p:nvSpPr>
        <p:spPr>
          <a:xfrm>
            <a:off x="2377440" y="3456432"/>
            <a:ext cx="1920240" cy="237744"/>
          </a:xfrm>
          <a:prstGeom prst="rect">
            <a:avLst/>
          </a:prstGeom>
          <a:noFill/>
          <a:ln/>
        </p:spPr>
        <p:txBody>
          <a:bodyPr wrap="square" rtlCol="0" anchor="ctr"/>
          <a:lstStyle/>
          <a:p>
            <a:pPr marL="0" indent="0">
              <a:buNone/>
            </a:pPr>
            <a:r>
              <a:rPr lang="en-US" sz="1050" dirty="0">
                <a:solidFill>
                  <a:srgbClr val="4A5568"/>
                </a:solidFill>
              </a:rPr>
              <a:t>Python + Streamlit</a:t>
            </a:r>
            <a:endParaRPr lang="en-US" sz="1050" dirty="0"/>
          </a:p>
        </p:txBody>
      </p:sp>
      <p:sp>
        <p:nvSpPr>
          <p:cNvPr id="12" name="Shape 10"/>
          <p:cNvSpPr/>
          <p:nvPr/>
        </p:nvSpPr>
        <p:spPr>
          <a:xfrm>
            <a:off x="502920" y="3712464"/>
            <a:ext cx="3886200" cy="237744"/>
          </a:xfrm>
          <a:prstGeom prst="rect">
            <a:avLst/>
          </a:prstGeom>
          <a:solidFill>
            <a:srgbClr val="FFFFFF"/>
          </a:solidFill>
          <a:ln w="12700">
            <a:solidFill>
              <a:srgbClr val="E2E8F0"/>
            </a:solidFill>
            <a:prstDash val="solid"/>
          </a:ln>
        </p:spPr>
      </p:sp>
      <p:sp>
        <p:nvSpPr>
          <p:cNvPr id="13" name="Text 11"/>
          <p:cNvSpPr/>
          <p:nvPr/>
        </p:nvSpPr>
        <p:spPr>
          <a:xfrm>
            <a:off x="594360" y="3712464"/>
            <a:ext cx="1737360" cy="237744"/>
          </a:xfrm>
          <a:prstGeom prst="rect">
            <a:avLst/>
          </a:prstGeom>
          <a:noFill/>
          <a:ln/>
        </p:spPr>
        <p:txBody>
          <a:bodyPr wrap="square" rtlCol="0" anchor="ctr"/>
          <a:lstStyle/>
          <a:p>
            <a:pPr marL="0" indent="0">
              <a:buNone/>
            </a:pPr>
            <a:r>
              <a:rPr lang="en-US" sz="1050" b="1" dirty="0">
                <a:solidFill>
                  <a:srgbClr val="0E7C7B"/>
                </a:solidFill>
              </a:rPr>
              <a:t>Vector Engine</a:t>
            </a:r>
            <a:endParaRPr lang="en-US" sz="1050" dirty="0"/>
          </a:p>
        </p:txBody>
      </p:sp>
      <p:sp>
        <p:nvSpPr>
          <p:cNvPr id="14" name="Text 12"/>
          <p:cNvSpPr/>
          <p:nvPr/>
        </p:nvSpPr>
        <p:spPr>
          <a:xfrm>
            <a:off x="2377440" y="3712464"/>
            <a:ext cx="1920240" cy="237744"/>
          </a:xfrm>
          <a:prstGeom prst="rect">
            <a:avLst/>
          </a:prstGeom>
          <a:noFill/>
          <a:ln/>
        </p:spPr>
        <p:txBody>
          <a:bodyPr wrap="square" rtlCol="0" anchor="ctr"/>
          <a:lstStyle/>
          <a:p>
            <a:pPr marL="0" indent="0">
              <a:buNone/>
            </a:pPr>
            <a:r>
              <a:rPr lang="en-US" sz="1050" dirty="0">
                <a:solidFill>
                  <a:srgbClr val="4A5568"/>
                </a:solidFill>
              </a:rPr>
              <a:t>Meta FAISS (Intel-Optimized)</a:t>
            </a:r>
            <a:endParaRPr lang="en-US" sz="1050" dirty="0"/>
          </a:p>
        </p:txBody>
      </p:sp>
      <p:sp>
        <p:nvSpPr>
          <p:cNvPr id="15" name="Shape 13"/>
          <p:cNvSpPr/>
          <p:nvPr/>
        </p:nvSpPr>
        <p:spPr>
          <a:xfrm>
            <a:off x="502920" y="3968496"/>
            <a:ext cx="3886200" cy="237744"/>
          </a:xfrm>
          <a:prstGeom prst="rect">
            <a:avLst/>
          </a:prstGeom>
          <a:solidFill>
            <a:srgbClr val="D8EFFE"/>
          </a:solidFill>
          <a:ln w="12700">
            <a:solidFill>
              <a:srgbClr val="E2E8F0"/>
            </a:solidFill>
            <a:prstDash val="solid"/>
          </a:ln>
        </p:spPr>
      </p:sp>
      <p:sp>
        <p:nvSpPr>
          <p:cNvPr id="16" name="Text 14"/>
          <p:cNvSpPr/>
          <p:nvPr/>
        </p:nvSpPr>
        <p:spPr>
          <a:xfrm>
            <a:off x="594360" y="3968496"/>
            <a:ext cx="1737360" cy="237744"/>
          </a:xfrm>
          <a:prstGeom prst="rect">
            <a:avLst/>
          </a:prstGeom>
          <a:noFill/>
          <a:ln/>
        </p:spPr>
        <p:txBody>
          <a:bodyPr wrap="square" rtlCol="0" anchor="ctr"/>
          <a:lstStyle/>
          <a:p>
            <a:pPr marL="0" indent="0">
              <a:buNone/>
            </a:pPr>
            <a:r>
              <a:rPr lang="en-US" sz="1050" b="1" dirty="0">
                <a:solidFill>
                  <a:srgbClr val="0E7C7B"/>
                </a:solidFill>
              </a:rPr>
              <a:t>Embeddings</a:t>
            </a:r>
            <a:endParaRPr lang="en-US" sz="1050" dirty="0"/>
          </a:p>
        </p:txBody>
      </p:sp>
      <p:sp>
        <p:nvSpPr>
          <p:cNvPr id="17" name="Text 15"/>
          <p:cNvSpPr/>
          <p:nvPr/>
        </p:nvSpPr>
        <p:spPr>
          <a:xfrm>
            <a:off x="2377440" y="3968496"/>
            <a:ext cx="1920240" cy="237744"/>
          </a:xfrm>
          <a:prstGeom prst="rect">
            <a:avLst/>
          </a:prstGeom>
          <a:noFill/>
          <a:ln/>
        </p:spPr>
        <p:txBody>
          <a:bodyPr wrap="square" rtlCol="0" anchor="ctr"/>
          <a:lstStyle/>
          <a:p>
            <a:pPr marL="0" indent="0">
              <a:buNone/>
            </a:pPr>
            <a:r>
              <a:rPr lang="en-US" sz="1050" dirty="0">
                <a:solidFill>
                  <a:srgbClr val="4A5568"/>
                </a:solidFill>
              </a:rPr>
              <a:t>Sentence-Transformers (all-MiniLM-L6-v2)</a:t>
            </a:r>
            <a:endParaRPr lang="en-US" sz="1050" dirty="0"/>
          </a:p>
        </p:txBody>
      </p:sp>
      <p:sp>
        <p:nvSpPr>
          <p:cNvPr id="18" name="Shape 16"/>
          <p:cNvSpPr/>
          <p:nvPr/>
        </p:nvSpPr>
        <p:spPr>
          <a:xfrm>
            <a:off x="502920" y="4224528"/>
            <a:ext cx="3886200" cy="237744"/>
          </a:xfrm>
          <a:prstGeom prst="rect">
            <a:avLst/>
          </a:prstGeom>
          <a:solidFill>
            <a:srgbClr val="FFFFFF"/>
          </a:solidFill>
          <a:ln w="12700">
            <a:solidFill>
              <a:srgbClr val="E2E8F0"/>
            </a:solidFill>
            <a:prstDash val="solid"/>
          </a:ln>
        </p:spPr>
      </p:sp>
      <p:sp>
        <p:nvSpPr>
          <p:cNvPr id="19" name="Text 17"/>
          <p:cNvSpPr/>
          <p:nvPr/>
        </p:nvSpPr>
        <p:spPr>
          <a:xfrm>
            <a:off x="594360" y="4224528"/>
            <a:ext cx="1737360" cy="237744"/>
          </a:xfrm>
          <a:prstGeom prst="rect">
            <a:avLst/>
          </a:prstGeom>
          <a:noFill/>
          <a:ln/>
        </p:spPr>
        <p:txBody>
          <a:bodyPr wrap="square" rtlCol="0" anchor="ctr"/>
          <a:lstStyle/>
          <a:p>
            <a:pPr marL="0" indent="0">
              <a:buNone/>
            </a:pPr>
            <a:r>
              <a:rPr lang="en-US" sz="1050" b="1" dirty="0">
                <a:solidFill>
                  <a:srgbClr val="0E7C7B"/>
                </a:solidFill>
              </a:rPr>
              <a:t>Re-ranker</a:t>
            </a:r>
            <a:endParaRPr lang="en-US" sz="1050" dirty="0"/>
          </a:p>
        </p:txBody>
      </p:sp>
      <p:sp>
        <p:nvSpPr>
          <p:cNvPr id="20" name="Text 18"/>
          <p:cNvSpPr/>
          <p:nvPr/>
        </p:nvSpPr>
        <p:spPr>
          <a:xfrm>
            <a:off x="2377440" y="4224528"/>
            <a:ext cx="1920240" cy="237744"/>
          </a:xfrm>
          <a:prstGeom prst="rect">
            <a:avLst/>
          </a:prstGeom>
          <a:noFill/>
          <a:ln/>
        </p:spPr>
        <p:txBody>
          <a:bodyPr wrap="square" rtlCol="0" anchor="ctr"/>
          <a:lstStyle/>
          <a:p>
            <a:pPr marL="0" indent="0">
              <a:buNone/>
            </a:pPr>
            <a:r>
              <a:rPr lang="en-US" sz="1050" dirty="0">
                <a:solidFill>
                  <a:srgbClr val="4A5568"/>
                </a:solidFill>
              </a:rPr>
              <a:t>Cross-Encoder (ms-marco-MiniLM-L-6-v2)</a:t>
            </a:r>
            <a:endParaRPr lang="en-US" sz="1050" dirty="0"/>
          </a:p>
        </p:txBody>
      </p:sp>
      <p:sp>
        <p:nvSpPr>
          <p:cNvPr id="21" name="Shape 19"/>
          <p:cNvSpPr/>
          <p:nvPr/>
        </p:nvSpPr>
        <p:spPr>
          <a:xfrm>
            <a:off x="502920" y="4480560"/>
            <a:ext cx="3886200" cy="237744"/>
          </a:xfrm>
          <a:prstGeom prst="rect">
            <a:avLst/>
          </a:prstGeom>
          <a:solidFill>
            <a:srgbClr val="D8EFFE"/>
          </a:solidFill>
          <a:ln w="12700">
            <a:solidFill>
              <a:srgbClr val="E2E8F0"/>
            </a:solidFill>
            <a:prstDash val="solid"/>
          </a:ln>
        </p:spPr>
      </p:sp>
      <p:sp>
        <p:nvSpPr>
          <p:cNvPr id="22" name="Text 20"/>
          <p:cNvSpPr/>
          <p:nvPr/>
        </p:nvSpPr>
        <p:spPr>
          <a:xfrm>
            <a:off x="594360" y="4480560"/>
            <a:ext cx="1737360" cy="237744"/>
          </a:xfrm>
          <a:prstGeom prst="rect">
            <a:avLst/>
          </a:prstGeom>
          <a:noFill/>
          <a:ln/>
        </p:spPr>
        <p:txBody>
          <a:bodyPr wrap="square" rtlCol="0" anchor="ctr"/>
          <a:lstStyle/>
          <a:p>
            <a:pPr marL="0" indent="0">
              <a:buNone/>
            </a:pPr>
            <a:r>
              <a:rPr lang="en-US" sz="1050" b="1" dirty="0">
                <a:solidFill>
                  <a:srgbClr val="0E7C7B"/>
                </a:solidFill>
              </a:rPr>
              <a:t>Local LLM Variant</a:t>
            </a:r>
            <a:endParaRPr lang="en-US" sz="1050" dirty="0"/>
          </a:p>
        </p:txBody>
      </p:sp>
      <p:sp>
        <p:nvSpPr>
          <p:cNvPr id="23" name="Text 21"/>
          <p:cNvSpPr/>
          <p:nvPr/>
        </p:nvSpPr>
        <p:spPr>
          <a:xfrm>
            <a:off x="2377440" y="4480560"/>
            <a:ext cx="1920240" cy="237744"/>
          </a:xfrm>
          <a:prstGeom prst="rect">
            <a:avLst/>
          </a:prstGeom>
          <a:noFill/>
          <a:ln/>
        </p:spPr>
        <p:txBody>
          <a:bodyPr wrap="square" rtlCol="0" anchor="ctr"/>
          <a:lstStyle/>
          <a:p>
            <a:pPr marL="0" indent="0">
              <a:buNone/>
            </a:pPr>
            <a:r>
              <a:rPr lang="en-US" sz="1050" dirty="0">
                <a:solidFill>
                  <a:srgbClr val="4A5568"/>
                </a:solidFill>
              </a:rPr>
              <a:t>Llama 3.2 (RAG-based, offline)</a:t>
            </a:r>
            <a:endParaRPr lang="en-US" sz="1050" dirty="0"/>
          </a:p>
        </p:txBody>
      </p:sp>
      <p:sp>
        <p:nvSpPr>
          <p:cNvPr id="24" name="Shape 22"/>
          <p:cNvSpPr/>
          <p:nvPr/>
        </p:nvSpPr>
        <p:spPr>
          <a:xfrm>
            <a:off x="502920" y="4736592"/>
            <a:ext cx="3886200" cy="237744"/>
          </a:xfrm>
          <a:prstGeom prst="rect">
            <a:avLst/>
          </a:prstGeom>
          <a:solidFill>
            <a:srgbClr val="FFFFFF"/>
          </a:solidFill>
          <a:ln w="12700">
            <a:solidFill>
              <a:srgbClr val="E2E8F0"/>
            </a:solidFill>
            <a:prstDash val="solid"/>
          </a:ln>
        </p:spPr>
      </p:sp>
      <p:sp>
        <p:nvSpPr>
          <p:cNvPr id="25" name="Text 23"/>
          <p:cNvSpPr/>
          <p:nvPr/>
        </p:nvSpPr>
        <p:spPr>
          <a:xfrm>
            <a:off x="594360" y="4736592"/>
            <a:ext cx="1737360" cy="237744"/>
          </a:xfrm>
          <a:prstGeom prst="rect">
            <a:avLst/>
          </a:prstGeom>
          <a:noFill/>
          <a:ln/>
        </p:spPr>
        <p:txBody>
          <a:bodyPr wrap="square" rtlCol="0" anchor="ctr"/>
          <a:lstStyle/>
          <a:p>
            <a:pPr marL="0" indent="0">
              <a:buNone/>
            </a:pPr>
            <a:r>
              <a:rPr lang="en-US" sz="1050" b="1" dirty="0">
                <a:solidFill>
                  <a:srgbClr val="0E7C7B"/>
                </a:solidFill>
              </a:rPr>
              <a:t>Processing</a:t>
            </a:r>
            <a:endParaRPr lang="en-US" sz="1050" dirty="0"/>
          </a:p>
        </p:txBody>
      </p:sp>
      <p:sp>
        <p:nvSpPr>
          <p:cNvPr id="26" name="Text 24"/>
          <p:cNvSpPr/>
          <p:nvPr/>
        </p:nvSpPr>
        <p:spPr>
          <a:xfrm>
            <a:off x="2377440" y="4736592"/>
            <a:ext cx="1920240" cy="237744"/>
          </a:xfrm>
          <a:prstGeom prst="rect">
            <a:avLst/>
          </a:prstGeom>
          <a:noFill/>
          <a:ln/>
        </p:spPr>
        <p:txBody>
          <a:bodyPr wrap="square" rtlCol="0" anchor="ctr"/>
          <a:lstStyle/>
          <a:p>
            <a:pPr marL="0" indent="0">
              <a:buNone/>
            </a:pPr>
            <a:r>
              <a:rPr lang="en-US" sz="1050" dirty="0">
                <a:solidFill>
                  <a:srgbClr val="4A5568"/>
                </a:solidFill>
              </a:rPr>
              <a:t>Regex chunking + sanitisation</a:t>
            </a:r>
            <a:endParaRPr lang="en-US" sz="1050" dirty="0"/>
          </a:p>
        </p:txBody>
      </p:sp>
      <p:sp>
        <p:nvSpPr>
          <p:cNvPr id="27" name="Text 25"/>
          <p:cNvSpPr/>
          <p:nvPr/>
        </p:nvSpPr>
        <p:spPr>
          <a:xfrm>
            <a:off x="4846320" y="1143000"/>
            <a:ext cx="3840480" cy="347472"/>
          </a:xfrm>
          <a:prstGeom prst="rect">
            <a:avLst/>
          </a:prstGeom>
          <a:noFill/>
          <a:ln/>
        </p:spPr>
        <p:txBody>
          <a:bodyPr wrap="square" rtlCol="0" anchor="ctr"/>
          <a:lstStyle/>
          <a:p>
            <a:pPr marL="0" indent="0">
              <a:buNone/>
            </a:pPr>
            <a:r>
              <a:rPr lang="en-US" sz="1500" b="1" dirty="0">
                <a:solidFill>
                  <a:srgbClr val="0E7C7B"/>
                </a:solidFill>
              </a:rPr>
              <a:t>Retrieval Pipeline</a:t>
            </a:r>
            <a:endParaRPr lang="en-US" sz="1500" dirty="0"/>
          </a:p>
        </p:txBody>
      </p:sp>
      <p:sp>
        <p:nvSpPr>
          <p:cNvPr id="28" name="Shape 26"/>
          <p:cNvSpPr/>
          <p:nvPr/>
        </p:nvSpPr>
        <p:spPr>
          <a:xfrm>
            <a:off x="4846320" y="1572768"/>
            <a:ext cx="3840480" cy="457200"/>
          </a:xfrm>
          <a:prstGeom prst="rect">
            <a:avLst/>
          </a:prstGeom>
          <a:solidFill>
            <a:srgbClr val="FFFFFF"/>
          </a:solidFill>
          <a:ln w="12700">
            <a:solidFill>
              <a:srgbClr val="0E7C7B"/>
            </a:solidFill>
            <a:prstDash val="solid"/>
          </a:ln>
          <a:effectLst>
            <a:outerShdw blurRad="101600" dist="38100" dir="8100000" algn="bl" rotWithShape="0">
              <a:srgbClr val="000000">
                <a:alpha val="18000"/>
              </a:srgbClr>
            </a:outerShdw>
          </a:effectLst>
        </p:spPr>
      </p:sp>
      <p:sp>
        <p:nvSpPr>
          <p:cNvPr id="29" name="Shape 27"/>
          <p:cNvSpPr/>
          <p:nvPr/>
        </p:nvSpPr>
        <p:spPr>
          <a:xfrm>
            <a:off x="4846320" y="1572768"/>
            <a:ext cx="64008" cy="457200"/>
          </a:xfrm>
          <a:prstGeom prst="rect">
            <a:avLst/>
          </a:prstGeom>
          <a:solidFill>
            <a:srgbClr val="0E7C7B"/>
          </a:solidFill>
          <a:ln w="12700">
            <a:solidFill>
              <a:srgbClr val="0E7C7B"/>
            </a:solidFill>
            <a:prstDash val="solid"/>
          </a:ln>
        </p:spPr>
      </p:sp>
      <p:sp>
        <p:nvSpPr>
          <p:cNvPr id="30" name="Text 28"/>
          <p:cNvSpPr/>
          <p:nvPr/>
        </p:nvSpPr>
        <p:spPr>
          <a:xfrm>
            <a:off x="4983480" y="1572768"/>
            <a:ext cx="3611880" cy="457200"/>
          </a:xfrm>
          <a:prstGeom prst="rect">
            <a:avLst/>
          </a:prstGeom>
          <a:noFill/>
          <a:ln/>
        </p:spPr>
        <p:txBody>
          <a:bodyPr wrap="square" rtlCol="0" anchor="ctr"/>
          <a:lstStyle/>
          <a:p>
            <a:pPr marL="0" indent="0">
              <a:buNone/>
            </a:pPr>
            <a:r>
              <a:rPr lang="en-US" sz="1150" dirty="0">
                <a:solidFill>
                  <a:srgbClr val="0D1B2A"/>
                </a:solidFill>
              </a:rPr>
              <a:t>① PDF Upload &amp; Text Chunking</a:t>
            </a:r>
            <a:endParaRPr lang="en-US" sz="1150" dirty="0"/>
          </a:p>
        </p:txBody>
      </p:sp>
      <p:sp>
        <p:nvSpPr>
          <p:cNvPr id="31" name="Shape 29"/>
          <p:cNvSpPr/>
          <p:nvPr/>
        </p:nvSpPr>
        <p:spPr>
          <a:xfrm>
            <a:off x="4846320" y="2139696"/>
            <a:ext cx="3840480" cy="457200"/>
          </a:xfrm>
          <a:prstGeom prst="rect">
            <a:avLst/>
          </a:prstGeom>
          <a:solidFill>
            <a:srgbClr val="FFFFFF"/>
          </a:solidFill>
          <a:ln w="12700">
            <a:solidFill>
              <a:srgbClr val="0E7C7B"/>
            </a:solidFill>
            <a:prstDash val="solid"/>
          </a:ln>
          <a:effectLst>
            <a:outerShdw blurRad="101600" dist="38100" dir="8100000" algn="bl" rotWithShape="0">
              <a:srgbClr val="000000">
                <a:alpha val="18000"/>
              </a:srgbClr>
            </a:outerShdw>
          </a:effectLst>
        </p:spPr>
      </p:sp>
      <p:sp>
        <p:nvSpPr>
          <p:cNvPr id="32" name="Shape 30"/>
          <p:cNvSpPr/>
          <p:nvPr/>
        </p:nvSpPr>
        <p:spPr>
          <a:xfrm>
            <a:off x="4846320" y="2139696"/>
            <a:ext cx="64008" cy="457200"/>
          </a:xfrm>
          <a:prstGeom prst="rect">
            <a:avLst/>
          </a:prstGeom>
          <a:solidFill>
            <a:srgbClr val="0E7C7B"/>
          </a:solidFill>
          <a:ln w="12700">
            <a:solidFill>
              <a:srgbClr val="0E7C7B"/>
            </a:solidFill>
            <a:prstDash val="solid"/>
          </a:ln>
        </p:spPr>
      </p:sp>
      <p:sp>
        <p:nvSpPr>
          <p:cNvPr id="33" name="Text 31"/>
          <p:cNvSpPr/>
          <p:nvPr/>
        </p:nvSpPr>
        <p:spPr>
          <a:xfrm>
            <a:off x="4983480" y="2139696"/>
            <a:ext cx="3611880" cy="457200"/>
          </a:xfrm>
          <a:prstGeom prst="rect">
            <a:avLst/>
          </a:prstGeom>
          <a:noFill/>
          <a:ln/>
        </p:spPr>
        <p:txBody>
          <a:bodyPr wrap="square" rtlCol="0" anchor="ctr"/>
          <a:lstStyle/>
          <a:p>
            <a:pPr marL="0" indent="0">
              <a:buNone/>
            </a:pPr>
            <a:r>
              <a:rPr lang="en-US" sz="1150" dirty="0">
                <a:solidFill>
                  <a:srgbClr val="0D1B2A"/>
                </a:solidFill>
              </a:rPr>
              <a:t>② Neural Embedding (Sentence-Transformers)</a:t>
            </a:r>
            <a:endParaRPr lang="en-US" sz="1150" dirty="0"/>
          </a:p>
        </p:txBody>
      </p:sp>
      <p:sp>
        <p:nvSpPr>
          <p:cNvPr id="34" name="Shape 32"/>
          <p:cNvSpPr/>
          <p:nvPr/>
        </p:nvSpPr>
        <p:spPr>
          <a:xfrm>
            <a:off x="4846320" y="2706624"/>
            <a:ext cx="3840480" cy="457200"/>
          </a:xfrm>
          <a:prstGeom prst="rect">
            <a:avLst/>
          </a:prstGeom>
          <a:solidFill>
            <a:srgbClr val="FFFFFF"/>
          </a:solidFill>
          <a:ln w="12700">
            <a:solidFill>
              <a:srgbClr val="0E7C7B"/>
            </a:solidFill>
            <a:prstDash val="solid"/>
          </a:ln>
          <a:effectLst>
            <a:outerShdw blurRad="101600" dist="38100" dir="8100000" algn="bl" rotWithShape="0">
              <a:srgbClr val="000000">
                <a:alpha val="18000"/>
              </a:srgbClr>
            </a:outerShdw>
          </a:effectLst>
        </p:spPr>
      </p:sp>
      <p:sp>
        <p:nvSpPr>
          <p:cNvPr id="35" name="Shape 33"/>
          <p:cNvSpPr/>
          <p:nvPr/>
        </p:nvSpPr>
        <p:spPr>
          <a:xfrm>
            <a:off x="4846320" y="2706624"/>
            <a:ext cx="64008" cy="457200"/>
          </a:xfrm>
          <a:prstGeom prst="rect">
            <a:avLst/>
          </a:prstGeom>
          <a:solidFill>
            <a:srgbClr val="0E7C7B"/>
          </a:solidFill>
          <a:ln w="12700">
            <a:solidFill>
              <a:srgbClr val="0E7C7B"/>
            </a:solidFill>
            <a:prstDash val="solid"/>
          </a:ln>
        </p:spPr>
      </p:sp>
      <p:sp>
        <p:nvSpPr>
          <p:cNvPr id="36" name="Text 34"/>
          <p:cNvSpPr/>
          <p:nvPr/>
        </p:nvSpPr>
        <p:spPr>
          <a:xfrm>
            <a:off x="4983480" y="2706624"/>
            <a:ext cx="3611880" cy="457200"/>
          </a:xfrm>
          <a:prstGeom prst="rect">
            <a:avLst/>
          </a:prstGeom>
          <a:noFill/>
          <a:ln/>
        </p:spPr>
        <p:txBody>
          <a:bodyPr wrap="square" rtlCol="0" anchor="ctr"/>
          <a:lstStyle/>
          <a:p>
            <a:pPr marL="0" indent="0">
              <a:buNone/>
            </a:pPr>
            <a:r>
              <a:rPr lang="en-US" sz="1150" dirty="0">
                <a:solidFill>
                  <a:srgbClr val="0D1B2A"/>
                </a:solidFill>
              </a:rPr>
              <a:t>③ FAISS Vector Indexing</a:t>
            </a:r>
            <a:endParaRPr lang="en-US" sz="1150" dirty="0"/>
          </a:p>
        </p:txBody>
      </p:sp>
      <p:sp>
        <p:nvSpPr>
          <p:cNvPr id="37" name="Shape 35"/>
          <p:cNvSpPr/>
          <p:nvPr/>
        </p:nvSpPr>
        <p:spPr>
          <a:xfrm>
            <a:off x="4846320" y="3273552"/>
            <a:ext cx="3840480" cy="457200"/>
          </a:xfrm>
          <a:prstGeom prst="rect">
            <a:avLst/>
          </a:prstGeom>
          <a:solidFill>
            <a:srgbClr val="FFFFFF"/>
          </a:solidFill>
          <a:ln w="12700">
            <a:solidFill>
              <a:srgbClr val="0E7C7B"/>
            </a:solidFill>
            <a:prstDash val="solid"/>
          </a:ln>
          <a:effectLst>
            <a:outerShdw blurRad="101600" dist="38100" dir="8100000" algn="bl" rotWithShape="0">
              <a:srgbClr val="000000">
                <a:alpha val="18000"/>
              </a:srgbClr>
            </a:outerShdw>
          </a:effectLst>
        </p:spPr>
      </p:sp>
      <p:sp>
        <p:nvSpPr>
          <p:cNvPr id="38" name="Shape 36"/>
          <p:cNvSpPr/>
          <p:nvPr/>
        </p:nvSpPr>
        <p:spPr>
          <a:xfrm>
            <a:off x="4846320" y="3273552"/>
            <a:ext cx="64008" cy="457200"/>
          </a:xfrm>
          <a:prstGeom prst="rect">
            <a:avLst/>
          </a:prstGeom>
          <a:solidFill>
            <a:srgbClr val="0E7C7B"/>
          </a:solidFill>
          <a:ln w="12700">
            <a:solidFill>
              <a:srgbClr val="0E7C7B"/>
            </a:solidFill>
            <a:prstDash val="solid"/>
          </a:ln>
        </p:spPr>
      </p:sp>
      <p:sp>
        <p:nvSpPr>
          <p:cNvPr id="39" name="Text 37"/>
          <p:cNvSpPr/>
          <p:nvPr/>
        </p:nvSpPr>
        <p:spPr>
          <a:xfrm>
            <a:off x="4983480" y="3273552"/>
            <a:ext cx="3611880" cy="457200"/>
          </a:xfrm>
          <a:prstGeom prst="rect">
            <a:avLst/>
          </a:prstGeom>
          <a:noFill/>
          <a:ln/>
        </p:spPr>
        <p:txBody>
          <a:bodyPr wrap="square" rtlCol="0" anchor="ctr"/>
          <a:lstStyle/>
          <a:p>
            <a:pPr marL="0" indent="0">
              <a:buNone/>
            </a:pPr>
            <a:r>
              <a:rPr lang="en-US" sz="1150" dirty="0">
                <a:solidFill>
                  <a:srgbClr val="0D1B2A"/>
                </a:solidFill>
              </a:rPr>
              <a:t>④ Semantic Query Matching (Broad Recall)</a:t>
            </a:r>
            <a:endParaRPr lang="en-US" sz="1150" dirty="0"/>
          </a:p>
        </p:txBody>
      </p:sp>
      <p:sp>
        <p:nvSpPr>
          <p:cNvPr id="40" name="Shape 38"/>
          <p:cNvSpPr/>
          <p:nvPr/>
        </p:nvSpPr>
        <p:spPr>
          <a:xfrm>
            <a:off x="4846320" y="3840480"/>
            <a:ext cx="3840480" cy="457200"/>
          </a:xfrm>
          <a:prstGeom prst="rect">
            <a:avLst/>
          </a:prstGeom>
          <a:solidFill>
            <a:srgbClr val="0E7C7B"/>
          </a:solidFill>
          <a:ln w="12700">
            <a:solidFill>
              <a:srgbClr val="0E7C7B"/>
            </a:solidFill>
            <a:prstDash val="solid"/>
          </a:ln>
          <a:effectLst>
            <a:outerShdw blurRad="101600" dist="38100" dir="8100000" algn="bl" rotWithShape="0">
              <a:srgbClr val="000000">
                <a:alpha val="18000"/>
              </a:srgbClr>
            </a:outerShdw>
          </a:effectLst>
        </p:spPr>
      </p:sp>
      <p:sp>
        <p:nvSpPr>
          <p:cNvPr id="41" name="Shape 39"/>
          <p:cNvSpPr/>
          <p:nvPr/>
        </p:nvSpPr>
        <p:spPr>
          <a:xfrm>
            <a:off x="4846320" y="3840480"/>
            <a:ext cx="64008" cy="457200"/>
          </a:xfrm>
          <a:prstGeom prst="rect">
            <a:avLst/>
          </a:prstGeom>
          <a:solidFill>
            <a:srgbClr val="0E7C7B"/>
          </a:solidFill>
          <a:ln w="12700">
            <a:solidFill>
              <a:srgbClr val="0E7C7B"/>
            </a:solidFill>
            <a:prstDash val="solid"/>
          </a:ln>
        </p:spPr>
      </p:sp>
      <p:sp>
        <p:nvSpPr>
          <p:cNvPr id="42" name="Text 40"/>
          <p:cNvSpPr/>
          <p:nvPr/>
        </p:nvSpPr>
        <p:spPr>
          <a:xfrm>
            <a:off x="4983480" y="3840480"/>
            <a:ext cx="3611880" cy="457200"/>
          </a:xfrm>
          <a:prstGeom prst="rect">
            <a:avLst/>
          </a:prstGeom>
          <a:noFill/>
          <a:ln/>
        </p:spPr>
        <p:txBody>
          <a:bodyPr wrap="square" rtlCol="0" anchor="ctr"/>
          <a:lstStyle/>
          <a:p>
            <a:pPr marL="0" indent="0">
              <a:buNone/>
            </a:pPr>
            <a:r>
              <a:rPr lang="en-US" sz="1150" b="1" dirty="0">
                <a:solidFill>
                  <a:srgbClr val="FFFFFF"/>
                </a:solidFill>
              </a:rPr>
              <a:t>⑤ Cross-Encoder Re-ranking (Precision Filter)</a:t>
            </a:r>
            <a:endParaRPr lang="en-US" sz="1150" dirty="0"/>
          </a:p>
        </p:txBody>
      </p:sp>
      <p:sp>
        <p:nvSpPr>
          <p:cNvPr id="43" name="Shape 41"/>
          <p:cNvSpPr/>
          <p:nvPr/>
        </p:nvSpPr>
        <p:spPr>
          <a:xfrm>
            <a:off x="4846320" y="4407408"/>
            <a:ext cx="3840480" cy="457200"/>
          </a:xfrm>
          <a:prstGeom prst="rect">
            <a:avLst/>
          </a:prstGeom>
          <a:solidFill>
            <a:srgbClr val="FFFFFF"/>
          </a:solidFill>
          <a:ln w="12700">
            <a:solidFill>
              <a:srgbClr val="0E7C7B"/>
            </a:solidFill>
            <a:prstDash val="solid"/>
          </a:ln>
          <a:effectLst>
            <a:outerShdw blurRad="101600" dist="38100" dir="8100000" algn="bl" rotWithShape="0">
              <a:srgbClr val="000000">
                <a:alpha val="18000"/>
              </a:srgbClr>
            </a:outerShdw>
          </a:effectLst>
        </p:spPr>
      </p:sp>
      <p:sp>
        <p:nvSpPr>
          <p:cNvPr id="44" name="Shape 42"/>
          <p:cNvSpPr/>
          <p:nvPr/>
        </p:nvSpPr>
        <p:spPr>
          <a:xfrm>
            <a:off x="4846320" y="4407408"/>
            <a:ext cx="64008" cy="457200"/>
          </a:xfrm>
          <a:prstGeom prst="rect">
            <a:avLst/>
          </a:prstGeom>
          <a:solidFill>
            <a:srgbClr val="0E7C7B"/>
          </a:solidFill>
          <a:ln w="12700">
            <a:solidFill>
              <a:srgbClr val="0E7C7B"/>
            </a:solidFill>
            <a:prstDash val="solid"/>
          </a:ln>
        </p:spPr>
      </p:sp>
      <p:sp>
        <p:nvSpPr>
          <p:cNvPr id="45" name="Text 43"/>
          <p:cNvSpPr/>
          <p:nvPr/>
        </p:nvSpPr>
        <p:spPr>
          <a:xfrm>
            <a:off x="4983480" y="4407408"/>
            <a:ext cx="3611880" cy="457200"/>
          </a:xfrm>
          <a:prstGeom prst="rect">
            <a:avLst/>
          </a:prstGeom>
          <a:noFill/>
          <a:ln/>
        </p:spPr>
        <p:txBody>
          <a:bodyPr wrap="square" rtlCol="0" anchor="ctr"/>
          <a:lstStyle/>
          <a:p>
            <a:pPr marL="0" indent="0">
              <a:buNone/>
            </a:pPr>
            <a:r>
              <a:rPr lang="en-US" sz="1150" dirty="0">
                <a:solidFill>
                  <a:srgbClr val="0D1B2A"/>
                </a:solidFill>
              </a:rPr>
              <a:t>⑥ Verified Insight + Confidence Score</a:t>
            </a:r>
            <a:endParaRPr lang="en-US" sz="1150" dirty="0"/>
          </a:p>
        </p:txBody>
      </p:sp>
      <p:sp>
        <p:nvSpPr>
          <p:cNvPr id="46" name="Text 44"/>
          <p:cNvSpPr/>
          <p:nvPr/>
        </p:nvSpPr>
        <p:spPr>
          <a:xfrm>
            <a:off x="502920" y="4846320"/>
            <a:ext cx="8138160" cy="201168"/>
          </a:xfrm>
          <a:prstGeom prst="rect">
            <a:avLst/>
          </a:prstGeom>
          <a:noFill/>
          <a:ln/>
        </p:spPr>
        <p:txBody>
          <a:bodyPr wrap="square" rtlCol="0" anchor="ctr"/>
          <a:lstStyle/>
          <a:p>
            <a:pPr marL="0" indent="0" algn="ctr">
              <a:buNone/>
            </a:pPr>
            <a:r>
              <a:rPr lang="en-US" sz="950" dirty="0">
                <a:solidFill>
                  <a:srgbClr val="0E7C7B"/>
                </a:solidFill>
              </a:rPr>
              <a:t>Live: docusense-ai-2026.streamlit.app  •  GitHub: github.com/vijayrajeshr/DocuSense-AI</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PROJECT LINKAGE</a:t>
            </a:r>
            <a:endParaRPr lang="en-US" sz="800" dirty="0"/>
          </a:p>
        </p:txBody>
      </p:sp>
      <p:sp>
        <p:nvSpPr>
          <p:cNvPr id="5" name="Text 3"/>
          <p:cNvSpPr/>
          <p:nvPr/>
        </p:nvSpPr>
        <p:spPr>
          <a:xfrm>
            <a:off x="502920" y="457200"/>
            <a:ext cx="7772400" cy="502920"/>
          </a:xfrm>
          <a:prstGeom prst="rect">
            <a:avLst/>
          </a:prstGeom>
          <a:noFill/>
          <a:ln/>
        </p:spPr>
        <p:txBody>
          <a:bodyPr wrap="square" rtlCol="0" anchor="ctr"/>
          <a:lstStyle/>
          <a:p>
            <a:pPr marL="0" indent="0">
              <a:buNone/>
            </a:pPr>
            <a:r>
              <a:rPr lang="en-US" sz="2600" b="1" dirty="0">
                <a:solidFill>
                  <a:srgbClr val="0D1B2A"/>
                </a:solidFill>
              </a:rPr>
              <a:t>Linking the Research to DocuSense AI</a:t>
            </a:r>
            <a:endParaRPr lang="en-US" sz="2600" dirty="0"/>
          </a:p>
        </p:txBody>
      </p:sp>
      <p:sp>
        <p:nvSpPr>
          <p:cNvPr id="6" name="Shape 4"/>
          <p:cNvSpPr/>
          <p:nvPr/>
        </p:nvSpPr>
        <p:spPr>
          <a:xfrm>
            <a:off x="502920" y="1097280"/>
            <a:ext cx="3657600" cy="347472"/>
          </a:xfrm>
          <a:prstGeom prst="rect">
            <a:avLst/>
          </a:prstGeom>
          <a:solidFill>
            <a:srgbClr val="0D1B2A"/>
          </a:solidFill>
          <a:ln w="12700">
            <a:solidFill>
              <a:srgbClr val="0D1B2A"/>
            </a:solidFill>
            <a:prstDash val="solid"/>
          </a:ln>
        </p:spPr>
      </p:sp>
      <p:sp>
        <p:nvSpPr>
          <p:cNvPr id="7" name="Text 5"/>
          <p:cNvSpPr/>
          <p:nvPr/>
        </p:nvSpPr>
        <p:spPr>
          <a:xfrm>
            <a:off x="502920" y="1097280"/>
            <a:ext cx="3657600" cy="347472"/>
          </a:xfrm>
          <a:prstGeom prst="rect">
            <a:avLst/>
          </a:prstGeom>
          <a:noFill/>
          <a:ln/>
        </p:spPr>
        <p:txBody>
          <a:bodyPr wrap="square" rtlCol="0" anchor="ctr"/>
          <a:lstStyle/>
          <a:p>
            <a:pPr marL="0" indent="0" algn="ctr">
              <a:buNone/>
            </a:pPr>
            <a:r>
              <a:rPr lang="en-US" sz="1200" b="1" dirty="0">
                <a:solidFill>
                  <a:srgbClr val="FFFFFF"/>
                </a:solidFill>
              </a:rPr>
              <a:t>Flow-Based RL  (Paper)</a:t>
            </a:r>
            <a:endParaRPr lang="en-US" sz="1200" dirty="0"/>
          </a:p>
        </p:txBody>
      </p:sp>
      <p:sp>
        <p:nvSpPr>
          <p:cNvPr id="8" name="Shape 6"/>
          <p:cNvSpPr/>
          <p:nvPr/>
        </p:nvSpPr>
        <p:spPr>
          <a:xfrm>
            <a:off x="4983480" y="1097280"/>
            <a:ext cx="3657600" cy="347472"/>
          </a:xfrm>
          <a:prstGeom prst="rect">
            <a:avLst/>
          </a:prstGeom>
          <a:solidFill>
            <a:srgbClr val="0E7C7B"/>
          </a:solidFill>
          <a:ln w="12700">
            <a:solidFill>
              <a:srgbClr val="0E7C7B"/>
            </a:solidFill>
            <a:prstDash val="solid"/>
          </a:ln>
        </p:spPr>
      </p:sp>
      <p:sp>
        <p:nvSpPr>
          <p:cNvPr id="9" name="Text 7"/>
          <p:cNvSpPr/>
          <p:nvPr/>
        </p:nvSpPr>
        <p:spPr>
          <a:xfrm>
            <a:off x="4983480" y="1097280"/>
            <a:ext cx="3657600" cy="347472"/>
          </a:xfrm>
          <a:prstGeom prst="rect">
            <a:avLst/>
          </a:prstGeom>
          <a:noFill/>
          <a:ln/>
        </p:spPr>
        <p:txBody>
          <a:bodyPr wrap="square" rtlCol="0" anchor="ctr"/>
          <a:lstStyle/>
          <a:p>
            <a:pPr marL="0" indent="0" algn="ctr">
              <a:buNone/>
            </a:pPr>
            <a:r>
              <a:rPr lang="en-US" sz="1200" b="1" dirty="0">
                <a:solidFill>
                  <a:srgbClr val="FFFFFF"/>
                </a:solidFill>
              </a:rPr>
              <a:t>DocuSense AI  (Project)</a:t>
            </a:r>
            <a:endParaRPr lang="en-US" sz="1200" dirty="0"/>
          </a:p>
        </p:txBody>
      </p:sp>
      <p:sp>
        <p:nvSpPr>
          <p:cNvPr id="10" name="Text 8"/>
          <p:cNvSpPr/>
          <p:nvPr/>
        </p:nvSpPr>
        <p:spPr>
          <a:xfrm>
            <a:off x="4160520" y="1097280"/>
            <a:ext cx="822960" cy="347472"/>
          </a:xfrm>
          <a:prstGeom prst="rect">
            <a:avLst/>
          </a:prstGeom>
          <a:noFill/>
          <a:ln/>
        </p:spPr>
        <p:txBody>
          <a:bodyPr wrap="square" rtlCol="0" anchor="ctr"/>
          <a:lstStyle/>
          <a:p>
            <a:pPr marL="0" indent="0" algn="ctr">
              <a:buNone/>
            </a:pPr>
            <a:r>
              <a:rPr lang="en-US" sz="1800" b="1" dirty="0">
                <a:solidFill>
                  <a:srgbClr val="F6AE2D"/>
                </a:solidFill>
              </a:rPr>
              <a:t>↔</a:t>
            </a:r>
            <a:endParaRPr lang="en-US" sz="1800" dirty="0"/>
          </a:p>
        </p:txBody>
      </p:sp>
      <p:sp>
        <p:nvSpPr>
          <p:cNvPr id="11" name="Shape 9"/>
          <p:cNvSpPr/>
          <p:nvPr/>
        </p:nvSpPr>
        <p:spPr>
          <a:xfrm>
            <a:off x="502920" y="1572768"/>
            <a:ext cx="3657600" cy="475488"/>
          </a:xfrm>
          <a:prstGeom prst="rect">
            <a:avLst/>
          </a:prstGeom>
          <a:solidFill>
            <a:srgbClr val="D8EFFE"/>
          </a:solidFill>
          <a:ln w="12700">
            <a:solidFill>
              <a:srgbClr val="DDE3EC"/>
            </a:solidFill>
            <a:prstDash val="solid"/>
          </a:ln>
        </p:spPr>
      </p:sp>
      <p:sp>
        <p:nvSpPr>
          <p:cNvPr id="12" name="Text 10"/>
          <p:cNvSpPr/>
          <p:nvPr/>
        </p:nvSpPr>
        <p:spPr>
          <a:xfrm>
            <a:off x="594360" y="1572768"/>
            <a:ext cx="3493008" cy="475488"/>
          </a:xfrm>
          <a:prstGeom prst="rect">
            <a:avLst/>
          </a:prstGeom>
          <a:noFill/>
          <a:ln/>
        </p:spPr>
        <p:txBody>
          <a:bodyPr wrap="square" rtlCol="0" anchor="ctr"/>
          <a:lstStyle/>
          <a:p>
            <a:pPr marL="0" indent="0">
              <a:buNone/>
            </a:pPr>
            <a:r>
              <a:rPr lang="en-US" sz="1100" dirty="0">
                <a:solidFill>
                  <a:srgbClr val="0D1B2A"/>
                </a:solidFill>
              </a:rPr>
              <a:t>Intrinsic curiosity — not just external goals</a:t>
            </a:r>
            <a:endParaRPr lang="en-US" sz="1100" dirty="0"/>
          </a:p>
        </p:txBody>
      </p:sp>
      <p:sp>
        <p:nvSpPr>
          <p:cNvPr id="13" name="Shape 11"/>
          <p:cNvSpPr/>
          <p:nvPr/>
        </p:nvSpPr>
        <p:spPr>
          <a:xfrm>
            <a:off x="4983480" y="1572768"/>
            <a:ext cx="3657600" cy="475488"/>
          </a:xfrm>
          <a:prstGeom prst="rect">
            <a:avLst/>
          </a:prstGeom>
          <a:solidFill>
            <a:srgbClr val="E8F6F5"/>
          </a:solidFill>
          <a:ln w="12700">
            <a:solidFill>
              <a:srgbClr val="DDE3EC"/>
            </a:solidFill>
            <a:prstDash val="solid"/>
          </a:ln>
        </p:spPr>
      </p:sp>
      <p:sp>
        <p:nvSpPr>
          <p:cNvPr id="14" name="Text 12"/>
          <p:cNvSpPr/>
          <p:nvPr/>
        </p:nvSpPr>
        <p:spPr>
          <a:xfrm>
            <a:off x="5074920" y="1572768"/>
            <a:ext cx="3493008" cy="475488"/>
          </a:xfrm>
          <a:prstGeom prst="rect">
            <a:avLst/>
          </a:prstGeom>
          <a:noFill/>
          <a:ln/>
        </p:spPr>
        <p:txBody>
          <a:bodyPr wrap="square" rtlCol="0" anchor="ctr"/>
          <a:lstStyle/>
          <a:p>
            <a:pPr marL="0" indent="0">
              <a:buNone/>
            </a:pPr>
            <a:r>
              <a:rPr lang="en-US" sz="1100" dirty="0">
                <a:solidFill>
                  <a:srgbClr val="0E7C7B"/>
                </a:solidFill>
              </a:rPr>
              <a:t>Semantic meaning search — not just keyword matching</a:t>
            </a:r>
            <a:endParaRPr lang="en-US" sz="1100" dirty="0"/>
          </a:p>
        </p:txBody>
      </p:sp>
      <p:sp>
        <p:nvSpPr>
          <p:cNvPr id="15" name="Text 13"/>
          <p:cNvSpPr/>
          <p:nvPr/>
        </p:nvSpPr>
        <p:spPr>
          <a:xfrm>
            <a:off x="4160520" y="1572768"/>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
        <p:nvSpPr>
          <p:cNvPr id="16" name="Shape 14"/>
          <p:cNvSpPr/>
          <p:nvPr/>
        </p:nvSpPr>
        <p:spPr>
          <a:xfrm>
            <a:off x="502920" y="2130552"/>
            <a:ext cx="3657600" cy="475488"/>
          </a:xfrm>
          <a:prstGeom prst="rect">
            <a:avLst/>
          </a:prstGeom>
          <a:solidFill>
            <a:srgbClr val="FFFFFF"/>
          </a:solidFill>
          <a:ln w="12700">
            <a:solidFill>
              <a:srgbClr val="DDE3EC"/>
            </a:solidFill>
            <a:prstDash val="solid"/>
          </a:ln>
        </p:spPr>
      </p:sp>
      <p:sp>
        <p:nvSpPr>
          <p:cNvPr id="17" name="Text 15"/>
          <p:cNvSpPr/>
          <p:nvPr/>
        </p:nvSpPr>
        <p:spPr>
          <a:xfrm>
            <a:off x="594360" y="2130552"/>
            <a:ext cx="3493008" cy="475488"/>
          </a:xfrm>
          <a:prstGeom prst="rect">
            <a:avLst/>
          </a:prstGeom>
          <a:noFill/>
          <a:ln/>
        </p:spPr>
        <p:txBody>
          <a:bodyPr wrap="square" rtlCol="0" anchor="ctr"/>
          <a:lstStyle/>
          <a:p>
            <a:pPr marL="0" indent="0">
              <a:buNone/>
            </a:pPr>
            <a:r>
              <a:rPr lang="en-US" sz="1100" dirty="0">
                <a:solidFill>
                  <a:srgbClr val="0D1B2A"/>
                </a:solidFill>
              </a:rPr>
              <a:t>FAISS Q-table: state-action pair storage</a:t>
            </a:r>
            <a:endParaRPr lang="en-US" sz="1100" dirty="0"/>
          </a:p>
        </p:txBody>
      </p:sp>
      <p:sp>
        <p:nvSpPr>
          <p:cNvPr id="18" name="Shape 16"/>
          <p:cNvSpPr/>
          <p:nvPr/>
        </p:nvSpPr>
        <p:spPr>
          <a:xfrm>
            <a:off x="4983480" y="2130552"/>
            <a:ext cx="3657600" cy="475488"/>
          </a:xfrm>
          <a:prstGeom prst="rect">
            <a:avLst/>
          </a:prstGeom>
          <a:solidFill>
            <a:srgbClr val="FFFFFF"/>
          </a:solidFill>
          <a:ln w="12700">
            <a:solidFill>
              <a:srgbClr val="DDE3EC"/>
            </a:solidFill>
            <a:prstDash val="solid"/>
          </a:ln>
        </p:spPr>
      </p:sp>
      <p:sp>
        <p:nvSpPr>
          <p:cNvPr id="19" name="Text 17"/>
          <p:cNvSpPr/>
          <p:nvPr/>
        </p:nvSpPr>
        <p:spPr>
          <a:xfrm>
            <a:off x="5074920" y="2130552"/>
            <a:ext cx="3493008" cy="475488"/>
          </a:xfrm>
          <a:prstGeom prst="rect">
            <a:avLst/>
          </a:prstGeom>
          <a:noFill/>
          <a:ln/>
        </p:spPr>
        <p:txBody>
          <a:bodyPr wrap="square" rtlCol="0" anchor="ctr"/>
          <a:lstStyle/>
          <a:p>
            <a:pPr marL="0" indent="0">
              <a:buNone/>
            </a:pPr>
            <a:r>
              <a:rPr lang="en-US" sz="1100" dirty="0">
                <a:solidFill>
                  <a:srgbClr val="0E7C7B"/>
                </a:solidFill>
              </a:rPr>
              <a:t>FAISS vector index: sentence embedding storage</a:t>
            </a:r>
            <a:endParaRPr lang="en-US" sz="1100" dirty="0"/>
          </a:p>
        </p:txBody>
      </p:sp>
      <p:sp>
        <p:nvSpPr>
          <p:cNvPr id="20" name="Text 18"/>
          <p:cNvSpPr/>
          <p:nvPr/>
        </p:nvSpPr>
        <p:spPr>
          <a:xfrm>
            <a:off x="4160520" y="2130552"/>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
        <p:nvSpPr>
          <p:cNvPr id="21" name="Shape 19"/>
          <p:cNvSpPr/>
          <p:nvPr/>
        </p:nvSpPr>
        <p:spPr>
          <a:xfrm>
            <a:off x="502920" y="2688336"/>
            <a:ext cx="3657600" cy="475488"/>
          </a:xfrm>
          <a:prstGeom prst="rect">
            <a:avLst/>
          </a:prstGeom>
          <a:solidFill>
            <a:srgbClr val="D8EFFE"/>
          </a:solidFill>
          <a:ln w="12700">
            <a:solidFill>
              <a:srgbClr val="DDE3EC"/>
            </a:solidFill>
            <a:prstDash val="solid"/>
          </a:ln>
        </p:spPr>
      </p:sp>
      <p:sp>
        <p:nvSpPr>
          <p:cNvPr id="22" name="Text 20"/>
          <p:cNvSpPr/>
          <p:nvPr/>
        </p:nvSpPr>
        <p:spPr>
          <a:xfrm>
            <a:off x="594360" y="2688336"/>
            <a:ext cx="3493008" cy="475488"/>
          </a:xfrm>
          <a:prstGeom prst="rect">
            <a:avLst/>
          </a:prstGeom>
          <a:noFill/>
          <a:ln/>
        </p:spPr>
        <p:txBody>
          <a:bodyPr wrap="square" rtlCol="0" anchor="ctr"/>
          <a:lstStyle/>
          <a:p>
            <a:pPr marL="0" indent="0">
              <a:buNone/>
            </a:pPr>
            <a:r>
              <a:rPr lang="en-US" sz="1100" dirty="0">
                <a:solidFill>
                  <a:srgbClr val="0D1B2A"/>
                </a:solidFill>
              </a:rPr>
              <a:t>Boredom / novelty evaluation per episode</a:t>
            </a:r>
            <a:endParaRPr lang="en-US" sz="1100" dirty="0"/>
          </a:p>
        </p:txBody>
      </p:sp>
      <p:sp>
        <p:nvSpPr>
          <p:cNvPr id="23" name="Shape 21"/>
          <p:cNvSpPr/>
          <p:nvPr/>
        </p:nvSpPr>
        <p:spPr>
          <a:xfrm>
            <a:off x="4983480" y="2688336"/>
            <a:ext cx="3657600" cy="475488"/>
          </a:xfrm>
          <a:prstGeom prst="rect">
            <a:avLst/>
          </a:prstGeom>
          <a:solidFill>
            <a:srgbClr val="E8F6F5"/>
          </a:solidFill>
          <a:ln w="12700">
            <a:solidFill>
              <a:srgbClr val="DDE3EC"/>
            </a:solidFill>
            <a:prstDash val="solid"/>
          </a:ln>
        </p:spPr>
      </p:sp>
      <p:sp>
        <p:nvSpPr>
          <p:cNvPr id="24" name="Text 22"/>
          <p:cNvSpPr/>
          <p:nvPr/>
        </p:nvSpPr>
        <p:spPr>
          <a:xfrm>
            <a:off x="5074920" y="2688336"/>
            <a:ext cx="3493008" cy="475488"/>
          </a:xfrm>
          <a:prstGeom prst="rect">
            <a:avLst/>
          </a:prstGeom>
          <a:noFill/>
          <a:ln/>
        </p:spPr>
        <p:txBody>
          <a:bodyPr wrap="square" rtlCol="0" anchor="ctr"/>
          <a:lstStyle/>
          <a:p>
            <a:pPr marL="0" indent="0">
              <a:buNone/>
            </a:pPr>
            <a:r>
              <a:rPr lang="en-US" sz="1100" dirty="0">
                <a:solidFill>
                  <a:srgbClr val="0E7C7B"/>
                </a:solidFill>
              </a:rPr>
              <a:t>Cross-Encoder re-ranking for contextual relevance</a:t>
            </a:r>
            <a:endParaRPr lang="en-US" sz="1100" dirty="0"/>
          </a:p>
        </p:txBody>
      </p:sp>
      <p:sp>
        <p:nvSpPr>
          <p:cNvPr id="25" name="Text 23"/>
          <p:cNvSpPr/>
          <p:nvPr/>
        </p:nvSpPr>
        <p:spPr>
          <a:xfrm>
            <a:off x="4160520" y="2688336"/>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
        <p:nvSpPr>
          <p:cNvPr id="26" name="Shape 24"/>
          <p:cNvSpPr/>
          <p:nvPr/>
        </p:nvSpPr>
        <p:spPr>
          <a:xfrm>
            <a:off x="502920" y="3246120"/>
            <a:ext cx="3657600" cy="475488"/>
          </a:xfrm>
          <a:prstGeom prst="rect">
            <a:avLst/>
          </a:prstGeom>
          <a:solidFill>
            <a:srgbClr val="FFFFFF"/>
          </a:solidFill>
          <a:ln w="12700">
            <a:solidFill>
              <a:srgbClr val="DDE3EC"/>
            </a:solidFill>
            <a:prstDash val="solid"/>
          </a:ln>
        </p:spPr>
      </p:sp>
      <p:sp>
        <p:nvSpPr>
          <p:cNvPr id="27" name="Text 25"/>
          <p:cNvSpPr/>
          <p:nvPr/>
        </p:nvSpPr>
        <p:spPr>
          <a:xfrm>
            <a:off x="594360" y="3246120"/>
            <a:ext cx="3493008" cy="475488"/>
          </a:xfrm>
          <a:prstGeom prst="rect">
            <a:avLst/>
          </a:prstGeom>
          <a:noFill/>
          <a:ln/>
        </p:spPr>
        <p:txBody>
          <a:bodyPr wrap="square" rtlCol="0" anchor="ctr"/>
          <a:lstStyle/>
          <a:p>
            <a:pPr marL="0" indent="0">
              <a:buNone/>
            </a:pPr>
            <a:r>
              <a:rPr lang="en-US" sz="1100" dirty="0">
                <a:solidFill>
                  <a:srgbClr val="0D1B2A"/>
                </a:solidFill>
              </a:rPr>
              <a:t>Two-stage: learn → evaluate boredom</a:t>
            </a:r>
            <a:endParaRPr lang="en-US" sz="1100" dirty="0"/>
          </a:p>
        </p:txBody>
      </p:sp>
      <p:sp>
        <p:nvSpPr>
          <p:cNvPr id="28" name="Shape 26"/>
          <p:cNvSpPr/>
          <p:nvPr/>
        </p:nvSpPr>
        <p:spPr>
          <a:xfrm>
            <a:off x="4983480" y="3246120"/>
            <a:ext cx="3657600" cy="475488"/>
          </a:xfrm>
          <a:prstGeom prst="rect">
            <a:avLst/>
          </a:prstGeom>
          <a:solidFill>
            <a:srgbClr val="FFFFFF"/>
          </a:solidFill>
          <a:ln w="12700">
            <a:solidFill>
              <a:srgbClr val="DDE3EC"/>
            </a:solidFill>
            <a:prstDash val="solid"/>
          </a:ln>
        </p:spPr>
      </p:sp>
      <p:sp>
        <p:nvSpPr>
          <p:cNvPr id="29" name="Text 27"/>
          <p:cNvSpPr/>
          <p:nvPr/>
        </p:nvSpPr>
        <p:spPr>
          <a:xfrm>
            <a:off x="5074920" y="3246120"/>
            <a:ext cx="3493008" cy="475488"/>
          </a:xfrm>
          <a:prstGeom prst="rect">
            <a:avLst/>
          </a:prstGeom>
          <a:noFill/>
          <a:ln/>
        </p:spPr>
        <p:txBody>
          <a:bodyPr wrap="square" rtlCol="0" anchor="ctr"/>
          <a:lstStyle/>
          <a:p>
            <a:pPr marL="0" indent="0">
              <a:buNone/>
            </a:pPr>
            <a:r>
              <a:rPr lang="en-US" sz="1100" dirty="0">
                <a:solidFill>
                  <a:srgbClr val="0E7C7B"/>
                </a:solidFill>
              </a:rPr>
              <a:t>Two-stage: FAISS broad recall → Cross-Encoder precision</a:t>
            </a:r>
            <a:endParaRPr lang="en-US" sz="1100" dirty="0"/>
          </a:p>
        </p:txBody>
      </p:sp>
      <p:sp>
        <p:nvSpPr>
          <p:cNvPr id="30" name="Text 28"/>
          <p:cNvSpPr/>
          <p:nvPr/>
        </p:nvSpPr>
        <p:spPr>
          <a:xfrm>
            <a:off x="4160520" y="3246120"/>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
        <p:nvSpPr>
          <p:cNvPr id="31" name="Shape 29"/>
          <p:cNvSpPr/>
          <p:nvPr/>
        </p:nvSpPr>
        <p:spPr>
          <a:xfrm>
            <a:off x="502920" y="3803904"/>
            <a:ext cx="3657600" cy="475488"/>
          </a:xfrm>
          <a:prstGeom prst="rect">
            <a:avLst/>
          </a:prstGeom>
          <a:solidFill>
            <a:srgbClr val="D8EFFE"/>
          </a:solidFill>
          <a:ln w="12700">
            <a:solidFill>
              <a:srgbClr val="DDE3EC"/>
            </a:solidFill>
            <a:prstDash val="solid"/>
          </a:ln>
        </p:spPr>
      </p:sp>
      <p:sp>
        <p:nvSpPr>
          <p:cNvPr id="32" name="Text 30"/>
          <p:cNvSpPr/>
          <p:nvPr/>
        </p:nvSpPr>
        <p:spPr>
          <a:xfrm>
            <a:off x="594360" y="3803904"/>
            <a:ext cx="3493008" cy="475488"/>
          </a:xfrm>
          <a:prstGeom prst="rect">
            <a:avLst/>
          </a:prstGeom>
          <a:noFill/>
          <a:ln/>
        </p:spPr>
        <p:txBody>
          <a:bodyPr wrap="square" rtlCol="0" anchor="ctr"/>
          <a:lstStyle/>
          <a:p>
            <a:pPr marL="0" indent="0">
              <a:buNone/>
            </a:pPr>
            <a:r>
              <a:rPr lang="en-US" sz="1100" dirty="0">
                <a:solidFill>
                  <a:srgbClr val="0D1B2A"/>
                </a:solidFill>
              </a:rPr>
              <a:t>Flow zone: balance skill ↔ challenge</a:t>
            </a:r>
            <a:endParaRPr lang="en-US" sz="1100" dirty="0"/>
          </a:p>
        </p:txBody>
      </p:sp>
      <p:sp>
        <p:nvSpPr>
          <p:cNvPr id="33" name="Shape 31"/>
          <p:cNvSpPr/>
          <p:nvPr/>
        </p:nvSpPr>
        <p:spPr>
          <a:xfrm>
            <a:off x="4983480" y="3803904"/>
            <a:ext cx="3657600" cy="475488"/>
          </a:xfrm>
          <a:prstGeom prst="rect">
            <a:avLst/>
          </a:prstGeom>
          <a:solidFill>
            <a:srgbClr val="E8F6F5"/>
          </a:solidFill>
          <a:ln w="12700">
            <a:solidFill>
              <a:srgbClr val="DDE3EC"/>
            </a:solidFill>
            <a:prstDash val="solid"/>
          </a:ln>
        </p:spPr>
      </p:sp>
      <p:sp>
        <p:nvSpPr>
          <p:cNvPr id="34" name="Text 32"/>
          <p:cNvSpPr/>
          <p:nvPr/>
        </p:nvSpPr>
        <p:spPr>
          <a:xfrm>
            <a:off x="5074920" y="3803904"/>
            <a:ext cx="3493008" cy="475488"/>
          </a:xfrm>
          <a:prstGeom prst="rect">
            <a:avLst/>
          </a:prstGeom>
          <a:noFill/>
          <a:ln/>
        </p:spPr>
        <p:txBody>
          <a:bodyPr wrap="square" rtlCol="0" anchor="ctr"/>
          <a:lstStyle/>
          <a:p>
            <a:pPr marL="0" indent="0">
              <a:buNone/>
            </a:pPr>
            <a:r>
              <a:rPr lang="en-US" sz="1100" dirty="0">
                <a:solidFill>
                  <a:srgbClr val="0E7C7B"/>
                </a:solidFill>
              </a:rPr>
              <a:t>Dual-stage: balance recall ↔ precision</a:t>
            </a:r>
            <a:endParaRPr lang="en-US" sz="1100" dirty="0"/>
          </a:p>
        </p:txBody>
      </p:sp>
      <p:sp>
        <p:nvSpPr>
          <p:cNvPr id="35" name="Text 33"/>
          <p:cNvSpPr/>
          <p:nvPr/>
        </p:nvSpPr>
        <p:spPr>
          <a:xfrm>
            <a:off x="4160520" y="3803904"/>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
        <p:nvSpPr>
          <p:cNvPr id="36" name="Shape 34"/>
          <p:cNvSpPr/>
          <p:nvPr/>
        </p:nvSpPr>
        <p:spPr>
          <a:xfrm>
            <a:off x="502920" y="4361688"/>
            <a:ext cx="3657600" cy="475488"/>
          </a:xfrm>
          <a:prstGeom prst="rect">
            <a:avLst/>
          </a:prstGeom>
          <a:solidFill>
            <a:srgbClr val="FFFFFF"/>
          </a:solidFill>
          <a:ln w="12700">
            <a:solidFill>
              <a:srgbClr val="DDE3EC"/>
            </a:solidFill>
            <a:prstDash val="solid"/>
          </a:ln>
        </p:spPr>
      </p:sp>
      <p:sp>
        <p:nvSpPr>
          <p:cNvPr id="37" name="Text 35"/>
          <p:cNvSpPr/>
          <p:nvPr/>
        </p:nvSpPr>
        <p:spPr>
          <a:xfrm>
            <a:off x="594360" y="4361688"/>
            <a:ext cx="3493008" cy="475488"/>
          </a:xfrm>
          <a:prstGeom prst="rect">
            <a:avLst/>
          </a:prstGeom>
          <a:noFill/>
          <a:ln/>
        </p:spPr>
        <p:txBody>
          <a:bodyPr wrap="square" rtlCol="0" anchor="ctr"/>
          <a:lstStyle/>
          <a:p>
            <a:pPr marL="0" indent="0">
              <a:buNone/>
            </a:pPr>
            <a:r>
              <a:rPr lang="en-US" sz="1100" dirty="0">
                <a:solidFill>
                  <a:srgbClr val="0D1B2A"/>
                </a:solidFill>
              </a:rPr>
              <a:t>Agent builds generalised environment awareness</a:t>
            </a:r>
            <a:endParaRPr lang="en-US" sz="1100" dirty="0"/>
          </a:p>
        </p:txBody>
      </p:sp>
      <p:sp>
        <p:nvSpPr>
          <p:cNvPr id="38" name="Shape 36"/>
          <p:cNvSpPr/>
          <p:nvPr/>
        </p:nvSpPr>
        <p:spPr>
          <a:xfrm>
            <a:off x="4983480" y="4361688"/>
            <a:ext cx="3657600" cy="475488"/>
          </a:xfrm>
          <a:prstGeom prst="rect">
            <a:avLst/>
          </a:prstGeom>
          <a:solidFill>
            <a:srgbClr val="FFFFFF"/>
          </a:solidFill>
          <a:ln w="12700">
            <a:solidFill>
              <a:srgbClr val="DDE3EC"/>
            </a:solidFill>
            <a:prstDash val="solid"/>
          </a:ln>
        </p:spPr>
      </p:sp>
      <p:sp>
        <p:nvSpPr>
          <p:cNvPr id="39" name="Text 37"/>
          <p:cNvSpPr/>
          <p:nvPr/>
        </p:nvSpPr>
        <p:spPr>
          <a:xfrm>
            <a:off x="5074920" y="4361688"/>
            <a:ext cx="3493008" cy="475488"/>
          </a:xfrm>
          <a:prstGeom prst="rect">
            <a:avLst/>
          </a:prstGeom>
          <a:noFill/>
          <a:ln/>
        </p:spPr>
        <p:txBody>
          <a:bodyPr wrap="square" rtlCol="0" anchor="ctr"/>
          <a:lstStyle/>
          <a:p>
            <a:pPr marL="0" indent="0">
              <a:buNone/>
            </a:pPr>
            <a:r>
              <a:rPr lang="en-US" sz="1100" dirty="0">
                <a:solidFill>
                  <a:srgbClr val="0E7C7B"/>
                </a:solidFill>
              </a:rPr>
              <a:t>Embeddings build generalised semantic representations</a:t>
            </a:r>
            <a:endParaRPr lang="en-US" sz="1100" dirty="0"/>
          </a:p>
        </p:txBody>
      </p:sp>
      <p:sp>
        <p:nvSpPr>
          <p:cNvPr id="40" name="Text 38"/>
          <p:cNvSpPr/>
          <p:nvPr/>
        </p:nvSpPr>
        <p:spPr>
          <a:xfrm>
            <a:off x="4160520" y="4361688"/>
            <a:ext cx="822960" cy="475488"/>
          </a:xfrm>
          <a:prstGeom prst="rect">
            <a:avLst/>
          </a:prstGeom>
          <a:noFill/>
          <a:ln/>
        </p:spPr>
        <p:txBody>
          <a:bodyPr wrap="square" rtlCol="0" anchor="ctr"/>
          <a:lstStyle/>
          <a:p>
            <a:pPr marL="0" indent="0" algn="ctr">
              <a:buNone/>
            </a:pPr>
            <a:r>
              <a:rPr lang="en-US" sz="1400" dirty="0">
                <a:solidFill>
                  <a:srgbClr val="F6AE2D"/>
                </a:solidFill>
              </a:rPr>
              <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PROBLEM → SOLUTION</a:t>
            </a:r>
            <a:endParaRPr lang="en-US" sz="800" dirty="0"/>
          </a:p>
        </p:txBody>
      </p:sp>
      <p:sp>
        <p:nvSpPr>
          <p:cNvPr id="5" name="Text 3"/>
          <p:cNvSpPr/>
          <p:nvPr/>
        </p:nvSpPr>
        <p:spPr>
          <a:xfrm>
            <a:off x="502920" y="457200"/>
            <a:ext cx="8046720" cy="502920"/>
          </a:xfrm>
          <a:prstGeom prst="rect">
            <a:avLst/>
          </a:prstGeom>
          <a:noFill/>
          <a:ln/>
        </p:spPr>
        <p:txBody>
          <a:bodyPr wrap="square" rtlCol="0" anchor="ctr"/>
          <a:lstStyle/>
          <a:p>
            <a:pPr marL="0" indent="0">
              <a:buNone/>
            </a:pPr>
            <a:r>
              <a:rPr lang="en-US" sz="2400" b="1" dirty="0">
                <a:solidFill>
                  <a:srgbClr val="FFFFFF"/>
                </a:solidFill>
              </a:rPr>
              <a:t>How DocuSense AI Addresses the Research Problem</a:t>
            </a:r>
            <a:endParaRPr lang="en-US" sz="2400" dirty="0"/>
          </a:p>
        </p:txBody>
      </p:sp>
      <p:sp>
        <p:nvSpPr>
          <p:cNvPr id="6" name="Text 4"/>
          <p:cNvSpPr/>
          <p:nvPr/>
        </p:nvSpPr>
        <p:spPr>
          <a:xfrm>
            <a:off x="502920" y="1097280"/>
            <a:ext cx="8138160" cy="365760"/>
          </a:xfrm>
          <a:prstGeom prst="rect">
            <a:avLst/>
          </a:prstGeom>
          <a:noFill/>
          <a:ln/>
        </p:spPr>
        <p:txBody>
          <a:bodyPr wrap="square" rtlCol="0" anchor="ctr"/>
          <a:lstStyle/>
          <a:p>
            <a:pPr marL="0" indent="0">
              <a:buNone/>
            </a:pPr>
            <a:r>
              <a:rPr lang="en-US" sz="1250" dirty="0">
                <a:solidFill>
                  <a:srgbClr val="D8EFFE"/>
                </a:solidFill>
              </a:rPr>
              <a:t>The paper identifies that traditional RL agents overfit to goal-specific solutions. In document retrieval, this exact problem manifests as:</a:t>
            </a:r>
            <a:endParaRPr lang="en-US" sz="1250" dirty="0"/>
          </a:p>
        </p:txBody>
      </p:sp>
      <p:sp>
        <p:nvSpPr>
          <p:cNvPr id="7" name="Shape 5"/>
          <p:cNvSpPr/>
          <p:nvPr/>
        </p:nvSpPr>
        <p:spPr>
          <a:xfrm>
            <a:off x="502920" y="1600200"/>
            <a:ext cx="3657600" cy="987552"/>
          </a:xfrm>
          <a:prstGeom prst="rect">
            <a:avLst/>
          </a:prstGeom>
          <a:solidFill>
            <a:srgbClr val="1E0A0A"/>
          </a:solidFill>
          <a:ln w="12700">
            <a:solidFill>
              <a:srgbClr val="E63946"/>
            </a:solidFill>
            <a:prstDash val="solid"/>
          </a:ln>
        </p:spPr>
      </p:sp>
      <p:sp>
        <p:nvSpPr>
          <p:cNvPr id="8" name="Shape 6"/>
          <p:cNvSpPr/>
          <p:nvPr/>
        </p:nvSpPr>
        <p:spPr>
          <a:xfrm>
            <a:off x="502920" y="1600200"/>
            <a:ext cx="64008" cy="987552"/>
          </a:xfrm>
          <a:prstGeom prst="rect">
            <a:avLst/>
          </a:prstGeom>
          <a:solidFill>
            <a:srgbClr val="E63946"/>
          </a:solidFill>
          <a:ln w="12700">
            <a:solidFill>
              <a:srgbClr val="E63946"/>
            </a:solidFill>
            <a:prstDash val="solid"/>
          </a:ln>
        </p:spPr>
      </p:sp>
      <p:sp>
        <p:nvSpPr>
          <p:cNvPr id="9" name="Text 7"/>
          <p:cNvSpPr/>
          <p:nvPr/>
        </p:nvSpPr>
        <p:spPr>
          <a:xfrm>
            <a:off x="640080" y="1645920"/>
            <a:ext cx="3383280" cy="256032"/>
          </a:xfrm>
          <a:prstGeom prst="rect">
            <a:avLst/>
          </a:prstGeom>
          <a:noFill/>
          <a:ln/>
        </p:spPr>
        <p:txBody>
          <a:bodyPr wrap="square" rtlCol="0" anchor="ctr"/>
          <a:lstStyle/>
          <a:p>
            <a:pPr marL="0" indent="0">
              <a:buNone/>
            </a:pPr>
            <a:r>
              <a:rPr lang="en-US" sz="1000" b="1" dirty="0">
                <a:solidFill>
                  <a:srgbClr val="E63946"/>
                </a:solidFill>
              </a:rPr>
              <a:t>Document Retrieval Problem</a:t>
            </a:r>
            <a:endParaRPr lang="en-US" sz="1000" dirty="0"/>
          </a:p>
        </p:txBody>
      </p:sp>
      <p:sp>
        <p:nvSpPr>
          <p:cNvPr id="10" name="Text 8"/>
          <p:cNvSpPr/>
          <p:nvPr/>
        </p:nvSpPr>
        <p:spPr>
          <a:xfrm>
            <a:off x="640080" y="1911096"/>
            <a:ext cx="3383280" cy="640080"/>
          </a:xfrm>
          <a:prstGeom prst="rect">
            <a:avLst/>
          </a:prstGeom>
          <a:noFill/>
          <a:ln/>
        </p:spPr>
        <p:txBody>
          <a:bodyPr wrap="square" rtlCol="0" anchor="ctr"/>
          <a:lstStyle/>
          <a:p>
            <a:pPr marL="0" indent="0">
              <a:buNone/>
            </a:pPr>
            <a:r>
              <a:rPr lang="en-US" sz="1050" dirty="0">
                <a:solidFill>
                  <a:srgbClr val="D8EFFE"/>
                </a:solidFill>
              </a:rPr>
              <a:t>Traditional keyword search overfits to exact word matches — fails when queries are phrased differently.</a:t>
            </a:r>
            <a:endParaRPr lang="en-US" sz="1050" dirty="0"/>
          </a:p>
        </p:txBody>
      </p:sp>
      <p:sp>
        <p:nvSpPr>
          <p:cNvPr id="11" name="Text 9"/>
          <p:cNvSpPr/>
          <p:nvPr/>
        </p:nvSpPr>
        <p:spPr>
          <a:xfrm>
            <a:off x="4206240" y="1600200"/>
            <a:ext cx="731520" cy="987552"/>
          </a:xfrm>
          <a:prstGeom prst="rect">
            <a:avLst/>
          </a:prstGeom>
          <a:noFill/>
          <a:ln/>
        </p:spPr>
        <p:txBody>
          <a:bodyPr wrap="square" rtlCol="0" anchor="ctr"/>
          <a:lstStyle/>
          <a:p>
            <a:pPr marL="0" indent="0" algn="ctr">
              <a:buNone/>
            </a:pPr>
            <a:r>
              <a:rPr lang="en-US" sz="2200" b="1" dirty="0">
                <a:solidFill>
                  <a:srgbClr val="F6AE2D"/>
                </a:solidFill>
              </a:rPr>
              <a:t>→</a:t>
            </a:r>
            <a:endParaRPr lang="en-US" sz="2200" dirty="0"/>
          </a:p>
        </p:txBody>
      </p:sp>
      <p:sp>
        <p:nvSpPr>
          <p:cNvPr id="12" name="Shape 10"/>
          <p:cNvSpPr/>
          <p:nvPr/>
        </p:nvSpPr>
        <p:spPr>
          <a:xfrm>
            <a:off x="4983480" y="1600200"/>
            <a:ext cx="3657600" cy="987552"/>
          </a:xfrm>
          <a:prstGeom prst="rect">
            <a:avLst/>
          </a:prstGeom>
          <a:solidFill>
            <a:srgbClr val="0A1E18"/>
          </a:solidFill>
          <a:ln w="12700">
            <a:solidFill>
              <a:srgbClr val="0E7C7B"/>
            </a:solidFill>
            <a:prstDash val="solid"/>
          </a:ln>
        </p:spPr>
      </p:sp>
      <p:sp>
        <p:nvSpPr>
          <p:cNvPr id="13" name="Shape 11"/>
          <p:cNvSpPr/>
          <p:nvPr/>
        </p:nvSpPr>
        <p:spPr>
          <a:xfrm>
            <a:off x="4983480" y="1600200"/>
            <a:ext cx="64008" cy="987552"/>
          </a:xfrm>
          <a:prstGeom prst="rect">
            <a:avLst/>
          </a:prstGeom>
          <a:solidFill>
            <a:srgbClr val="0E7C7B"/>
          </a:solidFill>
          <a:ln w="12700">
            <a:solidFill>
              <a:srgbClr val="0E7C7B"/>
            </a:solidFill>
            <a:prstDash val="solid"/>
          </a:ln>
        </p:spPr>
      </p:sp>
      <p:sp>
        <p:nvSpPr>
          <p:cNvPr id="14" name="Text 12"/>
          <p:cNvSpPr/>
          <p:nvPr/>
        </p:nvSpPr>
        <p:spPr>
          <a:xfrm>
            <a:off x="5120640" y="1645920"/>
            <a:ext cx="3383280" cy="256032"/>
          </a:xfrm>
          <a:prstGeom prst="rect">
            <a:avLst/>
          </a:prstGeom>
          <a:noFill/>
          <a:ln/>
        </p:spPr>
        <p:txBody>
          <a:bodyPr wrap="square" rtlCol="0" anchor="ctr"/>
          <a:lstStyle/>
          <a:p>
            <a:pPr marL="0" indent="0">
              <a:buNone/>
            </a:pPr>
            <a:r>
              <a:rPr lang="en-US" sz="1000" b="1" dirty="0">
                <a:solidFill>
                  <a:srgbClr val="14A5A4"/>
                </a:solidFill>
              </a:rPr>
              <a:t>DocuSense Solution</a:t>
            </a:r>
            <a:endParaRPr lang="en-US" sz="1000" dirty="0"/>
          </a:p>
        </p:txBody>
      </p:sp>
      <p:sp>
        <p:nvSpPr>
          <p:cNvPr id="15" name="Text 13"/>
          <p:cNvSpPr/>
          <p:nvPr/>
        </p:nvSpPr>
        <p:spPr>
          <a:xfrm>
            <a:off x="5120640" y="1911096"/>
            <a:ext cx="3383280" cy="640080"/>
          </a:xfrm>
          <a:prstGeom prst="rect">
            <a:avLst/>
          </a:prstGeom>
          <a:noFill/>
          <a:ln/>
        </p:spPr>
        <p:txBody>
          <a:bodyPr wrap="square" rtlCol="0" anchor="ctr"/>
          <a:lstStyle/>
          <a:p>
            <a:pPr marL="0" indent="0">
              <a:buNone/>
            </a:pPr>
            <a:r>
              <a:rPr lang="en-US" sz="1050" dirty="0">
                <a:solidFill>
                  <a:srgbClr val="D8EFFE"/>
                </a:solidFill>
              </a:rPr>
              <a:t>Sentence-Transformers create generalised semantic embeddings — captures meaning regardless of exact phrasing.</a:t>
            </a:r>
            <a:endParaRPr lang="en-US" sz="1050" dirty="0"/>
          </a:p>
        </p:txBody>
      </p:sp>
      <p:sp>
        <p:nvSpPr>
          <p:cNvPr id="16" name="Shape 14"/>
          <p:cNvSpPr/>
          <p:nvPr/>
        </p:nvSpPr>
        <p:spPr>
          <a:xfrm>
            <a:off x="502920" y="2743200"/>
            <a:ext cx="3657600" cy="987552"/>
          </a:xfrm>
          <a:prstGeom prst="rect">
            <a:avLst/>
          </a:prstGeom>
          <a:solidFill>
            <a:srgbClr val="1E0A0A"/>
          </a:solidFill>
          <a:ln w="12700">
            <a:solidFill>
              <a:srgbClr val="E63946"/>
            </a:solidFill>
            <a:prstDash val="solid"/>
          </a:ln>
        </p:spPr>
      </p:sp>
      <p:sp>
        <p:nvSpPr>
          <p:cNvPr id="17" name="Shape 15"/>
          <p:cNvSpPr/>
          <p:nvPr/>
        </p:nvSpPr>
        <p:spPr>
          <a:xfrm>
            <a:off x="502920" y="2743200"/>
            <a:ext cx="64008" cy="987552"/>
          </a:xfrm>
          <a:prstGeom prst="rect">
            <a:avLst/>
          </a:prstGeom>
          <a:solidFill>
            <a:srgbClr val="E63946"/>
          </a:solidFill>
          <a:ln w="12700">
            <a:solidFill>
              <a:srgbClr val="E63946"/>
            </a:solidFill>
            <a:prstDash val="solid"/>
          </a:ln>
        </p:spPr>
      </p:sp>
      <p:sp>
        <p:nvSpPr>
          <p:cNvPr id="18" name="Text 16"/>
          <p:cNvSpPr/>
          <p:nvPr/>
        </p:nvSpPr>
        <p:spPr>
          <a:xfrm>
            <a:off x="640080" y="2788920"/>
            <a:ext cx="3383280" cy="256032"/>
          </a:xfrm>
          <a:prstGeom prst="rect">
            <a:avLst/>
          </a:prstGeom>
          <a:noFill/>
          <a:ln/>
        </p:spPr>
        <p:txBody>
          <a:bodyPr wrap="square" rtlCol="0" anchor="ctr"/>
          <a:lstStyle/>
          <a:p>
            <a:pPr marL="0" indent="0">
              <a:buNone/>
            </a:pPr>
            <a:r>
              <a:rPr lang="en-US" sz="1000" b="1" dirty="0">
                <a:solidFill>
                  <a:srgbClr val="E63946"/>
                </a:solidFill>
              </a:rPr>
              <a:t>Shallow Retrieval Problem</a:t>
            </a:r>
            <a:endParaRPr lang="en-US" sz="1000" dirty="0"/>
          </a:p>
        </p:txBody>
      </p:sp>
      <p:sp>
        <p:nvSpPr>
          <p:cNvPr id="19" name="Text 17"/>
          <p:cNvSpPr/>
          <p:nvPr/>
        </p:nvSpPr>
        <p:spPr>
          <a:xfrm>
            <a:off x="640080" y="3054096"/>
            <a:ext cx="3383280" cy="640080"/>
          </a:xfrm>
          <a:prstGeom prst="rect">
            <a:avLst/>
          </a:prstGeom>
          <a:noFill/>
          <a:ln/>
        </p:spPr>
        <p:txBody>
          <a:bodyPr wrap="square" rtlCol="0" anchor="ctr"/>
          <a:lstStyle/>
          <a:p>
            <a:pPr marL="0" indent="0">
              <a:buNone/>
            </a:pPr>
            <a:r>
              <a:rPr lang="en-US" sz="1050" dirty="0">
                <a:solidFill>
                  <a:srgbClr val="D8EFFE"/>
                </a:solidFill>
              </a:rPr>
              <a:t>Goal-only retrieval returns the nearest vector without validating contextual relevance — equivalent to the agent stopping after first solution.</a:t>
            </a:r>
            <a:endParaRPr lang="en-US" sz="1050" dirty="0"/>
          </a:p>
        </p:txBody>
      </p:sp>
      <p:sp>
        <p:nvSpPr>
          <p:cNvPr id="20" name="Text 18"/>
          <p:cNvSpPr/>
          <p:nvPr/>
        </p:nvSpPr>
        <p:spPr>
          <a:xfrm>
            <a:off x="4206240" y="2743200"/>
            <a:ext cx="731520" cy="987552"/>
          </a:xfrm>
          <a:prstGeom prst="rect">
            <a:avLst/>
          </a:prstGeom>
          <a:noFill/>
          <a:ln/>
        </p:spPr>
        <p:txBody>
          <a:bodyPr wrap="square" rtlCol="0" anchor="ctr"/>
          <a:lstStyle/>
          <a:p>
            <a:pPr marL="0" indent="0" algn="ctr">
              <a:buNone/>
            </a:pPr>
            <a:r>
              <a:rPr lang="en-US" sz="2200" b="1" dirty="0">
                <a:solidFill>
                  <a:srgbClr val="F6AE2D"/>
                </a:solidFill>
              </a:rPr>
              <a:t>→</a:t>
            </a:r>
            <a:endParaRPr lang="en-US" sz="2200" dirty="0"/>
          </a:p>
        </p:txBody>
      </p:sp>
      <p:sp>
        <p:nvSpPr>
          <p:cNvPr id="21" name="Shape 19"/>
          <p:cNvSpPr/>
          <p:nvPr/>
        </p:nvSpPr>
        <p:spPr>
          <a:xfrm>
            <a:off x="4983480" y="2743200"/>
            <a:ext cx="3657600" cy="987552"/>
          </a:xfrm>
          <a:prstGeom prst="rect">
            <a:avLst/>
          </a:prstGeom>
          <a:solidFill>
            <a:srgbClr val="0A1E18"/>
          </a:solidFill>
          <a:ln w="12700">
            <a:solidFill>
              <a:srgbClr val="0E7C7B"/>
            </a:solidFill>
            <a:prstDash val="solid"/>
          </a:ln>
        </p:spPr>
      </p:sp>
      <p:sp>
        <p:nvSpPr>
          <p:cNvPr id="22" name="Shape 20"/>
          <p:cNvSpPr/>
          <p:nvPr/>
        </p:nvSpPr>
        <p:spPr>
          <a:xfrm>
            <a:off x="4983480" y="2743200"/>
            <a:ext cx="64008" cy="987552"/>
          </a:xfrm>
          <a:prstGeom prst="rect">
            <a:avLst/>
          </a:prstGeom>
          <a:solidFill>
            <a:srgbClr val="0E7C7B"/>
          </a:solidFill>
          <a:ln w="12700">
            <a:solidFill>
              <a:srgbClr val="0E7C7B"/>
            </a:solidFill>
            <a:prstDash val="solid"/>
          </a:ln>
        </p:spPr>
      </p:sp>
      <p:sp>
        <p:nvSpPr>
          <p:cNvPr id="23" name="Text 21"/>
          <p:cNvSpPr/>
          <p:nvPr/>
        </p:nvSpPr>
        <p:spPr>
          <a:xfrm>
            <a:off x="5120640" y="2788920"/>
            <a:ext cx="3383280" cy="256032"/>
          </a:xfrm>
          <a:prstGeom prst="rect">
            <a:avLst/>
          </a:prstGeom>
          <a:noFill/>
          <a:ln/>
        </p:spPr>
        <p:txBody>
          <a:bodyPr wrap="square" rtlCol="0" anchor="ctr"/>
          <a:lstStyle/>
          <a:p>
            <a:pPr marL="0" indent="0">
              <a:buNone/>
            </a:pPr>
            <a:r>
              <a:rPr lang="en-US" sz="1000" b="1" dirty="0">
                <a:solidFill>
                  <a:srgbClr val="14A5A4"/>
                </a:solidFill>
              </a:rPr>
              <a:t>DocuSense Solution</a:t>
            </a:r>
            <a:endParaRPr lang="en-US" sz="1000" dirty="0"/>
          </a:p>
        </p:txBody>
      </p:sp>
      <p:sp>
        <p:nvSpPr>
          <p:cNvPr id="24" name="Text 22"/>
          <p:cNvSpPr/>
          <p:nvPr/>
        </p:nvSpPr>
        <p:spPr>
          <a:xfrm>
            <a:off x="5120640" y="3054096"/>
            <a:ext cx="3383280" cy="640080"/>
          </a:xfrm>
          <a:prstGeom prst="rect">
            <a:avLst/>
          </a:prstGeom>
          <a:noFill/>
          <a:ln/>
        </p:spPr>
        <p:txBody>
          <a:bodyPr wrap="square" rtlCol="0" anchor="ctr"/>
          <a:lstStyle/>
          <a:p>
            <a:pPr marL="0" indent="0">
              <a:buNone/>
            </a:pPr>
            <a:r>
              <a:rPr lang="en-US" sz="1050" dirty="0">
                <a:solidFill>
                  <a:srgbClr val="D8EFFE"/>
                </a:solidFill>
              </a:rPr>
              <a:t>Cross-Encoder re-ranker acts as the 'intrinsic curiosity' check — does not accept the first match but evaluates each candidate for deeper contextual alignment.</a:t>
            </a:r>
            <a:endParaRPr lang="en-US" sz="1050" dirty="0"/>
          </a:p>
        </p:txBody>
      </p:sp>
      <p:sp>
        <p:nvSpPr>
          <p:cNvPr id="25" name="Shape 23"/>
          <p:cNvSpPr/>
          <p:nvPr/>
        </p:nvSpPr>
        <p:spPr>
          <a:xfrm>
            <a:off x="502920" y="3886200"/>
            <a:ext cx="3657600" cy="987552"/>
          </a:xfrm>
          <a:prstGeom prst="rect">
            <a:avLst/>
          </a:prstGeom>
          <a:solidFill>
            <a:srgbClr val="1E0A0A"/>
          </a:solidFill>
          <a:ln w="12700">
            <a:solidFill>
              <a:srgbClr val="E63946"/>
            </a:solidFill>
            <a:prstDash val="solid"/>
          </a:ln>
        </p:spPr>
      </p:sp>
      <p:sp>
        <p:nvSpPr>
          <p:cNvPr id="26" name="Shape 24"/>
          <p:cNvSpPr/>
          <p:nvPr/>
        </p:nvSpPr>
        <p:spPr>
          <a:xfrm>
            <a:off x="502920" y="3886200"/>
            <a:ext cx="64008" cy="987552"/>
          </a:xfrm>
          <a:prstGeom prst="rect">
            <a:avLst/>
          </a:prstGeom>
          <a:solidFill>
            <a:srgbClr val="E63946"/>
          </a:solidFill>
          <a:ln w="12700">
            <a:solidFill>
              <a:srgbClr val="E63946"/>
            </a:solidFill>
            <a:prstDash val="solid"/>
          </a:ln>
        </p:spPr>
      </p:sp>
      <p:sp>
        <p:nvSpPr>
          <p:cNvPr id="27" name="Text 25"/>
          <p:cNvSpPr/>
          <p:nvPr/>
        </p:nvSpPr>
        <p:spPr>
          <a:xfrm>
            <a:off x="640080" y="3931920"/>
            <a:ext cx="3383280" cy="256032"/>
          </a:xfrm>
          <a:prstGeom prst="rect">
            <a:avLst/>
          </a:prstGeom>
          <a:noFill/>
          <a:ln/>
        </p:spPr>
        <p:txBody>
          <a:bodyPr wrap="square" rtlCol="0" anchor="ctr"/>
          <a:lstStyle/>
          <a:p>
            <a:pPr marL="0" indent="0">
              <a:buNone/>
            </a:pPr>
            <a:r>
              <a:rPr lang="en-US" sz="1000" b="1" dirty="0">
                <a:solidFill>
                  <a:srgbClr val="E63946"/>
                </a:solidFill>
              </a:rPr>
              <a:t>Generalisation Problem</a:t>
            </a:r>
            <a:endParaRPr lang="en-US" sz="1000" dirty="0"/>
          </a:p>
        </p:txBody>
      </p:sp>
      <p:sp>
        <p:nvSpPr>
          <p:cNvPr id="28" name="Text 26"/>
          <p:cNvSpPr/>
          <p:nvPr/>
        </p:nvSpPr>
        <p:spPr>
          <a:xfrm>
            <a:off x="640080" y="4197096"/>
            <a:ext cx="3383280" cy="640080"/>
          </a:xfrm>
          <a:prstGeom prst="rect">
            <a:avLst/>
          </a:prstGeom>
          <a:noFill/>
          <a:ln/>
        </p:spPr>
        <p:txBody>
          <a:bodyPr wrap="square" rtlCol="0" anchor="ctr"/>
          <a:lstStyle/>
          <a:p>
            <a:pPr marL="0" indent="0">
              <a:buNone/>
            </a:pPr>
            <a:r>
              <a:rPr lang="en-US" sz="1050" dirty="0">
                <a:solidFill>
                  <a:srgbClr val="D8EFFE"/>
                </a:solidFill>
              </a:rPr>
              <a:t>Systems trained on one document/domain fail completely on new material — catastrophic forgetting in retrieval systems.</a:t>
            </a:r>
            <a:endParaRPr lang="en-US" sz="1050" dirty="0"/>
          </a:p>
        </p:txBody>
      </p:sp>
      <p:sp>
        <p:nvSpPr>
          <p:cNvPr id="29" name="Text 27"/>
          <p:cNvSpPr/>
          <p:nvPr/>
        </p:nvSpPr>
        <p:spPr>
          <a:xfrm>
            <a:off x="4206240" y="3886200"/>
            <a:ext cx="731520" cy="987552"/>
          </a:xfrm>
          <a:prstGeom prst="rect">
            <a:avLst/>
          </a:prstGeom>
          <a:noFill/>
          <a:ln/>
        </p:spPr>
        <p:txBody>
          <a:bodyPr wrap="square" rtlCol="0" anchor="ctr"/>
          <a:lstStyle/>
          <a:p>
            <a:pPr marL="0" indent="0" algn="ctr">
              <a:buNone/>
            </a:pPr>
            <a:r>
              <a:rPr lang="en-US" sz="2200" b="1" dirty="0">
                <a:solidFill>
                  <a:srgbClr val="F6AE2D"/>
                </a:solidFill>
              </a:rPr>
              <a:t>→</a:t>
            </a:r>
            <a:endParaRPr lang="en-US" sz="2200" dirty="0"/>
          </a:p>
        </p:txBody>
      </p:sp>
      <p:sp>
        <p:nvSpPr>
          <p:cNvPr id="30" name="Shape 28"/>
          <p:cNvSpPr/>
          <p:nvPr/>
        </p:nvSpPr>
        <p:spPr>
          <a:xfrm>
            <a:off x="4983480" y="3886200"/>
            <a:ext cx="3657600" cy="987552"/>
          </a:xfrm>
          <a:prstGeom prst="rect">
            <a:avLst/>
          </a:prstGeom>
          <a:solidFill>
            <a:srgbClr val="0A1E18"/>
          </a:solidFill>
          <a:ln w="12700">
            <a:solidFill>
              <a:srgbClr val="0E7C7B"/>
            </a:solidFill>
            <a:prstDash val="solid"/>
          </a:ln>
        </p:spPr>
      </p:sp>
      <p:sp>
        <p:nvSpPr>
          <p:cNvPr id="31" name="Shape 29"/>
          <p:cNvSpPr/>
          <p:nvPr/>
        </p:nvSpPr>
        <p:spPr>
          <a:xfrm>
            <a:off x="4983480" y="3886200"/>
            <a:ext cx="64008" cy="987552"/>
          </a:xfrm>
          <a:prstGeom prst="rect">
            <a:avLst/>
          </a:prstGeom>
          <a:solidFill>
            <a:srgbClr val="0E7C7B"/>
          </a:solidFill>
          <a:ln w="12700">
            <a:solidFill>
              <a:srgbClr val="0E7C7B"/>
            </a:solidFill>
            <a:prstDash val="solid"/>
          </a:ln>
        </p:spPr>
      </p:sp>
      <p:sp>
        <p:nvSpPr>
          <p:cNvPr id="32" name="Text 30"/>
          <p:cNvSpPr/>
          <p:nvPr/>
        </p:nvSpPr>
        <p:spPr>
          <a:xfrm>
            <a:off x="5120640" y="3931920"/>
            <a:ext cx="3383280" cy="256032"/>
          </a:xfrm>
          <a:prstGeom prst="rect">
            <a:avLst/>
          </a:prstGeom>
          <a:noFill/>
          <a:ln/>
        </p:spPr>
        <p:txBody>
          <a:bodyPr wrap="square" rtlCol="0" anchor="ctr"/>
          <a:lstStyle/>
          <a:p>
            <a:pPr marL="0" indent="0">
              <a:buNone/>
            </a:pPr>
            <a:r>
              <a:rPr lang="en-US" sz="1000" b="1" dirty="0">
                <a:solidFill>
                  <a:srgbClr val="14A5A4"/>
                </a:solidFill>
              </a:rPr>
              <a:t>DocuSense Solution</a:t>
            </a:r>
            <a:endParaRPr lang="en-US" sz="1000" dirty="0"/>
          </a:p>
        </p:txBody>
      </p:sp>
      <p:sp>
        <p:nvSpPr>
          <p:cNvPr id="33" name="Text 31"/>
          <p:cNvSpPr/>
          <p:nvPr/>
        </p:nvSpPr>
        <p:spPr>
          <a:xfrm>
            <a:off x="5120640" y="4197096"/>
            <a:ext cx="3383280" cy="640080"/>
          </a:xfrm>
          <a:prstGeom prst="rect">
            <a:avLst/>
          </a:prstGeom>
          <a:noFill/>
          <a:ln/>
        </p:spPr>
        <p:txBody>
          <a:bodyPr wrap="square" rtlCol="0" anchor="ctr"/>
          <a:lstStyle/>
          <a:p>
            <a:pPr marL="0" indent="0">
              <a:buNone/>
            </a:pPr>
            <a:r>
              <a:rPr lang="en-US" sz="1050" dirty="0">
                <a:solidFill>
                  <a:srgbClr val="D8EFFE"/>
                </a:solidFill>
              </a:rPr>
              <a:t>FAISS + semantic embeddings build generalised vector representations transferable across documents — mirrors Flow agent's generalised skill development.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GAP → EXTENSION</a:t>
            </a:r>
            <a:endParaRPr lang="en-US" sz="800" dirty="0"/>
          </a:p>
        </p:txBody>
      </p:sp>
      <p:sp>
        <p:nvSpPr>
          <p:cNvPr id="5" name="Text 3"/>
          <p:cNvSpPr/>
          <p:nvPr/>
        </p:nvSpPr>
        <p:spPr>
          <a:xfrm>
            <a:off x="502920" y="457200"/>
            <a:ext cx="8046720" cy="502920"/>
          </a:xfrm>
          <a:prstGeom prst="rect">
            <a:avLst/>
          </a:prstGeom>
          <a:noFill/>
          <a:ln/>
        </p:spPr>
        <p:txBody>
          <a:bodyPr wrap="square" rtlCol="0" anchor="ctr"/>
          <a:lstStyle/>
          <a:p>
            <a:pPr marL="0" indent="0">
              <a:buNone/>
            </a:pPr>
            <a:r>
              <a:rPr lang="en-US" sz="2400" b="1" dirty="0">
                <a:solidFill>
                  <a:srgbClr val="0D1B2A"/>
                </a:solidFill>
              </a:rPr>
              <a:t>DocuSense AI as an Extension of the Research Gap</a:t>
            </a:r>
            <a:endParaRPr lang="en-US" sz="2400" dirty="0"/>
          </a:p>
        </p:txBody>
      </p:sp>
      <p:sp>
        <p:nvSpPr>
          <p:cNvPr id="6" name="Shape 4"/>
          <p:cNvSpPr/>
          <p:nvPr/>
        </p:nvSpPr>
        <p:spPr>
          <a:xfrm>
            <a:off x="502920" y="1051560"/>
            <a:ext cx="8138160" cy="749808"/>
          </a:xfrm>
          <a:prstGeom prst="rect">
            <a:avLst/>
          </a:prstGeom>
          <a:solidFill>
            <a:srgbClr val="0E7C7B">
              <a:alpha val="12000"/>
            </a:srgbClr>
          </a:solidFill>
          <a:ln w="12700">
            <a:solidFill>
              <a:srgbClr val="0E7C7B"/>
            </a:solidFill>
            <a:prstDash val="solid"/>
          </a:ln>
        </p:spPr>
      </p:sp>
      <p:sp>
        <p:nvSpPr>
          <p:cNvPr id="7" name="Text 5"/>
          <p:cNvSpPr/>
          <p:nvPr/>
        </p:nvSpPr>
        <p:spPr>
          <a:xfrm>
            <a:off x="685800" y="1097280"/>
            <a:ext cx="7772400" cy="658368"/>
          </a:xfrm>
          <a:prstGeom prst="rect">
            <a:avLst/>
          </a:prstGeom>
          <a:noFill/>
          <a:ln/>
        </p:spPr>
        <p:txBody>
          <a:bodyPr wrap="square" rtlCol="0" anchor="ctr"/>
          <a:lstStyle/>
          <a:p>
            <a:pPr marL="0" indent="0">
              <a:buNone/>
            </a:pPr>
            <a:r>
              <a:rPr lang="en-US" sz="1150" i="1" dirty="0">
                <a:solidFill>
                  <a:srgbClr val="0D1B2A"/>
                </a:solidFill>
              </a:rPr>
              <a:t>"There exists opportunities to apply the concept [Flow] with other AI techniques such as artificial neural networks and evolutionary computing. Flow can be adapted in any AI domain to understand the implications of learning and knowledge transfer during multiple complexity levels of a task."</a:t>
            </a:r>
            <a:endParaRPr lang="en-US" sz="1150" dirty="0"/>
          </a:p>
        </p:txBody>
      </p:sp>
      <p:sp>
        <p:nvSpPr>
          <p:cNvPr id="8" name="Text 6"/>
          <p:cNvSpPr/>
          <p:nvPr/>
        </p:nvSpPr>
        <p:spPr>
          <a:xfrm>
            <a:off x="685800" y="1847088"/>
            <a:ext cx="7772400" cy="201168"/>
          </a:xfrm>
          <a:prstGeom prst="rect">
            <a:avLst/>
          </a:prstGeom>
          <a:noFill/>
          <a:ln/>
        </p:spPr>
        <p:txBody>
          <a:bodyPr wrap="square" rtlCol="0" anchor="ctr"/>
          <a:lstStyle/>
          <a:p>
            <a:pPr marL="0" indent="0">
              <a:buNone/>
            </a:pPr>
            <a:r>
              <a:rPr lang="en-US" sz="900" dirty="0">
                <a:solidFill>
                  <a:srgbClr val="718096"/>
                </a:solidFill>
              </a:rPr>
              <a:t>— Paper Conclusion, Section V, p.102263</a:t>
            </a:r>
            <a:endParaRPr lang="en-US" sz="900" dirty="0"/>
          </a:p>
        </p:txBody>
      </p:sp>
      <p:sp>
        <p:nvSpPr>
          <p:cNvPr id="9" name="Text 7"/>
          <p:cNvSpPr/>
          <p:nvPr/>
        </p:nvSpPr>
        <p:spPr>
          <a:xfrm>
            <a:off x="502920" y="2148840"/>
            <a:ext cx="8138160" cy="320040"/>
          </a:xfrm>
          <a:prstGeom prst="rect">
            <a:avLst/>
          </a:prstGeom>
          <a:noFill/>
          <a:ln/>
        </p:spPr>
        <p:txBody>
          <a:bodyPr wrap="square" rtlCol="0" anchor="ctr"/>
          <a:lstStyle/>
          <a:p>
            <a:pPr marL="0" indent="0">
              <a:buNone/>
            </a:pPr>
            <a:r>
              <a:rPr lang="en-US" sz="1350" b="1" dirty="0">
                <a:solidFill>
                  <a:srgbClr val="0E7C7B"/>
                </a:solidFill>
              </a:rPr>
              <a:t>DocuSense AI directly responds to this call:</a:t>
            </a:r>
            <a:endParaRPr lang="en-US" sz="1350" dirty="0"/>
          </a:p>
        </p:txBody>
      </p:sp>
      <p:sp>
        <p:nvSpPr>
          <p:cNvPr id="10" name="Shape 8"/>
          <p:cNvSpPr/>
          <p:nvPr/>
        </p:nvSpPr>
        <p:spPr>
          <a:xfrm>
            <a:off x="502920" y="2606040"/>
            <a:ext cx="3886200" cy="109728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1" name="Shape 9"/>
          <p:cNvSpPr/>
          <p:nvPr/>
        </p:nvSpPr>
        <p:spPr>
          <a:xfrm>
            <a:off x="502920" y="2606040"/>
            <a:ext cx="64008" cy="1097280"/>
          </a:xfrm>
          <a:prstGeom prst="rect">
            <a:avLst/>
          </a:prstGeom>
          <a:solidFill>
            <a:srgbClr val="0E7C7B"/>
          </a:solidFill>
          <a:ln w="12700">
            <a:solidFill>
              <a:srgbClr val="0E7C7B"/>
            </a:solidFill>
            <a:prstDash val="solid"/>
          </a:ln>
        </p:spPr>
      </p:sp>
      <p:sp>
        <p:nvSpPr>
          <p:cNvPr id="12" name="Text 10"/>
          <p:cNvSpPr/>
          <p:nvPr/>
        </p:nvSpPr>
        <p:spPr>
          <a:xfrm>
            <a:off x="685800" y="2697480"/>
            <a:ext cx="3611880" cy="347472"/>
          </a:xfrm>
          <a:prstGeom prst="rect">
            <a:avLst/>
          </a:prstGeom>
          <a:noFill/>
          <a:ln/>
        </p:spPr>
        <p:txBody>
          <a:bodyPr wrap="square" rtlCol="0" anchor="ctr"/>
          <a:lstStyle/>
          <a:p>
            <a:pPr marL="0" indent="0">
              <a:buNone/>
            </a:pPr>
            <a:r>
              <a:rPr lang="en-US" sz="1200" b="1" dirty="0">
                <a:solidFill>
                  <a:srgbClr val="0E7C7B"/>
                </a:solidFill>
              </a:rPr>
              <a:t>Applies Flow Philosophy to NLP</a:t>
            </a:r>
            <a:endParaRPr lang="en-US" sz="1200" dirty="0"/>
          </a:p>
        </p:txBody>
      </p:sp>
      <p:sp>
        <p:nvSpPr>
          <p:cNvPr id="13" name="Text 11"/>
          <p:cNvSpPr/>
          <p:nvPr/>
        </p:nvSpPr>
        <p:spPr>
          <a:xfrm>
            <a:off x="685800" y="3063240"/>
            <a:ext cx="3611880" cy="566928"/>
          </a:xfrm>
          <a:prstGeom prst="rect">
            <a:avLst/>
          </a:prstGeom>
          <a:noFill/>
          <a:ln/>
        </p:spPr>
        <p:txBody>
          <a:bodyPr wrap="square" rtlCol="0" anchor="ctr"/>
          <a:lstStyle/>
          <a:p>
            <a:pPr marL="0" indent="0">
              <a:buNone/>
            </a:pPr>
            <a:r>
              <a:rPr lang="en-US" sz="1100" dirty="0">
                <a:solidFill>
                  <a:srgbClr val="4A5568"/>
                </a:solidFill>
              </a:rPr>
              <a:t>The paper studied Flow in discrete RL environments. DocuSense extends this into Natural Language Processing — a domain the paper explicitly invites but does not cover.</a:t>
            </a:r>
            <a:endParaRPr lang="en-US" sz="1100" dirty="0"/>
          </a:p>
        </p:txBody>
      </p:sp>
      <p:sp>
        <p:nvSpPr>
          <p:cNvPr id="14" name="Shape 12"/>
          <p:cNvSpPr/>
          <p:nvPr/>
        </p:nvSpPr>
        <p:spPr>
          <a:xfrm>
            <a:off x="4800600" y="2606040"/>
            <a:ext cx="3886200" cy="109728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5" name="Shape 13"/>
          <p:cNvSpPr/>
          <p:nvPr/>
        </p:nvSpPr>
        <p:spPr>
          <a:xfrm>
            <a:off x="4800600" y="2606040"/>
            <a:ext cx="64008" cy="1097280"/>
          </a:xfrm>
          <a:prstGeom prst="rect">
            <a:avLst/>
          </a:prstGeom>
          <a:solidFill>
            <a:srgbClr val="0E7C7B"/>
          </a:solidFill>
          <a:ln w="12700">
            <a:solidFill>
              <a:srgbClr val="0E7C7B"/>
            </a:solidFill>
            <a:prstDash val="solid"/>
          </a:ln>
        </p:spPr>
      </p:sp>
      <p:sp>
        <p:nvSpPr>
          <p:cNvPr id="16" name="Text 14"/>
          <p:cNvSpPr/>
          <p:nvPr/>
        </p:nvSpPr>
        <p:spPr>
          <a:xfrm>
            <a:off x="4983480" y="2697480"/>
            <a:ext cx="3611880" cy="347472"/>
          </a:xfrm>
          <a:prstGeom prst="rect">
            <a:avLst/>
          </a:prstGeom>
          <a:noFill/>
          <a:ln/>
        </p:spPr>
        <p:txBody>
          <a:bodyPr wrap="square" rtlCol="0" anchor="ctr"/>
          <a:lstStyle/>
          <a:p>
            <a:pPr marL="0" indent="0">
              <a:buNone/>
            </a:pPr>
            <a:r>
              <a:rPr lang="en-US" sz="1200" b="1" dirty="0">
                <a:solidFill>
                  <a:srgbClr val="0E7C7B"/>
                </a:solidFill>
              </a:rPr>
              <a:t>Multi-Stage Complexity = Multi-Stage Retrieval</a:t>
            </a:r>
            <a:endParaRPr lang="en-US" sz="1200" dirty="0"/>
          </a:p>
        </p:txBody>
      </p:sp>
      <p:sp>
        <p:nvSpPr>
          <p:cNvPr id="17" name="Text 15"/>
          <p:cNvSpPr/>
          <p:nvPr/>
        </p:nvSpPr>
        <p:spPr>
          <a:xfrm>
            <a:off x="4983480" y="3063240"/>
            <a:ext cx="3611880" cy="566928"/>
          </a:xfrm>
          <a:prstGeom prst="rect">
            <a:avLst/>
          </a:prstGeom>
          <a:noFill/>
          <a:ln/>
        </p:spPr>
        <p:txBody>
          <a:bodyPr wrap="square" rtlCol="0" anchor="ctr"/>
          <a:lstStyle/>
          <a:p>
            <a:pPr marL="0" indent="0">
              <a:buNone/>
            </a:pPr>
            <a:r>
              <a:rPr lang="en-US" sz="1100" dirty="0">
                <a:solidFill>
                  <a:srgbClr val="4A5568"/>
                </a:solidFill>
              </a:rPr>
              <a:t>The paper's incremental challenge levels map directly to DocuSense's multi-stage retrieval pipeline — each stage adds a layer of precision, just as each challenge level adds complexity.</a:t>
            </a:r>
            <a:endParaRPr lang="en-US" sz="1100" dirty="0"/>
          </a:p>
        </p:txBody>
      </p:sp>
      <p:sp>
        <p:nvSpPr>
          <p:cNvPr id="18" name="Shape 16"/>
          <p:cNvSpPr/>
          <p:nvPr/>
        </p:nvSpPr>
        <p:spPr>
          <a:xfrm>
            <a:off x="502920" y="3840480"/>
            <a:ext cx="3886200" cy="109728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9" name="Shape 17"/>
          <p:cNvSpPr/>
          <p:nvPr/>
        </p:nvSpPr>
        <p:spPr>
          <a:xfrm>
            <a:off x="502920" y="3840480"/>
            <a:ext cx="64008" cy="1097280"/>
          </a:xfrm>
          <a:prstGeom prst="rect">
            <a:avLst/>
          </a:prstGeom>
          <a:solidFill>
            <a:srgbClr val="0E7C7B"/>
          </a:solidFill>
          <a:ln w="12700">
            <a:solidFill>
              <a:srgbClr val="0E7C7B"/>
            </a:solidFill>
            <a:prstDash val="solid"/>
          </a:ln>
        </p:spPr>
      </p:sp>
      <p:sp>
        <p:nvSpPr>
          <p:cNvPr id="20" name="Text 18"/>
          <p:cNvSpPr/>
          <p:nvPr/>
        </p:nvSpPr>
        <p:spPr>
          <a:xfrm>
            <a:off x="685800" y="3931920"/>
            <a:ext cx="3611880" cy="347472"/>
          </a:xfrm>
          <a:prstGeom prst="rect">
            <a:avLst/>
          </a:prstGeom>
          <a:noFill/>
          <a:ln/>
        </p:spPr>
        <p:txBody>
          <a:bodyPr wrap="square" rtlCol="0" anchor="ctr"/>
          <a:lstStyle/>
          <a:p>
            <a:pPr marL="0" indent="0">
              <a:buNone/>
            </a:pPr>
            <a:r>
              <a:rPr lang="en-US" sz="1200" b="1" dirty="0">
                <a:solidFill>
                  <a:srgbClr val="0E7C7B"/>
                </a:solidFill>
              </a:rPr>
              <a:t>Novelty Gate in Document Space</a:t>
            </a:r>
            <a:endParaRPr lang="en-US" sz="1200" dirty="0"/>
          </a:p>
        </p:txBody>
      </p:sp>
      <p:sp>
        <p:nvSpPr>
          <p:cNvPr id="21" name="Text 19"/>
          <p:cNvSpPr/>
          <p:nvPr/>
        </p:nvSpPr>
        <p:spPr>
          <a:xfrm>
            <a:off x="685800" y="4297680"/>
            <a:ext cx="3611880" cy="566928"/>
          </a:xfrm>
          <a:prstGeom prst="rect">
            <a:avLst/>
          </a:prstGeom>
          <a:noFill/>
          <a:ln/>
        </p:spPr>
        <p:txBody>
          <a:bodyPr wrap="square" rtlCol="0" anchor="ctr"/>
          <a:lstStyle/>
          <a:p>
            <a:pPr marL="0" indent="0">
              <a:buNone/>
            </a:pPr>
            <a:r>
              <a:rPr lang="en-US" sz="1100" dirty="0">
                <a:solidFill>
                  <a:srgbClr val="4A5568"/>
                </a:solidFill>
              </a:rPr>
              <a:t>The Cross-Encoder re-ranker acts as DocuSense's 'boredom threshold' — it rejects low-relevance (non-novel) results and surfaces only the most contextually fresh answer.</a:t>
            </a:r>
            <a:endParaRPr lang="en-US" sz="1100" dirty="0"/>
          </a:p>
        </p:txBody>
      </p:sp>
      <p:sp>
        <p:nvSpPr>
          <p:cNvPr id="22" name="Shape 20"/>
          <p:cNvSpPr/>
          <p:nvPr/>
        </p:nvSpPr>
        <p:spPr>
          <a:xfrm>
            <a:off x="4800600" y="3840480"/>
            <a:ext cx="3886200" cy="109728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23" name="Shape 21"/>
          <p:cNvSpPr/>
          <p:nvPr/>
        </p:nvSpPr>
        <p:spPr>
          <a:xfrm>
            <a:off x="4800600" y="3840480"/>
            <a:ext cx="64008" cy="1097280"/>
          </a:xfrm>
          <a:prstGeom prst="rect">
            <a:avLst/>
          </a:prstGeom>
          <a:solidFill>
            <a:srgbClr val="0E7C7B"/>
          </a:solidFill>
          <a:ln w="12700">
            <a:solidFill>
              <a:srgbClr val="0E7C7B"/>
            </a:solidFill>
            <a:prstDash val="solid"/>
          </a:ln>
        </p:spPr>
      </p:sp>
      <p:sp>
        <p:nvSpPr>
          <p:cNvPr id="24" name="Text 22"/>
          <p:cNvSpPr/>
          <p:nvPr/>
        </p:nvSpPr>
        <p:spPr>
          <a:xfrm>
            <a:off x="4983480" y="3931920"/>
            <a:ext cx="3611880" cy="347472"/>
          </a:xfrm>
          <a:prstGeom prst="rect">
            <a:avLst/>
          </a:prstGeom>
          <a:noFill/>
          <a:ln/>
        </p:spPr>
        <p:txBody>
          <a:bodyPr wrap="square" rtlCol="0" anchor="ctr"/>
          <a:lstStyle/>
          <a:p>
            <a:pPr marL="0" indent="0">
              <a:buNone/>
            </a:pPr>
            <a:r>
              <a:rPr lang="en-US" sz="1200" b="1" dirty="0">
                <a:solidFill>
                  <a:srgbClr val="0E7C7B"/>
                </a:solidFill>
              </a:rPr>
              <a:t>Generalisation Across Documents</a:t>
            </a:r>
            <a:endParaRPr lang="en-US" sz="1200" dirty="0"/>
          </a:p>
        </p:txBody>
      </p:sp>
      <p:sp>
        <p:nvSpPr>
          <p:cNvPr id="25" name="Text 23"/>
          <p:cNvSpPr/>
          <p:nvPr/>
        </p:nvSpPr>
        <p:spPr>
          <a:xfrm>
            <a:off x="4983480" y="4297680"/>
            <a:ext cx="3611880" cy="566928"/>
          </a:xfrm>
          <a:prstGeom prst="rect">
            <a:avLst/>
          </a:prstGeom>
          <a:noFill/>
          <a:ln/>
        </p:spPr>
        <p:txBody>
          <a:bodyPr wrap="square" rtlCol="0" anchor="ctr"/>
          <a:lstStyle/>
          <a:p>
            <a:pPr marL="0" indent="0">
              <a:buNone/>
            </a:pPr>
            <a:r>
              <a:rPr lang="en-US" sz="1100" dirty="0">
                <a:solidFill>
                  <a:srgbClr val="4A5568"/>
                </a:solidFill>
              </a:rPr>
              <a:t>Just as Flow agents build generalised skills applicable to any random environment variation, DocuSense's semantic embeddings generalise across different documents and query phrasings.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6AE2D"/>
          </a:solidFill>
          <a:ln w="12700">
            <a:solidFill>
              <a:srgbClr val="F6AE2D"/>
            </a:solidFill>
            <a:prstDash val="solid"/>
          </a:ln>
        </p:spPr>
      </p:sp>
      <p:sp>
        <p:nvSpPr>
          <p:cNvPr id="3" name="Shape 1"/>
          <p:cNvSpPr/>
          <p:nvPr/>
        </p:nvSpPr>
        <p:spPr>
          <a:xfrm>
            <a:off x="502920" y="137160"/>
            <a:ext cx="1645920" cy="256032"/>
          </a:xfrm>
          <a:prstGeom prst="roundRect">
            <a:avLst>
              <a:gd name="adj" fmla="val 17857"/>
            </a:avLst>
          </a:prstGeom>
          <a:solidFill>
            <a:srgbClr val="0E7C7B"/>
          </a:solidFill>
          <a:ln w="12700">
            <a:solidFill>
              <a:srgbClr val="0E7C7B"/>
            </a:solidFill>
            <a:prstDash val="solid"/>
          </a:ln>
        </p:spPr>
      </p:sp>
      <p:sp>
        <p:nvSpPr>
          <p:cNvPr id="4" name="Text 2"/>
          <p:cNvSpPr/>
          <p:nvPr/>
        </p:nvSpPr>
        <p:spPr>
          <a:xfrm>
            <a:off x="502920" y="137160"/>
            <a:ext cx="1645920" cy="256032"/>
          </a:xfrm>
          <a:prstGeom prst="rect">
            <a:avLst/>
          </a:prstGeom>
          <a:noFill/>
          <a:ln/>
        </p:spPr>
        <p:txBody>
          <a:bodyPr wrap="square" rtlCol="0" anchor="ctr"/>
          <a:lstStyle/>
          <a:p>
            <a:pPr marL="0" indent="0" algn="ctr">
              <a:buNone/>
            </a:pPr>
            <a:r>
              <a:rPr lang="en-US" sz="800" b="1" dirty="0">
                <a:solidFill>
                  <a:srgbClr val="FFFFFF"/>
                </a:solidFill>
              </a:rPr>
              <a:t>IMPLEMENTATION</a:t>
            </a:r>
            <a:endParaRPr lang="en-US" sz="800" dirty="0"/>
          </a:p>
        </p:txBody>
      </p:sp>
      <p:sp>
        <p:nvSpPr>
          <p:cNvPr id="5" name="Text 3"/>
          <p:cNvSpPr/>
          <p:nvPr/>
        </p:nvSpPr>
        <p:spPr>
          <a:xfrm>
            <a:off x="502920" y="457200"/>
            <a:ext cx="8046720" cy="502920"/>
          </a:xfrm>
          <a:prstGeom prst="rect">
            <a:avLst/>
          </a:prstGeom>
          <a:noFill/>
          <a:ln/>
        </p:spPr>
        <p:txBody>
          <a:bodyPr wrap="square" rtlCol="0" anchor="ctr"/>
          <a:lstStyle/>
          <a:p>
            <a:pPr marL="0" indent="0">
              <a:buNone/>
            </a:pPr>
            <a:r>
              <a:rPr lang="en-US" sz="2600" b="1" dirty="0">
                <a:solidFill>
                  <a:srgbClr val="FFFFFF"/>
                </a:solidFill>
              </a:rPr>
              <a:t>Implementation — DocuSense AI in Python</a:t>
            </a:r>
            <a:endParaRPr lang="en-US" sz="2600" dirty="0"/>
          </a:p>
        </p:txBody>
      </p:sp>
      <p:sp>
        <p:nvSpPr>
          <p:cNvPr id="6" name="Shape 4"/>
          <p:cNvSpPr/>
          <p:nvPr/>
        </p:nvSpPr>
        <p:spPr>
          <a:xfrm>
            <a:off x="502920" y="1078992"/>
            <a:ext cx="5212080" cy="3291840"/>
          </a:xfrm>
          <a:prstGeom prst="rect">
            <a:avLst/>
          </a:prstGeom>
          <a:solidFill>
            <a:srgbClr val="0D1117"/>
          </a:solidFill>
          <a:ln w="12700">
            <a:solidFill>
              <a:srgbClr val="30363D"/>
            </a:solidFill>
            <a:prstDash val="solid"/>
          </a:ln>
          <a:effectLst>
            <a:outerShdw blurRad="101600" dist="38100" dir="8100000" algn="bl" rotWithShape="0">
              <a:srgbClr val="000000">
                <a:alpha val="18000"/>
              </a:srgbClr>
            </a:outerShdw>
          </a:effectLst>
        </p:spPr>
      </p:sp>
      <p:sp>
        <p:nvSpPr>
          <p:cNvPr id="7" name="Text 5"/>
          <p:cNvSpPr/>
          <p:nvPr/>
        </p:nvSpPr>
        <p:spPr>
          <a:xfrm>
            <a:off x="685800" y="1207008"/>
            <a:ext cx="4846320" cy="274320"/>
          </a:xfrm>
          <a:prstGeom prst="rect">
            <a:avLst/>
          </a:prstGeom>
          <a:noFill/>
          <a:ln/>
        </p:spPr>
        <p:txBody>
          <a:bodyPr wrap="square" rtlCol="0" anchor="ctr"/>
          <a:lstStyle/>
          <a:p>
            <a:pPr marL="0" indent="0">
              <a:buNone/>
            </a:pPr>
            <a:r>
              <a:rPr lang="en-US" sz="950" dirty="0">
                <a:solidFill>
                  <a:srgbClr val="6A9955"/>
                </a:solidFill>
                <a:latin typeface="Consolas" pitchFamily="34" charset="0"/>
                <a:ea typeface="Consolas" pitchFamily="34" charset="-122"/>
                <a:cs typeface="Consolas" pitchFamily="34" charset="-120"/>
              </a:rPr>
              <a:t># Step 1: Embed all document chunks (Skill representation)</a:t>
            </a:r>
            <a:endParaRPr lang="en-US" sz="950" dirty="0"/>
          </a:p>
        </p:txBody>
      </p:sp>
      <p:sp>
        <p:nvSpPr>
          <p:cNvPr id="8" name="Text 6"/>
          <p:cNvSpPr/>
          <p:nvPr/>
        </p:nvSpPr>
        <p:spPr>
          <a:xfrm>
            <a:off x="685800" y="1481328"/>
            <a:ext cx="4846320" cy="228600"/>
          </a:xfrm>
          <a:prstGeom prst="rect">
            <a:avLst/>
          </a:prstGeom>
          <a:noFill/>
          <a:ln/>
        </p:spPr>
        <p:txBody>
          <a:bodyPr wrap="square" rtlCol="0" anchor="ctr"/>
          <a:lstStyle/>
          <a:p>
            <a:pPr marL="0" indent="0">
              <a:buNone/>
            </a:pPr>
            <a:r>
              <a:rPr lang="en-US" sz="950" dirty="0">
                <a:solidFill>
                  <a:srgbClr val="9CDCFE"/>
                </a:solidFill>
                <a:latin typeface="Consolas" pitchFamily="34" charset="0"/>
                <a:ea typeface="Consolas" pitchFamily="34" charset="-122"/>
                <a:cs typeface="Consolas" pitchFamily="34" charset="-120"/>
              </a:rPr>
              <a:t>embeddings = model.encode(chunks)</a:t>
            </a:r>
            <a:endParaRPr lang="en-US" sz="950" dirty="0"/>
          </a:p>
        </p:txBody>
      </p:sp>
      <p:sp>
        <p:nvSpPr>
          <p:cNvPr id="9" name="Text 7"/>
          <p:cNvSpPr/>
          <p:nvPr/>
        </p:nvSpPr>
        <p:spPr>
          <a:xfrm>
            <a:off x="685800" y="1783080"/>
            <a:ext cx="4846320" cy="228600"/>
          </a:xfrm>
          <a:prstGeom prst="rect">
            <a:avLst/>
          </a:prstGeom>
          <a:noFill/>
          <a:ln/>
        </p:spPr>
        <p:txBody>
          <a:bodyPr wrap="square" rtlCol="0" anchor="ctr"/>
          <a:lstStyle/>
          <a:p>
            <a:pPr marL="0" indent="0">
              <a:buNone/>
            </a:pPr>
            <a:r>
              <a:rPr lang="en-US" sz="950" dirty="0">
                <a:solidFill>
                  <a:srgbClr val="6A9955"/>
                </a:solidFill>
                <a:latin typeface="Consolas" pitchFamily="34" charset="0"/>
                <a:ea typeface="Consolas" pitchFamily="34" charset="-122"/>
                <a:cs typeface="Consolas" pitchFamily="34" charset="-120"/>
              </a:rPr>
              <a:t># Step 2: Index in FAISS (Q-table equivalent)</a:t>
            </a:r>
            <a:endParaRPr lang="en-US" sz="950" dirty="0"/>
          </a:p>
        </p:txBody>
      </p:sp>
      <p:sp>
        <p:nvSpPr>
          <p:cNvPr id="10" name="Text 8"/>
          <p:cNvSpPr/>
          <p:nvPr/>
        </p:nvSpPr>
        <p:spPr>
          <a:xfrm>
            <a:off x="685800" y="2029968"/>
            <a:ext cx="4846320" cy="365760"/>
          </a:xfrm>
          <a:prstGeom prst="rect">
            <a:avLst/>
          </a:prstGeom>
          <a:noFill/>
          <a:ln/>
        </p:spPr>
        <p:txBody>
          <a:bodyPr wrap="square" rtlCol="0" anchor="ctr"/>
          <a:lstStyle/>
          <a:p>
            <a:pPr marL="0" indent="0">
              <a:buNone/>
            </a:pPr>
            <a:r>
              <a:rPr lang="en-US" sz="950" dirty="0">
                <a:solidFill>
                  <a:srgbClr val="9CDCFE"/>
                </a:solidFill>
                <a:latin typeface="Consolas" pitchFamily="34" charset="0"/>
                <a:ea typeface="Consolas" pitchFamily="34" charset="-122"/>
                <a:cs typeface="Consolas" pitchFamily="34" charset="-120"/>
              </a:rPr>
              <a:t>index = faiss.IndexFlatL2(dim)</a:t>
            </a:r>
            <a:endParaRPr lang="en-US" sz="950" dirty="0"/>
          </a:p>
          <a:p>
            <a:pPr marL="0" indent="0">
              <a:buNone/>
            </a:pPr>
            <a:r>
              <a:rPr lang="en-US" sz="950" dirty="0">
                <a:solidFill>
                  <a:srgbClr val="9CDCFE"/>
                </a:solidFill>
                <a:latin typeface="Consolas" pitchFamily="34" charset="0"/>
                <a:ea typeface="Consolas" pitchFamily="34" charset="-122"/>
                <a:cs typeface="Consolas" pitchFamily="34" charset="-120"/>
              </a:rPr>
              <a:t>index.add(embeddings)</a:t>
            </a:r>
            <a:endParaRPr lang="en-US" sz="950" dirty="0"/>
          </a:p>
        </p:txBody>
      </p:sp>
      <p:sp>
        <p:nvSpPr>
          <p:cNvPr id="11" name="Text 9"/>
          <p:cNvSpPr/>
          <p:nvPr/>
        </p:nvSpPr>
        <p:spPr>
          <a:xfrm>
            <a:off x="685800" y="2450592"/>
            <a:ext cx="4846320" cy="228600"/>
          </a:xfrm>
          <a:prstGeom prst="rect">
            <a:avLst/>
          </a:prstGeom>
          <a:noFill/>
          <a:ln/>
        </p:spPr>
        <p:txBody>
          <a:bodyPr wrap="square" rtlCol="0" anchor="ctr"/>
          <a:lstStyle/>
          <a:p>
            <a:pPr marL="0" indent="0">
              <a:buNone/>
            </a:pPr>
            <a:r>
              <a:rPr lang="en-US" sz="950" dirty="0">
                <a:solidFill>
                  <a:srgbClr val="6A9955"/>
                </a:solidFill>
                <a:latin typeface="Consolas" pitchFamily="34" charset="0"/>
                <a:ea typeface="Consolas" pitchFamily="34" charset="-122"/>
                <a:cs typeface="Consolas" pitchFamily="34" charset="-120"/>
              </a:rPr>
              <a:t># Step 3: Broad recall — find candidates</a:t>
            </a:r>
            <a:endParaRPr lang="en-US" sz="950" dirty="0"/>
          </a:p>
        </p:txBody>
      </p:sp>
      <p:sp>
        <p:nvSpPr>
          <p:cNvPr id="12" name="Text 10"/>
          <p:cNvSpPr/>
          <p:nvPr/>
        </p:nvSpPr>
        <p:spPr>
          <a:xfrm>
            <a:off x="685800" y="2697480"/>
            <a:ext cx="4846320" cy="228600"/>
          </a:xfrm>
          <a:prstGeom prst="rect">
            <a:avLst/>
          </a:prstGeom>
          <a:noFill/>
          <a:ln/>
        </p:spPr>
        <p:txBody>
          <a:bodyPr wrap="square" rtlCol="0" anchor="ctr"/>
          <a:lstStyle/>
          <a:p>
            <a:pPr marL="0" indent="0">
              <a:buNone/>
            </a:pPr>
            <a:r>
              <a:rPr lang="en-US" sz="950" dirty="0">
                <a:solidFill>
                  <a:srgbClr val="9CDCFE"/>
                </a:solidFill>
                <a:latin typeface="Consolas" pitchFamily="34" charset="0"/>
                <a:ea typeface="Consolas" pitchFamily="34" charset="-122"/>
                <a:cs typeface="Consolas" pitchFamily="34" charset="-120"/>
              </a:rPr>
              <a:t>_, indices = index.search(query_emb, k=10)</a:t>
            </a:r>
            <a:endParaRPr lang="en-US" sz="950" dirty="0"/>
          </a:p>
        </p:txBody>
      </p:sp>
      <p:sp>
        <p:nvSpPr>
          <p:cNvPr id="13" name="Text 11"/>
          <p:cNvSpPr/>
          <p:nvPr/>
        </p:nvSpPr>
        <p:spPr>
          <a:xfrm>
            <a:off x="685800" y="2999232"/>
            <a:ext cx="4846320" cy="228600"/>
          </a:xfrm>
          <a:prstGeom prst="rect">
            <a:avLst/>
          </a:prstGeom>
          <a:noFill/>
          <a:ln/>
        </p:spPr>
        <p:txBody>
          <a:bodyPr wrap="square" rtlCol="0" anchor="ctr"/>
          <a:lstStyle/>
          <a:p>
            <a:pPr marL="0" indent="0">
              <a:buNone/>
            </a:pPr>
            <a:r>
              <a:rPr lang="en-US" sz="950" dirty="0">
                <a:solidFill>
                  <a:srgbClr val="6A9955"/>
                </a:solidFill>
                <a:latin typeface="Consolas" pitchFamily="34" charset="0"/>
                <a:ea typeface="Consolas" pitchFamily="34" charset="-122"/>
                <a:cs typeface="Consolas" pitchFamily="34" charset="-120"/>
              </a:rPr>
              <a:t># Step 4: Cross-Encoder re-rank (Boredom/novelty filter)</a:t>
            </a:r>
            <a:endParaRPr lang="en-US" sz="950" dirty="0"/>
          </a:p>
        </p:txBody>
      </p:sp>
      <p:sp>
        <p:nvSpPr>
          <p:cNvPr id="14" name="Text 12"/>
          <p:cNvSpPr/>
          <p:nvPr/>
        </p:nvSpPr>
        <p:spPr>
          <a:xfrm>
            <a:off x="685800" y="3246120"/>
            <a:ext cx="4846320" cy="384048"/>
          </a:xfrm>
          <a:prstGeom prst="rect">
            <a:avLst/>
          </a:prstGeom>
          <a:noFill/>
          <a:ln/>
        </p:spPr>
        <p:txBody>
          <a:bodyPr wrap="square" rtlCol="0" anchor="ctr"/>
          <a:lstStyle/>
          <a:p>
            <a:pPr marL="0" indent="0">
              <a:buNone/>
            </a:pPr>
            <a:r>
              <a:rPr lang="en-US" sz="950" dirty="0">
                <a:solidFill>
                  <a:srgbClr val="CE9178"/>
                </a:solidFill>
                <a:latin typeface="Consolas" pitchFamily="34" charset="0"/>
                <a:ea typeface="Consolas" pitchFamily="34" charset="-122"/>
                <a:cs typeface="Consolas" pitchFamily="34" charset="-120"/>
              </a:rPr>
              <a:t>scores = cross_encoder.predict(pairs)</a:t>
            </a:r>
            <a:endParaRPr lang="en-US" sz="950" dirty="0"/>
          </a:p>
          <a:p>
            <a:pPr marL="0" indent="0">
              <a:buNone/>
            </a:pPr>
            <a:r>
              <a:rPr lang="en-US" sz="950" dirty="0">
                <a:solidFill>
                  <a:srgbClr val="CE9178"/>
                </a:solidFill>
                <a:latin typeface="Consolas" pitchFamily="34" charset="0"/>
                <a:ea typeface="Consolas" pitchFamily="34" charset="-122"/>
                <a:cs typeface="Consolas" pitchFamily="34" charset="-120"/>
              </a:rPr>
              <a:t>best = chunks[np.argmax(scores)]</a:t>
            </a:r>
            <a:endParaRPr lang="en-US" sz="950" dirty="0"/>
          </a:p>
        </p:txBody>
      </p:sp>
      <p:sp>
        <p:nvSpPr>
          <p:cNvPr id="15" name="Text 13"/>
          <p:cNvSpPr/>
          <p:nvPr/>
        </p:nvSpPr>
        <p:spPr>
          <a:xfrm>
            <a:off x="685800" y="3685032"/>
            <a:ext cx="4846320" cy="228600"/>
          </a:xfrm>
          <a:prstGeom prst="rect">
            <a:avLst/>
          </a:prstGeom>
          <a:noFill/>
          <a:ln/>
        </p:spPr>
        <p:txBody>
          <a:bodyPr wrap="square" rtlCol="0" anchor="ctr"/>
          <a:lstStyle/>
          <a:p>
            <a:pPr marL="0" indent="0">
              <a:buNone/>
            </a:pPr>
            <a:r>
              <a:rPr lang="en-US" sz="950" dirty="0">
                <a:solidFill>
                  <a:srgbClr val="6A9955"/>
                </a:solidFill>
                <a:latin typeface="Consolas" pitchFamily="34" charset="0"/>
                <a:ea typeface="Consolas" pitchFamily="34" charset="-122"/>
                <a:cs typeface="Consolas" pitchFamily="34" charset="-120"/>
              </a:rPr>
              <a:t># Step 5: Return verified insight with confidence</a:t>
            </a:r>
            <a:endParaRPr lang="en-US" sz="950" dirty="0"/>
          </a:p>
        </p:txBody>
      </p:sp>
      <p:sp>
        <p:nvSpPr>
          <p:cNvPr id="16" name="Text 14"/>
          <p:cNvSpPr/>
          <p:nvPr/>
        </p:nvSpPr>
        <p:spPr>
          <a:xfrm>
            <a:off x="685800" y="3931920"/>
            <a:ext cx="4846320" cy="228600"/>
          </a:xfrm>
          <a:prstGeom prst="rect">
            <a:avLst/>
          </a:prstGeom>
          <a:noFill/>
          <a:ln/>
        </p:spPr>
        <p:txBody>
          <a:bodyPr wrap="square" rtlCol="0" anchor="ctr"/>
          <a:lstStyle/>
          <a:p>
            <a:pPr marL="0" indent="0">
              <a:buNone/>
            </a:pPr>
            <a:r>
              <a:rPr lang="en-US" sz="950" dirty="0">
                <a:solidFill>
                  <a:srgbClr val="4EC9B0"/>
                </a:solidFill>
                <a:latin typeface="Consolas" pitchFamily="34" charset="0"/>
                <a:ea typeface="Consolas" pitchFamily="34" charset="-122"/>
                <a:cs typeface="Consolas" pitchFamily="34" charset="-120"/>
              </a:rPr>
              <a:t>return best, float(np.max(scores))</a:t>
            </a:r>
            <a:endParaRPr lang="en-US" sz="950" dirty="0"/>
          </a:p>
        </p:txBody>
      </p:sp>
      <p:sp>
        <p:nvSpPr>
          <p:cNvPr id="17" name="Text 15"/>
          <p:cNvSpPr/>
          <p:nvPr/>
        </p:nvSpPr>
        <p:spPr>
          <a:xfrm>
            <a:off x="6035040" y="1078992"/>
            <a:ext cx="2743200" cy="347472"/>
          </a:xfrm>
          <a:prstGeom prst="rect">
            <a:avLst/>
          </a:prstGeom>
          <a:noFill/>
          <a:ln/>
        </p:spPr>
        <p:txBody>
          <a:bodyPr wrap="square" rtlCol="0" anchor="ctr"/>
          <a:lstStyle/>
          <a:p>
            <a:pPr marL="0" indent="0">
              <a:buNone/>
            </a:pPr>
            <a:r>
              <a:rPr lang="en-US" sz="1350" b="1" dirty="0">
                <a:solidFill>
                  <a:srgbClr val="F6AE2D"/>
                </a:solidFill>
              </a:rPr>
              <a:t>Implementation Highlights</a:t>
            </a:r>
            <a:endParaRPr lang="en-US" sz="1350" dirty="0"/>
          </a:p>
        </p:txBody>
      </p:sp>
      <p:sp>
        <p:nvSpPr>
          <p:cNvPr id="18" name="Text 16"/>
          <p:cNvSpPr/>
          <p:nvPr/>
        </p:nvSpPr>
        <p:spPr>
          <a:xfrm>
            <a:off x="6035040" y="1508760"/>
            <a:ext cx="2834640" cy="2926080"/>
          </a:xfrm>
          <a:prstGeom prst="rect">
            <a:avLst/>
          </a:prstGeom>
          <a:noFill/>
          <a:ln/>
        </p:spPr>
        <p:txBody>
          <a:bodyPr wrap="square" rtlCol="0" anchor="t"/>
          <a:lstStyle/>
          <a:p>
            <a:pPr marL="342900" indent="-342900">
              <a:spcAft>
                <a:spcPts val="700"/>
              </a:spcAft>
              <a:buSzPct val="100000"/>
              <a:buChar char="•"/>
            </a:pPr>
            <a:r>
              <a:rPr lang="en-US" sz="1100" dirty="0">
                <a:solidFill>
                  <a:srgbClr val="D8EFFE"/>
                </a:solidFill>
              </a:rPr>
              <a:t>100% local processing — no data sent to external servers</a:t>
            </a:r>
            <a:endParaRPr lang="en-US" sz="1100" dirty="0"/>
          </a:p>
          <a:p>
            <a:pPr marL="342900" indent="-342900">
              <a:spcAft>
                <a:spcPts val="700"/>
              </a:spcAft>
              <a:buSzPct val="100000"/>
              <a:buChar char="•"/>
            </a:pPr>
            <a:r>
              <a:rPr lang="en-US" sz="1100" dirty="0">
                <a:solidFill>
                  <a:srgbClr val="D8EFFE"/>
                </a:solidFill>
              </a:rPr>
              <a:t>FAISS enables sub-millisecond nearest-neighbour search across large document corpora</a:t>
            </a:r>
            <a:endParaRPr lang="en-US" sz="1100" dirty="0"/>
          </a:p>
          <a:p>
            <a:pPr marL="342900" indent="-342900">
              <a:spcAft>
                <a:spcPts val="700"/>
              </a:spcAft>
              <a:buSzPct val="100000"/>
              <a:buChar char="•"/>
            </a:pPr>
            <a:r>
              <a:rPr lang="en-US" sz="1100" dirty="0">
                <a:solidFill>
                  <a:srgbClr val="D8EFFE"/>
                </a:solidFill>
              </a:rPr>
              <a:t>Cross-Encoder provides a second opinion on every candidate — equivalent to Flow's novelty re-evaluation</a:t>
            </a:r>
            <a:endParaRPr lang="en-US" sz="1100" dirty="0"/>
          </a:p>
          <a:p>
            <a:pPr marL="342900" indent="-342900">
              <a:spcAft>
                <a:spcPts val="700"/>
              </a:spcAft>
              <a:buSzPct val="100000"/>
              <a:buChar char="•"/>
            </a:pPr>
            <a:r>
              <a:rPr lang="en-US" sz="1100" dirty="0">
                <a:solidFill>
                  <a:srgbClr val="D8EFFE"/>
                </a:solidFill>
              </a:rPr>
              <a:t>Streamlit UI with splash screen, confidence scores, and data visualisation</a:t>
            </a:r>
            <a:endParaRPr lang="en-US" sz="1100" dirty="0"/>
          </a:p>
          <a:p>
            <a:pPr marL="342900" indent="-342900">
              <a:spcAft>
                <a:spcPts val="700"/>
              </a:spcAft>
              <a:buSzPct val="100000"/>
              <a:buChar char="•"/>
            </a:pPr>
            <a:r>
              <a:rPr lang="en-US" sz="1100" dirty="0">
                <a:solidFill>
                  <a:srgbClr val="D8EFFE"/>
                </a:solidFill>
              </a:rPr>
              <a:t>Local LLM variant uses Llama 3.2 for full offline RAG chatbot capability</a:t>
            </a:r>
            <a:endParaRPr lang="en-US" sz="1100" dirty="0"/>
          </a:p>
        </p:txBody>
      </p:sp>
      <p:sp>
        <p:nvSpPr>
          <p:cNvPr id="19" name="Shape 17"/>
          <p:cNvSpPr/>
          <p:nvPr/>
        </p:nvSpPr>
        <p:spPr>
          <a:xfrm>
            <a:off x="502920" y="4526280"/>
            <a:ext cx="8138160" cy="347472"/>
          </a:xfrm>
          <a:prstGeom prst="rect">
            <a:avLst/>
          </a:prstGeom>
          <a:solidFill>
            <a:srgbClr val="172636"/>
          </a:solidFill>
          <a:ln w="12700">
            <a:solidFill>
              <a:srgbClr val="0E7C7B"/>
            </a:solidFill>
            <a:prstDash val="solid"/>
          </a:ln>
        </p:spPr>
      </p:sp>
      <p:sp>
        <p:nvSpPr>
          <p:cNvPr id="20" name="Text 18"/>
          <p:cNvSpPr/>
          <p:nvPr/>
        </p:nvSpPr>
        <p:spPr>
          <a:xfrm>
            <a:off x="594360" y="4526280"/>
            <a:ext cx="7955280" cy="347472"/>
          </a:xfrm>
          <a:prstGeom prst="rect">
            <a:avLst/>
          </a:prstGeom>
          <a:noFill/>
          <a:ln/>
        </p:spPr>
        <p:txBody>
          <a:bodyPr wrap="square" rtlCol="0" anchor="ctr"/>
          <a:lstStyle/>
          <a:p>
            <a:pPr marL="0" indent="0" algn="ctr">
              <a:buNone/>
            </a:pPr>
            <a:r>
              <a:rPr lang="en-US" sz="1000" dirty="0">
                <a:solidFill>
                  <a:srgbClr val="F6AE2D"/>
                </a:solidFill>
              </a:rPr>
              <a:t>🔗  Live Demo: docusense-ai-2026.streamlit.app   |   📦  GitHub: github.com/vijayrajeshr/DocuSense-AI   |   Lang: Python 3.9+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7B"/>
          </a:solidFill>
          <a:ln w="12700">
            <a:solidFill>
              <a:srgbClr val="0E7C7B"/>
            </a:solidFill>
            <a:prstDash val="solid"/>
          </a:ln>
        </p:spPr>
      </p:sp>
      <p:sp>
        <p:nvSpPr>
          <p:cNvPr id="3" name="Shape 1"/>
          <p:cNvSpPr/>
          <p:nvPr/>
        </p:nvSpPr>
        <p:spPr>
          <a:xfrm>
            <a:off x="6400800" y="2286000"/>
            <a:ext cx="4572000" cy="4572000"/>
          </a:xfrm>
          <a:prstGeom prst="ellipse">
            <a:avLst/>
          </a:prstGeom>
          <a:solidFill>
            <a:srgbClr val="0E7C7B">
              <a:alpha val="10000"/>
            </a:srgbClr>
          </a:solidFill>
          <a:ln w="12700">
            <a:solidFill>
              <a:srgbClr val="0E7C7B">
                <a:alpha val="10000"/>
              </a:srgbClr>
            </a:solidFill>
            <a:prstDash val="solid"/>
          </a:ln>
        </p:spPr>
      </p:sp>
      <p:sp>
        <p:nvSpPr>
          <p:cNvPr id="4" name="Shape 2"/>
          <p:cNvSpPr/>
          <p:nvPr/>
        </p:nvSpPr>
        <p:spPr>
          <a:xfrm>
            <a:off x="411480" y="182880"/>
            <a:ext cx="1645920" cy="256032"/>
          </a:xfrm>
          <a:prstGeom prst="roundRect">
            <a:avLst>
              <a:gd name="adj" fmla="val 17857"/>
            </a:avLst>
          </a:prstGeom>
          <a:solidFill>
            <a:srgbClr val="0E7C7B"/>
          </a:solidFill>
          <a:ln w="12700">
            <a:solidFill>
              <a:srgbClr val="0E7C7B"/>
            </a:solidFill>
            <a:prstDash val="solid"/>
          </a:ln>
        </p:spPr>
      </p:sp>
      <p:sp>
        <p:nvSpPr>
          <p:cNvPr id="5" name="Text 3"/>
          <p:cNvSpPr/>
          <p:nvPr/>
        </p:nvSpPr>
        <p:spPr>
          <a:xfrm>
            <a:off x="411480" y="182880"/>
            <a:ext cx="1645920" cy="256032"/>
          </a:xfrm>
          <a:prstGeom prst="rect">
            <a:avLst/>
          </a:prstGeom>
          <a:noFill/>
          <a:ln/>
        </p:spPr>
        <p:txBody>
          <a:bodyPr wrap="square" rtlCol="0" anchor="ctr"/>
          <a:lstStyle/>
          <a:p>
            <a:pPr marL="0" indent="0" algn="ctr">
              <a:buNone/>
            </a:pPr>
            <a:r>
              <a:rPr lang="en-US" sz="800" b="1" dirty="0">
                <a:solidFill>
                  <a:srgbClr val="FFFFFF"/>
                </a:solidFill>
              </a:rPr>
              <a:t>CONCLUSION</a:t>
            </a:r>
            <a:endParaRPr lang="en-US" sz="800" dirty="0"/>
          </a:p>
        </p:txBody>
      </p:sp>
      <p:sp>
        <p:nvSpPr>
          <p:cNvPr id="6" name="Text 4"/>
          <p:cNvSpPr/>
          <p:nvPr/>
        </p:nvSpPr>
        <p:spPr>
          <a:xfrm>
            <a:off x="411480" y="502920"/>
            <a:ext cx="7772400" cy="502920"/>
          </a:xfrm>
          <a:prstGeom prst="rect">
            <a:avLst/>
          </a:prstGeom>
          <a:noFill/>
          <a:ln/>
        </p:spPr>
        <p:txBody>
          <a:bodyPr wrap="square" rtlCol="0" anchor="ctr"/>
          <a:lstStyle/>
          <a:p>
            <a:pPr marL="0" indent="0">
              <a:buNone/>
            </a:pPr>
            <a:r>
              <a:rPr lang="en-US" sz="3200" b="1" dirty="0">
                <a:solidFill>
                  <a:srgbClr val="FFFFFF"/>
                </a:solidFill>
              </a:rPr>
              <a:t>Conclusion</a:t>
            </a:r>
            <a:endParaRPr lang="en-US" sz="3200" dirty="0"/>
          </a:p>
        </p:txBody>
      </p:sp>
      <p:sp>
        <p:nvSpPr>
          <p:cNvPr id="7" name="Shape 5"/>
          <p:cNvSpPr/>
          <p:nvPr/>
        </p:nvSpPr>
        <p:spPr>
          <a:xfrm>
            <a:off x="411480" y="1143000"/>
            <a:ext cx="8321040" cy="685800"/>
          </a:xfrm>
          <a:prstGeom prst="rect">
            <a:avLst/>
          </a:prstGeom>
          <a:solidFill>
            <a:srgbClr val="0E7C7B">
              <a:alpha val="22000"/>
            </a:srgbClr>
          </a:solidFill>
          <a:ln w="12700">
            <a:solidFill>
              <a:srgbClr val="14A5A4"/>
            </a:solidFill>
            <a:prstDash val="solid"/>
          </a:ln>
        </p:spPr>
      </p:sp>
      <p:sp>
        <p:nvSpPr>
          <p:cNvPr id="8" name="Text 6"/>
          <p:cNvSpPr/>
          <p:nvPr/>
        </p:nvSpPr>
        <p:spPr>
          <a:xfrm>
            <a:off x="594360" y="1188720"/>
            <a:ext cx="7955280" cy="594360"/>
          </a:xfrm>
          <a:prstGeom prst="rect">
            <a:avLst/>
          </a:prstGeom>
          <a:noFill/>
          <a:ln/>
        </p:spPr>
        <p:txBody>
          <a:bodyPr wrap="square" rtlCol="0" anchor="ctr"/>
          <a:lstStyle/>
          <a:p>
            <a:pPr marL="0" indent="0">
              <a:buNone/>
            </a:pPr>
            <a:r>
              <a:rPr lang="en-US" sz="1150" i="1" dirty="0">
                <a:solidFill>
                  <a:srgbClr val="FFFFFF"/>
                </a:solidFill>
              </a:rPr>
              <a:t>"Flow-based agents improve their skills in line with the challenges while not being bored or exhausted — they can not only learn to achieve a goal but learn to enjoy the experience while building awareness of the environment, improving robustness and fault tolerance."</a:t>
            </a:r>
            <a:endParaRPr lang="en-US" sz="1150" dirty="0"/>
          </a:p>
        </p:txBody>
      </p:sp>
      <p:sp>
        <p:nvSpPr>
          <p:cNvPr id="9" name="Text 7"/>
          <p:cNvSpPr/>
          <p:nvPr/>
        </p:nvSpPr>
        <p:spPr>
          <a:xfrm>
            <a:off x="594360" y="1874520"/>
            <a:ext cx="7955280" cy="201168"/>
          </a:xfrm>
          <a:prstGeom prst="rect">
            <a:avLst/>
          </a:prstGeom>
          <a:noFill/>
          <a:ln/>
        </p:spPr>
        <p:txBody>
          <a:bodyPr wrap="square" rtlCol="0" anchor="ctr"/>
          <a:lstStyle/>
          <a:p>
            <a:pPr marL="0" indent="0">
              <a:buNone/>
            </a:pPr>
            <a:r>
              <a:rPr lang="en-US" sz="900" dirty="0">
                <a:solidFill>
                  <a:srgbClr val="F6AE2D"/>
                </a:solidFill>
              </a:rPr>
              <a:t>— Conclusion, Section V, p.102259</a:t>
            </a:r>
            <a:endParaRPr lang="en-US" sz="900" dirty="0"/>
          </a:p>
        </p:txBody>
      </p:sp>
      <p:sp>
        <p:nvSpPr>
          <p:cNvPr id="10" name="Shape 8"/>
          <p:cNvSpPr/>
          <p:nvPr/>
        </p:nvSpPr>
        <p:spPr>
          <a:xfrm>
            <a:off x="411480" y="2176272"/>
            <a:ext cx="8321040" cy="804672"/>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11" name="Shape 9"/>
          <p:cNvSpPr/>
          <p:nvPr/>
        </p:nvSpPr>
        <p:spPr>
          <a:xfrm>
            <a:off x="411480" y="2176272"/>
            <a:ext cx="64008" cy="804672"/>
          </a:xfrm>
          <a:prstGeom prst="rect">
            <a:avLst/>
          </a:prstGeom>
          <a:solidFill>
            <a:srgbClr val="0E7C7B"/>
          </a:solidFill>
          <a:ln w="12700">
            <a:solidFill>
              <a:srgbClr val="0E7C7B"/>
            </a:solidFill>
            <a:prstDash val="solid"/>
          </a:ln>
        </p:spPr>
      </p:sp>
      <p:sp>
        <p:nvSpPr>
          <p:cNvPr id="12" name="Text 10"/>
          <p:cNvSpPr/>
          <p:nvPr/>
        </p:nvSpPr>
        <p:spPr>
          <a:xfrm>
            <a:off x="594360" y="2231136"/>
            <a:ext cx="2011680" cy="320040"/>
          </a:xfrm>
          <a:prstGeom prst="rect">
            <a:avLst/>
          </a:prstGeom>
          <a:noFill/>
          <a:ln/>
        </p:spPr>
        <p:txBody>
          <a:bodyPr wrap="square" rtlCol="0" anchor="ctr"/>
          <a:lstStyle/>
          <a:p>
            <a:pPr marL="0" indent="0">
              <a:buNone/>
            </a:pPr>
            <a:r>
              <a:rPr lang="en-US" sz="1200" b="1" dirty="0">
                <a:solidFill>
                  <a:srgbClr val="14A5A4"/>
                </a:solidFill>
              </a:rPr>
              <a:t>Research Contribution</a:t>
            </a:r>
            <a:endParaRPr lang="en-US" sz="1200" dirty="0"/>
          </a:p>
        </p:txBody>
      </p:sp>
      <p:sp>
        <p:nvSpPr>
          <p:cNvPr id="13" name="Text 11"/>
          <p:cNvSpPr/>
          <p:nvPr/>
        </p:nvSpPr>
        <p:spPr>
          <a:xfrm>
            <a:off x="2697480" y="2249424"/>
            <a:ext cx="5943600" cy="658368"/>
          </a:xfrm>
          <a:prstGeom prst="rect">
            <a:avLst/>
          </a:prstGeom>
          <a:noFill/>
          <a:ln/>
        </p:spPr>
        <p:txBody>
          <a:bodyPr wrap="square" rtlCol="0" anchor="ctr"/>
          <a:lstStyle/>
          <a:p>
            <a:pPr marL="0" indent="0">
              <a:buNone/>
            </a:pPr>
            <a:r>
              <a:rPr lang="en-US" sz="1150" dirty="0">
                <a:solidFill>
                  <a:srgbClr val="D8EFFE"/>
                </a:solidFill>
              </a:rPr>
              <a:t>Flow-Based RL bridges psychology and AI — proving that intrinsic curiosity-driven agents generalise better than purely goal-oriented ones.</a:t>
            </a:r>
            <a:endParaRPr lang="en-US" sz="1150" dirty="0"/>
          </a:p>
        </p:txBody>
      </p:sp>
      <p:sp>
        <p:nvSpPr>
          <p:cNvPr id="14" name="Shape 12"/>
          <p:cNvSpPr/>
          <p:nvPr/>
        </p:nvSpPr>
        <p:spPr>
          <a:xfrm>
            <a:off x="411480" y="3108960"/>
            <a:ext cx="8321040" cy="804672"/>
          </a:xfrm>
          <a:prstGeom prst="rect">
            <a:avLst/>
          </a:prstGeom>
          <a:solidFill>
            <a:srgbClr val="172636"/>
          </a:solidFill>
          <a:ln w="12700">
            <a:solidFill>
              <a:srgbClr val="0E7C7B"/>
            </a:solidFill>
            <a:prstDash val="solid"/>
          </a:ln>
          <a:effectLst>
            <a:outerShdw blurRad="101600" dist="38100" dir="8100000" algn="bl" rotWithShape="0">
              <a:srgbClr val="000000">
                <a:alpha val="18000"/>
              </a:srgbClr>
            </a:outerShdw>
          </a:effectLst>
        </p:spPr>
      </p:sp>
      <p:sp>
        <p:nvSpPr>
          <p:cNvPr id="15" name="Shape 13"/>
          <p:cNvSpPr/>
          <p:nvPr/>
        </p:nvSpPr>
        <p:spPr>
          <a:xfrm>
            <a:off x="411480" y="3108960"/>
            <a:ext cx="64008" cy="804672"/>
          </a:xfrm>
          <a:prstGeom prst="rect">
            <a:avLst/>
          </a:prstGeom>
          <a:solidFill>
            <a:srgbClr val="0E7C7B"/>
          </a:solidFill>
          <a:ln w="12700">
            <a:solidFill>
              <a:srgbClr val="0E7C7B"/>
            </a:solidFill>
            <a:prstDash val="solid"/>
          </a:ln>
        </p:spPr>
      </p:sp>
      <p:sp>
        <p:nvSpPr>
          <p:cNvPr id="16" name="Text 14"/>
          <p:cNvSpPr/>
          <p:nvPr/>
        </p:nvSpPr>
        <p:spPr>
          <a:xfrm>
            <a:off x="594360" y="3163824"/>
            <a:ext cx="2011680" cy="320040"/>
          </a:xfrm>
          <a:prstGeom prst="rect">
            <a:avLst/>
          </a:prstGeom>
          <a:noFill/>
          <a:ln/>
        </p:spPr>
        <p:txBody>
          <a:bodyPr wrap="square" rtlCol="0" anchor="ctr"/>
          <a:lstStyle/>
          <a:p>
            <a:pPr marL="0" indent="0">
              <a:buNone/>
            </a:pPr>
            <a:r>
              <a:rPr lang="en-US" sz="1200" b="1" dirty="0">
                <a:solidFill>
                  <a:srgbClr val="14A5A4"/>
                </a:solidFill>
              </a:rPr>
              <a:t>Project Contribution</a:t>
            </a:r>
            <a:endParaRPr lang="en-US" sz="1200" dirty="0"/>
          </a:p>
        </p:txBody>
      </p:sp>
      <p:sp>
        <p:nvSpPr>
          <p:cNvPr id="17" name="Text 15"/>
          <p:cNvSpPr/>
          <p:nvPr/>
        </p:nvSpPr>
        <p:spPr>
          <a:xfrm>
            <a:off x="2697480" y="3182112"/>
            <a:ext cx="5943600" cy="658368"/>
          </a:xfrm>
          <a:prstGeom prst="rect">
            <a:avLst/>
          </a:prstGeom>
          <a:noFill/>
          <a:ln/>
        </p:spPr>
        <p:txBody>
          <a:bodyPr wrap="square" rtlCol="0" anchor="ctr"/>
          <a:lstStyle/>
          <a:p>
            <a:pPr marL="0" indent="0">
              <a:buNone/>
            </a:pPr>
            <a:r>
              <a:rPr lang="en-US" sz="1150" dirty="0">
                <a:solidFill>
                  <a:srgbClr val="D8EFFE"/>
                </a:solidFill>
              </a:rPr>
              <a:t>DocuSense AI extends this principle to NLP — using semantic embeddings and cross-encoder re-ranking to replicate Flow's novelty-driven exploration in document retrieval.</a:t>
            </a:r>
            <a:endParaRPr lang="en-US" sz="1150" dirty="0"/>
          </a:p>
        </p:txBody>
      </p:sp>
      <p:sp>
        <p:nvSpPr>
          <p:cNvPr id="18" name="Shape 16"/>
          <p:cNvSpPr/>
          <p:nvPr/>
        </p:nvSpPr>
        <p:spPr>
          <a:xfrm>
            <a:off x="411480" y="4041648"/>
            <a:ext cx="8321040" cy="804672"/>
          </a:xfrm>
          <a:prstGeom prst="rect">
            <a:avLst/>
          </a:prstGeom>
          <a:solidFill>
            <a:srgbClr val="172636"/>
          </a:solidFill>
          <a:ln w="12700">
            <a:solidFill>
              <a:srgbClr val="F6AE2D"/>
            </a:solidFill>
            <a:prstDash val="solid"/>
          </a:ln>
          <a:effectLst>
            <a:outerShdw blurRad="101600" dist="38100" dir="8100000" algn="bl" rotWithShape="0">
              <a:srgbClr val="000000">
                <a:alpha val="18000"/>
              </a:srgbClr>
            </a:outerShdw>
          </a:effectLst>
        </p:spPr>
      </p:sp>
      <p:sp>
        <p:nvSpPr>
          <p:cNvPr id="19" name="Shape 17"/>
          <p:cNvSpPr/>
          <p:nvPr/>
        </p:nvSpPr>
        <p:spPr>
          <a:xfrm>
            <a:off x="411480" y="4041648"/>
            <a:ext cx="64008" cy="804672"/>
          </a:xfrm>
          <a:prstGeom prst="rect">
            <a:avLst/>
          </a:prstGeom>
          <a:solidFill>
            <a:srgbClr val="F6AE2D"/>
          </a:solidFill>
          <a:ln w="12700">
            <a:solidFill>
              <a:srgbClr val="F6AE2D"/>
            </a:solidFill>
            <a:prstDash val="solid"/>
          </a:ln>
        </p:spPr>
      </p:sp>
      <p:sp>
        <p:nvSpPr>
          <p:cNvPr id="20" name="Text 18"/>
          <p:cNvSpPr/>
          <p:nvPr/>
        </p:nvSpPr>
        <p:spPr>
          <a:xfrm>
            <a:off x="594360" y="4096512"/>
            <a:ext cx="2011680" cy="320040"/>
          </a:xfrm>
          <a:prstGeom prst="rect">
            <a:avLst/>
          </a:prstGeom>
          <a:noFill/>
          <a:ln/>
        </p:spPr>
        <p:txBody>
          <a:bodyPr wrap="square" rtlCol="0" anchor="ctr"/>
          <a:lstStyle/>
          <a:p>
            <a:pPr marL="0" indent="0">
              <a:buNone/>
            </a:pPr>
            <a:r>
              <a:rPr lang="en-US" sz="1200" b="1" dirty="0">
                <a:solidFill>
                  <a:srgbClr val="F6AE2D"/>
                </a:solidFill>
              </a:rPr>
              <a:t>Core Takeaway</a:t>
            </a:r>
            <a:endParaRPr lang="en-US" sz="1200" dirty="0"/>
          </a:p>
        </p:txBody>
      </p:sp>
      <p:sp>
        <p:nvSpPr>
          <p:cNvPr id="21" name="Text 19"/>
          <p:cNvSpPr/>
          <p:nvPr/>
        </p:nvSpPr>
        <p:spPr>
          <a:xfrm>
            <a:off x="2697480" y="4114800"/>
            <a:ext cx="5943600" cy="658368"/>
          </a:xfrm>
          <a:prstGeom prst="rect">
            <a:avLst/>
          </a:prstGeom>
          <a:noFill/>
          <a:ln/>
        </p:spPr>
        <p:txBody>
          <a:bodyPr wrap="square" rtlCol="0" anchor="ctr"/>
          <a:lstStyle/>
          <a:p>
            <a:pPr marL="0" indent="0">
              <a:buNone/>
            </a:pPr>
            <a:r>
              <a:rPr lang="en-US" sz="1150" dirty="0">
                <a:solidFill>
                  <a:srgbClr val="D8EFFE"/>
                </a:solidFill>
              </a:rPr>
              <a:t>Both the paper and the project prove: going beyond the obvious first solution — whether through boredom detection or re-ranking — leads to more robust, generalised, and accurate intelligent systems.</a:t>
            </a:r>
            <a:endParaRPr lang="en-US" sz="1150" dirty="0"/>
          </a:p>
        </p:txBody>
      </p:sp>
      <p:sp>
        <p:nvSpPr>
          <p:cNvPr id="22" name="Text 20"/>
          <p:cNvSpPr/>
          <p:nvPr/>
        </p:nvSpPr>
        <p:spPr>
          <a:xfrm>
            <a:off x="411480" y="4828032"/>
            <a:ext cx="8321040" cy="201168"/>
          </a:xfrm>
          <a:prstGeom prst="rect">
            <a:avLst/>
          </a:prstGeom>
          <a:noFill/>
          <a:ln/>
        </p:spPr>
        <p:txBody>
          <a:bodyPr wrap="square" rtlCol="0" anchor="ctr"/>
          <a:lstStyle/>
          <a:p>
            <a:pPr marL="0" indent="0" algn="ctr">
              <a:buNone/>
            </a:pPr>
            <a:r>
              <a:rPr lang="en-US" sz="900" dirty="0">
                <a:solidFill>
                  <a:srgbClr val="718096"/>
                </a:solidFill>
              </a:rPr>
              <a:t>github.com/vijayrajeshr/DocuSense-AI   •   IEEE Access 10.1109/ACCESS.2022.3209260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AB0AEF1-D855-592F-6F41-E0C476928C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798A5CC-048C-24F9-9AE2-5F4DEF8C684A}"/>
              </a:ext>
            </a:extLst>
          </p:cNvPr>
          <p:cNvSpPr/>
          <p:nvPr/>
        </p:nvSpPr>
        <p:spPr>
          <a:xfrm>
            <a:off x="0" y="0"/>
            <a:ext cx="164592" cy="5143500"/>
          </a:xfrm>
          <a:prstGeom prst="rect">
            <a:avLst/>
          </a:prstGeom>
          <a:solidFill>
            <a:srgbClr val="0E7C7B"/>
          </a:solidFill>
          <a:ln w="12700">
            <a:solidFill>
              <a:srgbClr val="0E7C7B"/>
            </a:solidFill>
            <a:prstDash val="solid"/>
          </a:ln>
        </p:spPr>
      </p:sp>
      <p:sp>
        <p:nvSpPr>
          <p:cNvPr id="3" name="Shape 1">
            <a:extLst>
              <a:ext uri="{FF2B5EF4-FFF2-40B4-BE49-F238E27FC236}">
                <a16:creationId xmlns:a16="http://schemas.microsoft.com/office/drawing/2014/main" id="{49B2F556-357A-549C-278B-48E4B13A1E12}"/>
              </a:ext>
            </a:extLst>
          </p:cNvPr>
          <p:cNvSpPr/>
          <p:nvPr/>
        </p:nvSpPr>
        <p:spPr>
          <a:xfrm>
            <a:off x="6400800" y="2286000"/>
            <a:ext cx="4572000" cy="4572000"/>
          </a:xfrm>
          <a:prstGeom prst="ellipse">
            <a:avLst/>
          </a:prstGeom>
          <a:solidFill>
            <a:srgbClr val="0E7C7B">
              <a:alpha val="10000"/>
            </a:srgbClr>
          </a:solidFill>
          <a:ln w="12700">
            <a:solidFill>
              <a:srgbClr val="0E7C7B">
                <a:alpha val="10000"/>
              </a:srgbClr>
            </a:solidFill>
            <a:prstDash val="solid"/>
          </a:ln>
        </p:spPr>
      </p:sp>
      <p:sp>
        <p:nvSpPr>
          <p:cNvPr id="4" name="Shape 2">
            <a:extLst>
              <a:ext uri="{FF2B5EF4-FFF2-40B4-BE49-F238E27FC236}">
                <a16:creationId xmlns:a16="http://schemas.microsoft.com/office/drawing/2014/main" id="{EF51E03C-4E70-CD7F-161C-0442290FB08C}"/>
              </a:ext>
            </a:extLst>
          </p:cNvPr>
          <p:cNvSpPr/>
          <p:nvPr/>
        </p:nvSpPr>
        <p:spPr>
          <a:xfrm>
            <a:off x="411480" y="182880"/>
            <a:ext cx="1645920" cy="256032"/>
          </a:xfrm>
          <a:prstGeom prst="roundRect">
            <a:avLst>
              <a:gd name="adj" fmla="val 17857"/>
            </a:avLst>
          </a:prstGeom>
          <a:solidFill>
            <a:srgbClr val="0E7C7B"/>
          </a:solidFill>
          <a:ln w="12700">
            <a:solidFill>
              <a:srgbClr val="0E7C7B"/>
            </a:solidFill>
            <a:prstDash val="solid"/>
          </a:ln>
        </p:spPr>
      </p:sp>
      <p:sp>
        <p:nvSpPr>
          <p:cNvPr id="5" name="Text 3">
            <a:extLst>
              <a:ext uri="{FF2B5EF4-FFF2-40B4-BE49-F238E27FC236}">
                <a16:creationId xmlns:a16="http://schemas.microsoft.com/office/drawing/2014/main" id="{26EA3B61-7726-5AA1-B2E9-F8990F2CECB1}"/>
              </a:ext>
            </a:extLst>
          </p:cNvPr>
          <p:cNvSpPr/>
          <p:nvPr/>
        </p:nvSpPr>
        <p:spPr>
          <a:xfrm>
            <a:off x="411480" y="182880"/>
            <a:ext cx="1645920" cy="256032"/>
          </a:xfrm>
          <a:prstGeom prst="rect">
            <a:avLst/>
          </a:prstGeom>
          <a:noFill/>
          <a:ln/>
        </p:spPr>
        <p:txBody>
          <a:bodyPr wrap="square" rtlCol="0" anchor="ctr"/>
          <a:lstStyle/>
          <a:p>
            <a:pPr marL="0" indent="0" algn="ctr">
              <a:buNone/>
            </a:pPr>
            <a:r>
              <a:rPr lang="en-US" sz="800" b="1" dirty="0">
                <a:solidFill>
                  <a:srgbClr val="FFFFFF"/>
                </a:solidFill>
              </a:rPr>
              <a:t>CONCLUSION</a:t>
            </a:r>
            <a:endParaRPr lang="en-US" sz="800" dirty="0"/>
          </a:p>
        </p:txBody>
      </p:sp>
      <p:sp>
        <p:nvSpPr>
          <p:cNvPr id="6" name="Text 4">
            <a:extLst>
              <a:ext uri="{FF2B5EF4-FFF2-40B4-BE49-F238E27FC236}">
                <a16:creationId xmlns:a16="http://schemas.microsoft.com/office/drawing/2014/main" id="{B31AC8C1-2959-474F-AF69-740608D52F9A}"/>
              </a:ext>
            </a:extLst>
          </p:cNvPr>
          <p:cNvSpPr/>
          <p:nvPr/>
        </p:nvSpPr>
        <p:spPr>
          <a:xfrm>
            <a:off x="2862643" y="1322070"/>
            <a:ext cx="3418714" cy="2234946"/>
          </a:xfrm>
          <a:prstGeom prst="rect">
            <a:avLst/>
          </a:prstGeom>
          <a:noFill/>
          <a:ln/>
        </p:spPr>
        <p:txBody>
          <a:bodyPr wrap="square" rtlCol="0" anchor="ctr"/>
          <a:lstStyle/>
          <a:p>
            <a:pPr marL="0" indent="0">
              <a:buNone/>
            </a:pPr>
            <a:r>
              <a:rPr lang="en-US" sz="4000" b="1" dirty="0">
                <a:solidFill>
                  <a:srgbClr val="FFFFFF"/>
                </a:solidFill>
              </a:rPr>
              <a:t>Demonstration</a:t>
            </a:r>
          </a:p>
          <a:p>
            <a:pPr marL="0" indent="0">
              <a:buNone/>
            </a:pPr>
            <a:endParaRPr lang="en-US" sz="4000" b="1" dirty="0">
              <a:solidFill>
                <a:srgbClr val="FFFFFF"/>
              </a:solidFill>
            </a:endParaRPr>
          </a:p>
          <a:p>
            <a:pPr marL="0" indent="0">
              <a:buNone/>
            </a:pPr>
            <a:r>
              <a:rPr lang="en-US" sz="4400" b="1" dirty="0" err="1">
                <a:solidFill>
                  <a:srgbClr val="FFFFFF"/>
                </a:solidFill>
              </a:rPr>
              <a:t>DocuSense</a:t>
            </a:r>
            <a:r>
              <a:rPr lang="en-US" sz="4400" b="1" dirty="0">
                <a:solidFill>
                  <a:srgbClr val="FFFFFF"/>
                </a:solidFill>
              </a:rPr>
              <a:t> AI</a:t>
            </a:r>
            <a:endParaRPr lang="en-US" sz="4400" dirty="0"/>
          </a:p>
        </p:txBody>
      </p:sp>
      <p:sp>
        <p:nvSpPr>
          <p:cNvPr id="22" name="Text 20">
            <a:extLst>
              <a:ext uri="{FF2B5EF4-FFF2-40B4-BE49-F238E27FC236}">
                <a16:creationId xmlns:a16="http://schemas.microsoft.com/office/drawing/2014/main" id="{73D632C3-6BC5-8966-258C-4262EDA158EB}"/>
              </a:ext>
            </a:extLst>
          </p:cNvPr>
          <p:cNvSpPr/>
          <p:nvPr/>
        </p:nvSpPr>
        <p:spPr>
          <a:xfrm>
            <a:off x="411480" y="4828032"/>
            <a:ext cx="8321040" cy="201168"/>
          </a:xfrm>
          <a:prstGeom prst="rect">
            <a:avLst/>
          </a:prstGeom>
          <a:noFill/>
          <a:ln/>
        </p:spPr>
        <p:txBody>
          <a:bodyPr wrap="square" rtlCol="0" anchor="ctr"/>
          <a:lstStyle/>
          <a:p>
            <a:pPr marL="0" indent="0" algn="ctr">
              <a:buNone/>
            </a:pPr>
            <a:r>
              <a:rPr lang="en-US" sz="900" dirty="0">
                <a:solidFill>
                  <a:srgbClr val="718096"/>
                </a:solidFill>
              </a:rPr>
              <a:t>github.com/vijayrajeshr/DocuSense-AI   •   IEEE Access 10.1109/ACCESS.2022.3209260</a:t>
            </a:r>
            <a:endParaRPr lang="en-US" sz="900" dirty="0"/>
          </a:p>
        </p:txBody>
      </p:sp>
    </p:spTree>
    <p:extLst>
      <p:ext uri="{BB962C8B-B14F-4D97-AF65-F5344CB8AC3E}">
        <p14:creationId xmlns:p14="http://schemas.microsoft.com/office/powerpoint/2010/main" val="2230109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C492CEF-D62E-5956-EE5B-E1B3EC4CF7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4674FF-9D94-9DAD-A857-13592A095765}"/>
              </a:ext>
            </a:extLst>
          </p:cNvPr>
          <p:cNvSpPr/>
          <p:nvPr/>
        </p:nvSpPr>
        <p:spPr>
          <a:xfrm>
            <a:off x="0" y="0"/>
            <a:ext cx="164592" cy="5143500"/>
          </a:xfrm>
          <a:prstGeom prst="rect">
            <a:avLst/>
          </a:prstGeom>
          <a:solidFill>
            <a:srgbClr val="0E7C7B"/>
          </a:solidFill>
          <a:ln w="12700">
            <a:solidFill>
              <a:srgbClr val="0E7C7B"/>
            </a:solidFill>
            <a:prstDash val="solid"/>
          </a:ln>
        </p:spPr>
      </p:sp>
      <p:sp>
        <p:nvSpPr>
          <p:cNvPr id="3" name="Shape 1">
            <a:extLst>
              <a:ext uri="{FF2B5EF4-FFF2-40B4-BE49-F238E27FC236}">
                <a16:creationId xmlns:a16="http://schemas.microsoft.com/office/drawing/2014/main" id="{C4B01651-771A-5014-2222-C05C5F49CF4A}"/>
              </a:ext>
            </a:extLst>
          </p:cNvPr>
          <p:cNvSpPr/>
          <p:nvPr/>
        </p:nvSpPr>
        <p:spPr>
          <a:xfrm>
            <a:off x="6400800" y="2286000"/>
            <a:ext cx="4572000" cy="4572000"/>
          </a:xfrm>
          <a:prstGeom prst="ellipse">
            <a:avLst/>
          </a:prstGeom>
          <a:solidFill>
            <a:srgbClr val="0E7C7B">
              <a:alpha val="10000"/>
            </a:srgbClr>
          </a:solidFill>
          <a:ln w="12700">
            <a:solidFill>
              <a:srgbClr val="0E7C7B">
                <a:alpha val="10000"/>
              </a:srgbClr>
            </a:solidFill>
            <a:prstDash val="solid"/>
          </a:ln>
        </p:spPr>
      </p:sp>
      <p:sp>
        <p:nvSpPr>
          <p:cNvPr id="4" name="Shape 2">
            <a:extLst>
              <a:ext uri="{FF2B5EF4-FFF2-40B4-BE49-F238E27FC236}">
                <a16:creationId xmlns:a16="http://schemas.microsoft.com/office/drawing/2014/main" id="{AA29992F-6251-0B32-CD13-CA9F00AF49AE}"/>
              </a:ext>
            </a:extLst>
          </p:cNvPr>
          <p:cNvSpPr/>
          <p:nvPr/>
        </p:nvSpPr>
        <p:spPr>
          <a:xfrm>
            <a:off x="411480" y="182880"/>
            <a:ext cx="1645920" cy="256032"/>
          </a:xfrm>
          <a:prstGeom prst="roundRect">
            <a:avLst>
              <a:gd name="adj" fmla="val 17857"/>
            </a:avLst>
          </a:prstGeom>
          <a:solidFill>
            <a:srgbClr val="0E7C7B"/>
          </a:solidFill>
          <a:ln w="12700">
            <a:solidFill>
              <a:srgbClr val="0E7C7B"/>
            </a:solidFill>
            <a:prstDash val="solid"/>
          </a:ln>
        </p:spPr>
      </p:sp>
      <p:sp>
        <p:nvSpPr>
          <p:cNvPr id="5" name="Text 3">
            <a:extLst>
              <a:ext uri="{FF2B5EF4-FFF2-40B4-BE49-F238E27FC236}">
                <a16:creationId xmlns:a16="http://schemas.microsoft.com/office/drawing/2014/main" id="{61093A70-627D-A47A-5781-07C9D4CB842B}"/>
              </a:ext>
            </a:extLst>
          </p:cNvPr>
          <p:cNvSpPr/>
          <p:nvPr/>
        </p:nvSpPr>
        <p:spPr>
          <a:xfrm>
            <a:off x="411480" y="182880"/>
            <a:ext cx="1645920" cy="256032"/>
          </a:xfrm>
          <a:prstGeom prst="rect">
            <a:avLst/>
          </a:prstGeom>
          <a:noFill/>
          <a:ln/>
        </p:spPr>
        <p:txBody>
          <a:bodyPr wrap="square" rtlCol="0" anchor="ctr"/>
          <a:lstStyle/>
          <a:p>
            <a:pPr marL="0" indent="0" algn="ctr">
              <a:buNone/>
            </a:pPr>
            <a:r>
              <a:rPr lang="en-US" sz="800" b="1" dirty="0">
                <a:solidFill>
                  <a:srgbClr val="FFFFFF"/>
                </a:solidFill>
              </a:rPr>
              <a:t>CONCLUSION</a:t>
            </a:r>
            <a:endParaRPr lang="en-US" sz="800" dirty="0"/>
          </a:p>
        </p:txBody>
      </p:sp>
      <p:sp>
        <p:nvSpPr>
          <p:cNvPr id="6" name="Text 4">
            <a:extLst>
              <a:ext uri="{FF2B5EF4-FFF2-40B4-BE49-F238E27FC236}">
                <a16:creationId xmlns:a16="http://schemas.microsoft.com/office/drawing/2014/main" id="{7787EB9E-5446-64DB-4737-F58ED816AF59}"/>
              </a:ext>
            </a:extLst>
          </p:cNvPr>
          <p:cNvSpPr/>
          <p:nvPr/>
        </p:nvSpPr>
        <p:spPr>
          <a:xfrm>
            <a:off x="3189351" y="2215134"/>
            <a:ext cx="2765298" cy="713232"/>
          </a:xfrm>
          <a:prstGeom prst="rect">
            <a:avLst/>
          </a:prstGeom>
          <a:noFill/>
          <a:ln/>
        </p:spPr>
        <p:txBody>
          <a:bodyPr wrap="square" rtlCol="0" anchor="ctr"/>
          <a:lstStyle/>
          <a:p>
            <a:pPr marL="0" indent="0">
              <a:buNone/>
            </a:pPr>
            <a:r>
              <a:rPr lang="en-US" sz="4000" b="1" dirty="0">
                <a:solidFill>
                  <a:srgbClr val="FFFFFF"/>
                </a:solidFill>
              </a:rPr>
              <a:t>THANK YOU</a:t>
            </a:r>
            <a:endParaRPr lang="en-US" sz="4000" dirty="0"/>
          </a:p>
        </p:txBody>
      </p:sp>
      <p:sp>
        <p:nvSpPr>
          <p:cNvPr id="22" name="Text 20">
            <a:extLst>
              <a:ext uri="{FF2B5EF4-FFF2-40B4-BE49-F238E27FC236}">
                <a16:creationId xmlns:a16="http://schemas.microsoft.com/office/drawing/2014/main" id="{A929899C-52BD-CA3C-723F-49C231E95C58}"/>
              </a:ext>
            </a:extLst>
          </p:cNvPr>
          <p:cNvSpPr/>
          <p:nvPr/>
        </p:nvSpPr>
        <p:spPr>
          <a:xfrm>
            <a:off x="411480" y="4828032"/>
            <a:ext cx="8321040" cy="201168"/>
          </a:xfrm>
          <a:prstGeom prst="rect">
            <a:avLst/>
          </a:prstGeom>
          <a:noFill/>
          <a:ln/>
        </p:spPr>
        <p:txBody>
          <a:bodyPr wrap="square" rtlCol="0" anchor="ctr"/>
          <a:lstStyle/>
          <a:p>
            <a:pPr marL="0" indent="0" algn="ctr">
              <a:buNone/>
            </a:pPr>
            <a:r>
              <a:rPr lang="en-US" sz="900" dirty="0">
                <a:solidFill>
                  <a:srgbClr val="718096"/>
                </a:solidFill>
              </a:rPr>
              <a:t>github.com/vijayrajeshr/DocuSense-AI   •   IEEE Access 10.1109/ACCESS.2022.3209260</a:t>
            </a:r>
            <a:endParaRPr lang="en-US" sz="900" dirty="0"/>
          </a:p>
        </p:txBody>
      </p:sp>
    </p:spTree>
    <p:extLst>
      <p:ext uri="{BB962C8B-B14F-4D97-AF65-F5344CB8AC3E}">
        <p14:creationId xmlns:p14="http://schemas.microsoft.com/office/powerpoint/2010/main" val="439154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2187</Words>
  <Application>Microsoft Office PowerPoint</Application>
  <PresentationFormat>On-screen Show (16:9)</PresentationFormat>
  <Paragraphs>260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Flow-Based Reinforcement Learning &amp; DocuSense AI</dc:title>
  <dc:subject>PptxGenJS Presentation</dc:subject>
  <dc:creator>PptxGenJS</dc:creator>
  <cp:lastModifiedBy>Ayushmaan Gupta</cp:lastModifiedBy>
  <cp:revision>3</cp:revision>
  <dcterms:created xsi:type="dcterms:W3CDTF">2026-04-08T08:54:57Z</dcterms:created>
  <dcterms:modified xsi:type="dcterms:W3CDTF">2026-04-08T12:45:58Z</dcterms:modified>
</cp:coreProperties>
</file>